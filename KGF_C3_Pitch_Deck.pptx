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53" d="100"/>
          <a:sy n="53" d="100"/>
        </p:scale>
        <p:origin x="6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Off-take (MT)</c:v>
                </c:pt>
              </c:strCache>
            </c:strRef>
          </c:tx>
          <c:invertIfNegative val="1"/>
          <c:dPt>
            <c:idx val="0"/>
            <c:invertIfNegative val="1"/>
            <c:bubble3D val="0"/>
            <c:spPr>
              <a:solidFill>
                <a:srgbClr val="207A4B"/>
              </a:solidFill>
            </c:spPr>
            <c:extLst>
              <c:ext xmlns:c16="http://schemas.microsoft.com/office/drawing/2014/chart" uri="{C3380CC4-5D6E-409C-BE32-E72D297353CC}">
                <c16:uniqueId val="{00000001-A31D-4BB5-AF3B-39E74E2E3598}"/>
              </c:ext>
            </c:extLst>
          </c:dPt>
          <c:dPt>
            <c:idx val="1"/>
            <c:invertIfNegative val="1"/>
            <c:bubble3D val="0"/>
            <c:spPr>
              <a:solidFill>
                <a:srgbClr val="207A4B"/>
              </a:solidFill>
            </c:spPr>
            <c:extLst>
              <c:ext xmlns:c16="http://schemas.microsoft.com/office/drawing/2014/chart" uri="{C3380CC4-5D6E-409C-BE32-E72D297353CC}">
                <c16:uniqueId val="{00000003-A31D-4BB5-AF3B-39E74E2E3598}"/>
              </c:ext>
            </c:extLst>
          </c:dPt>
          <c:dPt>
            <c:idx val="2"/>
            <c:invertIfNegative val="1"/>
            <c:bubble3D val="0"/>
            <c:spPr>
              <a:solidFill>
                <a:srgbClr val="207A4B"/>
              </a:solidFill>
            </c:spPr>
            <c:extLst>
              <c:ext xmlns:c16="http://schemas.microsoft.com/office/drawing/2014/chart" uri="{C3380CC4-5D6E-409C-BE32-E72D297353CC}">
                <c16:uniqueId val="{00000005-A31D-4BB5-AF3B-39E74E2E3598}"/>
              </c:ext>
            </c:extLst>
          </c:dPt>
          <c:dPt>
            <c:idx val="3"/>
            <c:invertIfNegative val="1"/>
            <c:bubble3D val="0"/>
            <c:spPr>
              <a:solidFill>
                <a:srgbClr val="C08312"/>
              </a:solidFill>
            </c:spPr>
            <c:extLst>
              <c:ext xmlns:c16="http://schemas.microsoft.com/office/drawing/2014/chart" uri="{C3380CC4-5D6E-409C-BE32-E72D297353CC}">
                <c16:uniqueId val="{00000007-A31D-4BB5-AF3B-39E74E2E3598}"/>
              </c:ext>
            </c:extLst>
          </c:dPt>
          <c:dPt>
            <c:idx val="4"/>
            <c:invertIfNegative val="1"/>
            <c:bubble3D val="0"/>
            <c:spPr>
              <a:solidFill>
                <a:srgbClr val="C08312"/>
              </a:solidFill>
            </c:spPr>
            <c:extLst>
              <c:ext xmlns:c16="http://schemas.microsoft.com/office/drawing/2014/chart" uri="{C3380CC4-5D6E-409C-BE32-E72D297353CC}">
                <c16:uniqueId val="{00000009-A31D-4BB5-AF3B-39E74E2E3598}"/>
              </c:ext>
            </c:extLst>
          </c:dPt>
          <c:dLbls>
            <c:spPr>
              <a:noFill/>
              <a:ln>
                <a:noFill/>
              </a:ln>
              <a:effectLst/>
            </c:spPr>
            <c:txPr>
              <a:bodyPr/>
              <a:lstStyle/>
              <a:p>
                <a:pPr>
                  <a:defRPr sz="1100" b="1">
                    <a:solidFill>
                      <a:srgbClr val="13251A"/>
                    </a:solidFill>
                    <a:latin typeface="Consola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2024</c:v>
                </c:pt>
                <c:pt idx="1">
                  <c:v>2025</c:v>
                </c:pt>
                <c:pt idx="2">
                  <c:v>2026</c:v>
                </c:pt>
                <c:pt idx="3">
                  <c:v>2028 target</c:v>
                </c:pt>
                <c:pt idx="4">
                  <c:v>2030 target</c:v>
                </c:pt>
              </c:strCache>
            </c:strRef>
          </c:cat>
          <c:val>
            <c:numRef>
              <c:f>Sheet1!$B$2:$B$6</c:f>
              <c:numCache>
                <c:formatCode>General</c:formatCode>
                <c:ptCount val="5"/>
                <c:pt idx="0">
                  <c:v>32</c:v>
                </c:pt>
                <c:pt idx="1">
                  <c:v>50</c:v>
                </c:pt>
                <c:pt idx="2">
                  <c:v>100</c:v>
                </c:pt>
                <c:pt idx="3">
                  <c:v>350</c:v>
                </c:pt>
                <c:pt idx="4">
                  <c:v>500</c:v>
                </c:pt>
              </c:numCache>
            </c:numRef>
          </c:val>
          <c:extLst>
            <c:ext xmlns:c16="http://schemas.microsoft.com/office/drawing/2014/chart" uri="{C3380CC4-5D6E-409C-BE32-E72D297353CC}">
              <c16:uniqueId val="{0000000A-A31D-4BB5-AF3B-39E74E2E3598}"/>
            </c:ext>
          </c:extLst>
        </c:ser>
        <c:dLbls>
          <c:dLblPos val="outEnd"/>
          <c:showLegendKey val="0"/>
          <c:showVal val="1"/>
          <c:showCatName val="0"/>
          <c:showSerName val="0"/>
          <c:showPercent val="0"/>
          <c:showBubbleSize val="0"/>
        </c:dLbls>
        <c:gapWidth val="62"/>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2E0CA"/>
            </a:solidFill>
          </a:ln>
        </c:spPr>
        <c:txPr>
          <a:bodyPr/>
          <a:lstStyle/>
          <a:p>
            <a:pPr>
              <a:defRPr sz="950">
                <a:solidFill>
                  <a:srgbClr val="64796A"/>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w="6350">
              <a:solidFill>
                <a:srgbClr val="D2E0CA"/>
              </a:solidFill>
            </a:ln>
          </c:spPr>
        </c:majorGridlines>
        <c:numFmt formatCode="General" sourceLinked="1"/>
        <c:majorTickMark val="out"/>
        <c:minorTickMark val="none"/>
        <c:tickLblPos val="nextTo"/>
        <c:spPr>
          <a:ln>
            <a:noFill/>
          </a:ln>
        </c:spPr>
        <c:txPr>
          <a:bodyPr/>
          <a:lstStyle/>
          <a:p>
            <a:pPr>
              <a:defRPr sz="900">
                <a:solidFill>
                  <a:srgbClr val="87978B"/>
                </a:solidFill>
              </a:defRPr>
            </a:pPr>
            <a:endParaRPr lang="en-US"/>
          </a:p>
        </c:txPr>
        <c:crossAx val="-2068027336"/>
        <c:crosses val="autoZero"/>
        <c:crossBetween val="between"/>
      </c:valAx>
    </c:plotArea>
    <c:plotVisOnly val="1"/>
    <c:dispBlanksAs val="gap"/>
    <c:showDLblsOverMax val="1"/>
  </c:chart>
  <c:txPr>
    <a:bodyPr/>
    <a:lstStyle/>
    <a:p>
      <a:pPr>
        <a:defRPr sz="1000">
          <a:solidFill>
            <a:srgbClr val="64796A"/>
          </a:solidFill>
          <a:latin typeface="Consola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6.jpg"/><Relationship Id="rId7" Type="http://schemas.openxmlformats.org/officeDocument/2006/relationships/image" Target="../media/image10.jpg"/><Relationship Id="rId12"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image" Target="../media/image9.jpg"/><Relationship Id="rId11" Type="http://schemas.openxmlformats.org/officeDocument/2006/relationships/image" Target="../media/image3.png"/><Relationship Id="rId5" Type="http://schemas.openxmlformats.org/officeDocument/2006/relationships/image" Target="../media/image8.jpg"/><Relationship Id="rId10" Type="http://schemas.openxmlformats.org/officeDocument/2006/relationships/image" Target="../media/image2.png"/><Relationship Id="rId4" Type="http://schemas.openxmlformats.org/officeDocument/2006/relationships/image" Target="../media/image7.jpg"/><Relationship Id="rId9" Type="http://schemas.openxmlformats.org/officeDocument/2006/relationships/image" Target="../media/image12.jp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3.jp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28.png"/><Relationship Id="rId3" Type="http://schemas.openxmlformats.org/officeDocument/2006/relationships/image" Target="../media/image21.png"/><Relationship Id="rId7" Type="http://schemas.openxmlformats.org/officeDocument/2006/relationships/image" Target="../media/image3.png"/><Relationship Id="rId12" Type="http://schemas.openxmlformats.org/officeDocument/2006/relationships/image" Target="../media/image27.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26.png"/><Relationship Id="rId5" Type="http://schemas.openxmlformats.org/officeDocument/2006/relationships/image" Target="../media/image23.png"/><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24.png"/><Relationship Id="rId1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2.jp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pic>
        <p:nvPicPr>
          <p:cNvPr id="11" name="CoverBackground" descr="cover_veiled.jpg"/>
          <p:cNvPicPr>
            <a:picLocks noChangeAspect="1"/>
          </p:cNvPicPr>
          <p:nvPr/>
        </p:nvPicPr>
        <p:blipFill>
          <a:blip r:embed="rId2"/>
          <a:stretch>
            <a:fillRect/>
          </a:stretch>
        </p:blipFill>
        <p:spPr>
          <a:xfrm>
            <a:off x="0" y="0"/>
            <a:ext cx="12191969" cy="6858000"/>
          </a:xfrm>
          <a:prstGeom prst="rect">
            <a:avLst/>
          </a:prstGeom>
        </p:spPr>
      </p:pic>
      <p:sp>
        <p:nvSpPr>
          <p:cNvPr id="4" name="TextBox 3"/>
          <p:cNvSpPr txBox="1"/>
          <p:nvPr/>
        </p:nvSpPr>
        <p:spPr>
          <a:xfrm>
            <a:off x="1124712" y="365760"/>
            <a:ext cx="3657600" cy="274320"/>
          </a:xfrm>
          <a:prstGeom prst="rect">
            <a:avLst/>
          </a:prstGeom>
          <a:noFill/>
        </p:spPr>
        <p:txBody>
          <a:bodyPr wrap="square" lIns="0" tIns="0" rIns="0" bIns="0" anchor="t">
            <a:spAutoFit/>
          </a:bodyPr>
          <a:lstStyle/>
          <a:p>
            <a:pPr algn="l">
              <a:spcAft>
                <a:spcPts val="0"/>
              </a:spcAft>
            </a:pPr>
            <a:r>
              <a:rPr sz="1400" b="1">
                <a:solidFill>
                  <a:srgbClr val="13251A"/>
                </a:solidFill>
                <a:latin typeface="Georgia"/>
              </a:rPr>
              <a:t>PT Klumbayan Gold Farm</a:t>
            </a:r>
          </a:p>
        </p:txBody>
      </p:sp>
      <p:sp>
        <p:nvSpPr>
          <p:cNvPr id="5" name="TextBox 4"/>
          <p:cNvSpPr txBox="1"/>
          <p:nvPr/>
        </p:nvSpPr>
        <p:spPr>
          <a:xfrm>
            <a:off x="1124712" y="658368"/>
            <a:ext cx="3657600" cy="219456"/>
          </a:xfrm>
          <a:prstGeom prst="rect">
            <a:avLst/>
          </a:prstGeom>
          <a:noFill/>
        </p:spPr>
        <p:txBody>
          <a:bodyPr wrap="square" lIns="0" tIns="0" rIns="0" bIns="0" anchor="t">
            <a:spAutoFit/>
          </a:bodyPr>
          <a:lstStyle/>
          <a:p>
            <a:pPr algn="l">
              <a:spcAft>
                <a:spcPts val="0"/>
              </a:spcAft>
            </a:pPr>
            <a:r>
              <a:rPr sz="800" b="0">
                <a:solidFill>
                  <a:srgbClr val="64796A"/>
                </a:solidFill>
                <a:latin typeface="Consolas"/>
              </a:rPr>
              <a:t>LAMPUNG · INDONESIA · EST. 2022</a:t>
            </a:r>
          </a:p>
        </p:txBody>
      </p:sp>
      <p:sp>
        <p:nvSpPr>
          <p:cNvPr id="6" name="TextBox 5"/>
          <p:cNvSpPr txBox="1"/>
          <p:nvPr/>
        </p:nvSpPr>
        <p:spPr>
          <a:xfrm>
            <a:off x="658368" y="1975104"/>
            <a:ext cx="4434840" cy="2085314"/>
          </a:xfrm>
          <a:prstGeom prst="rect">
            <a:avLst/>
          </a:prstGeom>
          <a:noFill/>
        </p:spPr>
        <p:txBody>
          <a:bodyPr wrap="square" lIns="0" tIns="0" rIns="0" bIns="0">
            <a:spAutoFit/>
          </a:bodyPr>
          <a:lstStyle/>
          <a:p>
            <a:pPr>
              <a:lnSpc>
                <a:spcPct val="104000"/>
              </a:lnSpc>
              <a:spcAft>
                <a:spcPts val="1000"/>
              </a:spcAft>
            </a:pPr>
            <a:r>
              <a:rPr sz="2700" b="1" dirty="0">
                <a:solidFill>
                  <a:srgbClr val="13251A"/>
                </a:solidFill>
                <a:latin typeface="Georgia"/>
              </a:rPr>
              <a:t>We built </a:t>
            </a:r>
            <a:endParaRPr lang="en-GB" sz="2700" b="1" dirty="0">
              <a:solidFill>
                <a:srgbClr val="13251A"/>
              </a:solidFill>
              <a:latin typeface="Georgia"/>
            </a:endParaRPr>
          </a:p>
          <a:p>
            <a:pPr>
              <a:lnSpc>
                <a:spcPct val="104000"/>
              </a:lnSpc>
              <a:spcAft>
                <a:spcPts val="1000"/>
              </a:spcAft>
            </a:pPr>
            <a:r>
              <a:rPr sz="2700" b="1" dirty="0">
                <a:solidFill>
                  <a:srgbClr val="13251A"/>
                </a:solidFill>
                <a:latin typeface="Georgia"/>
              </a:rPr>
              <a:t>the farmer network.</a:t>
            </a:r>
          </a:p>
          <a:p>
            <a:pPr>
              <a:lnSpc>
                <a:spcPct val="104000"/>
              </a:lnSpc>
              <a:spcAft>
                <a:spcPts val="1000"/>
              </a:spcAft>
            </a:pPr>
            <a:r>
              <a:rPr sz="2700" b="1" dirty="0">
                <a:solidFill>
                  <a:srgbClr val="13251A"/>
                </a:solidFill>
                <a:latin typeface="Georgia"/>
              </a:rPr>
              <a:t>Now we need to pay </a:t>
            </a:r>
            <a:endParaRPr lang="en-GB" sz="2700" b="1" dirty="0">
              <a:solidFill>
                <a:srgbClr val="13251A"/>
              </a:solidFill>
              <a:latin typeface="Georgia"/>
            </a:endParaRPr>
          </a:p>
          <a:p>
            <a:pPr>
              <a:lnSpc>
                <a:spcPct val="104000"/>
              </a:lnSpc>
              <a:spcAft>
                <a:spcPts val="1000"/>
              </a:spcAft>
            </a:pPr>
            <a:r>
              <a:rPr sz="2700" b="1" dirty="0">
                <a:solidFill>
                  <a:srgbClr val="207A4B"/>
                </a:solidFill>
                <a:latin typeface="Georgia"/>
              </a:rPr>
              <a:t>all of it.</a:t>
            </a:r>
          </a:p>
        </p:txBody>
      </p:sp>
      <p:sp>
        <p:nvSpPr>
          <p:cNvPr id="7" name="TextBox 6"/>
          <p:cNvSpPr txBox="1"/>
          <p:nvPr/>
        </p:nvSpPr>
        <p:spPr>
          <a:xfrm>
            <a:off x="658368" y="4434840"/>
            <a:ext cx="3977639" cy="1463040"/>
          </a:xfrm>
          <a:prstGeom prst="rect">
            <a:avLst/>
          </a:prstGeom>
          <a:noFill/>
        </p:spPr>
        <p:txBody>
          <a:bodyPr wrap="square" lIns="0" tIns="0" rIns="0" bIns="0" anchor="t">
            <a:spAutoFit/>
          </a:bodyPr>
          <a:lstStyle/>
          <a:p>
            <a:pPr algn="l">
              <a:lnSpc>
                <a:spcPct val="134000"/>
              </a:lnSpc>
              <a:spcAft>
                <a:spcPts val="0"/>
              </a:spcAft>
            </a:pPr>
            <a:r>
              <a:rPr sz="1200" b="0" dirty="0">
                <a:solidFill>
                  <a:srgbClr val="35483A"/>
                </a:solidFill>
                <a:latin typeface="Segoe UI"/>
              </a:rPr>
              <a:t>A tech-enabled agroforestry off-taker in Lampung, moving smallholder black pepper, coffee and cacao into European markets with plot-level traceability. 1,250 farmers registered. Fewer than 100 selling to us today.</a:t>
            </a:r>
          </a:p>
        </p:txBody>
      </p:sp>
      <p:sp>
        <p:nvSpPr>
          <p:cNvPr id="8" name="Rectangle 7"/>
          <p:cNvSpPr/>
          <p:nvPr/>
        </p:nvSpPr>
        <p:spPr>
          <a:xfrm>
            <a:off x="658368" y="5532120"/>
            <a:ext cx="3977639"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5715000"/>
            <a:ext cx="4206240" cy="27432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PORTFOLIO &amp; PITCH DECK   ·   AUGUST 2026</a:t>
            </a:r>
          </a:p>
        </p:txBody>
      </p:sp>
      <p:sp>
        <p:nvSpPr>
          <p:cNvPr id="10" name="TextBox 9"/>
          <p:cNvSpPr txBox="1"/>
          <p:nvPr/>
        </p:nvSpPr>
        <p:spPr>
          <a:xfrm>
            <a:off x="658368" y="6053328"/>
            <a:ext cx="4206240" cy="274320"/>
          </a:xfrm>
          <a:prstGeom prst="rect">
            <a:avLst/>
          </a:prstGeom>
          <a:noFill/>
        </p:spPr>
        <p:txBody>
          <a:bodyPr wrap="square" lIns="0" tIns="0" rIns="0" bIns="0" anchor="t">
            <a:spAutoFit/>
          </a:bodyPr>
          <a:lstStyle/>
          <a:p>
            <a:pPr algn="l">
              <a:spcAft>
                <a:spcPts val="0"/>
              </a:spcAft>
            </a:pPr>
            <a:r>
              <a:rPr sz="850" b="0">
                <a:solidFill>
                  <a:srgbClr val="64796A"/>
                </a:solidFill>
                <a:latin typeface="Consolas"/>
              </a:rPr>
              <a:t>klumbayanfarm.com    arif@klumbayanfarm.com    +62 853 7887 0007</a:t>
            </a:r>
          </a:p>
        </p:txBody>
      </p:sp>
      <p:pic>
        <p:nvPicPr>
          <p:cNvPr id="12" name="Picture 11" descr="mark_kgf.png"/>
          <p:cNvPicPr>
            <a:picLocks noChangeAspect="1"/>
          </p:cNvPicPr>
          <p:nvPr/>
        </p:nvPicPr>
        <p:blipFill>
          <a:blip r:embed="rId3"/>
          <a:stretch>
            <a:fillRect/>
          </a:stretch>
        </p:blipFill>
        <p:spPr>
          <a:xfrm>
            <a:off x="374904" y="218541"/>
            <a:ext cx="694944" cy="694944"/>
          </a:xfrm>
          <a:prstGeom prst="rect">
            <a:avLst/>
          </a:prstGeom>
        </p:spPr>
      </p:pic>
      <p:grpSp>
        <p:nvGrpSpPr>
          <p:cNvPr id="2" name="CoverMarks"/>
          <p:cNvGrpSpPr/>
          <p:nvPr/>
        </p:nvGrpSpPr>
        <p:grpSpPr>
          <a:xfrm>
            <a:off x="3935577" y="398678"/>
            <a:ext cx="2254910" cy="373989"/>
            <a:chOff x="3935577" y="398678"/>
            <a:chExt cx="2254910" cy="373989"/>
          </a:xfrm>
        </p:grpSpPr>
        <p:pic>
          <p:nvPicPr>
            <p:cNvPr id="13" name="Picture 12" descr="mark_c3.png"/>
            <p:cNvPicPr>
              <a:picLocks noChangeAspect="1"/>
            </p:cNvPicPr>
            <p:nvPr/>
          </p:nvPicPr>
          <p:blipFill>
            <a:blip r:embed="rId4"/>
            <a:stretch>
              <a:fillRect/>
            </a:stretch>
          </p:blipFill>
          <p:spPr>
            <a:xfrm>
              <a:off x="3935577" y="461772"/>
              <a:ext cx="1072591" cy="256946"/>
            </a:xfrm>
            <a:prstGeom prst="rect">
              <a:avLst/>
            </a:prstGeom>
          </p:spPr>
        </p:pic>
        <p:sp>
          <p:nvSpPr>
            <p:cNvPr id="14" name="Rectangle 13"/>
            <p:cNvSpPr/>
            <p:nvPr/>
          </p:nvSpPr>
          <p:spPr>
            <a:xfrm>
              <a:off x="5220309" y="421538"/>
              <a:ext cx="8229" cy="320040"/>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mark_hsbc.png"/>
            <p:cNvPicPr>
              <a:picLocks noChangeAspect="1"/>
            </p:cNvPicPr>
            <p:nvPr/>
          </p:nvPicPr>
          <p:blipFill>
            <a:blip r:embed="rId5"/>
            <a:stretch>
              <a:fillRect/>
            </a:stretch>
          </p:blipFill>
          <p:spPr>
            <a:xfrm>
              <a:off x="5373014" y="398678"/>
              <a:ext cx="817473" cy="373989"/>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01   THESIS</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400" b="1">
                <a:solidFill>
                  <a:srgbClr val="13251A"/>
                </a:solidFill>
                <a:latin typeface="Georgia"/>
              </a:rPr>
              <a:t>Agroforestry here is inherited, not introduced.</a:t>
            </a:r>
          </a:p>
        </p:txBody>
      </p:sp>
      <p:sp>
        <p:nvSpPr>
          <p:cNvPr id="6" name="TextBox 5"/>
          <p:cNvSpPr txBox="1"/>
          <p:nvPr/>
        </p:nvSpPr>
        <p:spPr>
          <a:xfrm>
            <a:off x="658368" y="1900022"/>
            <a:ext cx="10874958" cy="1444242"/>
          </a:xfrm>
          <a:prstGeom prst="rect">
            <a:avLst/>
          </a:prstGeom>
          <a:noFill/>
        </p:spPr>
        <p:txBody>
          <a:bodyPr wrap="square" lIns="0" tIns="0" rIns="0" bIns="0" anchor="t">
            <a:spAutoFit/>
          </a:bodyPr>
          <a:lstStyle/>
          <a:p>
            <a:pPr algn="l">
              <a:lnSpc>
                <a:spcPct val="134000"/>
              </a:lnSpc>
              <a:spcAft>
                <a:spcPts val="0"/>
              </a:spcAft>
            </a:pPr>
            <a:r>
              <a:rPr b="0" dirty="0">
                <a:solidFill>
                  <a:srgbClr val="35483A"/>
                </a:solidFill>
                <a:latin typeface="Segoe UI"/>
              </a:rPr>
              <a:t>Lampung smallholders have intercropped pepper, coffee, cacao, cloves and fruit trees for generations. The land is already a mosaic. What is missing is not the practice. It is disease-free planting material, post-harvest quality, and a buyer who pays for what the system actually produces: less volume, higher grade, canopy left standing.</a:t>
            </a:r>
          </a:p>
        </p:txBody>
      </p:sp>
      <p:sp>
        <p:nvSpPr>
          <p:cNvPr id="7" name="Rectangle 6"/>
          <p:cNvSpPr/>
          <p:nvPr/>
        </p:nvSpPr>
        <p:spPr>
          <a:xfrm>
            <a:off x="658368" y="3430447"/>
            <a:ext cx="25603" cy="786384"/>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526699"/>
            <a:ext cx="6949440" cy="759567"/>
          </a:xfrm>
          <a:prstGeom prst="rect">
            <a:avLst/>
          </a:prstGeom>
          <a:noFill/>
        </p:spPr>
        <p:txBody>
          <a:bodyPr wrap="square" lIns="0" tIns="0" rIns="0" bIns="0" anchor="t">
            <a:spAutoFit/>
          </a:bodyPr>
          <a:lstStyle/>
          <a:p>
            <a:pPr algn="l">
              <a:lnSpc>
                <a:spcPct val="130000"/>
              </a:lnSpc>
              <a:spcAft>
                <a:spcPts val="0"/>
              </a:spcAft>
            </a:pPr>
            <a:r>
              <a:rPr sz="2000" b="0" dirty="0">
                <a:solidFill>
                  <a:srgbClr val="13251A"/>
                </a:solidFill>
                <a:latin typeface="Georgia"/>
              </a:rPr>
              <a:t>Our job is not to change how these families farm. It is to make an inherited system finally pay.</a:t>
            </a:r>
          </a:p>
        </p:txBody>
      </p:sp>
      <p:sp>
        <p:nvSpPr>
          <p:cNvPr id="9" name="Rectangle 8"/>
          <p:cNvSpPr/>
          <p:nvPr/>
        </p:nvSpPr>
        <p:spPr>
          <a:xfrm>
            <a:off x="658368" y="452628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4709160"/>
            <a:ext cx="2485567"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1,250</a:t>
            </a:r>
          </a:p>
        </p:txBody>
      </p:sp>
      <p:sp>
        <p:nvSpPr>
          <p:cNvPr id="11" name="TextBox 10"/>
          <p:cNvSpPr txBox="1"/>
          <p:nvPr/>
        </p:nvSpPr>
        <p:spPr>
          <a:xfrm>
            <a:off x="658368" y="5312664"/>
            <a:ext cx="2485567"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FARMERS REGISTERED</a:t>
            </a:r>
          </a:p>
        </p:txBody>
      </p:sp>
      <p:sp>
        <p:nvSpPr>
          <p:cNvPr id="12" name="TextBox 11"/>
          <p:cNvSpPr txBox="1"/>
          <p:nvPr/>
        </p:nvSpPr>
        <p:spPr>
          <a:xfrm>
            <a:off x="658368" y="5586984"/>
            <a:ext cx="2485567" cy="194477"/>
          </a:xfrm>
          <a:prstGeom prst="rect">
            <a:avLst/>
          </a:prstGeom>
          <a:noFill/>
        </p:spPr>
        <p:txBody>
          <a:bodyPr wrap="square" lIns="0" tIns="0" rIns="0" bIns="0" anchor="t">
            <a:spAutoFit/>
          </a:bodyPr>
          <a:lstStyle/>
          <a:p>
            <a:pPr algn="l">
              <a:lnSpc>
                <a:spcPct val="128000"/>
              </a:lnSpc>
              <a:spcAft>
                <a:spcPts val="0"/>
              </a:spcAft>
            </a:pPr>
            <a:r>
              <a:rPr sz="1100" b="0">
                <a:solidFill>
                  <a:srgbClr val="87978B"/>
                </a:solidFill>
                <a:latin typeface="Segoe UI"/>
              </a:rPr>
              <a:t>Tanggamus &amp; Pesawaran regencies</a:t>
            </a:r>
          </a:p>
        </p:txBody>
      </p:sp>
      <p:sp>
        <p:nvSpPr>
          <p:cNvPr id="13" name="Rectangle 12"/>
          <p:cNvSpPr/>
          <p:nvPr/>
        </p:nvSpPr>
        <p:spPr>
          <a:xfrm>
            <a:off x="3454831" y="452628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54831" y="4709160"/>
            <a:ext cx="2485567"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1,393 ha</a:t>
            </a:r>
          </a:p>
        </p:txBody>
      </p:sp>
      <p:sp>
        <p:nvSpPr>
          <p:cNvPr id="15" name="TextBox 14"/>
          <p:cNvSpPr txBox="1"/>
          <p:nvPr/>
        </p:nvSpPr>
        <p:spPr>
          <a:xfrm>
            <a:off x="3454831" y="5312664"/>
            <a:ext cx="2485567"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SURVEYED</a:t>
            </a:r>
          </a:p>
        </p:txBody>
      </p:sp>
      <p:sp>
        <p:nvSpPr>
          <p:cNvPr id="16" name="TextBox 15"/>
          <p:cNvSpPr txBox="1"/>
          <p:nvPr/>
        </p:nvSpPr>
        <p:spPr>
          <a:xfrm>
            <a:off x="3454831" y="5586984"/>
            <a:ext cx="2485567" cy="194477"/>
          </a:xfrm>
          <a:prstGeom prst="rect">
            <a:avLst/>
          </a:prstGeom>
          <a:noFill/>
        </p:spPr>
        <p:txBody>
          <a:bodyPr wrap="square" lIns="0" tIns="0" rIns="0" bIns="0" anchor="t">
            <a:spAutoFit/>
          </a:bodyPr>
          <a:lstStyle/>
          <a:p>
            <a:pPr algn="l">
              <a:lnSpc>
                <a:spcPct val="128000"/>
              </a:lnSpc>
              <a:spcAft>
                <a:spcPts val="0"/>
              </a:spcAft>
            </a:pPr>
            <a:r>
              <a:rPr sz="1100" b="0">
                <a:solidFill>
                  <a:srgbClr val="87978B"/>
                </a:solidFill>
                <a:latin typeface="Segoe UI"/>
              </a:rPr>
              <a:t>697% of initial baseline target</a:t>
            </a:r>
          </a:p>
        </p:txBody>
      </p:sp>
      <p:sp>
        <p:nvSpPr>
          <p:cNvPr id="17" name="Rectangle 16"/>
          <p:cNvSpPr/>
          <p:nvPr/>
        </p:nvSpPr>
        <p:spPr>
          <a:xfrm>
            <a:off x="6251295" y="452628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51295" y="4709160"/>
            <a:ext cx="2485567"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89%</a:t>
            </a:r>
          </a:p>
        </p:txBody>
      </p:sp>
      <p:sp>
        <p:nvSpPr>
          <p:cNvPr id="19" name="TextBox 18"/>
          <p:cNvSpPr txBox="1"/>
          <p:nvPr/>
        </p:nvSpPr>
        <p:spPr>
          <a:xfrm>
            <a:off x="6251295" y="5312664"/>
            <a:ext cx="2485567"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CSA TRAINED</a:t>
            </a:r>
          </a:p>
        </p:txBody>
      </p:sp>
      <p:sp>
        <p:nvSpPr>
          <p:cNvPr id="20" name="TextBox 19"/>
          <p:cNvSpPr txBox="1"/>
          <p:nvPr/>
        </p:nvSpPr>
        <p:spPr>
          <a:xfrm>
            <a:off x="6251295" y="5586984"/>
            <a:ext cx="2485567" cy="194477"/>
          </a:xfrm>
          <a:prstGeom prst="rect">
            <a:avLst/>
          </a:prstGeom>
          <a:noFill/>
        </p:spPr>
        <p:txBody>
          <a:bodyPr wrap="square" lIns="0" tIns="0" rIns="0" bIns="0" anchor="t">
            <a:spAutoFit/>
          </a:bodyPr>
          <a:lstStyle/>
          <a:p>
            <a:pPr algn="l">
              <a:lnSpc>
                <a:spcPct val="128000"/>
              </a:lnSpc>
              <a:spcAft>
                <a:spcPts val="0"/>
              </a:spcAft>
            </a:pPr>
            <a:r>
              <a:rPr sz="1100" b="0">
                <a:solidFill>
                  <a:srgbClr val="87978B"/>
                </a:solidFill>
                <a:latin typeface="Segoe UI"/>
              </a:rPr>
              <a:t>1,111 farmers, climate-smart practice</a:t>
            </a:r>
          </a:p>
        </p:txBody>
      </p:sp>
      <p:sp>
        <p:nvSpPr>
          <p:cNvPr id="21" name="Rectangle 20"/>
          <p:cNvSpPr/>
          <p:nvPr/>
        </p:nvSpPr>
        <p:spPr>
          <a:xfrm>
            <a:off x="9047759" y="452628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47759" y="4709160"/>
            <a:ext cx="2485567" cy="566928"/>
          </a:xfrm>
          <a:prstGeom prst="rect">
            <a:avLst/>
          </a:prstGeom>
          <a:noFill/>
        </p:spPr>
        <p:txBody>
          <a:bodyPr wrap="square" lIns="0" tIns="0" rIns="0" bIns="0" anchor="t">
            <a:spAutoFit/>
          </a:bodyPr>
          <a:lstStyle/>
          <a:p>
            <a:pPr algn="l">
              <a:lnSpc>
                <a:spcPct val="106000"/>
              </a:lnSpc>
              <a:spcAft>
                <a:spcPts val="0"/>
              </a:spcAft>
            </a:pPr>
            <a:r>
              <a:rPr sz="3000" b="1">
                <a:solidFill>
                  <a:srgbClr val="207A4B"/>
                </a:solidFill>
                <a:latin typeface="Georgia"/>
              </a:rPr>
              <a:t>90%</a:t>
            </a:r>
          </a:p>
        </p:txBody>
      </p:sp>
      <p:sp>
        <p:nvSpPr>
          <p:cNvPr id="23" name="TextBox 22"/>
          <p:cNvSpPr txBox="1"/>
          <p:nvPr/>
        </p:nvSpPr>
        <p:spPr>
          <a:xfrm>
            <a:off x="9047759" y="5312664"/>
            <a:ext cx="2485567"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INCOME DIVERSIFIED</a:t>
            </a:r>
          </a:p>
        </p:txBody>
      </p:sp>
      <p:sp>
        <p:nvSpPr>
          <p:cNvPr id="24" name="TextBox 23"/>
          <p:cNvSpPr txBox="1"/>
          <p:nvPr/>
        </p:nvSpPr>
        <p:spPr>
          <a:xfrm>
            <a:off x="9047759" y="5586984"/>
            <a:ext cx="2485567" cy="411138"/>
          </a:xfrm>
          <a:prstGeom prst="rect">
            <a:avLst/>
          </a:prstGeom>
          <a:noFill/>
        </p:spPr>
        <p:txBody>
          <a:bodyPr wrap="square" lIns="0" tIns="0" rIns="0" bIns="0" anchor="t">
            <a:spAutoFit/>
          </a:bodyPr>
          <a:lstStyle/>
          <a:p>
            <a:pPr algn="l">
              <a:lnSpc>
                <a:spcPct val="128000"/>
              </a:lnSpc>
              <a:spcAft>
                <a:spcPts val="0"/>
              </a:spcAft>
            </a:pPr>
            <a:r>
              <a:rPr sz="1100" b="0">
                <a:solidFill>
                  <a:srgbClr val="87978B"/>
                </a:solidFill>
                <a:latin typeface="Segoe UI"/>
              </a:rPr>
              <a:t>Household income beyond pepper alone</a:t>
            </a:r>
          </a:p>
        </p:txBody>
      </p:sp>
      <p:sp>
        <p:nvSpPr>
          <p:cNvPr id="25" name="TextBox 24"/>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26" name="TextBox 25"/>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01</a:t>
            </a:r>
          </a:p>
        </p:txBody>
      </p:sp>
      <p:grpSp>
        <p:nvGrpSpPr>
          <p:cNvPr id="27" name="BrandLockup"/>
          <p:cNvGrpSpPr/>
          <p:nvPr/>
        </p:nvGrpSpPr>
        <p:grpSpPr>
          <a:xfrm>
            <a:off x="9123556" y="438912"/>
            <a:ext cx="2410045" cy="310896"/>
            <a:chOff x="9123556" y="438912"/>
            <a:chExt cx="2410045" cy="310896"/>
          </a:xfrm>
        </p:grpSpPr>
        <p:pic>
          <p:nvPicPr>
            <p:cNvPr id="28" name="Picture 27" descr="mark_kgf.png"/>
            <p:cNvPicPr>
              <a:picLocks noChangeAspect="1"/>
            </p:cNvPicPr>
            <p:nvPr/>
          </p:nvPicPr>
          <p:blipFill>
            <a:blip r:embed="rId2"/>
            <a:stretch>
              <a:fillRect/>
            </a:stretch>
          </p:blipFill>
          <p:spPr>
            <a:xfrm>
              <a:off x="9123556" y="438912"/>
              <a:ext cx="310896" cy="310896"/>
            </a:xfrm>
            <a:prstGeom prst="rect">
              <a:avLst/>
            </a:prstGeom>
          </p:spPr>
        </p:pic>
        <p:sp>
          <p:nvSpPr>
            <p:cNvPr id="29" name="Rectangle 28"/>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mark_c3.png"/>
            <p:cNvPicPr>
              <a:picLocks noChangeAspect="1"/>
            </p:cNvPicPr>
            <p:nvPr/>
          </p:nvPicPr>
          <p:blipFill>
            <a:blip r:embed="rId3"/>
            <a:stretch>
              <a:fillRect/>
            </a:stretch>
          </p:blipFill>
          <p:spPr>
            <a:xfrm>
              <a:off x="9708772" y="466344"/>
              <a:ext cx="1019596" cy="256032"/>
            </a:xfrm>
            <a:prstGeom prst="rect">
              <a:avLst/>
            </a:prstGeom>
          </p:spPr>
        </p:pic>
        <p:sp>
          <p:nvSpPr>
            <p:cNvPr id="31" name="Rectangle 30"/>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02   THE PROBLEM</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400" b="1">
                <a:solidFill>
                  <a:srgbClr val="13251A"/>
                </a:solidFill>
                <a:latin typeface="Georgia"/>
              </a:rPr>
              <a:t>Two ledgers fail at once.</a:t>
            </a:r>
          </a:p>
        </p:txBody>
      </p:sp>
      <p:sp>
        <p:nvSpPr>
          <p:cNvPr id="6" name="Rectangle 5"/>
          <p:cNvSpPr/>
          <p:nvPr/>
        </p:nvSpPr>
        <p:spPr>
          <a:xfrm>
            <a:off x="658368" y="2240280"/>
            <a:ext cx="3417722" cy="320040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2514600"/>
            <a:ext cx="2869082" cy="153888"/>
          </a:xfrm>
          <a:prstGeom prst="rect">
            <a:avLst/>
          </a:prstGeom>
          <a:noFill/>
        </p:spPr>
        <p:txBody>
          <a:bodyPr wrap="square" lIns="0" tIns="0" rIns="0" bIns="0" anchor="t">
            <a:spAutoFit/>
          </a:bodyPr>
          <a:lstStyle/>
          <a:p>
            <a:pPr algn="l">
              <a:spcAft>
                <a:spcPts val="0"/>
              </a:spcAft>
            </a:pPr>
            <a:r>
              <a:rPr sz="1000" b="0">
                <a:solidFill>
                  <a:srgbClr val="207A4B"/>
                </a:solidFill>
                <a:latin typeface="Consolas"/>
              </a:rPr>
              <a:t>MARKET SIDE</a:t>
            </a:r>
          </a:p>
        </p:txBody>
      </p:sp>
      <p:sp>
        <p:nvSpPr>
          <p:cNvPr id="8" name="TextBox 7"/>
          <p:cNvSpPr txBox="1"/>
          <p:nvPr/>
        </p:nvSpPr>
        <p:spPr>
          <a:xfrm>
            <a:off x="932688" y="2807208"/>
            <a:ext cx="2869082" cy="596317"/>
          </a:xfrm>
          <a:prstGeom prst="rect">
            <a:avLst/>
          </a:prstGeom>
          <a:noFill/>
        </p:spPr>
        <p:txBody>
          <a:bodyPr wrap="square" lIns="0" tIns="0" rIns="0" bIns="0" anchor="t">
            <a:spAutoFit/>
          </a:bodyPr>
          <a:lstStyle/>
          <a:p>
            <a:pPr algn="l">
              <a:lnSpc>
                <a:spcPct val="112000"/>
              </a:lnSpc>
              <a:spcAft>
                <a:spcPts val="0"/>
              </a:spcAft>
            </a:pPr>
            <a:r>
              <a:rPr b="1" dirty="0">
                <a:solidFill>
                  <a:srgbClr val="13251A"/>
                </a:solidFill>
                <a:latin typeface="Georgia"/>
              </a:rPr>
              <a:t>Buyers cannot prove origin</a:t>
            </a:r>
          </a:p>
        </p:txBody>
      </p:sp>
      <p:sp>
        <p:nvSpPr>
          <p:cNvPr id="9" name="TextBox 8"/>
          <p:cNvSpPr txBox="1"/>
          <p:nvPr/>
        </p:nvSpPr>
        <p:spPr>
          <a:xfrm>
            <a:off x="932688" y="3428040"/>
            <a:ext cx="2869082" cy="1705082"/>
          </a:xfrm>
          <a:prstGeom prst="rect">
            <a:avLst/>
          </a:prstGeom>
          <a:noFill/>
        </p:spPr>
        <p:txBody>
          <a:bodyPr wrap="square" lIns="0" tIns="0" rIns="0" bIns="0" anchor="t">
            <a:spAutoFit/>
          </a:bodyPr>
          <a:lstStyle/>
          <a:p>
            <a:pPr algn="l">
              <a:lnSpc>
                <a:spcPct val="134000"/>
              </a:lnSpc>
              <a:spcAft>
                <a:spcPts val="0"/>
              </a:spcAft>
            </a:pPr>
            <a:r>
              <a:rPr sz="1200" b="0" dirty="0">
                <a:solidFill>
                  <a:srgbClr val="35483A"/>
                </a:solidFill>
                <a:latin typeface="Segoe UI"/>
              </a:rPr>
              <a:t>European food and spice houses carry EUDR obligations on coffee and cacao, and corporate due-diligence exposure across everything else they source. Fragmented smallholder networks cannot deliver plot-level proof, so compliant volume is scarce and priced accordingly.</a:t>
            </a:r>
          </a:p>
        </p:txBody>
      </p:sp>
      <p:sp>
        <p:nvSpPr>
          <p:cNvPr id="10" name="Rectangle 9"/>
          <p:cNvSpPr/>
          <p:nvPr/>
        </p:nvSpPr>
        <p:spPr>
          <a:xfrm>
            <a:off x="4386986" y="2240280"/>
            <a:ext cx="3417722" cy="320040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1306" y="2514600"/>
            <a:ext cx="2869082" cy="153888"/>
          </a:xfrm>
          <a:prstGeom prst="rect">
            <a:avLst/>
          </a:prstGeom>
          <a:noFill/>
        </p:spPr>
        <p:txBody>
          <a:bodyPr wrap="square" lIns="0" tIns="0" rIns="0" bIns="0" anchor="t">
            <a:spAutoFit/>
          </a:bodyPr>
          <a:lstStyle/>
          <a:p>
            <a:pPr algn="l">
              <a:spcAft>
                <a:spcPts val="0"/>
              </a:spcAft>
            </a:pPr>
            <a:r>
              <a:rPr sz="1000" b="0">
                <a:solidFill>
                  <a:srgbClr val="207A4B"/>
                </a:solidFill>
                <a:latin typeface="Consolas"/>
              </a:rPr>
              <a:t>FARM SIDE</a:t>
            </a:r>
          </a:p>
        </p:txBody>
      </p:sp>
      <p:sp>
        <p:nvSpPr>
          <p:cNvPr id="12" name="TextBox 11"/>
          <p:cNvSpPr txBox="1"/>
          <p:nvPr/>
        </p:nvSpPr>
        <p:spPr>
          <a:xfrm>
            <a:off x="4661306" y="2807208"/>
            <a:ext cx="2869082" cy="286104"/>
          </a:xfrm>
          <a:prstGeom prst="rect">
            <a:avLst/>
          </a:prstGeom>
          <a:noFill/>
        </p:spPr>
        <p:txBody>
          <a:bodyPr wrap="square" lIns="0" tIns="0" rIns="0" bIns="0" anchor="t">
            <a:spAutoFit/>
          </a:bodyPr>
          <a:lstStyle/>
          <a:p>
            <a:pPr algn="l">
              <a:lnSpc>
                <a:spcPct val="112000"/>
              </a:lnSpc>
              <a:spcAft>
                <a:spcPts val="0"/>
              </a:spcAft>
            </a:pPr>
            <a:r>
              <a:rPr b="1">
                <a:solidFill>
                  <a:srgbClr val="13251A"/>
                </a:solidFill>
                <a:latin typeface="Georgia"/>
              </a:rPr>
              <a:t>Good land, thin returns</a:t>
            </a:r>
          </a:p>
        </p:txBody>
      </p:sp>
      <p:sp>
        <p:nvSpPr>
          <p:cNvPr id="13" name="TextBox 12"/>
          <p:cNvSpPr txBox="1"/>
          <p:nvPr/>
        </p:nvSpPr>
        <p:spPr>
          <a:xfrm>
            <a:off x="4661306" y="3428040"/>
            <a:ext cx="2869082" cy="1457643"/>
          </a:xfrm>
          <a:prstGeom prst="rect">
            <a:avLst/>
          </a:prstGeom>
          <a:noFill/>
        </p:spPr>
        <p:txBody>
          <a:bodyPr wrap="square" lIns="0" tIns="0" rIns="0" bIns="0" anchor="t">
            <a:spAutoFit/>
          </a:bodyPr>
          <a:lstStyle/>
          <a:p>
            <a:pPr algn="l">
              <a:lnSpc>
                <a:spcPct val="134000"/>
              </a:lnSpc>
              <a:spcAft>
                <a:spcPts val="0"/>
              </a:spcAft>
            </a:pPr>
            <a:r>
              <a:rPr sz="1200" b="0">
                <a:solidFill>
                  <a:srgbClr val="35483A"/>
                </a:solidFill>
                <a:latin typeface="Segoe UI"/>
              </a:rPr>
              <a:t>Ageing tree stock, no access to clean planting material and weak post-harvest handling keep quality below export grade. Households sell to village traders at commodity prices and absorb every price shock directly.</a:t>
            </a:r>
          </a:p>
        </p:txBody>
      </p:sp>
      <p:sp>
        <p:nvSpPr>
          <p:cNvPr id="14" name="Rectangle 13"/>
          <p:cNvSpPr/>
          <p:nvPr/>
        </p:nvSpPr>
        <p:spPr>
          <a:xfrm>
            <a:off x="8115604" y="2240280"/>
            <a:ext cx="3417722" cy="320040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89924" y="2514600"/>
            <a:ext cx="2869082" cy="153888"/>
          </a:xfrm>
          <a:prstGeom prst="rect">
            <a:avLst/>
          </a:prstGeom>
          <a:noFill/>
        </p:spPr>
        <p:txBody>
          <a:bodyPr wrap="square" lIns="0" tIns="0" rIns="0" bIns="0" anchor="t">
            <a:spAutoFit/>
          </a:bodyPr>
          <a:lstStyle/>
          <a:p>
            <a:pPr algn="l">
              <a:spcAft>
                <a:spcPts val="0"/>
              </a:spcAft>
            </a:pPr>
            <a:r>
              <a:rPr sz="1000" b="0">
                <a:solidFill>
                  <a:srgbClr val="207A4B"/>
                </a:solidFill>
                <a:latin typeface="Consolas"/>
              </a:rPr>
              <a:t>LANDSCAPE SIDE</a:t>
            </a:r>
          </a:p>
        </p:txBody>
      </p:sp>
      <p:sp>
        <p:nvSpPr>
          <p:cNvPr id="16" name="TextBox 15"/>
          <p:cNvSpPr txBox="1"/>
          <p:nvPr/>
        </p:nvSpPr>
        <p:spPr>
          <a:xfrm>
            <a:off x="8389924" y="2807208"/>
            <a:ext cx="2869082" cy="286104"/>
          </a:xfrm>
          <a:prstGeom prst="rect">
            <a:avLst/>
          </a:prstGeom>
          <a:noFill/>
        </p:spPr>
        <p:txBody>
          <a:bodyPr wrap="square" lIns="0" tIns="0" rIns="0" bIns="0" anchor="t">
            <a:spAutoFit/>
          </a:bodyPr>
          <a:lstStyle/>
          <a:p>
            <a:pPr algn="l">
              <a:lnSpc>
                <a:spcPct val="112000"/>
              </a:lnSpc>
              <a:spcAft>
                <a:spcPts val="0"/>
              </a:spcAft>
            </a:pPr>
            <a:r>
              <a:rPr b="1">
                <a:solidFill>
                  <a:srgbClr val="13251A"/>
                </a:solidFill>
                <a:latin typeface="Georgia"/>
              </a:rPr>
              <a:t>Extraction pays better</a:t>
            </a:r>
          </a:p>
        </p:txBody>
      </p:sp>
      <p:sp>
        <p:nvSpPr>
          <p:cNvPr id="17" name="TextBox 16"/>
          <p:cNvSpPr txBox="1"/>
          <p:nvPr/>
        </p:nvSpPr>
        <p:spPr>
          <a:xfrm>
            <a:off x="8389924" y="3428040"/>
            <a:ext cx="2869082" cy="962764"/>
          </a:xfrm>
          <a:prstGeom prst="rect">
            <a:avLst/>
          </a:prstGeom>
          <a:noFill/>
        </p:spPr>
        <p:txBody>
          <a:bodyPr wrap="square" lIns="0" tIns="0" rIns="0" bIns="0" anchor="t">
            <a:spAutoFit/>
          </a:bodyPr>
          <a:lstStyle/>
          <a:p>
            <a:pPr algn="l">
              <a:lnSpc>
                <a:spcPct val="134000"/>
              </a:lnSpc>
              <a:spcAft>
                <a:spcPts val="0"/>
              </a:spcAft>
            </a:pPr>
            <a:r>
              <a:rPr sz="1200" b="0">
                <a:solidFill>
                  <a:srgbClr val="35483A"/>
                </a:solidFill>
                <a:latin typeface="Segoe UI"/>
              </a:rPr>
              <a:t>Where farm income falls short, artisanal gold mining and land conversion become the rational alternative. The forest margin is lost to economics, not ignorance.</a:t>
            </a:r>
          </a:p>
        </p:txBody>
      </p:sp>
      <p:sp>
        <p:nvSpPr>
          <p:cNvPr id="18" name="TextBox 17"/>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19" name="TextBox 18"/>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02</a:t>
            </a:r>
          </a:p>
        </p:txBody>
      </p:sp>
      <p:grpSp>
        <p:nvGrpSpPr>
          <p:cNvPr id="20" name="BrandLockup"/>
          <p:cNvGrpSpPr/>
          <p:nvPr/>
        </p:nvGrpSpPr>
        <p:grpSpPr>
          <a:xfrm>
            <a:off x="9123556" y="438912"/>
            <a:ext cx="2410045" cy="310896"/>
            <a:chOff x="9123556" y="438912"/>
            <a:chExt cx="2410045" cy="310896"/>
          </a:xfrm>
        </p:grpSpPr>
        <p:pic>
          <p:nvPicPr>
            <p:cNvPr id="21" name="Picture 20" descr="mark_kgf.png"/>
            <p:cNvPicPr>
              <a:picLocks noChangeAspect="1"/>
            </p:cNvPicPr>
            <p:nvPr/>
          </p:nvPicPr>
          <p:blipFill>
            <a:blip r:embed="rId2"/>
            <a:stretch>
              <a:fillRect/>
            </a:stretch>
          </p:blipFill>
          <p:spPr>
            <a:xfrm>
              <a:off x="9123556" y="438912"/>
              <a:ext cx="310896" cy="310896"/>
            </a:xfrm>
            <a:prstGeom prst="rect">
              <a:avLst/>
            </a:prstGeom>
          </p:spPr>
        </p:pic>
        <p:sp>
          <p:nvSpPr>
            <p:cNvPr id="22" name="Rectangle 21"/>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mark_c3.png"/>
            <p:cNvPicPr>
              <a:picLocks noChangeAspect="1"/>
            </p:cNvPicPr>
            <p:nvPr/>
          </p:nvPicPr>
          <p:blipFill>
            <a:blip r:embed="rId3"/>
            <a:stretch>
              <a:fillRect/>
            </a:stretch>
          </p:blipFill>
          <p:spPr>
            <a:xfrm>
              <a:off x="9708772" y="466344"/>
              <a:ext cx="1019596" cy="256032"/>
            </a:xfrm>
            <a:prstGeom prst="rect">
              <a:avLst/>
            </a:prstGeom>
          </p:spPr>
        </p:pic>
        <p:sp>
          <p:nvSpPr>
            <p:cNvPr id="24" name="Rectangle 23"/>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03   THE MODEL</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400" b="1">
                <a:solidFill>
                  <a:srgbClr val="13251A"/>
                </a:solidFill>
                <a:latin typeface="Georgia"/>
              </a:rPr>
              <a:t>One company across the whole chain.</a:t>
            </a:r>
          </a:p>
        </p:txBody>
      </p:sp>
      <p:sp>
        <p:nvSpPr>
          <p:cNvPr id="6" name="TextBox 5"/>
          <p:cNvSpPr txBox="1"/>
          <p:nvPr/>
        </p:nvSpPr>
        <p:spPr>
          <a:xfrm>
            <a:off x="658367" y="2145952"/>
            <a:ext cx="10687411" cy="701859"/>
          </a:xfrm>
          <a:prstGeom prst="rect">
            <a:avLst/>
          </a:prstGeom>
          <a:noFill/>
        </p:spPr>
        <p:txBody>
          <a:bodyPr wrap="square" lIns="0" tIns="0" rIns="0" bIns="0" anchor="t">
            <a:spAutoFit/>
          </a:bodyPr>
          <a:lstStyle/>
          <a:p>
            <a:pPr algn="l">
              <a:lnSpc>
                <a:spcPct val="134000"/>
              </a:lnSpc>
              <a:spcAft>
                <a:spcPts val="0"/>
              </a:spcAft>
            </a:pPr>
            <a:r>
              <a:rPr b="0" dirty="0">
                <a:solidFill>
                  <a:srgbClr val="35483A"/>
                </a:solidFill>
                <a:latin typeface="Segoe UI"/>
              </a:rPr>
              <a:t>KGF is both the field implementor and the off-taker. We are not a project that hands farmers to a trader at the end. We buy, we process, we export, and the premium travels back down the same line it came up.</a:t>
            </a:r>
          </a:p>
        </p:txBody>
      </p:sp>
      <p:sp>
        <p:nvSpPr>
          <p:cNvPr id="7" name="Rectangle 6"/>
          <p:cNvSpPr/>
          <p:nvPr/>
        </p:nvSpPr>
        <p:spPr>
          <a:xfrm>
            <a:off x="658368" y="3154680"/>
            <a:ext cx="3417722" cy="27889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3429000"/>
            <a:ext cx="2869082" cy="22860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01 · PRODUCE</a:t>
            </a:r>
          </a:p>
        </p:txBody>
      </p:sp>
      <p:sp>
        <p:nvSpPr>
          <p:cNvPr id="9" name="TextBox 8"/>
          <p:cNvSpPr txBox="1"/>
          <p:nvPr/>
        </p:nvSpPr>
        <p:spPr>
          <a:xfrm>
            <a:off x="932688" y="3721608"/>
            <a:ext cx="2869082"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Planting material &amp; practice</a:t>
            </a:r>
          </a:p>
        </p:txBody>
      </p:sp>
      <p:sp>
        <p:nvSpPr>
          <p:cNvPr id="10" name="TextBox 9"/>
          <p:cNvSpPr txBox="1"/>
          <p:nvPr/>
        </p:nvSpPr>
        <p:spPr>
          <a:xfrm>
            <a:off x="932688" y="4258216"/>
            <a:ext cx="2869082" cy="1457643"/>
          </a:xfrm>
          <a:prstGeom prst="rect">
            <a:avLst/>
          </a:prstGeom>
          <a:noFill/>
        </p:spPr>
        <p:txBody>
          <a:bodyPr wrap="square" lIns="0" tIns="0" rIns="0" bIns="0" anchor="t">
            <a:spAutoFit/>
          </a:bodyPr>
          <a:lstStyle/>
          <a:p>
            <a:pPr algn="l">
              <a:lnSpc>
                <a:spcPct val="134000"/>
              </a:lnSpc>
              <a:spcAft>
                <a:spcPts val="0"/>
              </a:spcAft>
            </a:pPr>
            <a:r>
              <a:rPr sz="1200" b="0" dirty="0">
                <a:solidFill>
                  <a:srgbClr val="35483A"/>
                </a:solidFill>
                <a:latin typeface="Segoe UI"/>
              </a:rPr>
              <a:t>Mother Plant Farm in </a:t>
            </a:r>
            <a:r>
              <a:rPr sz="1200" b="0" dirty="0" err="1">
                <a:solidFill>
                  <a:srgbClr val="35483A"/>
                </a:solidFill>
                <a:latin typeface="Segoe UI"/>
              </a:rPr>
              <a:t>Pesawaran</a:t>
            </a:r>
            <a:r>
              <a:rPr sz="1200" b="0" dirty="0">
                <a:solidFill>
                  <a:srgbClr val="35483A"/>
                </a:solidFill>
                <a:latin typeface="Segoe UI"/>
              </a:rPr>
              <a:t> producing disease-free pepper and cacao seedlings, supported by village nurseries, demonstration plots, composting for organic inputs, and field schools for Good Agricultural Practice.</a:t>
            </a:r>
          </a:p>
        </p:txBody>
      </p:sp>
      <p:sp>
        <p:nvSpPr>
          <p:cNvPr id="11" name="Rectangle 10"/>
          <p:cNvSpPr/>
          <p:nvPr/>
        </p:nvSpPr>
        <p:spPr>
          <a:xfrm>
            <a:off x="4386986" y="3154680"/>
            <a:ext cx="3417722" cy="27889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1306" y="3429000"/>
            <a:ext cx="2869082" cy="22860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02 · PROCESS</a:t>
            </a:r>
          </a:p>
        </p:txBody>
      </p:sp>
      <p:sp>
        <p:nvSpPr>
          <p:cNvPr id="13" name="TextBox 12"/>
          <p:cNvSpPr txBox="1"/>
          <p:nvPr/>
        </p:nvSpPr>
        <p:spPr>
          <a:xfrm>
            <a:off x="4661306" y="3721608"/>
            <a:ext cx="2869082"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Grade, not just volume</a:t>
            </a:r>
          </a:p>
        </p:txBody>
      </p:sp>
      <p:sp>
        <p:nvSpPr>
          <p:cNvPr id="14" name="TextBox 13"/>
          <p:cNvSpPr txBox="1"/>
          <p:nvPr/>
        </p:nvSpPr>
        <p:spPr>
          <a:xfrm>
            <a:off x="4661306" y="4258216"/>
            <a:ext cx="2869082" cy="1210203"/>
          </a:xfrm>
          <a:prstGeom prst="rect">
            <a:avLst/>
          </a:prstGeom>
          <a:noFill/>
        </p:spPr>
        <p:txBody>
          <a:bodyPr wrap="square" lIns="0" tIns="0" rIns="0" bIns="0" anchor="t">
            <a:spAutoFit/>
          </a:bodyPr>
          <a:lstStyle/>
          <a:p>
            <a:pPr algn="l">
              <a:lnSpc>
                <a:spcPct val="134000"/>
              </a:lnSpc>
              <a:spcAft>
                <a:spcPts val="0"/>
              </a:spcAft>
            </a:pPr>
            <a:r>
              <a:rPr sz="1200" b="0">
                <a:solidFill>
                  <a:srgbClr val="35483A"/>
                </a:solidFill>
                <a:latin typeface="Segoe UI"/>
              </a:rPr>
              <a:t>Natar facility handling cleaning, grading and drying to ASTA 550 for black pepper, sorted grade 1 robusta, and controlled cacao fermentation with downstream roasting and winnowing.</a:t>
            </a:r>
          </a:p>
        </p:txBody>
      </p:sp>
      <p:sp>
        <p:nvSpPr>
          <p:cNvPr id="15" name="Rectangle 14"/>
          <p:cNvSpPr/>
          <p:nvPr/>
        </p:nvSpPr>
        <p:spPr>
          <a:xfrm>
            <a:off x="8115604" y="3154680"/>
            <a:ext cx="3417722" cy="27889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89924" y="3429000"/>
            <a:ext cx="2869082" cy="22860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03 · PLACE</a:t>
            </a:r>
          </a:p>
        </p:txBody>
      </p:sp>
      <p:sp>
        <p:nvSpPr>
          <p:cNvPr id="17" name="TextBox 16"/>
          <p:cNvSpPr txBox="1"/>
          <p:nvPr/>
        </p:nvSpPr>
        <p:spPr>
          <a:xfrm>
            <a:off x="8389924" y="3721608"/>
            <a:ext cx="2869082"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Contracted off-take</a:t>
            </a:r>
          </a:p>
        </p:txBody>
      </p:sp>
      <p:sp>
        <p:nvSpPr>
          <p:cNvPr id="18" name="TextBox 17"/>
          <p:cNvSpPr txBox="1"/>
          <p:nvPr/>
        </p:nvSpPr>
        <p:spPr>
          <a:xfrm>
            <a:off x="8389924" y="4258216"/>
            <a:ext cx="2869082" cy="1210203"/>
          </a:xfrm>
          <a:prstGeom prst="rect">
            <a:avLst/>
          </a:prstGeom>
          <a:noFill/>
        </p:spPr>
        <p:txBody>
          <a:bodyPr wrap="square" lIns="0" tIns="0" rIns="0" bIns="0" anchor="t">
            <a:spAutoFit/>
          </a:bodyPr>
          <a:lstStyle/>
          <a:p>
            <a:pPr algn="l">
              <a:lnSpc>
                <a:spcPct val="134000"/>
              </a:lnSpc>
              <a:spcAft>
                <a:spcPts val="0"/>
              </a:spcAft>
            </a:pPr>
            <a:r>
              <a:rPr sz="1200" b="0">
                <a:solidFill>
                  <a:srgbClr val="35483A"/>
                </a:solidFill>
                <a:latin typeface="Segoe UI"/>
              </a:rPr>
              <a:t>Binding B2B purchase agreements with European buyers, guaranteed farm-gate pricing 10 to 20 percent above the village trader, and ethical premium returned to the producing household.</a:t>
            </a:r>
          </a:p>
        </p:txBody>
      </p:sp>
      <p:sp>
        <p:nvSpPr>
          <p:cNvPr id="19" name="TextBox 18"/>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20" name="TextBox 19"/>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03</a:t>
            </a:r>
          </a:p>
        </p:txBody>
      </p:sp>
      <p:grpSp>
        <p:nvGrpSpPr>
          <p:cNvPr id="21" name="BrandLockup"/>
          <p:cNvGrpSpPr/>
          <p:nvPr/>
        </p:nvGrpSpPr>
        <p:grpSpPr>
          <a:xfrm>
            <a:off x="9123556" y="438912"/>
            <a:ext cx="2410045" cy="310896"/>
            <a:chOff x="9123556" y="438912"/>
            <a:chExt cx="2410045" cy="310896"/>
          </a:xfrm>
        </p:grpSpPr>
        <p:pic>
          <p:nvPicPr>
            <p:cNvPr id="22" name="Picture 21" descr="mark_kgf.png"/>
            <p:cNvPicPr>
              <a:picLocks noChangeAspect="1"/>
            </p:cNvPicPr>
            <p:nvPr/>
          </p:nvPicPr>
          <p:blipFill>
            <a:blip r:embed="rId2"/>
            <a:stretch>
              <a:fillRect/>
            </a:stretch>
          </p:blipFill>
          <p:spPr>
            <a:xfrm>
              <a:off x="9123556" y="438912"/>
              <a:ext cx="310896" cy="310896"/>
            </a:xfrm>
            <a:prstGeom prst="rect">
              <a:avLst/>
            </a:prstGeom>
          </p:spPr>
        </p:pic>
        <p:sp>
          <p:nvSpPr>
            <p:cNvPr id="23" name="Rectangle 22"/>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mark_c3.png"/>
            <p:cNvPicPr>
              <a:picLocks noChangeAspect="1"/>
            </p:cNvPicPr>
            <p:nvPr/>
          </p:nvPicPr>
          <p:blipFill>
            <a:blip r:embed="rId3"/>
            <a:stretch>
              <a:fillRect/>
            </a:stretch>
          </p:blipFill>
          <p:spPr>
            <a:xfrm>
              <a:off x="9708772" y="466344"/>
              <a:ext cx="1019596" cy="256032"/>
            </a:xfrm>
            <a:prstGeom prst="rect">
              <a:avLst/>
            </a:prstGeom>
          </p:spPr>
        </p:pic>
        <p:sp>
          <p:nvSpPr>
            <p:cNvPr id="25" name="Rectangle 24"/>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04   PORTFOLIO · OPERATIONS</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Built and running, not proposed.</a:t>
            </a:r>
          </a:p>
        </p:txBody>
      </p:sp>
      <p:sp>
        <p:nvSpPr>
          <p:cNvPr id="6" name="TextBox 5"/>
          <p:cNvSpPr txBox="1"/>
          <p:nvPr/>
        </p:nvSpPr>
        <p:spPr>
          <a:xfrm>
            <a:off x="695474" y="1656465"/>
            <a:ext cx="10518969" cy="286553"/>
          </a:xfrm>
          <a:prstGeom prst="rect">
            <a:avLst/>
          </a:prstGeom>
          <a:noFill/>
        </p:spPr>
        <p:txBody>
          <a:bodyPr wrap="square" lIns="0" tIns="0" rIns="0" bIns="0" anchor="t">
            <a:spAutoFit/>
          </a:bodyPr>
          <a:lstStyle/>
          <a:p>
            <a:pPr>
              <a:lnSpc>
                <a:spcPct val="130000"/>
              </a:lnSpc>
            </a:pPr>
            <a:r>
              <a:rPr lang="en-GB" sz="1600" dirty="0">
                <a:solidFill>
                  <a:srgbClr val="35483A"/>
                </a:solidFill>
                <a:latin typeface="Segoe UI"/>
              </a:rPr>
              <a:t>Facilities commissioned between 2024 and 2026. This is the operating base an investment would scale, not create.</a:t>
            </a:r>
          </a:p>
        </p:txBody>
      </p:sp>
      <p:pic>
        <p:nvPicPr>
          <p:cNvPr id="7" name="Picture 6" descr="crop_IMG_QC_84875573.jpg"/>
          <p:cNvPicPr>
            <a:picLocks noChangeAspect="1"/>
          </p:cNvPicPr>
          <p:nvPr/>
        </p:nvPicPr>
        <p:blipFill>
          <a:blip r:embed="rId2"/>
          <a:stretch>
            <a:fillRect/>
          </a:stretch>
        </p:blipFill>
        <p:spPr>
          <a:xfrm>
            <a:off x="658368" y="2103120"/>
            <a:ext cx="1682496" cy="2084831"/>
          </a:xfrm>
          <a:prstGeom prst="rect">
            <a:avLst/>
          </a:prstGeom>
        </p:spPr>
      </p:pic>
      <p:sp>
        <p:nvSpPr>
          <p:cNvPr id="8" name="TextBox 7"/>
          <p:cNvSpPr txBox="1"/>
          <p:nvPr/>
        </p:nvSpPr>
        <p:spPr>
          <a:xfrm>
            <a:off x="658368" y="4251960"/>
            <a:ext cx="1682496"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QUALITY CONTROL</a:t>
            </a:r>
          </a:p>
        </p:txBody>
      </p:sp>
      <p:pic>
        <p:nvPicPr>
          <p:cNvPr id="9" name="Picture 8" descr="crop_IMG_COCOA_23300917.jpg"/>
          <p:cNvPicPr>
            <a:picLocks noChangeAspect="1"/>
          </p:cNvPicPr>
          <p:nvPr/>
        </p:nvPicPr>
        <p:blipFill>
          <a:blip r:embed="rId3"/>
          <a:stretch>
            <a:fillRect/>
          </a:stretch>
        </p:blipFill>
        <p:spPr>
          <a:xfrm>
            <a:off x="2523744" y="2103120"/>
            <a:ext cx="1682496" cy="2084831"/>
          </a:xfrm>
          <a:prstGeom prst="rect">
            <a:avLst/>
          </a:prstGeom>
        </p:spPr>
      </p:pic>
      <p:sp>
        <p:nvSpPr>
          <p:cNvPr id="10" name="TextBox 9"/>
          <p:cNvSpPr txBox="1"/>
          <p:nvPr/>
        </p:nvSpPr>
        <p:spPr>
          <a:xfrm>
            <a:off x="2523744" y="4251960"/>
            <a:ext cx="1682496"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CACAO ROASTING</a:t>
            </a:r>
          </a:p>
        </p:txBody>
      </p:sp>
      <p:pic>
        <p:nvPicPr>
          <p:cNvPr id="11" name="Picture 10" descr="crop_IMG_TRAINING_18549485.jpg"/>
          <p:cNvPicPr>
            <a:picLocks noChangeAspect="1"/>
          </p:cNvPicPr>
          <p:nvPr/>
        </p:nvPicPr>
        <p:blipFill>
          <a:blip r:embed="rId4"/>
          <a:stretch>
            <a:fillRect/>
          </a:stretch>
        </p:blipFill>
        <p:spPr>
          <a:xfrm>
            <a:off x="4389120" y="2103120"/>
            <a:ext cx="1682496" cy="2084831"/>
          </a:xfrm>
          <a:prstGeom prst="rect">
            <a:avLst/>
          </a:prstGeom>
        </p:spPr>
      </p:pic>
      <p:sp>
        <p:nvSpPr>
          <p:cNvPr id="12" name="TextBox 11"/>
          <p:cNvSpPr txBox="1"/>
          <p:nvPr/>
        </p:nvSpPr>
        <p:spPr>
          <a:xfrm>
            <a:off x="4389120" y="4251960"/>
            <a:ext cx="1682496"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FARMER TRAINING</a:t>
            </a:r>
          </a:p>
        </p:txBody>
      </p:sp>
      <p:pic>
        <p:nvPicPr>
          <p:cNvPr id="13" name="Picture 12" descr="crop_IMG_WAREHOUSE_93022039.jpg"/>
          <p:cNvPicPr>
            <a:picLocks noChangeAspect="1"/>
          </p:cNvPicPr>
          <p:nvPr/>
        </p:nvPicPr>
        <p:blipFill>
          <a:blip r:embed="rId5"/>
          <a:stretch>
            <a:fillRect/>
          </a:stretch>
        </p:blipFill>
        <p:spPr>
          <a:xfrm>
            <a:off x="6291072" y="2103120"/>
            <a:ext cx="5242255" cy="2084831"/>
          </a:xfrm>
          <a:prstGeom prst="rect">
            <a:avLst/>
          </a:prstGeom>
        </p:spPr>
      </p:pic>
      <p:sp>
        <p:nvSpPr>
          <p:cNvPr id="14" name="TextBox 13"/>
          <p:cNvSpPr txBox="1"/>
          <p:nvPr/>
        </p:nvSpPr>
        <p:spPr>
          <a:xfrm>
            <a:off x="6291072" y="4251960"/>
            <a:ext cx="5242255"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NATAR WAREHOUSE</a:t>
            </a:r>
          </a:p>
        </p:txBody>
      </p:sp>
      <p:pic>
        <p:nvPicPr>
          <p:cNvPr id="15" name="Picture 14" descr="crop_IMG_GRADING_51650804.jpg"/>
          <p:cNvPicPr>
            <a:picLocks noChangeAspect="1"/>
          </p:cNvPicPr>
          <p:nvPr/>
        </p:nvPicPr>
        <p:blipFill>
          <a:blip r:embed="rId6"/>
          <a:stretch>
            <a:fillRect/>
          </a:stretch>
        </p:blipFill>
        <p:spPr>
          <a:xfrm>
            <a:off x="658368" y="4645152"/>
            <a:ext cx="2581579" cy="1426464"/>
          </a:xfrm>
          <a:prstGeom prst="rect">
            <a:avLst/>
          </a:prstGeom>
        </p:spPr>
      </p:pic>
      <p:sp>
        <p:nvSpPr>
          <p:cNvPr id="16" name="TextBox 15"/>
          <p:cNvSpPr txBox="1"/>
          <p:nvPr/>
        </p:nvSpPr>
        <p:spPr>
          <a:xfrm>
            <a:off x="658368" y="6135624"/>
            <a:ext cx="2581579"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CLEANING &amp; GRADING LINE</a:t>
            </a:r>
          </a:p>
        </p:txBody>
      </p:sp>
      <p:pic>
        <p:nvPicPr>
          <p:cNvPr id="17" name="Picture 16" descr="crop_IMG_WINNOW_44320218.jpg"/>
          <p:cNvPicPr>
            <a:picLocks noChangeAspect="1"/>
          </p:cNvPicPr>
          <p:nvPr/>
        </p:nvPicPr>
        <p:blipFill>
          <a:blip r:embed="rId7"/>
          <a:stretch>
            <a:fillRect/>
          </a:stretch>
        </p:blipFill>
        <p:spPr>
          <a:xfrm>
            <a:off x="3422827" y="4645152"/>
            <a:ext cx="2581579" cy="1426464"/>
          </a:xfrm>
          <a:prstGeom prst="rect">
            <a:avLst/>
          </a:prstGeom>
        </p:spPr>
      </p:pic>
      <p:sp>
        <p:nvSpPr>
          <p:cNvPr id="18" name="TextBox 17"/>
          <p:cNvSpPr txBox="1"/>
          <p:nvPr/>
        </p:nvSpPr>
        <p:spPr>
          <a:xfrm>
            <a:off x="3422827" y="6135624"/>
            <a:ext cx="2581579"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CACAO WINNOWING</a:t>
            </a:r>
          </a:p>
        </p:txBody>
      </p:sp>
      <p:pic>
        <p:nvPicPr>
          <p:cNvPr id="19" name="Picture 18" descr="crop_IMG_FIELD_62347597.jpg"/>
          <p:cNvPicPr>
            <a:picLocks noChangeAspect="1"/>
          </p:cNvPicPr>
          <p:nvPr/>
        </p:nvPicPr>
        <p:blipFill>
          <a:blip r:embed="rId8"/>
          <a:stretch>
            <a:fillRect/>
          </a:stretch>
        </p:blipFill>
        <p:spPr>
          <a:xfrm>
            <a:off x="6187287" y="4645152"/>
            <a:ext cx="2581579" cy="1426464"/>
          </a:xfrm>
          <a:prstGeom prst="rect">
            <a:avLst/>
          </a:prstGeom>
        </p:spPr>
      </p:pic>
      <p:sp>
        <p:nvSpPr>
          <p:cNvPr id="20" name="TextBox 19"/>
          <p:cNvSpPr txBox="1"/>
          <p:nvPr/>
        </p:nvSpPr>
        <p:spPr>
          <a:xfrm>
            <a:off x="6187287" y="6135624"/>
            <a:ext cx="2581579"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FIELD SCHOOL</a:t>
            </a:r>
          </a:p>
        </p:txBody>
      </p:sp>
      <p:pic>
        <p:nvPicPr>
          <p:cNvPr id="21" name="Picture 20" descr="crop_IMG_QUALPROD_18138607.jpg"/>
          <p:cNvPicPr>
            <a:picLocks noChangeAspect="1"/>
          </p:cNvPicPr>
          <p:nvPr/>
        </p:nvPicPr>
        <p:blipFill>
          <a:blip r:embed="rId9"/>
          <a:stretch>
            <a:fillRect/>
          </a:stretch>
        </p:blipFill>
        <p:spPr>
          <a:xfrm>
            <a:off x="8951747" y="4645152"/>
            <a:ext cx="2581579" cy="1426464"/>
          </a:xfrm>
          <a:prstGeom prst="rect">
            <a:avLst/>
          </a:prstGeom>
        </p:spPr>
      </p:pic>
      <p:sp>
        <p:nvSpPr>
          <p:cNvPr id="22" name="TextBox 21"/>
          <p:cNvSpPr txBox="1"/>
          <p:nvPr/>
        </p:nvSpPr>
        <p:spPr>
          <a:xfrm>
            <a:off x="8951747" y="6135624"/>
            <a:ext cx="2581579" cy="153888"/>
          </a:xfrm>
          <a:prstGeom prst="rect">
            <a:avLst/>
          </a:prstGeom>
          <a:noFill/>
        </p:spPr>
        <p:txBody>
          <a:bodyPr wrap="square" lIns="0" tIns="0" rIns="0" bIns="0" anchor="t">
            <a:spAutoFit/>
          </a:bodyPr>
          <a:lstStyle/>
          <a:p>
            <a:pPr algn="l">
              <a:spcAft>
                <a:spcPts val="0"/>
              </a:spcAft>
            </a:pPr>
            <a:r>
              <a:rPr sz="1000" b="0" dirty="0">
                <a:solidFill>
                  <a:srgbClr val="64796A"/>
                </a:solidFill>
                <a:latin typeface="Consolas"/>
              </a:rPr>
              <a:t>TRAINING FOR QUALITY</a:t>
            </a:r>
          </a:p>
        </p:txBody>
      </p:sp>
      <p:sp>
        <p:nvSpPr>
          <p:cNvPr id="23" name="TextBox 22"/>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24" name="TextBox 23"/>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04</a:t>
            </a:r>
          </a:p>
        </p:txBody>
      </p:sp>
      <p:grpSp>
        <p:nvGrpSpPr>
          <p:cNvPr id="25" name="BrandLockup"/>
          <p:cNvGrpSpPr/>
          <p:nvPr/>
        </p:nvGrpSpPr>
        <p:grpSpPr>
          <a:xfrm>
            <a:off x="9123556" y="438912"/>
            <a:ext cx="2410045" cy="310896"/>
            <a:chOff x="9123556" y="438912"/>
            <a:chExt cx="2410045" cy="310896"/>
          </a:xfrm>
        </p:grpSpPr>
        <p:pic>
          <p:nvPicPr>
            <p:cNvPr id="26" name="Picture 25" descr="mark_kgf.png"/>
            <p:cNvPicPr>
              <a:picLocks noChangeAspect="1"/>
            </p:cNvPicPr>
            <p:nvPr/>
          </p:nvPicPr>
          <p:blipFill>
            <a:blip r:embed="rId10"/>
            <a:stretch>
              <a:fillRect/>
            </a:stretch>
          </p:blipFill>
          <p:spPr>
            <a:xfrm>
              <a:off x="9123556" y="438912"/>
              <a:ext cx="310896" cy="310896"/>
            </a:xfrm>
            <a:prstGeom prst="rect">
              <a:avLst/>
            </a:prstGeom>
          </p:spPr>
        </p:pic>
        <p:sp>
          <p:nvSpPr>
            <p:cNvPr id="27" name="Rectangle 26"/>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mark_c3.png"/>
            <p:cNvPicPr>
              <a:picLocks noChangeAspect="1"/>
            </p:cNvPicPr>
            <p:nvPr/>
          </p:nvPicPr>
          <p:blipFill>
            <a:blip r:embed="rId11"/>
            <a:stretch>
              <a:fillRect/>
            </a:stretch>
          </p:blipFill>
          <p:spPr>
            <a:xfrm>
              <a:off x="9708772" y="466344"/>
              <a:ext cx="1019596" cy="256032"/>
            </a:xfrm>
            <a:prstGeom prst="rect">
              <a:avLst/>
            </a:prstGeom>
          </p:spPr>
        </p:pic>
        <p:sp>
          <p:nvSpPr>
            <p:cNvPr id="29" name="Rectangle 28"/>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mark_hsbc.png"/>
            <p:cNvPicPr>
              <a:picLocks noChangeAspect="1"/>
            </p:cNvPicPr>
            <p:nvPr/>
          </p:nvPicPr>
          <p:blipFill>
            <a:blip r:embed="rId12"/>
            <a:stretch>
              <a:fillRect/>
            </a:stretch>
          </p:blipFill>
          <p:spPr>
            <a:xfrm>
              <a:off x="11002688" y="466344"/>
              <a:ext cx="530912" cy="256032"/>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05   COMMODITIES</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A polyculture farm produces a polyculture basket.</a:t>
            </a:r>
          </a:p>
        </p:txBody>
      </p:sp>
      <p:sp>
        <p:nvSpPr>
          <p:cNvPr id="6" name="TextBox 5"/>
          <p:cNvSpPr txBox="1"/>
          <p:nvPr/>
        </p:nvSpPr>
        <p:spPr>
          <a:xfrm>
            <a:off x="658368" y="2103120"/>
            <a:ext cx="10344320" cy="565411"/>
          </a:xfrm>
          <a:prstGeom prst="rect">
            <a:avLst/>
          </a:prstGeom>
          <a:noFill/>
        </p:spPr>
        <p:txBody>
          <a:bodyPr wrap="square" lIns="0" tIns="0" rIns="0" bIns="0" anchor="t">
            <a:spAutoFit/>
          </a:bodyPr>
          <a:lstStyle/>
          <a:p>
            <a:pPr algn="l">
              <a:lnSpc>
                <a:spcPct val="134000"/>
              </a:lnSpc>
              <a:spcAft>
                <a:spcPts val="0"/>
              </a:spcAft>
            </a:pPr>
            <a:r>
              <a:rPr sz="1450" b="0" dirty="0">
                <a:solidFill>
                  <a:srgbClr val="35483A"/>
                </a:solidFill>
                <a:latin typeface="Segoe UI"/>
              </a:rPr>
              <a:t>This is the structural reason a single spice buyer can never absorb our supply. One farm yields five sellable crops across a staggered calendar, which is exactly what makes the household resilient and exactly what makes our buyer problem urgent.</a:t>
            </a:r>
          </a:p>
        </p:txBody>
      </p:sp>
      <p:sp>
        <p:nvSpPr>
          <p:cNvPr id="7" name="Rectangle 6"/>
          <p:cNvSpPr/>
          <p:nvPr/>
        </p:nvSpPr>
        <p:spPr>
          <a:xfrm>
            <a:off x="658368" y="315468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3337560"/>
            <a:ext cx="3417722" cy="566928"/>
          </a:xfrm>
          <a:prstGeom prst="rect">
            <a:avLst/>
          </a:prstGeom>
          <a:noFill/>
        </p:spPr>
        <p:txBody>
          <a:bodyPr wrap="square" lIns="0" tIns="0" rIns="0" bIns="0" anchor="t">
            <a:spAutoFit/>
          </a:bodyPr>
          <a:lstStyle/>
          <a:p>
            <a:pPr algn="l">
              <a:lnSpc>
                <a:spcPct val="106000"/>
              </a:lnSpc>
              <a:spcAft>
                <a:spcPts val="0"/>
              </a:spcAft>
            </a:pPr>
            <a:r>
              <a:rPr sz="3000" b="1">
                <a:solidFill>
                  <a:srgbClr val="207A4B"/>
                </a:solidFill>
                <a:latin typeface="Georgia"/>
              </a:rPr>
              <a:t>Pepper</a:t>
            </a:r>
          </a:p>
        </p:txBody>
      </p:sp>
      <p:sp>
        <p:nvSpPr>
          <p:cNvPr id="9" name="TextBox 8"/>
          <p:cNvSpPr txBox="1"/>
          <p:nvPr/>
        </p:nvSpPr>
        <p:spPr>
          <a:xfrm>
            <a:off x="658368" y="3941064"/>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ASTA 550 · CONTRACTED</a:t>
            </a:r>
          </a:p>
        </p:txBody>
      </p:sp>
      <p:sp>
        <p:nvSpPr>
          <p:cNvPr id="10" name="TextBox 9"/>
          <p:cNvSpPr txBox="1"/>
          <p:nvPr/>
        </p:nvSpPr>
        <p:spPr>
          <a:xfrm>
            <a:off x="658367" y="4215384"/>
            <a:ext cx="3612843" cy="448456"/>
          </a:xfrm>
          <a:prstGeom prst="rect">
            <a:avLst/>
          </a:prstGeom>
          <a:noFill/>
        </p:spPr>
        <p:txBody>
          <a:bodyPr wrap="square" lIns="0" tIns="0" rIns="0" bIns="0" anchor="t">
            <a:spAutoFit/>
          </a:bodyPr>
          <a:lstStyle/>
          <a:p>
            <a:pPr algn="l">
              <a:lnSpc>
                <a:spcPct val="128000"/>
              </a:lnSpc>
              <a:spcAft>
                <a:spcPts val="0"/>
              </a:spcAft>
            </a:pPr>
            <a:r>
              <a:rPr sz="1200" b="0" dirty="0">
                <a:solidFill>
                  <a:srgbClr val="87978B"/>
                </a:solidFill>
                <a:latin typeface="Segoe UI"/>
              </a:rPr>
              <a:t>Black pepper, the anchor commodity. Off-take secured with Verstegen Spices &amp; Sauces since 2023.</a:t>
            </a:r>
          </a:p>
        </p:txBody>
      </p:sp>
      <p:sp>
        <p:nvSpPr>
          <p:cNvPr id="11" name="Rectangle 10"/>
          <p:cNvSpPr/>
          <p:nvPr/>
        </p:nvSpPr>
        <p:spPr>
          <a:xfrm>
            <a:off x="4386986" y="315468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6986" y="3337560"/>
            <a:ext cx="3417722"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Coffee</a:t>
            </a:r>
          </a:p>
        </p:txBody>
      </p:sp>
      <p:sp>
        <p:nvSpPr>
          <p:cNvPr id="13" name="TextBox 12"/>
          <p:cNvSpPr txBox="1"/>
          <p:nvPr/>
        </p:nvSpPr>
        <p:spPr>
          <a:xfrm>
            <a:off x="4386986" y="3941064"/>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FINE ROBUSTA · EUDR SCOPE</a:t>
            </a:r>
          </a:p>
        </p:txBody>
      </p:sp>
      <p:sp>
        <p:nvSpPr>
          <p:cNvPr id="14" name="TextBox 13"/>
          <p:cNvSpPr txBox="1"/>
          <p:nvPr/>
        </p:nvSpPr>
        <p:spPr>
          <a:xfrm>
            <a:off x="4386986" y="4215384"/>
            <a:ext cx="3417722" cy="448456"/>
          </a:xfrm>
          <a:prstGeom prst="rect">
            <a:avLst/>
          </a:prstGeom>
          <a:noFill/>
        </p:spPr>
        <p:txBody>
          <a:bodyPr wrap="square" lIns="0" tIns="0" rIns="0" bIns="0" anchor="t">
            <a:spAutoFit/>
          </a:bodyPr>
          <a:lstStyle/>
          <a:p>
            <a:pPr algn="l">
              <a:lnSpc>
                <a:spcPct val="128000"/>
              </a:lnSpc>
              <a:spcAft>
                <a:spcPts val="0"/>
              </a:spcAft>
            </a:pPr>
            <a:r>
              <a:rPr sz="1200" b="0">
                <a:solidFill>
                  <a:srgbClr val="87978B"/>
                </a:solidFill>
                <a:latin typeface="Segoe UI"/>
              </a:rPr>
              <a:t>Sorted grade 1 robusta and arabica. Off-take route via Sucafina Indonesia.</a:t>
            </a:r>
          </a:p>
        </p:txBody>
      </p:sp>
      <p:sp>
        <p:nvSpPr>
          <p:cNvPr id="15" name="Rectangle 14"/>
          <p:cNvSpPr/>
          <p:nvPr/>
        </p:nvSpPr>
        <p:spPr>
          <a:xfrm>
            <a:off x="8115604" y="315468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15604" y="3337560"/>
            <a:ext cx="3417722"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Cacao</a:t>
            </a:r>
          </a:p>
        </p:txBody>
      </p:sp>
      <p:sp>
        <p:nvSpPr>
          <p:cNvPr id="17" name="TextBox 16"/>
          <p:cNvSpPr txBox="1"/>
          <p:nvPr/>
        </p:nvSpPr>
        <p:spPr>
          <a:xfrm>
            <a:off x="8115604" y="3941064"/>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FERMENTED · EUDR SCOPE</a:t>
            </a:r>
          </a:p>
        </p:txBody>
      </p:sp>
      <p:sp>
        <p:nvSpPr>
          <p:cNvPr id="18" name="TextBox 17"/>
          <p:cNvSpPr txBox="1"/>
          <p:nvPr/>
        </p:nvSpPr>
        <p:spPr>
          <a:xfrm>
            <a:off x="8115604" y="4215384"/>
            <a:ext cx="3417722" cy="448456"/>
          </a:xfrm>
          <a:prstGeom prst="rect">
            <a:avLst/>
          </a:prstGeom>
          <a:noFill/>
        </p:spPr>
        <p:txBody>
          <a:bodyPr wrap="square" lIns="0" tIns="0" rIns="0" bIns="0" anchor="t">
            <a:spAutoFit/>
          </a:bodyPr>
          <a:lstStyle/>
          <a:p>
            <a:pPr algn="l">
              <a:lnSpc>
                <a:spcPct val="128000"/>
              </a:lnSpc>
              <a:spcAft>
                <a:spcPts val="0"/>
              </a:spcAft>
            </a:pPr>
            <a:r>
              <a:rPr sz="1200" b="0">
                <a:solidFill>
                  <a:srgbClr val="87978B"/>
                </a:solidFill>
                <a:latin typeface="Segoe UI"/>
              </a:rPr>
              <a:t>Controlled fermentation and local downstream processing with Pemkab Pesawaran.</a:t>
            </a:r>
          </a:p>
        </p:txBody>
      </p:sp>
      <p:sp>
        <p:nvSpPr>
          <p:cNvPr id="19" name="Rectangle 18"/>
          <p:cNvSpPr/>
          <p:nvPr/>
        </p:nvSpPr>
        <p:spPr>
          <a:xfrm>
            <a:off x="658368" y="4727448"/>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4910328"/>
            <a:ext cx="3417722"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Cloves</a:t>
            </a:r>
          </a:p>
        </p:txBody>
      </p:sp>
      <p:sp>
        <p:nvSpPr>
          <p:cNvPr id="21" name="TextBox 20"/>
          <p:cNvSpPr txBox="1"/>
          <p:nvPr/>
        </p:nvSpPr>
        <p:spPr>
          <a:xfrm>
            <a:off x="658368" y="5513832"/>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SECONDARY</a:t>
            </a:r>
          </a:p>
        </p:txBody>
      </p:sp>
      <p:sp>
        <p:nvSpPr>
          <p:cNvPr id="22" name="TextBox 21"/>
          <p:cNvSpPr txBox="1"/>
          <p:nvPr/>
        </p:nvSpPr>
        <p:spPr>
          <a:xfrm>
            <a:off x="658368" y="5788152"/>
            <a:ext cx="3417722" cy="212109"/>
          </a:xfrm>
          <a:prstGeom prst="rect">
            <a:avLst/>
          </a:prstGeom>
          <a:noFill/>
        </p:spPr>
        <p:txBody>
          <a:bodyPr wrap="square" lIns="0" tIns="0" rIns="0" bIns="0" anchor="t">
            <a:spAutoFit/>
          </a:bodyPr>
          <a:lstStyle/>
          <a:p>
            <a:pPr algn="l">
              <a:lnSpc>
                <a:spcPct val="128000"/>
              </a:lnSpc>
              <a:spcAft>
                <a:spcPts val="0"/>
              </a:spcAft>
            </a:pPr>
            <a:r>
              <a:rPr sz="1200" b="0">
                <a:solidFill>
                  <a:srgbClr val="87978B"/>
                </a:solidFill>
                <a:latin typeface="Segoe UI"/>
              </a:rPr>
              <a:t>Traditional intercrop, seasonal household income.</a:t>
            </a:r>
          </a:p>
        </p:txBody>
      </p:sp>
      <p:sp>
        <p:nvSpPr>
          <p:cNvPr id="23" name="Rectangle 22"/>
          <p:cNvSpPr/>
          <p:nvPr/>
        </p:nvSpPr>
        <p:spPr>
          <a:xfrm>
            <a:off x="4386986" y="4727448"/>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86986" y="4910328"/>
            <a:ext cx="3417722"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Nutmeg</a:t>
            </a:r>
          </a:p>
        </p:txBody>
      </p:sp>
      <p:sp>
        <p:nvSpPr>
          <p:cNvPr id="25" name="TextBox 24"/>
          <p:cNvSpPr txBox="1"/>
          <p:nvPr/>
        </p:nvSpPr>
        <p:spPr>
          <a:xfrm>
            <a:off x="4386986" y="5513832"/>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SECONDARY · MACE</a:t>
            </a:r>
          </a:p>
        </p:txBody>
      </p:sp>
      <p:sp>
        <p:nvSpPr>
          <p:cNvPr id="26" name="TextBox 25"/>
          <p:cNvSpPr txBox="1"/>
          <p:nvPr/>
        </p:nvSpPr>
        <p:spPr>
          <a:xfrm>
            <a:off x="4386986" y="5788152"/>
            <a:ext cx="3417722" cy="212109"/>
          </a:xfrm>
          <a:prstGeom prst="rect">
            <a:avLst/>
          </a:prstGeom>
          <a:noFill/>
        </p:spPr>
        <p:txBody>
          <a:bodyPr wrap="square" lIns="0" tIns="0" rIns="0" bIns="0" anchor="t">
            <a:spAutoFit/>
          </a:bodyPr>
          <a:lstStyle/>
          <a:p>
            <a:pPr algn="l">
              <a:lnSpc>
                <a:spcPct val="128000"/>
              </a:lnSpc>
              <a:spcAft>
                <a:spcPts val="0"/>
              </a:spcAft>
            </a:pPr>
            <a:r>
              <a:rPr sz="1200" b="0">
                <a:solidFill>
                  <a:srgbClr val="87978B"/>
                </a:solidFill>
                <a:latin typeface="Segoe UI"/>
              </a:rPr>
              <a:t>Hand-picked, high value per kilogram.</a:t>
            </a:r>
          </a:p>
        </p:txBody>
      </p:sp>
      <p:sp>
        <p:nvSpPr>
          <p:cNvPr id="27" name="Rectangle 26"/>
          <p:cNvSpPr/>
          <p:nvPr/>
        </p:nvSpPr>
        <p:spPr>
          <a:xfrm>
            <a:off x="8115604" y="4727448"/>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15604" y="4910328"/>
            <a:ext cx="3417722"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Shade trees</a:t>
            </a:r>
          </a:p>
        </p:txBody>
      </p:sp>
      <p:sp>
        <p:nvSpPr>
          <p:cNvPr id="29" name="TextBox 28"/>
          <p:cNvSpPr txBox="1"/>
          <p:nvPr/>
        </p:nvSpPr>
        <p:spPr>
          <a:xfrm>
            <a:off x="8115604" y="5513832"/>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TAJAR &amp; FRUIT</a:t>
            </a:r>
          </a:p>
        </p:txBody>
      </p:sp>
      <p:sp>
        <p:nvSpPr>
          <p:cNvPr id="30" name="TextBox 29"/>
          <p:cNvSpPr txBox="1"/>
          <p:nvPr/>
        </p:nvSpPr>
        <p:spPr>
          <a:xfrm>
            <a:off x="8115604" y="5788152"/>
            <a:ext cx="3417722" cy="448456"/>
          </a:xfrm>
          <a:prstGeom prst="rect">
            <a:avLst/>
          </a:prstGeom>
          <a:noFill/>
        </p:spPr>
        <p:txBody>
          <a:bodyPr wrap="square" lIns="0" tIns="0" rIns="0" bIns="0" anchor="t">
            <a:spAutoFit/>
          </a:bodyPr>
          <a:lstStyle/>
          <a:p>
            <a:pPr algn="l">
              <a:lnSpc>
                <a:spcPct val="128000"/>
              </a:lnSpc>
              <a:spcAft>
                <a:spcPts val="0"/>
              </a:spcAft>
            </a:pPr>
            <a:r>
              <a:rPr sz="1200" b="0">
                <a:solidFill>
                  <a:srgbClr val="87978B"/>
                </a:solidFill>
                <a:latin typeface="Segoe UI"/>
              </a:rPr>
              <a:t>Gamal, dadap, avocado, durian, petai, aren, kemiri. Living support and canopy.</a:t>
            </a:r>
          </a:p>
        </p:txBody>
      </p:sp>
      <p:sp>
        <p:nvSpPr>
          <p:cNvPr id="31" name="TextBox 30"/>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32" name="TextBox 31"/>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05</a:t>
            </a:r>
          </a:p>
        </p:txBody>
      </p:sp>
      <p:grpSp>
        <p:nvGrpSpPr>
          <p:cNvPr id="33" name="BrandLockup"/>
          <p:cNvGrpSpPr/>
          <p:nvPr/>
        </p:nvGrpSpPr>
        <p:grpSpPr>
          <a:xfrm>
            <a:off x="9123556" y="438912"/>
            <a:ext cx="2410045" cy="310896"/>
            <a:chOff x="9123556" y="438912"/>
            <a:chExt cx="2410045" cy="310896"/>
          </a:xfrm>
        </p:grpSpPr>
        <p:pic>
          <p:nvPicPr>
            <p:cNvPr id="34" name="Picture 33" descr="mark_kgf.png"/>
            <p:cNvPicPr>
              <a:picLocks noChangeAspect="1"/>
            </p:cNvPicPr>
            <p:nvPr/>
          </p:nvPicPr>
          <p:blipFill>
            <a:blip r:embed="rId2"/>
            <a:stretch>
              <a:fillRect/>
            </a:stretch>
          </p:blipFill>
          <p:spPr>
            <a:xfrm>
              <a:off x="9123556" y="438912"/>
              <a:ext cx="310896" cy="310896"/>
            </a:xfrm>
            <a:prstGeom prst="rect">
              <a:avLst/>
            </a:prstGeom>
          </p:spPr>
        </p:pic>
        <p:sp>
          <p:nvSpPr>
            <p:cNvPr id="35" name="Rectangle 34"/>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mark_c3.png"/>
            <p:cNvPicPr>
              <a:picLocks noChangeAspect="1"/>
            </p:cNvPicPr>
            <p:nvPr/>
          </p:nvPicPr>
          <p:blipFill>
            <a:blip r:embed="rId3"/>
            <a:stretch>
              <a:fillRect/>
            </a:stretch>
          </p:blipFill>
          <p:spPr>
            <a:xfrm>
              <a:off x="9708772" y="466344"/>
              <a:ext cx="1019596" cy="256032"/>
            </a:xfrm>
            <a:prstGeom prst="rect">
              <a:avLst/>
            </a:prstGeom>
          </p:spPr>
        </p:pic>
        <p:sp>
          <p:nvSpPr>
            <p:cNvPr id="37" name="Rectangle 36"/>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06   TRACTION</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Off-take tripled in two years on our own execution.</a:t>
            </a:r>
          </a:p>
        </p:txBody>
      </p:sp>
      <p:sp>
        <p:nvSpPr>
          <p:cNvPr id="6" name="TextBox 5"/>
          <p:cNvSpPr txBox="1"/>
          <p:nvPr/>
        </p:nvSpPr>
        <p:spPr>
          <a:xfrm>
            <a:off x="658368" y="1847088"/>
            <a:ext cx="8595360" cy="365760"/>
          </a:xfrm>
          <a:prstGeom prst="rect">
            <a:avLst/>
          </a:prstGeom>
          <a:noFill/>
        </p:spPr>
        <p:txBody>
          <a:bodyPr wrap="square" lIns="0" tIns="0" rIns="0" bIns="0" anchor="t">
            <a:spAutoFit/>
          </a:bodyPr>
          <a:lstStyle/>
          <a:p>
            <a:pPr algn="l">
              <a:lnSpc>
                <a:spcPct val="130000"/>
              </a:lnSpc>
              <a:spcAft>
                <a:spcPts val="0"/>
              </a:spcAft>
            </a:pPr>
            <a:r>
              <a:rPr sz="1150" b="0">
                <a:solidFill>
                  <a:srgbClr val="35483A"/>
                </a:solidFill>
                <a:latin typeface="Segoe UI"/>
              </a:rPr>
              <a:t>No grant financed this growth. Contracted commercial volume with a Dutch B-Corp buyer, scaled year on year while the farmer base and facilities were built underneath it.</a:t>
            </a:r>
          </a:p>
        </p:txBody>
      </p:sp>
      <p:graphicFrame>
        <p:nvGraphicFramePr>
          <p:cNvPr id="7" name="Chart 6"/>
          <p:cNvGraphicFramePr>
            <a:graphicFrameLocks noGrp="1"/>
          </p:cNvGraphicFramePr>
          <p:nvPr/>
        </p:nvGraphicFramePr>
        <p:xfrm>
          <a:off x="658368" y="2542032"/>
          <a:ext cx="6949440" cy="352044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7882128" y="2542032"/>
            <a:ext cx="3657600" cy="274320"/>
          </a:xfrm>
          <a:prstGeom prst="rect">
            <a:avLst/>
          </a:prstGeom>
          <a:noFill/>
        </p:spPr>
        <p:txBody>
          <a:bodyPr wrap="square" lIns="0" tIns="0" rIns="0" bIns="0" anchor="t">
            <a:spAutoFit/>
          </a:bodyPr>
          <a:lstStyle/>
          <a:p>
            <a:pPr algn="l">
              <a:spcAft>
                <a:spcPts val="0"/>
              </a:spcAft>
            </a:pPr>
            <a:r>
              <a:rPr sz="850" b="0">
                <a:solidFill>
                  <a:srgbClr val="64796A"/>
                </a:solidFill>
                <a:latin typeface="Consolas"/>
              </a:rPr>
              <a:t>MILESTONES</a:t>
            </a:r>
          </a:p>
        </p:txBody>
      </p:sp>
      <p:sp>
        <p:nvSpPr>
          <p:cNvPr id="9" name="Rectangle 8"/>
          <p:cNvSpPr/>
          <p:nvPr/>
        </p:nvSpPr>
        <p:spPr>
          <a:xfrm>
            <a:off x="7882128" y="2798064"/>
            <a:ext cx="3651199"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82128" y="2944368"/>
            <a:ext cx="566928" cy="219456"/>
          </a:xfrm>
          <a:prstGeom prst="rect">
            <a:avLst/>
          </a:prstGeom>
          <a:noFill/>
        </p:spPr>
        <p:txBody>
          <a:bodyPr wrap="square" lIns="0" tIns="0" rIns="0" bIns="0" anchor="t">
            <a:spAutoFit/>
          </a:bodyPr>
          <a:lstStyle/>
          <a:p>
            <a:pPr algn="l">
              <a:spcAft>
                <a:spcPts val="0"/>
              </a:spcAft>
            </a:pPr>
            <a:r>
              <a:rPr sz="900" b="0">
                <a:solidFill>
                  <a:srgbClr val="207A4B"/>
                </a:solidFill>
                <a:latin typeface="Consolas"/>
              </a:rPr>
              <a:t>2023</a:t>
            </a:r>
          </a:p>
        </p:txBody>
      </p:sp>
      <p:sp>
        <p:nvSpPr>
          <p:cNvPr id="11" name="TextBox 10"/>
          <p:cNvSpPr txBox="1"/>
          <p:nvPr/>
        </p:nvSpPr>
        <p:spPr>
          <a:xfrm>
            <a:off x="8485632" y="2944368"/>
            <a:ext cx="2188159" cy="548640"/>
          </a:xfrm>
          <a:prstGeom prst="rect">
            <a:avLst/>
          </a:prstGeom>
          <a:noFill/>
        </p:spPr>
        <p:txBody>
          <a:bodyPr wrap="square" lIns="0" tIns="0" rIns="0" bIns="0" anchor="t">
            <a:spAutoFit/>
          </a:bodyPr>
          <a:lstStyle/>
          <a:p>
            <a:pPr algn="l">
              <a:lnSpc>
                <a:spcPct val="122000"/>
              </a:lnSpc>
              <a:spcAft>
                <a:spcPts val="0"/>
              </a:spcAft>
            </a:pPr>
            <a:r>
              <a:rPr sz="900" b="0">
                <a:solidFill>
                  <a:srgbClr val="35483A"/>
                </a:solidFill>
                <a:latin typeface="Segoe UI"/>
              </a:rPr>
              <a:t>MoU with Verstegen Spices &amp; Sauces BV, Rotterdam</a:t>
            </a:r>
          </a:p>
        </p:txBody>
      </p:sp>
      <p:sp>
        <p:nvSpPr>
          <p:cNvPr id="12" name="TextBox 11"/>
          <p:cNvSpPr txBox="1"/>
          <p:nvPr/>
        </p:nvSpPr>
        <p:spPr>
          <a:xfrm>
            <a:off x="10820095" y="2944368"/>
            <a:ext cx="713232" cy="219456"/>
          </a:xfrm>
          <a:prstGeom prst="rect">
            <a:avLst/>
          </a:prstGeom>
          <a:noFill/>
        </p:spPr>
        <p:txBody>
          <a:bodyPr wrap="square" lIns="0" tIns="0" rIns="0" bIns="0" anchor="t">
            <a:spAutoFit/>
          </a:bodyPr>
          <a:lstStyle/>
          <a:p>
            <a:pPr algn="r">
              <a:spcAft>
                <a:spcPts val="0"/>
              </a:spcAft>
            </a:pPr>
            <a:r>
              <a:rPr sz="1100" b="1">
                <a:solidFill>
                  <a:srgbClr val="13251A"/>
                </a:solidFill>
                <a:latin typeface="Georgia"/>
              </a:rPr>
              <a:t>-</a:t>
            </a:r>
          </a:p>
        </p:txBody>
      </p:sp>
      <p:sp>
        <p:nvSpPr>
          <p:cNvPr id="13" name="Rectangle 12"/>
          <p:cNvSpPr/>
          <p:nvPr/>
        </p:nvSpPr>
        <p:spPr>
          <a:xfrm>
            <a:off x="7882128" y="3396996"/>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82128" y="3479292"/>
            <a:ext cx="566928" cy="219456"/>
          </a:xfrm>
          <a:prstGeom prst="rect">
            <a:avLst/>
          </a:prstGeom>
          <a:noFill/>
        </p:spPr>
        <p:txBody>
          <a:bodyPr wrap="square" lIns="0" tIns="0" rIns="0" bIns="0" anchor="t">
            <a:spAutoFit/>
          </a:bodyPr>
          <a:lstStyle/>
          <a:p>
            <a:pPr algn="l">
              <a:spcAft>
                <a:spcPts val="0"/>
              </a:spcAft>
            </a:pPr>
            <a:r>
              <a:rPr sz="900" b="0">
                <a:solidFill>
                  <a:srgbClr val="207A4B"/>
                </a:solidFill>
                <a:latin typeface="Consolas"/>
              </a:rPr>
              <a:t>2024</a:t>
            </a:r>
          </a:p>
        </p:txBody>
      </p:sp>
      <p:sp>
        <p:nvSpPr>
          <p:cNvPr id="15" name="TextBox 14"/>
          <p:cNvSpPr txBox="1"/>
          <p:nvPr/>
        </p:nvSpPr>
        <p:spPr>
          <a:xfrm>
            <a:off x="8485632" y="3479292"/>
            <a:ext cx="2188159" cy="548640"/>
          </a:xfrm>
          <a:prstGeom prst="rect">
            <a:avLst/>
          </a:prstGeom>
          <a:noFill/>
        </p:spPr>
        <p:txBody>
          <a:bodyPr wrap="square" lIns="0" tIns="0" rIns="0" bIns="0" anchor="t">
            <a:spAutoFit/>
          </a:bodyPr>
          <a:lstStyle/>
          <a:p>
            <a:pPr algn="l">
              <a:lnSpc>
                <a:spcPct val="122000"/>
              </a:lnSpc>
              <a:spcAft>
                <a:spcPts val="0"/>
              </a:spcAft>
            </a:pPr>
            <a:r>
              <a:rPr sz="900" b="0">
                <a:solidFill>
                  <a:srgbClr val="35483A"/>
                </a:solidFill>
                <a:latin typeface="Segoe UI"/>
              </a:rPr>
              <a:t>Joined aGROWforests consortium. First order signed at Trade Expo Indonesia</a:t>
            </a:r>
          </a:p>
        </p:txBody>
      </p:sp>
      <p:sp>
        <p:nvSpPr>
          <p:cNvPr id="16" name="TextBox 15"/>
          <p:cNvSpPr txBox="1"/>
          <p:nvPr/>
        </p:nvSpPr>
        <p:spPr>
          <a:xfrm>
            <a:off x="10820095" y="3479292"/>
            <a:ext cx="713232" cy="219456"/>
          </a:xfrm>
          <a:prstGeom prst="rect">
            <a:avLst/>
          </a:prstGeom>
          <a:noFill/>
        </p:spPr>
        <p:txBody>
          <a:bodyPr wrap="square" lIns="0" tIns="0" rIns="0" bIns="0" anchor="t">
            <a:spAutoFit/>
          </a:bodyPr>
          <a:lstStyle/>
          <a:p>
            <a:pPr algn="r">
              <a:spcAft>
                <a:spcPts val="0"/>
              </a:spcAft>
            </a:pPr>
            <a:r>
              <a:rPr sz="1100" b="1">
                <a:solidFill>
                  <a:srgbClr val="13251A"/>
                </a:solidFill>
                <a:latin typeface="Georgia"/>
              </a:rPr>
              <a:t>32 MT</a:t>
            </a:r>
          </a:p>
        </p:txBody>
      </p:sp>
      <p:sp>
        <p:nvSpPr>
          <p:cNvPr id="17" name="Rectangle 16"/>
          <p:cNvSpPr/>
          <p:nvPr/>
        </p:nvSpPr>
        <p:spPr>
          <a:xfrm>
            <a:off x="7882128" y="3931920"/>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82128" y="4014216"/>
            <a:ext cx="566928" cy="219456"/>
          </a:xfrm>
          <a:prstGeom prst="rect">
            <a:avLst/>
          </a:prstGeom>
          <a:noFill/>
        </p:spPr>
        <p:txBody>
          <a:bodyPr wrap="square" lIns="0" tIns="0" rIns="0" bIns="0" anchor="t">
            <a:spAutoFit/>
          </a:bodyPr>
          <a:lstStyle/>
          <a:p>
            <a:pPr algn="l">
              <a:spcAft>
                <a:spcPts val="0"/>
              </a:spcAft>
            </a:pPr>
            <a:r>
              <a:rPr sz="900" b="0">
                <a:solidFill>
                  <a:srgbClr val="207A4B"/>
                </a:solidFill>
                <a:latin typeface="Consolas"/>
              </a:rPr>
              <a:t>2025</a:t>
            </a:r>
          </a:p>
        </p:txBody>
      </p:sp>
      <p:sp>
        <p:nvSpPr>
          <p:cNvPr id="19" name="TextBox 18"/>
          <p:cNvSpPr txBox="1"/>
          <p:nvPr/>
        </p:nvSpPr>
        <p:spPr>
          <a:xfrm>
            <a:off x="8485632" y="4014216"/>
            <a:ext cx="2188159" cy="548640"/>
          </a:xfrm>
          <a:prstGeom prst="rect">
            <a:avLst/>
          </a:prstGeom>
          <a:noFill/>
        </p:spPr>
        <p:txBody>
          <a:bodyPr wrap="square" lIns="0" tIns="0" rIns="0" bIns="0" anchor="t">
            <a:spAutoFit/>
          </a:bodyPr>
          <a:lstStyle/>
          <a:p>
            <a:pPr algn="l">
              <a:lnSpc>
                <a:spcPct val="122000"/>
              </a:lnSpc>
              <a:spcAft>
                <a:spcPts val="0"/>
              </a:spcAft>
            </a:pPr>
            <a:r>
              <a:rPr sz="900" b="0">
                <a:solidFill>
                  <a:srgbClr val="35483A"/>
                </a:solidFill>
                <a:latin typeface="Segoe UI"/>
              </a:rPr>
              <a:t>Mother Plant Farm, demoplot, composting and nursery commissioned</a:t>
            </a:r>
          </a:p>
        </p:txBody>
      </p:sp>
      <p:sp>
        <p:nvSpPr>
          <p:cNvPr id="20" name="TextBox 19"/>
          <p:cNvSpPr txBox="1"/>
          <p:nvPr/>
        </p:nvSpPr>
        <p:spPr>
          <a:xfrm>
            <a:off x="10820095" y="4014216"/>
            <a:ext cx="713232" cy="219456"/>
          </a:xfrm>
          <a:prstGeom prst="rect">
            <a:avLst/>
          </a:prstGeom>
          <a:noFill/>
        </p:spPr>
        <p:txBody>
          <a:bodyPr wrap="square" lIns="0" tIns="0" rIns="0" bIns="0" anchor="t">
            <a:spAutoFit/>
          </a:bodyPr>
          <a:lstStyle/>
          <a:p>
            <a:pPr algn="r">
              <a:spcAft>
                <a:spcPts val="0"/>
              </a:spcAft>
            </a:pPr>
            <a:r>
              <a:rPr sz="1100" b="1">
                <a:solidFill>
                  <a:srgbClr val="13251A"/>
                </a:solidFill>
                <a:latin typeface="Georgia"/>
              </a:rPr>
              <a:t>50 MT</a:t>
            </a:r>
          </a:p>
        </p:txBody>
      </p:sp>
      <p:sp>
        <p:nvSpPr>
          <p:cNvPr id="21" name="Rectangle 20"/>
          <p:cNvSpPr/>
          <p:nvPr/>
        </p:nvSpPr>
        <p:spPr>
          <a:xfrm>
            <a:off x="7882128" y="4466844"/>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82128" y="4549140"/>
            <a:ext cx="566928" cy="219456"/>
          </a:xfrm>
          <a:prstGeom prst="rect">
            <a:avLst/>
          </a:prstGeom>
          <a:noFill/>
        </p:spPr>
        <p:txBody>
          <a:bodyPr wrap="square" lIns="0" tIns="0" rIns="0" bIns="0" anchor="t">
            <a:spAutoFit/>
          </a:bodyPr>
          <a:lstStyle/>
          <a:p>
            <a:pPr algn="l">
              <a:spcAft>
                <a:spcPts val="0"/>
              </a:spcAft>
            </a:pPr>
            <a:r>
              <a:rPr sz="900" b="0">
                <a:solidFill>
                  <a:srgbClr val="207A4B"/>
                </a:solidFill>
                <a:latin typeface="Consolas"/>
              </a:rPr>
              <a:t>2026</a:t>
            </a:r>
          </a:p>
        </p:txBody>
      </p:sp>
      <p:sp>
        <p:nvSpPr>
          <p:cNvPr id="23" name="TextBox 22"/>
          <p:cNvSpPr txBox="1"/>
          <p:nvPr/>
        </p:nvSpPr>
        <p:spPr>
          <a:xfrm>
            <a:off x="8485632" y="4549140"/>
            <a:ext cx="2188159" cy="548640"/>
          </a:xfrm>
          <a:prstGeom prst="rect">
            <a:avLst/>
          </a:prstGeom>
          <a:noFill/>
        </p:spPr>
        <p:txBody>
          <a:bodyPr wrap="square" lIns="0" tIns="0" rIns="0" bIns="0" anchor="t">
            <a:spAutoFit/>
          </a:bodyPr>
          <a:lstStyle/>
          <a:p>
            <a:pPr algn="l">
              <a:lnSpc>
                <a:spcPct val="122000"/>
              </a:lnSpc>
              <a:spcAft>
                <a:spcPts val="0"/>
              </a:spcAft>
            </a:pPr>
            <a:r>
              <a:rPr sz="900" b="0">
                <a:solidFill>
                  <a:srgbClr val="35483A"/>
                </a:solidFill>
                <a:latin typeface="Segoe UI"/>
              </a:rPr>
              <a:t>Off-take doubled. Three institutional accelerators</a:t>
            </a:r>
          </a:p>
        </p:txBody>
      </p:sp>
      <p:sp>
        <p:nvSpPr>
          <p:cNvPr id="24" name="TextBox 23"/>
          <p:cNvSpPr txBox="1"/>
          <p:nvPr/>
        </p:nvSpPr>
        <p:spPr>
          <a:xfrm>
            <a:off x="10820095" y="4549140"/>
            <a:ext cx="713232" cy="219456"/>
          </a:xfrm>
          <a:prstGeom prst="rect">
            <a:avLst/>
          </a:prstGeom>
          <a:noFill/>
        </p:spPr>
        <p:txBody>
          <a:bodyPr wrap="square" lIns="0" tIns="0" rIns="0" bIns="0" anchor="t">
            <a:spAutoFit/>
          </a:bodyPr>
          <a:lstStyle/>
          <a:p>
            <a:pPr algn="r">
              <a:spcAft>
                <a:spcPts val="0"/>
              </a:spcAft>
            </a:pPr>
            <a:r>
              <a:rPr sz="1100" b="1">
                <a:solidFill>
                  <a:srgbClr val="13251A"/>
                </a:solidFill>
                <a:latin typeface="Georgia"/>
              </a:rPr>
              <a:t>100 MT</a:t>
            </a:r>
          </a:p>
        </p:txBody>
      </p:sp>
      <p:sp>
        <p:nvSpPr>
          <p:cNvPr id="25" name="Rectangle 24"/>
          <p:cNvSpPr/>
          <p:nvPr/>
        </p:nvSpPr>
        <p:spPr>
          <a:xfrm>
            <a:off x="7882128" y="5001768"/>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82128" y="5084064"/>
            <a:ext cx="566928" cy="219456"/>
          </a:xfrm>
          <a:prstGeom prst="rect">
            <a:avLst/>
          </a:prstGeom>
          <a:noFill/>
        </p:spPr>
        <p:txBody>
          <a:bodyPr wrap="square" lIns="0" tIns="0" rIns="0" bIns="0" anchor="t">
            <a:spAutoFit/>
          </a:bodyPr>
          <a:lstStyle/>
          <a:p>
            <a:pPr algn="l">
              <a:spcAft>
                <a:spcPts val="0"/>
              </a:spcAft>
            </a:pPr>
            <a:r>
              <a:rPr sz="900" b="0">
                <a:solidFill>
                  <a:srgbClr val="96660D"/>
                </a:solidFill>
                <a:latin typeface="Consolas"/>
              </a:rPr>
              <a:t>2028</a:t>
            </a:r>
          </a:p>
        </p:txBody>
      </p:sp>
      <p:sp>
        <p:nvSpPr>
          <p:cNvPr id="27" name="TextBox 26"/>
          <p:cNvSpPr txBox="1"/>
          <p:nvPr/>
        </p:nvSpPr>
        <p:spPr>
          <a:xfrm>
            <a:off x="8485632" y="5084064"/>
            <a:ext cx="2188159" cy="548640"/>
          </a:xfrm>
          <a:prstGeom prst="rect">
            <a:avLst/>
          </a:prstGeom>
          <a:noFill/>
        </p:spPr>
        <p:txBody>
          <a:bodyPr wrap="square" lIns="0" tIns="0" rIns="0" bIns="0" anchor="t">
            <a:spAutoFit/>
          </a:bodyPr>
          <a:lstStyle/>
          <a:p>
            <a:pPr algn="l">
              <a:lnSpc>
                <a:spcPct val="122000"/>
              </a:lnSpc>
              <a:spcAft>
                <a:spcPts val="0"/>
              </a:spcAft>
            </a:pPr>
            <a:r>
              <a:rPr sz="900" b="0">
                <a:solidFill>
                  <a:srgbClr val="35483A"/>
                </a:solidFill>
                <a:latin typeface="Segoe UI"/>
              </a:rPr>
              <a:t>Full farmer base transacting, multi-buyer placement</a:t>
            </a:r>
          </a:p>
        </p:txBody>
      </p:sp>
      <p:sp>
        <p:nvSpPr>
          <p:cNvPr id="28" name="TextBox 27"/>
          <p:cNvSpPr txBox="1"/>
          <p:nvPr/>
        </p:nvSpPr>
        <p:spPr>
          <a:xfrm>
            <a:off x="10820095" y="5084064"/>
            <a:ext cx="713232" cy="219456"/>
          </a:xfrm>
          <a:prstGeom prst="rect">
            <a:avLst/>
          </a:prstGeom>
          <a:noFill/>
        </p:spPr>
        <p:txBody>
          <a:bodyPr wrap="square" lIns="0" tIns="0" rIns="0" bIns="0" anchor="t">
            <a:spAutoFit/>
          </a:bodyPr>
          <a:lstStyle/>
          <a:p>
            <a:pPr algn="r">
              <a:spcAft>
                <a:spcPts val="0"/>
              </a:spcAft>
            </a:pPr>
            <a:r>
              <a:rPr sz="1100" b="1">
                <a:solidFill>
                  <a:srgbClr val="96660D"/>
                </a:solidFill>
                <a:latin typeface="Georgia"/>
              </a:rPr>
              <a:t>350 MT</a:t>
            </a:r>
          </a:p>
        </p:txBody>
      </p:sp>
      <p:sp>
        <p:nvSpPr>
          <p:cNvPr id="29" name="Rectangle 28"/>
          <p:cNvSpPr/>
          <p:nvPr/>
        </p:nvSpPr>
        <p:spPr>
          <a:xfrm>
            <a:off x="7882128" y="5536692"/>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82128" y="5618988"/>
            <a:ext cx="566928" cy="219456"/>
          </a:xfrm>
          <a:prstGeom prst="rect">
            <a:avLst/>
          </a:prstGeom>
          <a:noFill/>
        </p:spPr>
        <p:txBody>
          <a:bodyPr wrap="square" lIns="0" tIns="0" rIns="0" bIns="0" anchor="t">
            <a:spAutoFit/>
          </a:bodyPr>
          <a:lstStyle/>
          <a:p>
            <a:pPr algn="l">
              <a:spcAft>
                <a:spcPts val="0"/>
              </a:spcAft>
            </a:pPr>
            <a:r>
              <a:rPr sz="900" b="0">
                <a:solidFill>
                  <a:srgbClr val="96660D"/>
                </a:solidFill>
                <a:latin typeface="Consolas"/>
              </a:rPr>
              <a:t>2030</a:t>
            </a:r>
          </a:p>
        </p:txBody>
      </p:sp>
      <p:sp>
        <p:nvSpPr>
          <p:cNvPr id="31" name="TextBox 30"/>
          <p:cNvSpPr txBox="1"/>
          <p:nvPr/>
        </p:nvSpPr>
        <p:spPr>
          <a:xfrm>
            <a:off x="8485632" y="5618988"/>
            <a:ext cx="2188159" cy="548640"/>
          </a:xfrm>
          <a:prstGeom prst="rect">
            <a:avLst/>
          </a:prstGeom>
          <a:noFill/>
        </p:spPr>
        <p:txBody>
          <a:bodyPr wrap="square" lIns="0" tIns="0" rIns="0" bIns="0" anchor="t">
            <a:spAutoFit/>
          </a:bodyPr>
          <a:lstStyle/>
          <a:p>
            <a:pPr algn="l">
              <a:lnSpc>
                <a:spcPct val="122000"/>
              </a:lnSpc>
              <a:spcAft>
                <a:spcPts val="0"/>
              </a:spcAft>
            </a:pPr>
            <a:r>
              <a:rPr sz="900" b="0">
                <a:solidFill>
                  <a:srgbClr val="35483A"/>
                </a:solidFill>
                <a:latin typeface="Segoe UI"/>
              </a:rPr>
              <a:t>Regional off-take platform at scale</a:t>
            </a:r>
          </a:p>
        </p:txBody>
      </p:sp>
      <p:sp>
        <p:nvSpPr>
          <p:cNvPr id="32" name="TextBox 31"/>
          <p:cNvSpPr txBox="1"/>
          <p:nvPr/>
        </p:nvSpPr>
        <p:spPr>
          <a:xfrm>
            <a:off x="10820095" y="5618988"/>
            <a:ext cx="713232" cy="219456"/>
          </a:xfrm>
          <a:prstGeom prst="rect">
            <a:avLst/>
          </a:prstGeom>
          <a:noFill/>
        </p:spPr>
        <p:txBody>
          <a:bodyPr wrap="square" lIns="0" tIns="0" rIns="0" bIns="0" anchor="t">
            <a:spAutoFit/>
          </a:bodyPr>
          <a:lstStyle/>
          <a:p>
            <a:pPr algn="r">
              <a:spcAft>
                <a:spcPts val="0"/>
              </a:spcAft>
            </a:pPr>
            <a:r>
              <a:rPr sz="1100" b="1">
                <a:solidFill>
                  <a:srgbClr val="96660D"/>
                </a:solidFill>
                <a:latin typeface="Georgia"/>
              </a:rPr>
              <a:t>500 MT</a:t>
            </a:r>
          </a:p>
        </p:txBody>
      </p:sp>
      <p:sp>
        <p:nvSpPr>
          <p:cNvPr id="33" name="Rectangle 32"/>
          <p:cNvSpPr/>
          <p:nvPr/>
        </p:nvSpPr>
        <p:spPr>
          <a:xfrm>
            <a:off x="7882128" y="6071616"/>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35" name="TextBox 34"/>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06</a:t>
            </a:r>
          </a:p>
        </p:txBody>
      </p:sp>
      <p:grpSp>
        <p:nvGrpSpPr>
          <p:cNvPr id="36" name="BrandLockup"/>
          <p:cNvGrpSpPr/>
          <p:nvPr/>
        </p:nvGrpSpPr>
        <p:grpSpPr>
          <a:xfrm>
            <a:off x="9123556" y="438912"/>
            <a:ext cx="2410045" cy="310896"/>
            <a:chOff x="9123556" y="438912"/>
            <a:chExt cx="2410045" cy="310896"/>
          </a:xfrm>
        </p:grpSpPr>
        <p:pic>
          <p:nvPicPr>
            <p:cNvPr id="37" name="Picture 36" descr="mark_kgf.png"/>
            <p:cNvPicPr>
              <a:picLocks noChangeAspect="1"/>
            </p:cNvPicPr>
            <p:nvPr/>
          </p:nvPicPr>
          <p:blipFill>
            <a:blip r:embed="rId3"/>
            <a:stretch>
              <a:fillRect/>
            </a:stretch>
          </p:blipFill>
          <p:spPr>
            <a:xfrm>
              <a:off x="9123556" y="438912"/>
              <a:ext cx="310896" cy="310896"/>
            </a:xfrm>
            <a:prstGeom prst="rect">
              <a:avLst/>
            </a:prstGeom>
          </p:spPr>
        </p:pic>
        <p:sp>
          <p:nvSpPr>
            <p:cNvPr id="38" name="Rectangle 37"/>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mark_c3.png"/>
            <p:cNvPicPr>
              <a:picLocks noChangeAspect="1"/>
            </p:cNvPicPr>
            <p:nvPr/>
          </p:nvPicPr>
          <p:blipFill>
            <a:blip r:embed="rId4"/>
            <a:stretch>
              <a:fillRect/>
            </a:stretch>
          </p:blipFill>
          <p:spPr>
            <a:xfrm>
              <a:off x="9708772" y="466344"/>
              <a:ext cx="1019596" cy="256032"/>
            </a:xfrm>
            <a:prstGeom prst="rect">
              <a:avLst/>
            </a:prstGeom>
          </p:spPr>
        </p:pic>
        <p:sp>
          <p:nvSpPr>
            <p:cNvPr id="40" name="Rectangle 39"/>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mark_hsbc.png"/>
            <p:cNvPicPr>
              <a:picLocks noChangeAspect="1"/>
            </p:cNvPicPr>
            <p:nvPr/>
          </p:nvPicPr>
          <p:blipFill>
            <a:blip r:embed="rId5"/>
            <a:stretch>
              <a:fillRect/>
            </a:stretch>
          </p:blipFill>
          <p:spPr>
            <a:xfrm>
              <a:off x="11002688" y="466344"/>
              <a:ext cx="530912" cy="256032"/>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07   THE GAP</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008546"/>
          </a:xfrm>
          <a:prstGeom prst="rect">
            <a:avLst/>
          </a:prstGeom>
          <a:noFill/>
        </p:spPr>
        <p:txBody>
          <a:bodyPr wrap="square" lIns="0" tIns="0" rIns="0" bIns="0" anchor="t">
            <a:spAutoFit/>
          </a:bodyPr>
          <a:lstStyle/>
          <a:p>
            <a:pPr algn="l">
              <a:lnSpc>
                <a:spcPct val="106000"/>
              </a:lnSpc>
              <a:spcAft>
                <a:spcPts val="0"/>
              </a:spcAft>
            </a:pPr>
            <a:r>
              <a:rPr sz="3200" b="1" dirty="0">
                <a:solidFill>
                  <a:srgbClr val="13251A"/>
                </a:solidFill>
                <a:latin typeface="Georgia"/>
              </a:rPr>
              <a:t>1,250 farmers registered. </a:t>
            </a:r>
            <a:endParaRPr lang="en-GB" sz="3200" b="1" dirty="0">
              <a:solidFill>
                <a:srgbClr val="13251A"/>
              </a:solidFill>
              <a:latin typeface="Georgia"/>
            </a:endParaRPr>
          </a:p>
          <a:p>
            <a:pPr algn="l">
              <a:lnSpc>
                <a:spcPct val="106000"/>
              </a:lnSpc>
              <a:spcAft>
                <a:spcPts val="0"/>
              </a:spcAft>
            </a:pPr>
            <a:r>
              <a:rPr sz="3200" b="1" dirty="0">
                <a:solidFill>
                  <a:srgbClr val="13251A"/>
                </a:solidFill>
                <a:latin typeface="Georgia"/>
              </a:rPr>
              <a:t>Fewer than 100 sell to us.</a:t>
            </a:r>
          </a:p>
        </p:txBody>
      </p:sp>
      <p:sp>
        <p:nvSpPr>
          <p:cNvPr id="6" name="TextBox 5"/>
          <p:cNvSpPr txBox="1"/>
          <p:nvPr/>
        </p:nvSpPr>
        <p:spPr>
          <a:xfrm>
            <a:off x="658367" y="2249424"/>
            <a:ext cx="10417759" cy="1073051"/>
          </a:xfrm>
          <a:prstGeom prst="rect">
            <a:avLst/>
          </a:prstGeom>
          <a:noFill/>
        </p:spPr>
        <p:txBody>
          <a:bodyPr wrap="square" lIns="0" tIns="0" rIns="0" bIns="0" anchor="t">
            <a:spAutoFit/>
          </a:bodyPr>
          <a:lstStyle/>
          <a:p>
            <a:pPr algn="l">
              <a:lnSpc>
                <a:spcPct val="134000"/>
              </a:lnSpc>
              <a:spcAft>
                <a:spcPts val="0"/>
              </a:spcAft>
            </a:pPr>
            <a:r>
              <a:rPr b="0">
                <a:solidFill>
                  <a:srgbClr val="35483A"/>
                </a:solidFill>
                <a:latin typeface="Segoe UI"/>
              </a:rPr>
              <a:t>This is the honest centre of our business and the reason we are raising. The relationships exist. The plots are mapped, the training is delivered, the trust is built. What is missing is the ability to place and pay for everything those 1,250 households grow.</a:t>
            </a:r>
          </a:p>
        </p:txBody>
      </p:sp>
      <p:sp>
        <p:nvSpPr>
          <p:cNvPr id="7" name="Rectangle 6"/>
          <p:cNvSpPr/>
          <p:nvPr/>
        </p:nvSpPr>
        <p:spPr>
          <a:xfrm>
            <a:off x="658368" y="370332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3886200"/>
            <a:ext cx="3417722"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&lt;100</a:t>
            </a:r>
          </a:p>
        </p:txBody>
      </p:sp>
      <p:sp>
        <p:nvSpPr>
          <p:cNvPr id="9" name="TextBox 8"/>
          <p:cNvSpPr txBox="1"/>
          <p:nvPr/>
        </p:nvSpPr>
        <p:spPr>
          <a:xfrm>
            <a:off x="658368" y="4489704"/>
            <a:ext cx="3417722" cy="161583"/>
          </a:xfrm>
          <a:prstGeom prst="rect">
            <a:avLst/>
          </a:prstGeom>
          <a:noFill/>
        </p:spPr>
        <p:txBody>
          <a:bodyPr wrap="square" lIns="0" tIns="0" rIns="0" bIns="0" anchor="t">
            <a:spAutoFit/>
          </a:bodyPr>
          <a:lstStyle/>
          <a:p>
            <a:pPr algn="l">
              <a:spcAft>
                <a:spcPts val="0"/>
              </a:spcAft>
            </a:pPr>
            <a:r>
              <a:rPr sz="1050" b="0" dirty="0">
                <a:solidFill>
                  <a:srgbClr val="64796A"/>
                </a:solidFill>
                <a:latin typeface="Consolas"/>
              </a:rPr>
              <a:t>TRANSACTING TODAY</a:t>
            </a:r>
          </a:p>
        </p:txBody>
      </p:sp>
      <p:sp>
        <p:nvSpPr>
          <p:cNvPr id="10" name="TextBox 9"/>
          <p:cNvSpPr txBox="1"/>
          <p:nvPr/>
        </p:nvSpPr>
        <p:spPr>
          <a:xfrm>
            <a:off x="658368" y="4764024"/>
            <a:ext cx="3417722" cy="194477"/>
          </a:xfrm>
          <a:prstGeom prst="rect">
            <a:avLst/>
          </a:prstGeom>
          <a:noFill/>
        </p:spPr>
        <p:txBody>
          <a:bodyPr wrap="square" lIns="0" tIns="0" rIns="0" bIns="0" anchor="t">
            <a:spAutoFit/>
          </a:bodyPr>
          <a:lstStyle/>
          <a:p>
            <a:pPr algn="l">
              <a:lnSpc>
                <a:spcPct val="128000"/>
              </a:lnSpc>
              <a:spcAft>
                <a:spcPts val="0"/>
              </a:spcAft>
            </a:pPr>
            <a:r>
              <a:rPr sz="1100" b="0">
                <a:solidFill>
                  <a:srgbClr val="87978B"/>
                </a:solidFill>
                <a:latin typeface="Segoe UI"/>
              </a:rPr>
              <a:t>Farmers who sold to KGF and received a premium</a:t>
            </a:r>
          </a:p>
        </p:txBody>
      </p:sp>
      <p:sp>
        <p:nvSpPr>
          <p:cNvPr id="11" name="Rectangle 10"/>
          <p:cNvSpPr/>
          <p:nvPr/>
        </p:nvSpPr>
        <p:spPr>
          <a:xfrm>
            <a:off x="4386986" y="370332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6986" y="3886200"/>
            <a:ext cx="3417722" cy="566928"/>
          </a:xfrm>
          <a:prstGeom prst="rect">
            <a:avLst/>
          </a:prstGeom>
          <a:noFill/>
        </p:spPr>
        <p:txBody>
          <a:bodyPr wrap="square" lIns="0" tIns="0" rIns="0" bIns="0" anchor="t">
            <a:spAutoFit/>
          </a:bodyPr>
          <a:lstStyle/>
          <a:p>
            <a:pPr algn="l">
              <a:lnSpc>
                <a:spcPct val="106000"/>
              </a:lnSpc>
              <a:spcAft>
                <a:spcPts val="0"/>
              </a:spcAft>
            </a:pPr>
            <a:r>
              <a:rPr sz="3000" b="1">
                <a:solidFill>
                  <a:srgbClr val="207A4B"/>
                </a:solidFill>
                <a:latin typeface="Georgia"/>
              </a:rPr>
              <a:t>1,250</a:t>
            </a:r>
          </a:p>
        </p:txBody>
      </p:sp>
      <p:sp>
        <p:nvSpPr>
          <p:cNvPr id="13" name="TextBox 12"/>
          <p:cNvSpPr txBox="1"/>
          <p:nvPr/>
        </p:nvSpPr>
        <p:spPr>
          <a:xfrm>
            <a:off x="4386986" y="4489704"/>
            <a:ext cx="3417722"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TARGET, 24 MONTHS</a:t>
            </a:r>
          </a:p>
        </p:txBody>
      </p:sp>
      <p:sp>
        <p:nvSpPr>
          <p:cNvPr id="14" name="TextBox 13"/>
          <p:cNvSpPr txBox="1"/>
          <p:nvPr/>
        </p:nvSpPr>
        <p:spPr>
          <a:xfrm>
            <a:off x="4386986" y="4764024"/>
            <a:ext cx="3417722" cy="194477"/>
          </a:xfrm>
          <a:prstGeom prst="rect">
            <a:avLst/>
          </a:prstGeom>
          <a:noFill/>
        </p:spPr>
        <p:txBody>
          <a:bodyPr wrap="square" lIns="0" tIns="0" rIns="0" bIns="0" anchor="t">
            <a:spAutoFit/>
          </a:bodyPr>
          <a:lstStyle/>
          <a:p>
            <a:pPr algn="l">
              <a:lnSpc>
                <a:spcPct val="128000"/>
              </a:lnSpc>
              <a:spcAft>
                <a:spcPts val="0"/>
              </a:spcAft>
            </a:pPr>
            <a:r>
              <a:rPr sz="1100" b="0">
                <a:solidFill>
                  <a:srgbClr val="87978B"/>
                </a:solidFill>
                <a:latin typeface="Segoe UI"/>
              </a:rPr>
              <a:t>Every registered household buying-in and paid</a:t>
            </a:r>
          </a:p>
        </p:txBody>
      </p:sp>
      <p:sp>
        <p:nvSpPr>
          <p:cNvPr id="15" name="Rectangle 14"/>
          <p:cNvSpPr/>
          <p:nvPr/>
        </p:nvSpPr>
        <p:spPr>
          <a:xfrm>
            <a:off x="8115604" y="370332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15604" y="3886200"/>
            <a:ext cx="3417722"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1</a:t>
            </a:r>
          </a:p>
        </p:txBody>
      </p:sp>
      <p:sp>
        <p:nvSpPr>
          <p:cNvPr id="17" name="TextBox 16"/>
          <p:cNvSpPr txBox="1"/>
          <p:nvPr/>
        </p:nvSpPr>
        <p:spPr>
          <a:xfrm>
            <a:off x="8115604" y="4489704"/>
            <a:ext cx="3417722"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BUYER ABSORBING VOLUME</a:t>
            </a:r>
          </a:p>
        </p:txBody>
      </p:sp>
      <p:sp>
        <p:nvSpPr>
          <p:cNvPr id="18" name="TextBox 17"/>
          <p:cNvSpPr txBox="1"/>
          <p:nvPr/>
        </p:nvSpPr>
        <p:spPr>
          <a:xfrm>
            <a:off x="8115604" y="4764024"/>
            <a:ext cx="3417722" cy="194477"/>
          </a:xfrm>
          <a:prstGeom prst="rect">
            <a:avLst/>
          </a:prstGeom>
          <a:noFill/>
        </p:spPr>
        <p:txBody>
          <a:bodyPr wrap="square" lIns="0" tIns="0" rIns="0" bIns="0" anchor="t">
            <a:spAutoFit/>
          </a:bodyPr>
          <a:lstStyle/>
          <a:p>
            <a:pPr algn="l">
              <a:lnSpc>
                <a:spcPct val="128000"/>
              </a:lnSpc>
              <a:spcAft>
                <a:spcPts val="0"/>
              </a:spcAft>
            </a:pPr>
            <a:r>
              <a:rPr sz="1100" b="0">
                <a:solidFill>
                  <a:srgbClr val="87978B"/>
                </a:solidFill>
                <a:latin typeface="Segoe UI"/>
              </a:rPr>
              <a:t>A single spice house takes nearly everything we move</a:t>
            </a:r>
          </a:p>
        </p:txBody>
      </p:sp>
      <p:sp>
        <p:nvSpPr>
          <p:cNvPr id="19" name="Rectangle 18"/>
          <p:cNvSpPr/>
          <p:nvPr/>
        </p:nvSpPr>
        <p:spPr>
          <a:xfrm>
            <a:off x="658368" y="5499872"/>
            <a:ext cx="25603" cy="658368"/>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518160"/>
            <a:ext cx="8595360" cy="673967"/>
          </a:xfrm>
          <a:prstGeom prst="rect">
            <a:avLst/>
          </a:prstGeom>
          <a:noFill/>
        </p:spPr>
        <p:txBody>
          <a:bodyPr wrap="square" lIns="0" tIns="0" rIns="0" bIns="0" anchor="t">
            <a:spAutoFit/>
          </a:bodyPr>
          <a:lstStyle/>
          <a:p>
            <a:pPr algn="l">
              <a:lnSpc>
                <a:spcPct val="128000"/>
              </a:lnSpc>
              <a:spcAft>
                <a:spcPts val="0"/>
              </a:spcAft>
            </a:pPr>
            <a:r>
              <a:rPr b="0" dirty="0">
                <a:solidFill>
                  <a:srgbClr val="13251A"/>
                </a:solidFill>
                <a:latin typeface="Georgia"/>
              </a:rPr>
              <a:t>Buying from all 1,250 means placing every crop they grow. Concentration is the constraint, not commitment.</a:t>
            </a:r>
          </a:p>
        </p:txBody>
      </p:sp>
      <p:sp>
        <p:nvSpPr>
          <p:cNvPr id="21" name="TextBox 20"/>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22" name="TextBox 21"/>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07</a:t>
            </a:r>
          </a:p>
        </p:txBody>
      </p:sp>
      <p:grpSp>
        <p:nvGrpSpPr>
          <p:cNvPr id="23" name="BrandLockup"/>
          <p:cNvGrpSpPr/>
          <p:nvPr/>
        </p:nvGrpSpPr>
        <p:grpSpPr>
          <a:xfrm>
            <a:off x="9123556" y="438912"/>
            <a:ext cx="2410045" cy="310896"/>
            <a:chOff x="9123556" y="438912"/>
            <a:chExt cx="2410045" cy="310896"/>
          </a:xfrm>
        </p:grpSpPr>
        <p:pic>
          <p:nvPicPr>
            <p:cNvPr id="24" name="Picture 23" descr="mark_kgf.png"/>
            <p:cNvPicPr>
              <a:picLocks noChangeAspect="1"/>
            </p:cNvPicPr>
            <p:nvPr/>
          </p:nvPicPr>
          <p:blipFill>
            <a:blip r:embed="rId2"/>
            <a:stretch>
              <a:fillRect/>
            </a:stretch>
          </p:blipFill>
          <p:spPr>
            <a:xfrm>
              <a:off x="9123556" y="438912"/>
              <a:ext cx="310896" cy="310896"/>
            </a:xfrm>
            <a:prstGeom prst="rect">
              <a:avLst/>
            </a:prstGeom>
          </p:spPr>
        </p:pic>
        <p:sp>
          <p:nvSpPr>
            <p:cNvPr id="25" name="Rectangle 24"/>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mark_c3.png"/>
            <p:cNvPicPr>
              <a:picLocks noChangeAspect="1"/>
            </p:cNvPicPr>
            <p:nvPr/>
          </p:nvPicPr>
          <p:blipFill>
            <a:blip r:embed="rId3"/>
            <a:stretch>
              <a:fillRect/>
            </a:stretch>
          </p:blipFill>
          <p:spPr>
            <a:xfrm>
              <a:off x="9708772" y="466344"/>
              <a:ext cx="1019596" cy="256032"/>
            </a:xfrm>
            <a:prstGeom prst="rect">
              <a:avLst/>
            </a:prstGeom>
          </p:spPr>
        </p:pic>
        <p:sp>
          <p:nvSpPr>
            <p:cNvPr id="27" name="Rectangle 26"/>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08   IMPACT · NEXT 12-24 MONTHS</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400" b="1">
                <a:solidFill>
                  <a:srgbClr val="13251A"/>
                </a:solidFill>
                <a:latin typeface="Georgia"/>
              </a:rPr>
              <a:t>Paid by us, not merely counted by us.</a:t>
            </a:r>
          </a:p>
        </p:txBody>
      </p:sp>
      <p:sp>
        <p:nvSpPr>
          <p:cNvPr id="6" name="Rectangle 5"/>
          <p:cNvSpPr/>
          <p:nvPr/>
        </p:nvSpPr>
        <p:spPr>
          <a:xfrm>
            <a:off x="658368" y="233172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2514600"/>
            <a:ext cx="2485567" cy="566928"/>
          </a:xfrm>
          <a:prstGeom prst="rect">
            <a:avLst/>
          </a:prstGeom>
          <a:noFill/>
        </p:spPr>
        <p:txBody>
          <a:bodyPr wrap="square" lIns="0" tIns="0" rIns="0" bIns="0" anchor="t">
            <a:spAutoFit/>
          </a:bodyPr>
          <a:lstStyle/>
          <a:p>
            <a:pPr algn="l">
              <a:lnSpc>
                <a:spcPct val="106000"/>
              </a:lnSpc>
              <a:spcAft>
                <a:spcPts val="0"/>
              </a:spcAft>
            </a:pPr>
            <a:r>
              <a:rPr sz="3000" b="1">
                <a:solidFill>
                  <a:srgbClr val="207A4B"/>
                </a:solidFill>
                <a:latin typeface="Georgia"/>
              </a:rPr>
              <a:t>1,250</a:t>
            </a:r>
          </a:p>
        </p:txBody>
      </p:sp>
      <p:sp>
        <p:nvSpPr>
          <p:cNvPr id="8" name="TextBox 7"/>
          <p:cNvSpPr txBox="1"/>
          <p:nvPr/>
        </p:nvSpPr>
        <p:spPr>
          <a:xfrm>
            <a:off x="658368" y="3118103"/>
            <a:ext cx="2485567"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FARMERS TRANSACTING</a:t>
            </a:r>
          </a:p>
        </p:txBody>
      </p:sp>
      <p:sp>
        <p:nvSpPr>
          <p:cNvPr id="9" name="TextBox 8"/>
          <p:cNvSpPr txBox="1"/>
          <p:nvPr/>
        </p:nvSpPr>
        <p:spPr>
          <a:xfrm>
            <a:off x="658368" y="3392423"/>
            <a:ext cx="2485567" cy="185628"/>
          </a:xfrm>
          <a:prstGeom prst="rect">
            <a:avLst/>
          </a:prstGeom>
          <a:noFill/>
        </p:spPr>
        <p:txBody>
          <a:bodyPr wrap="square" lIns="0" tIns="0" rIns="0" bIns="0" anchor="t">
            <a:spAutoFit/>
          </a:bodyPr>
          <a:lstStyle/>
          <a:p>
            <a:pPr algn="l">
              <a:lnSpc>
                <a:spcPct val="128000"/>
              </a:lnSpc>
              <a:spcAft>
                <a:spcPts val="0"/>
              </a:spcAft>
            </a:pPr>
            <a:r>
              <a:rPr sz="1050" b="0" dirty="0">
                <a:solidFill>
                  <a:srgbClr val="87978B"/>
                </a:solidFill>
                <a:latin typeface="Segoe UI"/>
              </a:rPr>
              <a:t>From fewer than 100 today</a:t>
            </a:r>
          </a:p>
        </p:txBody>
      </p:sp>
      <p:sp>
        <p:nvSpPr>
          <p:cNvPr id="10" name="Rectangle 9"/>
          <p:cNvSpPr/>
          <p:nvPr/>
        </p:nvSpPr>
        <p:spPr>
          <a:xfrm>
            <a:off x="3454831" y="233172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54831" y="2514600"/>
            <a:ext cx="2485567"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10-20%</a:t>
            </a:r>
          </a:p>
        </p:txBody>
      </p:sp>
      <p:sp>
        <p:nvSpPr>
          <p:cNvPr id="12" name="TextBox 11"/>
          <p:cNvSpPr txBox="1"/>
          <p:nvPr/>
        </p:nvSpPr>
        <p:spPr>
          <a:xfrm>
            <a:off x="3454831" y="3118103"/>
            <a:ext cx="2485567"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ABOVE VILLAGE TRADER</a:t>
            </a:r>
          </a:p>
        </p:txBody>
      </p:sp>
      <p:sp>
        <p:nvSpPr>
          <p:cNvPr id="13" name="TextBox 12"/>
          <p:cNvSpPr txBox="1"/>
          <p:nvPr/>
        </p:nvSpPr>
        <p:spPr>
          <a:xfrm>
            <a:off x="3454831" y="3392423"/>
            <a:ext cx="2485567" cy="185628"/>
          </a:xfrm>
          <a:prstGeom prst="rect">
            <a:avLst/>
          </a:prstGeom>
          <a:noFill/>
        </p:spPr>
        <p:txBody>
          <a:bodyPr wrap="square" lIns="0" tIns="0" rIns="0" bIns="0" anchor="t">
            <a:spAutoFit/>
          </a:bodyPr>
          <a:lstStyle/>
          <a:p>
            <a:pPr algn="l">
              <a:lnSpc>
                <a:spcPct val="128000"/>
              </a:lnSpc>
              <a:spcAft>
                <a:spcPts val="0"/>
              </a:spcAft>
            </a:pPr>
            <a:r>
              <a:rPr sz="1050" b="0">
                <a:solidFill>
                  <a:srgbClr val="87978B"/>
                </a:solidFill>
                <a:latin typeface="Segoe UI"/>
              </a:rPr>
              <a:t>Farm-gate premium, paid not promised</a:t>
            </a:r>
          </a:p>
        </p:txBody>
      </p:sp>
      <p:sp>
        <p:nvSpPr>
          <p:cNvPr id="14" name="Rectangle 13"/>
          <p:cNvSpPr/>
          <p:nvPr/>
        </p:nvSpPr>
        <p:spPr>
          <a:xfrm>
            <a:off x="6251295" y="233172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51295" y="2514600"/>
            <a:ext cx="2485567"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90%</a:t>
            </a:r>
          </a:p>
        </p:txBody>
      </p:sp>
      <p:sp>
        <p:nvSpPr>
          <p:cNvPr id="16" name="TextBox 15"/>
          <p:cNvSpPr txBox="1"/>
          <p:nvPr/>
        </p:nvSpPr>
        <p:spPr>
          <a:xfrm>
            <a:off x="6251295" y="3118103"/>
            <a:ext cx="2485567"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PRACTICING CSA</a:t>
            </a:r>
          </a:p>
        </p:txBody>
      </p:sp>
      <p:sp>
        <p:nvSpPr>
          <p:cNvPr id="17" name="TextBox 16"/>
          <p:cNvSpPr txBox="1"/>
          <p:nvPr/>
        </p:nvSpPr>
        <p:spPr>
          <a:xfrm>
            <a:off x="6251295" y="3392423"/>
            <a:ext cx="2485567" cy="392480"/>
          </a:xfrm>
          <a:prstGeom prst="rect">
            <a:avLst/>
          </a:prstGeom>
          <a:noFill/>
        </p:spPr>
        <p:txBody>
          <a:bodyPr wrap="square" lIns="0" tIns="0" rIns="0" bIns="0" anchor="t">
            <a:spAutoFit/>
          </a:bodyPr>
          <a:lstStyle/>
          <a:p>
            <a:pPr algn="l">
              <a:lnSpc>
                <a:spcPct val="128000"/>
              </a:lnSpc>
              <a:spcAft>
                <a:spcPts val="0"/>
              </a:spcAft>
            </a:pPr>
            <a:r>
              <a:rPr sz="1050" b="0">
                <a:solidFill>
                  <a:srgbClr val="87978B"/>
                </a:solidFill>
                <a:latin typeface="Segoe UI"/>
              </a:rPr>
              <a:t>Practice, not attendance. Climate resilience at household level</a:t>
            </a:r>
          </a:p>
        </p:txBody>
      </p:sp>
      <p:sp>
        <p:nvSpPr>
          <p:cNvPr id="18" name="Rectangle 17"/>
          <p:cNvSpPr/>
          <p:nvPr/>
        </p:nvSpPr>
        <p:spPr>
          <a:xfrm>
            <a:off x="9047759" y="233172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47759" y="2514600"/>
            <a:ext cx="2485567" cy="566928"/>
          </a:xfrm>
          <a:prstGeom prst="rect">
            <a:avLst/>
          </a:prstGeom>
          <a:noFill/>
        </p:spPr>
        <p:txBody>
          <a:bodyPr wrap="square" lIns="0" tIns="0" rIns="0" bIns="0" anchor="t">
            <a:spAutoFit/>
          </a:bodyPr>
          <a:lstStyle/>
          <a:p>
            <a:pPr algn="l">
              <a:lnSpc>
                <a:spcPct val="106000"/>
              </a:lnSpc>
              <a:spcAft>
                <a:spcPts val="0"/>
              </a:spcAft>
            </a:pPr>
            <a:r>
              <a:rPr sz="3000" b="1">
                <a:solidFill>
                  <a:srgbClr val="13251A"/>
                </a:solidFill>
                <a:latin typeface="Georgia"/>
              </a:rPr>
              <a:t>350 MT</a:t>
            </a:r>
          </a:p>
        </p:txBody>
      </p:sp>
      <p:sp>
        <p:nvSpPr>
          <p:cNvPr id="20" name="TextBox 19"/>
          <p:cNvSpPr txBox="1"/>
          <p:nvPr/>
        </p:nvSpPr>
        <p:spPr>
          <a:xfrm>
            <a:off x="9047759" y="3118103"/>
            <a:ext cx="2485567"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OFF-TAKE BY 2028</a:t>
            </a:r>
          </a:p>
        </p:txBody>
      </p:sp>
      <p:sp>
        <p:nvSpPr>
          <p:cNvPr id="21" name="TextBox 20"/>
          <p:cNvSpPr txBox="1"/>
          <p:nvPr/>
        </p:nvSpPr>
        <p:spPr>
          <a:xfrm>
            <a:off x="9047759" y="3392423"/>
            <a:ext cx="2485567" cy="185628"/>
          </a:xfrm>
          <a:prstGeom prst="rect">
            <a:avLst/>
          </a:prstGeom>
          <a:noFill/>
        </p:spPr>
        <p:txBody>
          <a:bodyPr wrap="square" lIns="0" tIns="0" rIns="0" bIns="0" anchor="t">
            <a:spAutoFit/>
          </a:bodyPr>
          <a:lstStyle/>
          <a:p>
            <a:pPr algn="l">
              <a:lnSpc>
                <a:spcPct val="128000"/>
              </a:lnSpc>
              <a:spcAft>
                <a:spcPts val="0"/>
              </a:spcAft>
            </a:pPr>
            <a:r>
              <a:rPr sz="1050" b="0">
                <a:solidFill>
                  <a:srgbClr val="87978B"/>
                </a:solidFill>
                <a:latin typeface="Segoe UI"/>
              </a:rPr>
              <a:t>On the path to 500 MT by 2030</a:t>
            </a:r>
          </a:p>
        </p:txBody>
      </p:sp>
      <p:sp>
        <p:nvSpPr>
          <p:cNvPr id="22" name="Rectangle 21"/>
          <p:cNvSpPr/>
          <p:nvPr/>
        </p:nvSpPr>
        <p:spPr>
          <a:xfrm>
            <a:off x="658368" y="4315968"/>
            <a:ext cx="10874959"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4572000"/>
            <a:ext cx="6577553" cy="1283878"/>
          </a:xfrm>
          <a:prstGeom prst="rect">
            <a:avLst/>
          </a:prstGeom>
          <a:noFill/>
        </p:spPr>
        <p:txBody>
          <a:bodyPr wrap="square" lIns="0" tIns="0" rIns="0" bIns="0" anchor="t">
            <a:spAutoFit/>
          </a:bodyPr>
          <a:lstStyle/>
          <a:p>
            <a:pPr algn="l">
              <a:lnSpc>
                <a:spcPct val="134000"/>
              </a:lnSpc>
              <a:spcAft>
                <a:spcPts val="0"/>
              </a:spcAft>
            </a:pPr>
            <a:r>
              <a:rPr sz="1600" b="0" dirty="0">
                <a:solidFill>
                  <a:srgbClr val="35483A"/>
                </a:solidFill>
                <a:latin typeface="Segoe UI"/>
              </a:rPr>
              <a:t>These families already farm agroforestry across 1,393 hectares: less volume, higher quality, canopy and biodiversity left standing, and buyers who pay precisely for that. The premium is what makes the model self-financing rather than donor-dependent.</a:t>
            </a:r>
          </a:p>
        </p:txBody>
      </p:sp>
      <p:sp>
        <p:nvSpPr>
          <p:cNvPr id="25" name="TextBox 24"/>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26" name="TextBox 25"/>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08</a:t>
            </a:r>
          </a:p>
        </p:txBody>
      </p:sp>
      <p:grpSp>
        <p:nvGrpSpPr>
          <p:cNvPr id="27" name="BrandLockup"/>
          <p:cNvGrpSpPr/>
          <p:nvPr/>
        </p:nvGrpSpPr>
        <p:grpSpPr>
          <a:xfrm>
            <a:off x="9123556" y="438912"/>
            <a:ext cx="2410045" cy="310896"/>
            <a:chOff x="9123556" y="438912"/>
            <a:chExt cx="2410045" cy="310896"/>
          </a:xfrm>
        </p:grpSpPr>
        <p:pic>
          <p:nvPicPr>
            <p:cNvPr id="28" name="Picture 27" descr="mark_kgf.png"/>
            <p:cNvPicPr>
              <a:picLocks noChangeAspect="1"/>
            </p:cNvPicPr>
            <p:nvPr/>
          </p:nvPicPr>
          <p:blipFill>
            <a:blip r:embed="rId2"/>
            <a:stretch>
              <a:fillRect/>
            </a:stretch>
          </p:blipFill>
          <p:spPr>
            <a:xfrm>
              <a:off x="9123556" y="438912"/>
              <a:ext cx="310896" cy="310896"/>
            </a:xfrm>
            <a:prstGeom prst="rect">
              <a:avLst/>
            </a:prstGeom>
          </p:spPr>
        </p:pic>
        <p:sp>
          <p:nvSpPr>
            <p:cNvPr id="29" name="Rectangle 28"/>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mark_c3.png"/>
            <p:cNvPicPr>
              <a:picLocks noChangeAspect="1"/>
            </p:cNvPicPr>
            <p:nvPr/>
          </p:nvPicPr>
          <p:blipFill>
            <a:blip r:embed="rId3"/>
            <a:stretch>
              <a:fillRect/>
            </a:stretch>
          </p:blipFill>
          <p:spPr>
            <a:xfrm>
              <a:off x="9708772" y="466344"/>
              <a:ext cx="1019596" cy="256032"/>
            </a:xfrm>
            <a:prstGeom prst="rect">
              <a:avLst/>
            </a:prstGeom>
          </p:spPr>
        </p:pic>
        <p:sp>
          <p:nvSpPr>
            <p:cNvPr id="31" name="Rectangle 30"/>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mark_hsbc.png"/>
            <p:cNvPicPr>
              <a:picLocks noChangeAspect="1"/>
            </p:cNvPicPr>
            <p:nvPr/>
          </p:nvPicPr>
          <p:blipFill>
            <a:blip r:embed="rId4"/>
            <a:stretch>
              <a:fillRect/>
            </a:stretch>
          </p:blipFill>
          <p:spPr>
            <a:xfrm>
              <a:off x="11002688" y="466344"/>
              <a:ext cx="530912" cy="256032"/>
            </a:xfrm>
            <a:prstGeom prst="rect">
              <a:avLst/>
            </a:prstGeom>
          </p:spPr>
        </p:pic>
      </p:grpSp>
      <p:pic>
        <p:nvPicPr>
          <p:cNvPr id="33" name="ImpactPhoto" descr="fbs.jpg"/>
          <p:cNvPicPr>
            <a:picLocks noChangeAspect="1"/>
          </p:cNvPicPr>
          <p:nvPr/>
        </p:nvPicPr>
        <p:blipFill>
          <a:blip r:embed="rId5"/>
          <a:stretch>
            <a:fillRect/>
          </a:stretch>
        </p:blipFill>
        <p:spPr>
          <a:xfrm>
            <a:off x="7510241" y="4389120"/>
            <a:ext cx="4023360" cy="1854082"/>
          </a:xfrm>
          <a:prstGeom prst="rect">
            <a:avLst/>
          </a:prstGeom>
        </p:spPr>
      </p:pic>
      <p:sp>
        <p:nvSpPr>
          <p:cNvPr id="34" name="ImpactCaption"/>
          <p:cNvSpPr txBox="1"/>
          <p:nvPr/>
        </p:nvSpPr>
        <p:spPr>
          <a:xfrm>
            <a:off x="7510241" y="6307210"/>
            <a:ext cx="4023360" cy="219456"/>
          </a:xfrm>
          <a:prstGeom prst="rect">
            <a:avLst/>
          </a:prstGeom>
          <a:noFill/>
        </p:spPr>
        <p:txBody>
          <a:bodyPr wrap="none" lIns="0" tIns="0">
            <a:spAutoFit/>
          </a:bodyPr>
          <a:lstStyle/>
          <a:p>
            <a:r>
              <a:rPr sz="750">
                <a:solidFill>
                  <a:srgbClr val="64796A"/>
                </a:solidFill>
                <a:latin typeface="Consolas"/>
              </a:rPr>
              <a:t>FARMER BUSINESS SCHOOL · TRAINING MODULES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09   TECHNOLOGY</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400" b="1">
                <a:solidFill>
                  <a:srgbClr val="13251A"/>
                </a:solidFill>
                <a:latin typeface="Georgia"/>
              </a:rPr>
              <a:t>TAPAK: every lot traced to a mapped plot.</a:t>
            </a:r>
          </a:p>
        </p:txBody>
      </p:sp>
      <p:sp>
        <p:nvSpPr>
          <p:cNvPr id="6" name="TextBox 5"/>
          <p:cNvSpPr txBox="1"/>
          <p:nvPr/>
        </p:nvSpPr>
        <p:spPr>
          <a:xfrm>
            <a:off x="658368" y="2157984"/>
            <a:ext cx="10874958" cy="701859"/>
          </a:xfrm>
          <a:prstGeom prst="rect">
            <a:avLst/>
          </a:prstGeom>
          <a:noFill/>
        </p:spPr>
        <p:txBody>
          <a:bodyPr wrap="square" lIns="0" tIns="0" rIns="0" bIns="0" anchor="t">
            <a:spAutoFit/>
          </a:bodyPr>
          <a:lstStyle/>
          <a:p>
            <a:pPr algn="l">
              <a:lnSpc>
                <a:spcPct val="134000"/>
              </a:lnSpc>
              <a:spcAft>
                <a:spcPts val="0"/>
              </a:spcAft>
            </a:pPr>
            <a:r>
              <a:rPr b="0" dirty="0">
                <a:solidFill>
                  <a:srgbClr val="35483A"/>
                </a:solidFill>
                <a:latin typeface="Segoe UI"/>
              </a:rPr>
              <a:t>Our own ERP and traceability system, built in-house. It is what lets a European buyer accept our volume without taking our word for it.</a:t>
            </a:r>
          </a:p>
        </p:txBody>
      </p:sp>
      <p:sp>
        <p:nvSpPr>
          <p:cNvPr id="7" name="Rectangle 6"/>
          <p:cNvSpPr/>
          <p:nvPr/>
        </p:nvSpPr>
        <p:spPr>
          <a:xfrm>
            <a:off x="658368" y="3017520"/>
            <a:ext cx="5282031" cy="144475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3291839"/>
            <a:ext cx="4733391" cy="22860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FIELD LAYER</a:t>
            </a:r>
          </a:p>
        </p:txBody>
      </p:sp>
      <p:sp>
        <p:nvSpPr>
          <p:cNvPr id="9" name="TextBox 8"/>
          <p:cNvSpPr txBox="1"/>
          <p:nvPr/>
        </p:nvSpPr>
        <p:spPr>
          <a:xfrm>
            <a:off x="932688" y="3584448"/>
            <a:ext cx="4733391" cy="230576"/>
          </a:xfrm>
          <a:prstGeom prst="rect">
            <a:avLst/>
          </a:prstGeom>
          <a:noFill/>
        </p:spPr>
        <p:txBody>
          <a:bodyPr wrap="square" lIns="0" tIns="0" rIns="0" bIns="0" anchor="t">
            <a:spAutoFit/>
          </a:bodyPr>
          <a:lstStyle/>
          <a:p>
            <a:pPr algn="l">
              <a:lnSpc>
                <a:spcPct val="112000"/>
              </a:lnSpc>
              <a:spcAft>
                <a:spcPts val="0"/>
              </a:spcAft>
            </a:pPr>
            <a:r>
              <a:rPr lang="en-GB" sz="1450" b="1" dirty="0">
                <a:solidFill>
                  <a:srgbClr val="13251A"/>
                </a:solidFill>
                <a:latin typeface="Georgia"/>
              </a:rPr>
              <a:t>O</a:t>
            </a:r>
            <a:r>
              <a:rPr sz="1450" b="1" dirty="0" err="1">
                <a:solidFill>
                  <a:srgbClr val="13251A"/>
                </a:solidFill>
                <a:latin typeface="Georgia"/>
              </a:rPr>
              <a:t>ffline</a:t>
            </a:r>
            <a:r>
              <a:rPr sz="1450" b="1" dirty="0">
                <a:solidFill>
                  <a:srgbClr val="13251A"/>
                </a:solidFill>
                <a:latin typeface="Georgia"/>
              </a:rPr>
              <a:t> capture</a:t>
            </a:r>
          </a:p>
        </p:txBody>
      </p:sp>
      <p:sp>
        <p:nvSpPr>
          <p:cNvPr id="10" name="TextBox 9"/>
          <p:cNvSpPr txBox="1"/>
          <p:nvPr/>
        </p:nvSpPr>
        <p:spPr>
          <a:xfrm>
            <a:off x="932688" y="3832301"/>
            <a:ext cx="4733391" cy="625941"/>
          </a:xfrm>
          <a:prstGeom prst="rect">
            <a:avLst/>
          </a:prstGeom>
          <a:noFill/>
        </p:spPr>
        <p:txBody>
          <a:bodyPr wrap="square" lIns="0" tIns="0" rIns="0" bIns="0" anchor="t">
            <a:spAutoFit/>
          </a:bodyPr>
          <a:lstStyle/>
          <a:p>
            <a:pPr>
              <a:lnSpc>
                <a:spcPct val="134000"/>
              </a:lnSpc>
            </a:pPr>
            <a:r>
              <a:rPr lang="en-GB" sz="1050" dirty="0">
                <a:solidFill>
                  <a:srgbClr val="35483A"/>
                </a:solidFill>
                <a:latin typeface="Segoe UI"/>
              </a:rPr>
              <a:t>GPS polygon farm boundaries, household registration, harvest logs and training records captured offline by facilitators and synced when connectivity returns.</a:t>
            </a:r>
          </a:p>
          <a:p>
            <a:pPr algn="l">
              <a:lnSpc>
                <a:spcPct val="134000"/>
              </a:lnSpc>
              <a:spcAft>
                <a:spcPts val="0"/>
              </a:spcAft>
            </a:pPr>
            <a:endParaRPr sz="1050" b="0" dirty="0">
              <a:solidFill>
                <a:srgbClr val="35483A"/>
              </a:solidFill>
              <a:latin typeface="Segoe UI"/>
            </a:endParaRPr>
          </a:p>
        </p:txBody>
      </p:sp>
      <p:sp>
        <p:nvSpPr>
          <p:cNvPr id="11" name="Rectangle 10"/>
          <p:cNvSpPr/>
          <p:nvPr/>
        </p:nvSpPr>
        <p:spPr>
          <a:xfrm>
            <a:off x="6251295" y="3017520"/>
            <a:ext cx="5282031" cy="144475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25615" y="3291839"/>
            <a:ext cx="4733391" cy="22860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CHAIN LAYER</a:t>
            </a:r>
          </a:p>
        </p:txBody>
      </p:sp>
      <p:sp>
        <p:nvSpPr>
          <p:cNvPr id="13" name="TextBox 12"/>
          <p:cNvSpPr txBox="1"/>
          <p:nvPr/>
        </p:nvSpPr>
        <p:spPr>
          <a:xfrm>
            <a:off x="6525615" y="3584448"/>
            <a:ext cx="4733391"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Event-sourced lot tracking</a:t>
            </a:r>
          </a:p>
        </p:txBody>
      </p:sp>
      <p:sp>
        <p:nvSpPr>
          <p:cNvPr id="14" name="TextBox 13"/>
          <p:cNvSpPr txBox="1"/>
          <p:nvPr/>
        </p:nvSpPr>
        <p:spPr>
          <a:xfrm>
            <a:off x="6525615" y="3832301"/>
            <a:ext cx="4733391" cy="625941"/>
          </a:xfrm>
          <a:prstGeom prst="rect">
            <a:avLst/>
          </a:prstGeom>
          <a:noFill/>
        </p:spPr>
        <p:txBody>
          <a:bodyPr wrap="square" lIns="0" tIns="0" rIns="0" bIns="0" anchor="t">
            <a:spAutoFit/>
          </a:bodyPr>
          <a:lstStyle/>
          <a:p>
            <a:pPr>
              <a:lnSpc>
                <a:spcPct val="134000"/>
              </a:lnSpc>
            </a:pPr>
            <a:r>
              <a:rPr lang="en-GB" sz="1050" dirty="0">
                <a:solidFill>
                  <a:srgbClr val="35483A"/>
                </a:solidFill>
                <a:latin typeface="Segoe UI"/>
              </a:rPr>
              <a:t>Every batch carries a graph of events from plot through collection, drying, grading and container loading. A lot number resolves back to the farmers who filled it.</a:t>
            </a:r>
          </a:p>
        </p:txBody>
      </p:sp>
      <p:sp>
        <p:nvSpPr>
          <p:cNvPr id="15" name="Rectangle 14"/>
          <p:cNvSpPr/>
          <p:nvPr/>
        </p:nvSpPr>
        <p:spPr>
          <a:xfrm>
            <a:off x="658368" y="4645152"/>
            <a:ext cx="5282031" cy="144475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4919472"/>
            <a:ext cx="4733391" cy="22860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COMPLIANCE LAYER</a:t>
            </a:r>
          </a:p>
        </p:txBody>
      </p:sp>
      <p:sp>
        <p:nvSpPr>
          <p:cNvPr id="17" name="TextBox 16"/>
          <p:cNvSpPr txBox="1"/>
          <p:nvPr/>
        </p:nvSpPr>
        <p:spPr>
          <a:xfrm>
            <a:off x="932688" y="5212080"/>
            <a:ext cx="4733391"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Regulation-accurate claims</a:t>
            </a:r>
          </a:p>
        </p:txBody>
      </p:sp>
      <p:sp>
        <p:nvSpPr>
          <p:cNvPr id="18" name="TextBox 17"/>
          <p:cNvSpPr txBox="1"/>
          <p:nvPr/>
        </p:nvSpPr>
        <p:spPr>
          <a:xfrm>
            <a:off x="932688" y="5459934"/>
            <a:ext cx="4733391" cy="409407"/>
          </a:xfrm>
          <a:prstGeom prst="rect">
            <a:avLst/>
          </a:prstGeom>
          <a:noFill/>
        </p:spPr>
        <p:txBody>
          <a:bodyPr wrap="square" lIns="0" tIns="0" rIns="0" bIns="0" anchor="t">
            <a:spAutoFit/>
          </a:bodyPr>
          <a:lstStyle/>
          <a:p>
            <a:pPr>
              <a:lnSpc>
                <a:spcPct val="134000"/>
              </a:lnSpc>
            </a:pPr>
            <a:r>
              <a:rPr lang="en-GB" sz="1050" dirty="0">
                <a:solidFill>
                  <a:srgbClr val="35483A"/>
                </a:solidFill>
                <a:latin typeface="Segoe UI"/>
              </a:rPr>
              <a:t>EUDR compliance for coffee and cacao. Deforestation-free verification for pepper under buyer due-diligence. We do not overstate which rule applies.</a:t>
            </a:r>
          </a:p>
        </p:txBody>
      </p:sp>
      <p:sp>
        <p:nvSpPr>
          <p:cNvPr id="19" name="Rectangle 18"/>
          <p:cNvSpPr/>
          <p:nvPr/>
        </p:nvSpPr>
        <p:spPr>
          <a:xfrm>
            <a:off x="6251295" y="4645152"/>
            <a:ext cx="5282031" cy="144475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25615" y="4919472"/>
            <a:ext cx="4733391" cy="22860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DECISION LAYER</a:t>
            </a:r>
          </a:p>
        </p:txBody>
      </p:sp>
      <p:sp>
        <p:nvSpPr>
          <p:cNvPr id="21" name="TextBox 20"/>
          <p:cNvSpPr txBox="1"/>
          <p:nvPr/>
        </p:nvSpPr>
        <p:spPr>
          <a:xfrm>
            <a:off x="6525615" y="5212080"/>
            <a:ext cx="4733391"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AI-CCDSS</a:t>
            </a:r>
          </a:p>
        </p:txBody>
      </p:sp>
      <p:sp>
        <p:nvSpPr>
          <p:cNvPr id="22" name="TextBox 21"/>
          <p:cNvSpPr txBox="1"/>
          <p:nvPr/>
        </p:nvSpPr>
        <p:spPr>
          <a:xfrm>
            <a:off x="6525615" y="5459934"/>
            <a:ext cx="4733391" cy="409407"/>
          </a:xfrm>
          <a:prstGeom prst="rect">
            <a:avLst/>
          </a:prstGeom>
          <a:noFill/>
        </p:spPr>
        <p:txBody>
          <a:bodyPr wrap="square" lIns="0" tIns="0" rIns="0" bIns="0" anchor="t">
            <a:spAutoFit/>
          </a:bodyPr>
          <a:lstStyle/>
          <a:p>
            <a:pPr>
              <a:lnSpc>
                <a:spcPct val="134000"/>
              </a:lnSpc>
            </a:pPr>
            <a:r>
              <a:rPr lang="en-GB" sz="1050" dirty="0">
                <a:solidFill>
                  <a:srgbClr val="35483A"/>
                </a:solidFill>
                <a:latin typeface="Segoe UI"/>
              </a:rPr>
              <a:t>Climate decision support over the same data: planting windows, disease pressure and yield signals returned to facilitators as advice a farmer can act on.</a:t>
            </a:r>
          </a:p>
        </p:txBody>
      </p:sp>
      <p:sp>
        <p:nvSpPr>
          <p:cNvPr id="23" name="TextBox 22"/>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24" name="TextBox 23"/>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09</a:t>
            </a:r>
          </a:p>
        </p:txBody>
      </p:sp>
      <p:grpSp>
        <p:nvGrpSpPr>
          <p:cNvPr id="25" name="BrandLockup"/>
          <p:cNvGrpSpPr/>
          <p:nvPr/>
        </p:nvGrpSpPr>
        <p:grpSpPr>
          <a:xfrm>
            <a:off x="9123556" y="438912"/>
            <a:ext cx="2410045" cy="310896"/>
            <a:chOff x="9123556" y="438912"/>
            <a:chExt cx="2410045" cy="310896"/>
          </a:xfrm>
        </p:grpSpPr>
        <p:pic>
          <p:nvPicPr>
            <p:cNvPr id="26" name="Picture 25" descr="mark_kgf.png"/>
            <p:cNvPicPr>
              <a:picLocks noChangeAspect="1"/>
            </p:cNvPicPr>
            <p:nvPr/>
          </p:nvPicPr>
          <p:blipFill>
            <a:blip r:embed="rId2"/>
            <a:stretch>
              <a:fillRect/>
            </a:stretch>
          </p:blipFill>
          <p:spPr>
            <a:xfrm>
              <a:off x="9123556" y="438912"/>
              <a:ext cx="310896" cy="310896"/>
            </a:xfrm>
            <a:prstGeom prst="rect">
              <a:avLst/>
            </a:prstGeom>
          </p:spPr>
        </p:pic>
        <p:sp>
          <p:nvSpPr>
            <p:cNvPr id="27" name="Rectangle 26"/>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mark_c3.png"/>
            <p:cNvPicPr>
              <a:picLocks noChangeAspect="1"/>
            </p:cNvPicPr>
            <p:nvPr/>
          </p:nvPicPr>
          <p:blipFill>
            <a:blip r:embed="rId3"/>
            <a:stretch>
              <a:fillRect/>
            </a:stretch>
          </p:blipFill>
          <p:spPr>
            <a:xfrm>
              <a:off x="9708772" y="466344"/>
              <a:ext cx="1019596" cy="256032"/>
            </a:xfrm>
            <a:prstGeom prst="rect">
              <a:avLst/>
            </a:prstGeom>
          </p:spPr>
        </p:pic>
        <p:sp>
          <p:nvSpPr>
            <p:cNvPr id="29" name="Rectangle 28"/>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10   TEAM</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400" b="1">
                <a:solidFill>
                  <a:srgbClr val="13251A"/>
                </a:solidFill>
                <a:latin typeface="Georgia"/>
              </a:rPr>
              <a:t>The people who run it.</a:t>
            </a:r>
          </a:p>
        </p:txBody>
      </p:sp>
      <p:sp>
        <p:nvSpPr>
          <p:cNvPr id="6" name="TextBox 5"/>
          <p:cNvSpPr txBox="1"/>
          <p:nvPr/>
        </p:nvSpPr>
        <p:spPr>
          <a:xfrm>
            <a:off x="658368" y="2121408"/>
            <a:ext cx="11060390" cy="266420"/>
          </a:xfrm>
          <a:prstGeom prst="rect">
            <a:avLst/>
          </a:prstGeom>
          <a:noFill/>
        </p:spPr>
        <p:txBody>
          <a:bodyPr wrap="square" lIns="0" tIns="0" rIns="0" bIns="0" anchor="t">
            <a:spAutoFit/>
          </a:bodyPr>
          <a:lstStyle/>
          <a:p>
            <a:pPr algn="l">
              <a:lnSpc>
                <a:spcPct val="134000"/>
              </a:lnSpc>
              <a:spcAft>
                <a:spcPts val="0"/>
              </a:spcAft>
            </a:pPr>
            <a:r>
              <a:rPr sz="1450" b="0" dirty="0">
                <a:solidFill>
                  <a:srgbClr val="35483A"/>
                </a:solidFill>
                <a:latin typeface="Segoe UI"/>
              </a:rPr>
              <a:t>A resident team in Lampung, not a head office managing at a distance. Field facilitation, processing, data and trading sit under one roof.</a:t>
            </a:r>
          </a:p>
        </p:txBody>
      </p:sp>
      <p:sp>
        <p:nvSpPr>
          <p:cNvPr id="37" name="TextBox 36"/>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38" name="TextBox 37"/>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10</a:t>
            </a:r>
          </a:p>
        </p:txBody>
      </p:sp>
      <p:grpSp>
        <p:nvGrpSpPr>
          <p:cNvPr id="39" name="BrandLockup"/>
          <p:cNvGrpSpPr/>
          <p:nvPr/>
        </p:nvGrpSpPr>
        <p:grpSpPr>
          <a:xfrm>
            <a:off x="9123556" y="438912"/>
            <a:ext cx="2410045" cy="310896"/>
            <a:chOff x="9123556" y="438912"/>
            <a:chExt cx="2410045" cy="310896"/>
          </a:xfrm>
        </p:grpSpPr>
        <p:pic>
          <p:nvPicPr>
            <p:cNvPr id="40" name="Picture 39" descr="mark_kgf.png"/>
            <p:cNvPicPr>
              <a:picLocks noChangeAspect="1"/>
            </p:cNvPicPr>
            <p:nvPr/>
          </p:nvPicPr>
          <p:blipFill>
            <a:blip r:embed="rId2"/>
            <a:stretch>
              <a:fillRect/>
            </a:stretch>
          </p:blipFill>
          <p:spPr>
            <a:xfrm>
              <a:off x="9123556" y="438912"/>
              <a:ext cx="310896" cy="310896"/>
            </a:xfrm>
            <a:prstGeom prst="rect">
              <a:avLst/>
            </a:prstGeom>
          </p:spPr>
        </p:pic>
        <p:sp>
          <p:nvSpPr>
            <p:cNvPr id="41" name="Rectangle 40"/>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mark_c3.png"/>
            <p:cNvPicPr>
              <a:picLocks noChangeAspect="1"/>
            </p:cNvPicPr>
            <p:nvPr/>
          </p:nvPicPr>
          <p:blipFill>
            <a:blip r:embed="rId3"/>
            <a:stretch>
              <a:fillRect/>
            </a:stretch>
          </p:blipFill>
          <p:spPr>
            <a:xfrm>
              <a:off x="9708772" y="466344"/>
              <a:ext cx="1019596" cy="256032"/>
            </a:xfrm>
            <a:prstGeom prst="rect">
              <a:avLst/>
            </a:prstGeom>
          </p:spPr>
        </p:pic>
        <p:sp>
          <p:nvSpPr>
            <p:cNvPr id="43" name="Rectangle 42"/>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mark_hsbc.png"/>
            <p:cNvPicPr>
              <a:picLocks noChangeAspect="1"/>
            </p:cNvPicPr>
            <p:nvPr/>
          </p:nvPicPr>
          <p:blipFill>
            <a:blip r:embed="rId4"/>
            <a:stretch>
              <a:fillRect/>
            </a:stretch>
          </p:blipFill>
          <p:spPr>
            <a:xfrm>
              <a:off x="11002688" y="466344"/>
              <a:ext cx="530912" cy="256032"/>
            </a:xfrm>
            <a:prstGeom prst="rect">
              <a:avLst/>
            </a:prstGeom>
          </p:spPr>
        </p:pic>
      </p:grpSp>
      <p:sp>
        <p:nvSpPr>
          <p:cNvPr id="45" name="Rectangle 44"/>
          <p:cNvSpPr/>
          <p:nvPr/>
        </p:nvSpPr>
        <p:spPr>
          <a:xfrm>
            <a:off x="658368" y="3017520"/>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faizal.png"/>
          <p:cNvPicPr>
            <a:picLocks noChangeAspect="1"/>
          </p:cNvPicPr>
          <p:nvPr/>
        </p:nvPicPr>
        <p:blipFill>
          <a:blip r:embed="rId5"/>
          <a:stretch>
            <a:fillRect/>
          </a:stretch>
        </p:blipFill>
        <p:spPr>
          <a:xfrm>
            <a:off x="896112" y="3337560"/>
            <a:ext cx="749808" cy="749808"/>
          </a:xfrm>
          <a:prstGeom prst="rect">
            <a:avLst/>
          </a:prstGeom>
        </p:spPr>
      </p:pic>
      <p:sp>
        <p:nvSpPr>
          <p:cNvPr id="47" name="TextBox 46"/>
          <p:cNvSpPr txBox="1"/>
          <p:nvPr/>
        </p:nvSpPr>
        <p:spPr>
          <a:xfrm>
            <a:off x="1865376" y="3383279"/>
            <a:ext cx="2009637" cy="365760"/>
          </a:xfrm>
          <a:prstGeom prst="rect">
            <a:avLst/>
          </a:prstGeom>
          <a:noFill/>
        </p:spPr>
        <p:txBody>
          <a:bodyPr wrap="square" lIns="0" tIns="0" rIns="0" bIns="0">
            <a:spAutoFit/>
          </a:bodyPr>
          <a:lstStyle/>
          <a:p>
            <a:r>
              <a:rPr sz="1400" b="1">
                <a:solidFill>
                  <a:srgbClr val="13251A"/>
                </a:solidFill>
                <a:latin typeface="Georgia"/>
              </a:rPr>
              <a:t>Faizal Riza</a:t>
            </a:r>
          </a:p>
        </p:txBody>
      </p:sp>
      <p:sp>
        <p:nvSpPr>
          <p:cNvPr id="48" name="TextBox 47"/>
          <p:cNvSpPr txBox="1"/>
          <p:nvPr/>
        </p:nvSpPr>
        <p:spPr>
          <a:xfrm>
            <a:off x="1865376" y="3803904"/>
            <a:ext cx="2009637" cy="274320"/>
          </a:xfrm>
          <a:prstGeom prst="rect">
            <a:avLst/>
          </a:prstGeom>
          <a:noFill/>
        </p:spPr>
        <p:txBody>
          <a:bodyPr wrap="square" lIns="0" tIns="0" rIns="0" bIns="0">
            <a:spAutoFit/>
          </a:bodyPr>
          <a:lstStyle/>
          <a:p>
            <a:r>
              <a:rPr sz="800">
                <a:solidFill>
                  <a:srgbClr val="64796A"/>
                </a:solidFill>
                <a:latin typeface="Consolas"/>
              </a:rPr>
              <a:t>CHIEF EXECUTIVE OFFICER</a:t>
            </a:r>
          </a:p>
        </p:txBody>
      </p:sp>
      <p:sp>
        <p:nvSpPr>
          <p:cNvPr id="49" name="Rectangle 48"/>
          <p:cNvSpPr/>
          <p:nvPr/>
        </p:nvSpPr>
        <p:spPr>
          <a:xfrm>
            <a:off x="4387077" y="3017520"/>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0" name="Picture 49" descr="arif.png"/>
          <p:cNvPicPr>
            <a:picLocks noChangeAspect="1"/>
          </p:cNvPicPr>
          <p:nvPr/>
        </p:nvPicPr>
        <p:blipFill>
          <a:blip r:embed="rId6"/>
          <a:stretch>
            <a:fillRect/>
          </a:stretch>
        </p:blipFill>
        <p:spPr>
          <a:xfrm>
            <a:off x="4624821" y="3337560"/>
            <a:ext cx="749808" cy="749808"/>
          </a:xfrm>
          <a:prstGeom prst="rect">
            <a:avLst/>
          </a:prstGeom>
        </p:spPr>
      </p:pic>
      <p:sp>
        <p:nvSpPr>
          <p:cNvPr id="51" name="TextBox 50"/>
          <p:cNvSpPr txBox="1"/>
          <p:nvPr/>
        </p:nvSpPr>
        <p:spPr>
          <a:xfrm>
            <a:off x="5594085" y="3383279"/>
            <a:ext cx="2009637" cy="365760"/>
          </a:xfrm>
          <a:prstGeom prst="rect">
            <a:avLst/>
          </a:prstGeom>
          <a:noFill/>
        </p:spPr>
        <p:txBody>
          <a:bodyPr wrap="square" lIns="0" tIns="0" rIns="0" bIns="0">
            <a:spAutoFit/>
          </a:bodyPr>
          <a:lstStyle/>
          <a:p>
            <a:r>
              <a:rPr sz="1400" b="1">
                <a:solidFill>
                  <a:srgbClr val="13251A"/>
                </a:solidFill>
                <a:latin typeface="Georgia"/>
              </a:rPr>
              <a:t>Arif Rachman</a:t>
            </a:r>
          </a:p>
        </p:txBody>
      </p:sp>
      <p:sp>
        <p:nvSpPr>
          <p:cNvPr id="52" name="TextBox 51"/>
          <p:cNvSpPr txBox="1"/>
          <p:nvPr/>
        </p:nvSpPr>
        <p:spPr>
          <a:xfrm>
            <a:off x="5594085" y="3803904"/>
            <a:ext cx="2009637" cy="274320"/>
          </a:xfrm>
          <a:prstGeom prst="rect">
            <a:avLst/>
          </a:prstGeom>
          <a:noFill/>
        </p:spPr>
        <p:txBody>
          <a:bodyPr wrap="square" lIns="0" tIns="0" rIns="0" bIns="0">
            <a:spAutoFit/>
          </a:bodyPr>
          <a:lstStyle/>
          <a:p>
            <a:r>
              <a:rPr sz="800">
                <a:solidFill>
                  <a:srgbClr val="64796A"/>
                </a:solidFill>
                <a:latin typeface="Consolas"/>
              </a:rPr>
              <a:t>COO / PROJECT DIRECTOR</a:t>
            </a:r>
          </a:p>
        </p:txBody>
      </p:sp>
      <p:sp>
        <p:nvSpPr>
          <p:cNvPr id="53" name="Rectangle 52"/>
          <p:cNvSpPr/>
          <p:nvPr/>
        </p:nvSpPr>
        <p:spPr>
          <a:xfrm>
            <a:off x="8115787" y="3017520"/>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Picture 53" descr="rafiq.png"/>
          <p:cNvPicPr>
            <a:picLocks noChangeAspect="1"/>
          </p:cNvPicPr>
          <p:nvPr/>
        </p:nvPicPr>
        <p:blipFill>
          <a:blip r:embed="rId7"/>
          <a:stretch>
            <a:fillRect/>
          </a:stretch>
        </p:blipFill>
        <p:spPr>
          <a:xfrm>
            <a:off x="8353531" y="3337560"/>
            <a:ext cx="749808" cy="749808"/>
          </a:xfrm>
          <a:prstGeom prst="rect">
            <a:avLst/>
          </a:prstGeom>
        </p:spPr>
      </p:pic>
      <p:sp>
        <p:nvSpPr>
          <p:cNvPr id="55" name="TextBox 54"/>
          <p:cNvSpPr txBox="1"/>
          <p:nvPr/>
        </p:nvSpPr>
        <p:spPr>
          <a:xfrm>
            <a:off x="9322795" y="3383279"/>
            <a:ext cx="2009637" cy="365760"/>
          </a:xfrm>
          <a:prstGeom prst="rect">
            <a:avLst/>
          </a:prstGeom>
          <a:noFill/>
        </p:spPr>
        <p:txBody>
          <a:bodyPr wrap="square" lIns="0" tIns="0" rIns="0" bIns="0">
            <a:spAutoFit/>
          </a:bodyPr>
          <a:lstStyle/>
          <a:p>
            <a:r>
              <a:rPr sz="1400" b="1">
                <a:solidFill>
                  <a:srgbClr val="13251A"/>
                </a:solidFill>
                <a:latin typeface="Georgia"/>
              </a:rPr>
              <a:t>Muhammad Rafiq</a:t>
            </a:r>
          </a:p>
        </p:txBody>
      </p:sp>
      <p:sp>
        <p:nvSpPr>
          <p:cNvPr id="56" name="TextBox 55"/>
          <p:cNvSpPr txBox="1"/>
          <p:nvPr/>
        </p:nvSpPr>
        <p:spPr>
          <a:xfrm>
            <a:off x="9322795" y="3803904"/>
            <a:ext cx="2009637" cy="274320"/>
          </a:xfrm>
          <a:prstGeom prst="rect">
            <a:avLst/>
          </a:prstGeom>
          <a:noFill/>
        </p:spPr>
        <p:txBody>
          <a:bodyPr wrap="square" lIns="0" tIns="0" rIns="0" bIns="0">
            <a:spAutoFit/>
          </a:bodyPr>
          <a:lstStyle/>
          <a:p>
            <a:r>
              <a:rPr sz="800">
                <a:solidFill>
                  <a:srgbClr val="64796A"/>
                </a:solidFill>
                <a:latin typeface="Consolas"/>
              </a:rPr>
              <a:t>TECHNICAL MANAGER</a:t>
            </a:r>
          </a:p>
        </p:txBody>
      </p:sp>
      <p:sp>
        <p:nvSpPr>
          <p:cNvPr id="57" name="Rectangle 56"/>
          <p:cNvSpPr/>
          <p:nvPr/>
        </p:nvSpPr>
        <p:spPr>
          <a:xfrm>
            <a:off x="658368" y="4626864"/>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8" name="Picture 57" descr="heri.png"/>
          <p:cNvPicPr>
            <a:picLocks noChangeAspect="1"/>
          </p:cNvPicPr>
          <p:nvPr/>
        </p:nvPicPr>
        <p:blipFill>
          <a:blip r:embed="rId8"/>
          <a:stretch>
            <a:fillRect/>
          </a:stretch>
        </p:blipFill>
        <p:spPr>
          <a:xfrm>
            <a:off x="896112" y="4946903"/>
            <a:ext cx="749808" cy="749808"/>
          </a:xfrm>
          <a:prstGeom prst="rect">
            <a:avLst/>
          </a:prstGeom>
        </p:spPr>
      </p:pic>
      <p:sp>
        <p:nvSpPr>
          <p:cNvPr id="59" name="TextBox 58"/>
          <p:cNvSpPr txBox="1"/>
          <p:nvPr/>
        </p:nvSpPr>
        <p:spPr>
          <a:xfrm>
            <a:off x="1865376" y="4992624"/>
            <a:ext cx="2009637" cy="365760"/>
          </a:xfrm>
          <a:prstGeom prst="rect">
            <a:avLst/>
          </a:prstGeom>
          <a:noFill/>
        </p:spPr>
        <p:txBody>
          <a:bodyPr wrap="square" lIns="0" tIns="0" rIns="0" bIns="0">
            <a:spAutoFit/>
          </a:bodyPr>
          <a:lstStyle/>
          <a:p>
            <a:r>
              <a:rPr sz="1400" b="1">
                <a:solidFill>
                  <a:srgbClr val="13251A"/>
                </a:solidFill>
                <a:latin typeface="Georgia"/>
              </a:rPr>
              <a:t>Heri Adi Prasetya</a:t>
            </a:r>
          </a:p>
        </p:txBody>
      </p:sp>
      <p:sp>
        <p:nvSpPr>
          <p:cNvPr id="60" name="TextBox 59"/>
          <p:cNvSpPr txBox="1"/>
          <p:nvPr/>
        </p:nvSpPr>
        <p:spPr>
          <a:xfrm>
            <a:off x="1865376" y="5413248"/>
            <a:ext cx="2009637" cy="274320"/>
          </a:xfrm>
          <a:prstGeom prst="rect">
            <a:avLst/>
          </a:prstGeom>
          <a:noFill/>
        </p:spPr>
        <p:txBody>
          <a:bodyPr wrap="square" lIns="0" tIns="0" rIns="0" bIns="0">
            <a:spAutoFit/>
          </a:bodyPr>
          <a:lstStyle/>
          <a:p>
            <a:r>
              <a:rPr sz="800">
                <a:solidFill>
                  <a:srgbClr val="64796A"/>
                </a:solidFill>
                <a:latin typeface="Consolas"/>
              </a:rPr>
              <a:t>OPERATION MANAGER</a:t>
            </a:r>
          </a:p>
        </p:txBody>
      </p:sp>
      <p:sp>
        <p:nvSpPr>
          <p:cNvPr id="61" name="Rectangle 60"/>
          <p:cNvSpPr/>
          <p:nvPr/>
        </p:nvSpPr>
        <p:spPr>
          <a:xfrm>
            <a:off x="4387077" y="4626864"/>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nico.png"/>
          <p:cNvPicPr>
            <a:picLocks noChangeAspect="1"/>
          </p:cNvPicPr>
          <p:nvPr/>
        </p:nvPicPr>
        <p:blipFill>
          <a:blip r:embed="rId9"/>
          <a:stretch>
            <a:fillRect/>
          </a:stretch>
        </p:blipFill>
        <p:spPr>
          <a:xfrm>
            <a:off x="4624821" y="4946903"/>
            <a:ext cx="749808" cy="749808"/>
          </a:xfrm>
          <a:prstGeom prst="rect">
            <a:avLst/>
          </a:prstGeom>
        </p:spPr>
      </p:pic>
      <p:sp>
        <p:nvSpPr>
          <p:cNvPr id="63" name="TextBox 62"/>
          <p:cNvSpPr txBox="1"/>
          <p:nvPr/>
        </p:nvSpPr>
        <p:spPr>
          <a:xfrm>
            <a:off x="5594085" y="4992624"/>
            <a:ext cx="2009637" cy="365760"/>
          </a:xfrm>
          <a:prstGeom prst="rect">
            <a:avLst/>
          </a:prstGeom>
          <a:noFill/>
        </p:spPr>
        <p:txBody>
          <a:bodyPr wrap="square" lIns="0" tIns="0" rIns="0" bIns="0">
            <a:spAutoFit/>
          </a:bodyPr>
          <a:lstStyle/>
          <a:p>
            <a:r>
              <a:rPr sz="1400" b="1">
                <a:solidFill>
                  <a:srgbClr val="13251A"/>
                </a:solidFill>
                <a:latin typeface="Georgia"/>
              </a:rPr>
              <a:t>Nico Setyo Utomo</a:t>
            </a:r>
          </a:p>
        </p:txBody>
      </p:sp>
      <p:sp>
        <p:nvSpPr>
          <p:cNvPr id="64" name="TextBox 63"/>
          <p:cNvSpPr txBox="1"/>
          <p:nvPr/>
        </p:nvSpPr>
        <p:spPr>
          <a:xfrm>
            <a:off x="5594085" y="5413248"/>
            <a:ext cx="2009637" cy="274320"/>
          </a:xfrm>
          <a:prstGeom prst="rect">
            <a:avLst/>
          </a:prstGeom>
          <a:noFill/>
        </p:spPr>
        <p:txBody>
          <a:bodyPr wrap="square" lIns="0" tIns="0" rIns="0" bIns="0">
            <a:spAutoFit/>
          </a:bodyPr>
          <a:lstStyle/>
          <a:p>
            <a:r>
              <a:rPr sz="800">
                <a:solidFill>
                  <a:srgbClr val="64796A"/>
                </a:solidFill>
                <a:latin typeface="Consolas"/>
              </a:rPr>
              <a:t>DATA AND MANAGEMENT</a:t>
            </a:r>
          </a:p>
        </p:txBody>
      </p:sp>
      <p:sp>
        <p:nvSpPr>
          <p:cNvPr id="65" name="Rectangle 64"/>
          <p:cNvSpPr/>
          <p:nvPr/>
        </p:nvSpPr>
        <p:spPr>
          <a:xfrm>
            <a:off x="8115787" y="4626864"/>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6" name="Picture 65" descr="yanfa.png"/>
          <p:cNvPicPr>
            <a:picLocks noChangeAspect="1"/>
          </p:cNvPicPr>
          <p:nvPr/>
        </p:nvPicPr>
        <p:blipFill>
          <a:blip r:embed="rId10"/>
          <a:stretch>
            <a:fillRect/>
          </a:stretch>
        </p:blipFill>
        <p:spPr>
          <a:xfrm>
            <a:off x="8353531" y="4946903"/>
            <a:ext cx="749808" cy="749808"/>
          </a:xfrm>
          <a:prstGeom prst="rect">
            <a:avLst/>
          </a:prstGeom>
        </p:spPr>
      </p:pic>
      <p:sp>
        <p:nvSpPr>
          <p:cNvPr id="67" name="TextBox 66"/>
          <p:cNvSpPr txBox="1"/>
          <p:nvPr/>
        </p:nvSpPr>
        <p:spPr>
          <a:xfrm>
            <a:off x="9322795" y="4992624"/>
            <a:ext cx="2009637" cy="365760"/>
          </a:xfrm>
          <a:prstGeom prst="rect">
            <a:avLst/>
          </a:prstGeom>
          <a:noFill/>
        </p:spPr>
        <p:txBody>
          <a:bodyPr wrap="square" lIns="0" tIns="0" rIns="0" bIns="0">
            <a:spAutoFit/>
          </a:bodyPr>
          <a:lstStyle/>
          <a:p>
            <a:r>
              <a:rPr sz="1400" b="1">
                <a:solidFill>
                  <a:srgbClr val="13251A"/>
                </a:solidFill>
                <a:latin typeface="Georgia"/>
              </a:rPr>
              <a:t>Yanfa Ghiyats Ghifari</a:t>
            </a:r>
          </a:p>
        </p:txBody>
      </p:sp>
      <p:sp>
        <p:nvSpPr>
          <p:cNvPr id="68" name="TextBox 67"/>
          <p:cNvSpPr txBox="1"/>
          <p:nvPr/>
        </p:nvSpPr>
        <p:spPr>
          <a:xfrm>
            <a:off x="9322795" y="5413248"/>
            <a:ext cx="2009637" cy="274320"/>
          </a:xfrm>
          <a:prstGeom prst="rect">
            <a:avLst/>
          </a:prstGeom>
          <a:noFill/>
        </p:spPr>
        <p:txBody>
          <a:bodyPr wrap="square" lIns="0" tIns="0" rIns="0" bIns="0">
            <a:spAutoFit/>
          </a:bodyPr>
          <a:lstStyle/>
          <a:p>
            <a:r>
              <a:rPr sz="800">
                <a:solidFill>
                  <a:srgbClr val="64796A"/>
                </a:solidFill>
                <a:latin typeface="Consolas"/>
              </a:rPr>
              <a:t>SR. FIELD FACILITATOR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11   CONSORTIUM &amp; PARTNERS</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400" b="1">
                <a:solidFill>
                  <a:srgbClr val="13251A"/>
                </a:solidFill>
                <a:latin typeface="Georgia"/>
              </a:rPr>
              <a:t>We do not do this alone.</a:t>
            </a:r>
          </a:p>
        </p:txBody>
      </p:sp>
      <p:sp>
        <p:nvSpPr>
          <p:cNvPr id="6" name="TextBox 5"/>
          <p:cNvSpPr txBox="1"/>
          <p:nvPr/>
        </p:nvSpPr>
        <p:spPr>
          <a:xfrm>
            <a:off x="658368" y="2103120"/>
            <a:ext cx="10874958" cy="565411"/>
          </a:xfrm>
          <a:prstGeom prst="rect">
            <a:avLst/>
          </a:prstGeom>
          <a:noFill/>
        </p:spPr>
        <p:txBody>
          <a:bodyPr wrap="square" lIns="0" tIns="0" rIns="0" bIns="0" anchor="t">
            <a:spAutoFit/>
          </a:bodyPr>
          <a:lstStyle/>
          <a:p>
            <a:pPr algn="l">
              <a:lnSpc>
                <a:spcPct val="134000"/>
              </a:lnSpc>
              <a:spcAft>
                <a:spcPts val="0"/>
              </a:spcAft>
            </a:pPr>
            <a:r>
              <a:rPr sz="1450" b="0" dirty="0">
                <a:solidFill>
                  <a:srgbClr val="35483A"/>
                </a:solidFill>
                <a:latin typeface="Segoe UI"/>
              </a:rPr>
              <a:t>KGF is the field implementor and off-taker inside a consortium that carries the buyer relationship, the traceability technology, the research base and the standards platform.</a:t>
            </a:r>
          </a:p>
        </p:txBody>
      </p:sp>
      <p:sp>
        <p:nvSpPr>
          <p:cNvPr id="7" name="Rectangle 6"/>
          <p:cNvSpPr/>
          <p:nvPr/>
        </p:nvSpPr>
        <p:spPr>
          <a:xfrm>
            <a:off x="658368" y="3017520"/>
            <a:ext cx="2066543" cy="1133856"/>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4251960"/>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IMPLEMENTOR &amp; OFF-TAKER</a:t>
            </a:r>
          </a:p>
        </p:txBody>
      </p:sp>
      <p:sp>
        <p:nvSpPr>
          <p:cNvPr id="10" name="Rectangle 9"/>
          <p:cNvSpPr/>
          <p:nvPr/>
        </p:nvSpPr>
        <p:spPr>
          <a:xfrm>
            <a:off x="2944368" y="3017520"/>
            <a:ext cx="2066543" cy="1133856"/>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LOGO_AGROW.png"/>
          <p:cNvPicPr>
            <a:picLocks noChangeAspect="1"/>
          </p:cNvPicPr>
          <p:nvPr/>
        </p:nvPicPr>
        <p:blipFill>
          <a:blip r:embed="rId2"/>
          <a:srcRect t="-4290" b="14154"/>
          <a:stretch>
            <a:fillRect/>
          </a:stretch>
        </p:blipFill>
        <p:spPr>
          <a:xfrm>
            <a:off x="3410710" y="3065647"/>
            <a:ext cx="1133857" cy="979969"/>
          </a:xfrm>
          <a:prstGeom prst="rect">
            <a:avLst/>
          </a:prstGeom>
        </p:spPr>
      </p:pic>
      <p:sp>
        <p:nvSpPr>
          <p:cNvPr id="12" name="TextBox 11"/>
          <p:cNvSpPr txBox="1"/>
          <p:nvPr/>
        </p:nvSpPr>
        <p:spPr>
          <a:xfrm>
            <a:off x="2944368" y="4251960"/>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CONSORTIUM PROGRAMME</a:t>
            </a:r>
          </a:p>
        </p:txBody>
      </p:sp>
      <p:sp>
        <p:nvSpPr>
          <p:cNvPr id="13" name="Rectangle 12"/>
          <p:cNvSpPr/>
          <p:nvPr/>
        </p:nvSpPr>
        <p:spPr>
          <a:xfrm>
            <a:off x="5230368" y="3017520"/>
            <a:ext cx="2066543" cy="1133856"/>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LOGO_VERSTEGEN.png"/>
          <p:cNvPicPr>
            <a:picLocks noChangeAspect="1"/>
          </p:cNvPicPr>
          <p:nvPr/>
        </p:nvPicPr>
        <p:blipFill>
          <a:blip r:embed="rId3"/>
          <a:stretch>
            <a:fillRect/>
          </a:stretch>
        </p:blipFill>
        <p:spPr>
          <a:xfrm>
            <a:off x="5789924" y="3200400"/>
            <a:ext cx="947431" cy="768096"/>
          </a:xfrm>
          <a:prstGeom prst="rect">
            <a:avLst/>
          </a:prstGeom>
        </p:spPr>
      </p:pic>
      <p:sp>
        <p:nvSpPr>
          <p:cNvPr id="15" name="TextBox 14"/>
          <p:cNvSpPr txBox="1"/>
          <p:nvPr/>
        </p:nvSpPr>
        <p:spPr>
          <a:xfrm>
            <a:off x="5230368" y="4251960"/>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BUYER · NETHERLANDS</a:t>
            </a:r>
          </a:p>
        </p:txBody>
      </p:sp>
      <p:sp>
        <p:nvSpPr>
          <p:cNvPr id="16" name="Rectangle 15"/>
          <p:cNvSpPr/>
          <p:nvPr/>
        </p:nvSpPr>
        <p:spPr>
          <a:xfrm>
            <a:off x="7516368" y="3017520"/>
            <a:ext cx="2066543" cy="1133856"/>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LOGO_FAIRFOOD.png"/>
          <p:cNvPicPr>
            <a:picLocks noChangeAspect="1"/>
          </p:cNvPicPr>
          <p:nvPr/>
        </p:nvPicPr>
        <p:blipFill>
          <a:blip r:embed="rId4"/>
          <a:stretch>
            <a:fillRect/>
          </a:stretch>
        </p:blipFill>
        <p:spPr>
          <a:xfrm>
            <a:off x="7699248" y="3464481"/>
            <a:ext cx="1700784" cy="239932"/>
          </a:xfrm>
          <a:prstGeom prst="rect">
            <a:avLst/>
          </a:prstGeom>
        </p:spPr>
      </p:pic>
      <p:sp>
        <p:nvSpPr>
          <p:cNvPr id="18" name="TextBox 17"/>
          <p:cNvSpPr txBox="1"/>
          <p:nvPr/>
        </p:nvSpPr>
        <p:spPr>
          <a:xfrm>
            <a:off x="7516368" y="4251960"/>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TRACEABILITY TECHNOLOGY</a:t>
            </a:r>
          </a:p>
        </p:txBody>
      </p:sp>
      <p:sp>
        <p:nvSpPr>
          <p:cNvPr id="19" name="Rectangle 18"/>
          <p:cNvSpPr/>
          <p:nvPr/>
        </p:nvSpPr>
        <p:spPr>
          <a:xfrm>
            <a:off x="9802368" y="3017520"/>
            <a:ext cx="2066543" cy="1133856"/>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LOGO_SSII.png"/>
          <p:cNvPicPr>
            <a:picLocks noChangeAspect="1"/>
          </p:cNvPicPr>
          <p:nvPr/>
        </p:nvPicPr>
        <p:blipFill>
          <a:blip r:embed="rId5"/>
          <a:stretch>
            <a:fillRect/>
          </a:stretch>
        </p:blipFill>
        <p:spPr>
          <a:xfrm>
            <a:off x="10088880" y="3200400"/>
            <a:ext cx="1493519" cy="768095"/>
          </a:xfrm>
          <a:prstGeom prst="rect">
            <a:avLst/>
          </a:prstGeom>
        </p:spPr>
      </p:pic>
      <p:sp>
        <p:nvSpPr>
          <p:cNvPr id="21" name="TextBox 20"/>
          <p:cNvSpPr txBox="1"/>
          <p:nvPr/>
        </p:nvSpPr>
        <p:spPr>
          <a:xfrm>
            <a:off x="9802368" y="4251960"/>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SECTOR PLATFORM</a:t>
            </a:r>
          </a:p>
        </p:txBody>
      </p:sp>
      <p:sp>
        <p:nvSpPr>
          <p:cNvPr id="22" name="Rectangle 21"/>
          <p:cNvSpPr/>
          <p:nvPr/>
        </p:nvSpPr>
        <p:spPr>
          <a:xfrm>
            <a:off x="658368" y="4718304"/>
            <a:ext cx="2066543" cy="1133856"/>
          </a:xfrm>
          <a:prstGeom prst="rect">
            <a:avLst/>
          </a:prstGeom>
          <a:solidFill>
            <a:srgbClr val="FFFFFF"/>
          </a:solidFill>
          <a:ln w="9525">
            <a:solidFill>
              <a:srgbClr val="D2E0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 y="5952744"/>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PROGRAMME FUNDER</a:t>
            </a:r>
          </a:p>
        </p:txBody>
      </p:sp>
      <p:sp>
        <p:nvSpPr>
          <p:cNvPr id="26" name="Rectangle 25"/>
          <p:cNvSpPr/>
          <p:nvPr/>
        </p:nvSpPr>
        <p:spPr>
          <a:xfrm>
            <a:off x="2944368" y="4718304"/>
            <a:ext cx="2066543" cy="1133856"/>
          </a:xfrm>
          <a:prstGeom prst="rect">
            <a:avLst/>
          </a:prstGeom>
          <a:solidFill>
            <a:srgbClr val="FFFFFF"/>
          </a:solidFill>
          <a:ln w="9525">
            <a:solidFill>
              <a:srgbClr val="D2E0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944368" y="5952744"/>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RESEARCH PARTNER</a:t>
            </a:r>
          </a:p>
        </p:txBody>
      </p:sp>
      <p:sp>
        <p:nvSpPr>
          <p:cNvPr id="30" name="Rectangle 29"/>
          <p:cNvSpPr/>
          <p:nvPr/>
        </p:nvSpPr>
        <p:spPr>
          <a:xfrm>
            <a:off x="5230368" y="4718304"/>
            <a:ext cx="2066543" cy="1133856"/>
          </a:xfrm>
          <a:prstGeom prst="rect">
            <a:avLst/>
          </a:prstGeom>
          <a:solidFill>
            <a:srgbClr val="FFFFFF"/>
          </a:solidFill>
          <a:ln w="9525">
            <a:solidFill>
              <a:srgbClr val="D2E0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30368" y="5952744"/>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NATIONAL RESEARCH AGENCY</a:t>
            </a:r>
          </a:p>
        </p:txBody>
      </p:sp>
      <p:sp>
        <p:nvSpPr>
          <p:cNvPr id="34" name="Rectangle 33"/>
          <p:cNvSpPr/>
          <p:nvPr/>
        </p:nvSpPr>
        <p:spPr>
          <a:xfrm>
            <a:off x="7516368" y="4718304"/>
            <a:ext cx="2066543" cy="1133856"/>
          </a:xfrm>
          <a:prstGeom prst="rect">
            <a:avLst/>
          </a:prstGeom>
          <a:solidFill>
            <a:srgbClr val="FFFFFF"/>
          </a:solidFill>
          <a:ln w="9525">
            <a:solidFill>
              <a:srgbClr val="D2E0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516368" y="5952744"/>
            <a:ext cx="2066543" cy="307777"/>
          </a:xfrm>
          <a:prstGeom prst="rect">
            <a:avLst/>
          </a:prstGeom>
          <a:noFill/>
        </p:spPr>
        <p:txBody>
          <a:bodyPr wrap="square" lIns="0" tIns="0" rIns="0" bIns="0" anchor="t">
            <a:spAutoFit/>
          </a:bodyPr>
          <a:lstStyle/>
          <a:p>
            <a:pPr algn="ctr">
              <a:spcAft>
                <a:spcPts val="0"/>
              </a:spcAft>
            </a:pPr>
            <a:r>
              <a:rPr lang="en-GB" sz="1000" b="0" dirty="0">
                <a:solidFill>
                  <a:srgbClr val="87978B"/>
                </a:solidFill>
                <a:latin typeface="Consolas"/>
              </a:rPr>
              <a:t>Ministry of industry</a:t>
            </a:r>
          </a:p>
          <a:p>
            <a:pPr algn="ctr">
              <a:spcAft>
                <a:spcPts val="0"/>
              </a:spcAft>
            </a:pPr>
            <a:r>
              <a:rPr sz="1000" b="0" dirty="0">
                <a:solidFill>
                  <a:srgbClr val="87978B"/>
                </a:solidFill>
                <a:latin typeface="Consolas"/>
              </a:rPr>
              <a:t>REPUBLIC OF INDONESIA</a:t>
            </a:r>
          </a:p>
        </p:txBody>
      </p:sp>
      <p:sp>
        <p:nvSpPr>
          <p:cNvPr id="38" name="Rectangle 37"/>
          <p:cNvSpPr/>
          <p:nvPr/>
        </p:nvSpPr>
        <p:spPr>
          <a:xfrm>
            <a:off x="9802368" y="4718304"/>
            <a:ext cx="2066543" cy="1133856"/>
          </a:xfrm>
          <a:prstGeom prst="rect">
            <a:avLst/>
          </a:prstGeom>
          <a:solidFill>
            <a:srgbClr val="FFFFFF"/>
          </a:solidFill>
          <a:ln w="9525">
            <a:solidFill>
              <a:srgbClr val="D2E0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802368" y="5952744"/>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NATURE IMPACT ACCELERATOR</a:t>
            </a:r>
          </a:p>
        </p:txBody>
      </p:sp>
      <p:sp>
        <p:nvSpPr>
          <p:cNvPr id="42" name="TextBox 41"/>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43" name="TextBox 42"/>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11</a:t>
            </a:r>
          </a:p>
        </p:txBody>
      </p:sp>
      <p:grpSp>
        <p:nvGrpSpPr>
          <p:cNvPr id="44" name="BrandLockup"/>
          <p:cNvGrpSpPr/>
          <p:nvPr/>
        </p:nvGrpSpPr>
        <p:grpSpPr>
          <a:xfrm>
            <a:off x="9123556" y="438912"/>
            <a:ext cx="2410045" cy="310896"/>
            <a:chOff x="9123556" y="438912"/>
            <a:chExt cx="2410045" cy="310896"/>
          </a:xfrm>
        </p:grpSpPr>
        <p:pic>
          <p:nvPicPr>
            <p:cNvPr id="45" name="Picture 44" descr="mark_kgf.png"/>
            <p:cNvPicPr>
              <a:picLocks noChangeAspect="1"/>
            </p:cNvPicPr>
            <p:nvPr/>
          </p:nvPicPr>
          <p:blipFill>
            <a:blip r:embed="rId6"/>
            <a:stretch>
              <a:fillRect/>
            </a:stretch>
          </p:blipFill>
          <p:spPr>
            <a:xfrm>
              <a:off x="9123556" y="438912"/>
              <a:ext cx="310896" cy="310896"/>
            </a:xfrm>
            <a:prstGeom prst="rect">
              <a:avLst/>
            </a:prstGeom>
          </p:spPr>
        </p:pic>
        <p:sp>
          <p:nvSpPr>
            <p:cNvPr id="46" name="Rectangle 45"/>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mark_c3.png"/>
            <p:cNvPicPr>
              <a:picLocks noChangeAspect="1"/>
            </p:cNvPicPr>
            <p:nvPr/>
          </p:nvPicPr>
          <p:blipFill>
            <a:blip r:embed="rId7"/>
            <a:stretch>
              <a:fillRect/>
            </a:stretch>
          </p:blipFill>
          <p:spPr>
            <a:xfrm>
              <a:off x="9708772" y="466344"/>
              <a:ext cx="1019596" cy="256032"/>
            </a:xfrm>
            <a:prstGeom prst="rect">
              <a:avLst/>
            </a:prstGeom>
          </p:spPr>
        </p:pic>
        <p:sp>
          <p:nvSpPr>
            <p:cNvPr id="48" name="Rectangle 47"/>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Picture 48" descr="mark_hsbc.png"/>
            <p:cNvPicPr>
              <a:picLocks noChangeAspect="1"/>
            </p:cNvPicPr>
            <p:nvPr/>
          </p:nvPicPr>
          <p:blipFill>
            <a:blip r:embed="rId8"/>
            <a:stretch>
              <a:fillRect/>
            </a:stretch>
          </p:blipFill>
          <p:spPr>
            <a:xfrm>
              <a:off x="11002688" y="466344"/>
              <a:ext cx="530912" cy="256032"/>
            </a:xfrm>
            <a:prstGeom prst="rect">
              <a:avLst/>
            </a:prstGeom>
          </p:spPr>
        </p:pic>
      </p:grpSp>
      <p:pic>
        <p:nvPicPr>
          <p:cNvPr id="50" name="Picture 49" descr="C3 - Companies Creating Change">
            <a:extLst>
              <a:ext uri="{FF2B5EF4-FFF2-40B4-BE49-F238E27FC236}">
                <a16:creationId xmlns:a16="http://schemas.microsoft.com/office/drawing/2014/main" id="{406547CA-5E48-A76A-0FBE-14DCE4B97161}"/>
              </a:ext>
            </a:extLst>
          </p:cNvPr>
          <p:cNvPicPr>
            <a:picLocks noChangeAspect="1"/>
          </p:cNvPicPr>
          <p:nvPr/>
        </p:nvPicPr>
        <p:blipFill>
          <a:blip r:embed="rId9"/>
          <a:stretch>
            <a:fillRect/>
          </a:stretch>
        </p:blipFill>
        <p:spPr>
          <a:xfrm>
            <a:off x="10015136" y="5144085"/>
            <a:ext cx="1700784" cy="428598"/>
          </a:xfrm>
          <a:prstGeom prst="rect">
            <a:avLst/>
          </a:prstGeom>
        </p:spPr>
      </p:pic>
      <p:pic>
        <p:nvPicPr>
          <p:cNvPr id="52" name="Picture 51">
            <a:extLst>
              <a:ext uri="{FF2B5EF4-FFF2-40B4-BE49-F238E27FC236}">
                <a16:creationId xmlns:a16="http://schemas.microsoft.com/office/drawing/2014/main" id="{ADC62DDB-0D44-0E85-184A-F69E475CC9FC}"/>
              </a:ext>
            </a:extLst>
          </p:cNvPr>
          <p:cNvPicPr>
            <a:picLocks noChangeAspect="1"/>
          </p:cNvPicPr>
          <p:nvPr/>
        </p:nvPicPr>
        <p:blipFill>
          <a:blip r:embed="rId10"/>
          <a:stretch>
            <a:fillRect/>
          </a:stretch>
        </p:blipFill>
        <p:spPr>
          <a:xfrm>
            <a:off x="7516368" y="4650544"/>
            <a:ext cx="1935975" cy="1290650"/>
          </a:xfrm>
          <a:prstGeom prst="rect">
            <a:avLst/>
          </a:prstGeom>
        </p:spPr>
      </p:pic>
      <p:pic>
        <p:nvPicPr>
          <p:cNvPr id="56" name="Picture 55">
            <a:extLst>
              <a:ext uri="{FF2B5EF4-FFF2-40B4-BE49-F238E27FC236}">
                <a16:creationId xmlns:a16="http://schemas.microsoft.com/office/drawing/2014/main" id="{1FFC23E6-0394-8830-B06C-5CD9898345E8}"/>
              </a:ext>
            </a:extLst>
          </p:cNvPr>
          <p:cNvPicPr>
            <a:picLocks noChangeAspect="1"/>
          </p:cNvPicPr>
          <p:nvPr/>
        </p:nvPicPr>
        <p:blipFill>
          <a:blip r:embed="rId11"/>
          <a:stretch>
            <a:fillRect/>
          </a:stretch>
        </p:blipFill>
        <p:spPr>
          <a:xfrm>
            <a:off x="5220122" y="4828770"/>
            <a:ext cx="1946221" cy="895386"/>
          </a:xfrm>
          <a:prstGeom prst="rect">
            <a:avLst/>
          </a:prstGeom>
        </p:spPr>
      </p:pic>
      <p:pic>
        <p:nvPicPr>
          <p:cNvPr id="57" name="Picture 56" descr="Sekolah Ilmu dan Teknologi Hayati - ITB | Bandung">
            <a:extLst>
              <a:ext uri="{FF2B5EF4-FFF2-40B4-BE49-F238E27FC236}">
                <a16:creationId xmlns:a16="http://schemas.microsoft.com/office/drawing/2014/main" id="{E15A9C2B-97FB-B1F4-6A61-14A4EC296EBF}"/>
              </a:ext>
            </a:extLst>
          </p:cNvPr>
          <p:cNvPicPr>
            <a:picLocks noChangeAspect="1"/>
          </p:cNvPicPr>
          <p:nvPr/>
        </p:nvPicPr>
        <p:blipFill>
          <a:blip r:embed="rId12"/>
          <a:srcRect t="17518"/>
          <a:stretch>
            <a:fillRect/>
          </a:stretch>
        </p:blipFill>
        <p:spPr>
          <a:xfrm>
            <a:off x="3348212" y="4899667"/>
            <a:ext cx="1151989" cy="950188"/>
          </a:xfrm>
          <a:prstGeom prst="rect">
            <a:avLst/>
          </a:prstGeom>
        </p:spPr>
      </p:pic>
      <p:pic>
        <p:nvPicPr>
          <p:cNvPr id="58" name="Picture 57" descr="Resilient Nature dari GIZ Indonesia &amp; ASEAN | atingi">
            <a:extLst>
              <a:ext uri="{FF2B5EF4-FFF2-40B4-BE49-F238E27FC236}">
                <a16:creationId xmlns:a16="http://schemas.microsoft.com/office/drawing/2014/main" id="{6DF540E3-C628-2B0C-392B-AB03F2ED0F20}"/>
              </a:ext>
            </a:extLst>
          </p:cNvPr>
          <p:cNvPicPr>
            <a:picLocks noChangeAspect="1"/>
          </p:cNvPicPr>
          <p:nvPr/>
        </p:nvPicPr>
        <p:blipFill>
          <a:blip r:embed="rId13"/>
          <a:stretch>
            <a:fillRect/>
          </a:stretch>
        </p:blipFill>
        <p:spPr>
          <a:xfrm>
            <a:off x="718528" y="4983891"/>
            <a:ext cx="1896321" cy="586733"/>
          </a:xfrm>
          <a:prstGeom prst="rect">
            <a:avLst/>
          </a:prstGeom>
        </p:spPr>
      </p:pic>
      <p:pic>
        <p:nvPicPr>
          <p:cNvPr id="60" name="Picture 59">
            <a:extLst>
              <a:ext uri="{FF2B5EF4-FFF2-40B4-BE49-F238E27FC236}">
                <a16:creationId xmlns:a16="http://schemas.microsoft.com/office/drawing/2014/main" id="{AB4DF6A1-AEB6-4AEE-795F-B52B84FCB7AA}"/>
              </a:ext>
            </a:extLst>
          </p:cNvPr>
          <p:cNvPicPr>
            <a:picLocks noChangeAspect="1"/>
          </p:cNvPicPr>
          <p:nvPr/>
        </p:nvPicPr>
        <p:blipFill>
          <a:blip r:embed="rId14"/>
          <a:stretch>
            <a:fillRect/>
          </a:stretch>
        </p:blipFill>
        <p:spPr>
          <a:xfrm>
            <a:off x="946994" y="2809682"/>
            <a:ext cx="1569325" cy="15693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12   RECOGNITION</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400" b="1">
                <a:solidFill>
                  <a:srgbClr val="13251A"/>
                </a:solidFill>
                <a:latin typeface="Georgia"/>
              </a:rPr>
              <a:t>Vetted by people who audit for a living.</a:t>
            </a:r>
          </a:p>
        </p:txBody>
      </p:sp>
      <p:sp>
        <p:nvSpPr>
          <p:cNvPr id="6" name="Rectangle 5"/>
          <p:cNvSpPr/>
          <p:nvPr/>
        </p:nvSpPr>
        <p:spPr>
          <a:xfrm>
            <a:off x="658368" y="219456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2377440"/>
            <a:ext cx="2485567" cy="598882"/>
          </a:xfrm>
          <a:prstGeom prst="rect">
            <a:avLst/>
          </a:prstGeom>
          <a:noFill/>
        </p:spPr>
        <p:txBody>
          <a:bodyPr wrap="square" lIns="0" tIns="0" rIns="0" bIns="0" anchor="t">
            <a:spAutoFit/>
          </a:bodyPr>
          <a:lstStyle/>
          <a:p>
            <a:pPr algn="l">
              <a:lnSpc>
                <a:spcPct val="106000"/>
              </a:lnSpc>
              <a:spcAft>
                <a:spcPts val="0"/>
              </a:spcAft>
            </a:pPr>
            <a:r>
              <a:rPr sz="1900" b="1" dirty="0">
                <a:solidFill>
                  <a:srgbClr val="13251A"/>
                </a:solidFill>
                <a:latin typeface="Georgia"/>
              </a:rPr>
              <a:t>Bank Indonesia</a:t>
            </a:r>
            <a:endParaRPr lang="en-GB" sz="1900" b="1" dirty="0">
              <a:solidFill>
                <a:srgbClr val="13251A"/>
              </a:solidFill>
              <a:latin typeface="Georgia"/>
            </a:endParaRPr>
          </a:p>
          <a:p>
            <a:pPr algn="l">
              <a:lnSpc>
                <a:spcPct val="106000"/>
              </a:lnSpc>
              <a:spcAft>
                <a:spcPts val="0"/>
              </a:spcAft>
            </a:pPr>
            <a:r>
              <a:rPr lang="en-ID" sz="1900" b="1" dirty="0">
                <a:solidFill>
                  <a:srgbClr val="13251A"/>
                </a:solidFill>
                <a:latin typeface="Georgia"/>
              </a:rPr>
              <a:t>SMEs Go Export</a:t>
            </a:r>
            <a:endParaRPr sz="1900" b="1" dirty="0">
              <a:solidFill>
                <a:srgbClr val="13251A"/>
              </a:solidFill>
              <a:latin typeface="Georgia"/>
            </a:endParaRPr>
          </a:p>
        </p:txBody>
      </p:sp>
      <p:sp>
        <p:nvSpPr>
          <p:cNvPr id="8" name="TextBox 7"/>
          <p:cNvSpPr txBox="1"/>
          <p:nvPr/>
        </p:nvSpPr>
        <p:spPr>
          <a:xfrm>
            <a:off x="658368" y="3218688"/>
            <a:ext cx="2485567" cy="256032"/>
          </a:xfrm>
          <a:prstGeom prst="rect">
            <a:avLst/>
          </a:prstGeom>
          <a:noFill/>
        </p:spPr>
        <p:txBody>
          <a:bodyPr wrap="square" lIns="0" tIns="0" rIns="0" bIns="0" anchor="t">
            <a:spAutoFit/>
          </a:bodyPr>
          <a:lstStyle/>
          <a:p>
            <a:pPr algn="l">
              <a:spcAft>
                <a:spcPts val="0"/>
              </a:spcAft>
            </a:pPr>
            <a:r>
              <a:rPr sz="900" b="0">
                <a:solidFill>
                  <a:srgbClr val="64796A"/>
                </a:solidFill>
                <a:latin typeface="Consolas"/>
              </a:rPr>
              <a:t>2026 ACCELERATION</a:t>
            </a:r>
          </a:p>
        </p:txBody>
      </p:sp>
      <p:sp>
        <p:nvSpPr>
          <p:cNvPr id="9" name="TextBox 8"/>
          <p:cNvSpPr txBox="1"/>
          <p:nvPr/>
        </p:nvSpPr>
        <p:spPr>
          <a:xfrm>
            <a:off x="658368" y="3493008"/>
            <a:ext cx="2485567" cy="822960"/>
          </a:xfrm>
          <a:prstGeom prst="rect">
            <a:avLst/>
          </a:prstGeom>
          <a:noFill/>
        </p:spPr>
        <p:txBody>
          <a:bodyPr wrap="square" lIns="0" tIns="0" rIns="0" bIns="0" anchor="t">
            <a:spAutoFit/>
          </a:bodyPr>
          <a:lstStyle/>
          <a:p>
            <a:pPr algn="l">
              <a:lnSpc>
                <a:spcPct val="128000"/>
              </a:lnSpc>
              <a:spcAft>
                <a:spcPts val="0"/>
              </a:spcAft>
            </a:pPr>
            <a:r>
              <a:rPr sz="1000" b="0">
                <a:solidFill>
                  <a:srgbClr val="87978B"/>
                </a:solidFill>
                <a:latin typeface="Segoe UI"/>
              </a:rPr>
              <a:t>Sustainable agribusiness and export finance</a:t>
            </a:r>
          </a:p>
        </p:txBody>
      </p:sp>
      <p:sp>
        <p:nvSpPr>
          <p:cNvPr id="10" name="Rectangle 9"/>
          <p:cNvSpPr/>
          <p:nvPr/>
        </p:nvSpPr>
        <p:spPr>
          <a:xfrm>
            <a:off x="3454831" y="219456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54831" y="2377440"/>
            <a:ext cx="2485567" cy="804672"/>
          </a:xfrm>
          <a:prstGeom prst="rect">
            <a:avLst/>
          </a:prstGeom>
          <a:noFill/>
        </p:spPr>
        <p:txBody>
          <a:bodyPr wrap="square" lIns="0" tIns="0" rIns="0" bIns="0" anchor="t">
            <a:spAutoFit/>
          </a:bodyPr>
          <a:lstStyle/>
          <a:p>
            <a:pPr algn="l">
              <a:lnSpc>
                <a:spcPct val="106000"/>
              </a:lnSpc>
              <a:spcAft>
                <a:spcPts val="0"/>
              </a:spcAft>
            </a:pPr>
            <a:r>
              <a:rPr sz="1900" b="1" dirty="0">
                <a:solidFill>
                  <a:srgbClr val="13251A"/>
                </a:solidFill>
                <a:latin typeface="Georgia"/>
              </a:rPr>
              <a:t>Ministry of Industry</a:t>
            </a:r>
          </a:p>
        </p:txBody>
      </p:sp>
      <p:sp>
        <p:nvSpPr>
          <p:cNvPr id="12" name="TextBox 11"/>
          <p:cNvSpPr txBox="1"/>
          <p:nvPr/>
        </p:nvSpPr>
        <p:spPr>
          <a:xfrm>
            <a:off x="3454831" y="3218688"/>
            <a:ext cx="2485567" cy="138499"/>
          </a:xfrm>
          <a:prstGeom prst="rect">
            <a:avLst/>
          </a:prstGeom>
          <a:noFill/>
        </p:spPr>
        <p:txBody>
          <a:bodyPr wrap="square" lIns="0" tIns="0" rIns="0" bIns="0" anchor="t">
            <a:spAutoFit/>
          </a:bodyPr>
          <a:lstStyle/>
          <a:p>
            <a:pPr algn="l">
              <a:spcAft>
                <a:spcPts val="0"/>
              </a:spcAft>
            </a:pPr>
            <a:r>
              <a:rPr lang="en-GB" sz="900" dirty="0">
                <a:solidFill>
                  <a:srgbClr val="64796A"/>
                </a:solidFill>
                <a:latin typeface="Consolas"/>
              </a:rPr>
              <a:t>Technical Training</a:t>
            </a:r>
            <a:r>
              <a:rPr sz="900" b="0" dirty="0">
                <a:solidFill>
                  <a:srgbClr val="64796A"/>
                </a:solidFill>
                <a:latin typeface="Consolas"/>
              </a:rPr>
              <a:t> · 2026</a:t>
            </a:r>
          </a:p>
        </p:txBody>
      </p:sp>
      <p:sp>
        <p:nvSpPr>
          <p:cNvPr id="13" name="TextBox 12"/>
          <p:cNvSpPr txBox="1"/>
          <p:nvPr/>
        </p:nvSpPr>
        <p:spPr>
          <a:xfrm>
            <a:off x="3454831" y="3493008"/>
            <a:ext cx="2485567" cy="822960"/>
          </a:xfrm>
          <a:prstGeom prst="rect">
            <a:avLst/>
          </a:prstGeom>
          <a:noFill/>
        </p:spPr>
        <p:txBody>
          <a:bodyPr wrap="square" lIns="0" tIns="0" rIns="0" bIns="0" anchor="t">
            <a:spAutoFit/>
          </a:bodyPr>
          <a:lstStyle/>
          <a:p>
            <a:pPr algn="l">
              <a:lnSpc>
                <a:spcPct val="128000"/>
              </a:lnSpc>
              <a:spcAft>
                <a:spcPts val="0"/>
              </a:spcAft>
            </a:pPr>
            <a:r>
              <a:rPr sz="1000" b="0">
                <a:solidFill>
                  <a:srgbClr val="87978B"/>
                </a:solidFill>
                <a:latin typeface="Segoe UI"/>
              </a:rPr>
              <a:t>Green processing and downstream value addition</a:t>
            </a:r>
          </a:p>
        </p:txBody>
      </p:sp>
      <p:sp>
        <p:nvSpPr>
          <p:cNvPr id="14" name="Rectangle 13"/>
          <p:cNvSpPr/>
          <p:nvPr/>
        </p:nvSpPr>
        <p:spPr>
          <a:xfrm>
            <a:off x="6251295" y="219456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51295" y="2377440"/>
            <a:ext cx="2485567" cy="598882"/>
          </a:xfrm>
          <a:prstGeom prst="rect">
            <a:avLst/>
          </a:prstGeom>
          <a:noFill/>
        </p:spPr>
        <p:txBody>
          <a:bodyPr wrap="square" lIns="0" tIns="0" rIns="0" bIns="0" anchor="t">
            <a:spAutoFit/>
          </a:bodyPr>
          <a:lstStyle/>
          <a:p>
            <a:pPr algn="l">
              <a:lnSpc>
                <a:spcPct val="106000"/>
              </a:lnSpc>
              <a:spcAft>
                <a:spcPts val="0"/>
              </a:spcAft>
            </a:pPr>
            <a:r>
              <a:rPr lang="en-GB" sz="1900" b="1" dirty="0">
                <a:solidFill>
                  <a:srgbClr val="13251A"/>
                </a:solidFill>
                <a:latin typeface="Georgia"/>
              </a:rPr>
              <a:t>Desa Sejahtera </a:t>
            </a:r>
            <a:r>
              <a:rPr sz="1900" b="1" dirty="0">
                <a:solidFill>
                  <a:srgbClr val="13251A"/>
                </a:solidFill>
                <a:latin typeface="Georgia"/>
              </a:rPr>
              <a:t>Astra International</a:t>
            </a:r>
          </a:p>
        </p:txBody>
      </p:sp>
      <p:sp>
        <p:nvSpPr>
          <p:cNvPr id="16" name="TextBox 15"/>
          <p:cNvSpPr txBox="1"/>
          <p:nvPr/>
        </p:nvSpPr>
        <p:spPr>
          <a:xfrm>
            <a:off x="6251295" y="3218688"/>
            <a:ext cx="2485567" cy="256032"/>
          </a:xfrm>
          <a:prstGeom prst="rect">
            <a:avLst/>
          </a:prstGeom>
          <a:noFill/>
        </p:spPr>
        <p:txBody>
          <a:bodyPr wrap="square" lIns="0" tIns="0" rIns="0" bIns="0" anchor="t">
            <a:spAutoFit/>
          </a:bodyPr>
          <a:lstStyle/>
          <a:p>
            <a:pPr algn="l">
              <a:spcAft>
                <a:spcPts val="0"/>
              </a:spcAft>
            </a:pPr>
            <a:r>
              <a:rPr sz="900" b="0">
                <a:solidFill>
                  <a:srgbClr val="64796A"/>
                </a:solidFill>
                <a:latin typeface="Consolas"/>
              </a:rPr>
              <a:t>EXPORT CHAMPION 2026</a:t>
            </a:r>
          </a:p>
        </p:txBody>
      </p:sp>
      <p:sp>
        <p:nvSpPr>
          <p:cNvPr id="17" name="TextBox 16"/>
          <p:cNvSpPr txBox="1"/>
          <p:nvPr/>
        </p:nvSpPr>
        <p:spPr>
          <a:xfrm>
            <a:off x="6251295" y="3493008"/>
            <a:ext cx="2485567" cy="822960"/>
          </a:xfrm>
          <a:prstGeom prst="rect">
            <a:avLst/>
          </a:prstGeom>
          <a:noFill/>
        </p:spPr>
        <p:txBody>
          <a:bodyPr wrap="square" lIns="0" tIns="0" rIns="0" bIns="0" anchor="t">
            <a:spAutoFit/>
          </a:bodyPr>
          <a:lstStyle/>
          <a:p>
            <a:pPr algn="l">
              <a:lnSpc>
                <a:spcPct val="128000"/>
              </a:lnSpc>
              <a:spcAft>
                <a:spcPts val="0"/>
              </a:spcAft>
            </a:pPr>
            <a:r>
              <a:rPr sz="1000" b="0" dirty="0">
                <a:solidFill>
                  <a:srgbClr val="87978B"/>
                </a:solidFill>
                <a:latin typeface="Segoe UI"/>
              </a:rPr>
              <a:t>Supply chain governance and export readiness</a:t>
            </a:r>
          </a:p>
        </p:txBody>
      </p:sp>
      <p:sp>
        <p:nvSpPr>
          <p:cNvPr id="18" name="Rectangle 17"/>
          <p:cNvSpPr/>
          <p:nvPr/>
        </p:nvSpPr>
        <p:spPr>
          <a:xfrm>
            <a:off x="9047759" y="219456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47759" y="2377440"/>
            <a:ext cx="2485567" cy="908839"/>
          </a:xfrm>
          <a:prstGeom prst="rect">
            <a:avLst/>
          </a:prstGeom>
          <a:noFill/>
        </p:spPr>
        <p:txBody>
          <a:bodyPr wrap="square" lIns="0" tIns="0" rIns="0" bIns="0" anchor="t">
            <a:spAutoFit/>
          </a:bodyPr>
          <a:lstStyle/>
          <a:p>
            <a:pPr algn="l">
              <a:lnSpc>
                <a:spcPct val="106000"/>
              </a:lnSpc>
              <a:spcAft>
                <a:spcPts val="0"/>
              </a:spcAft>
            </a:pPr>
            <a:r>
              <a:rPr lang="en-GB" sz="1900" b="1" dirty="0">
                <a:solidFill>
                  <a:srgbClr val="13251A"/>
                </a:solidFill>
                <a:latin typeface="Georgia"/>
              </a:rPr>
              <a:t>National Research and Innovation Agency</a:t>
            </a:r>
            <a:endParaRPr sz="1900" b="1" dirty="0">
              <a:solidFill>
                <a:srgbClr val="13251A"/>
              </a:solidFill>
              <a:latin typeface="Georgia"/>
            </a:endParaRPr>
          </a:p>
        </p:txBody>
      </p:sp>
      <p:sp>
        <p:nvSpPr>
          <p:cNvPr id="20" name="TextBox 19"/>
          <p:cNvSpPr txBox="1"/>
          <p:nvPr/>
        </p:nvSpPr>
        <p:spPr>
          <a:xfrm>
            <a:off x="9047759" y="3218688"/>
            <a:ext cx="2485567" cy="256032"/>
          </a:xfrm>
          <a:prstGeom prst="rect">
            <a:avLst/>
          </a:prstGeom>
          <a:noFill/>
        </p:spPr>
        <p:txBody>
          <a:bodyPr wrap="square" lIns="0" tIns="0" rIns="0" bIns="0" anchor="t">
            <a:spAutoFit/>
          </a:bodyPr>
          <a:lstStyle/>
          <a:p>
            <a:pPr algn="l">
              <a:spcAft>
                <a:spcPts val="0"/>
              </a:spcAft>
            </a:pPr>
            <a:r>
              <a:rPr sz="900" b="0">
                <a:solidFill>
                  <a:srgbClr val="64796A"/>
                </a:solidFill>
                <a:latin typeface="Consolas"/>
              </a:rPr>
              <a:t>RESEARCH COLLABORATION</a:t>
            </a:r>
          </a:p>
        </p:txBody>
      </p:sp>
      <p:sp>
        <p:nvSpPr>
          <p:cNvPr id="21" name="TextBox 20"/>
          <p:cNvSpPr txBox="1"/>
          <p:nvPr/>
        </p:nvSpPr>
        <p:spPr>
          <a:xfrm>
            <a:off x="9047759" y="3493008"/>
            <a:ext cx="2485567" cy="822960"/>
          </a:xfrm>
          <a:prstGeom prst="rect">
            <a:avLst/>
          </a:prstGeom>
          <a:noFill/>
        </p:spPr>
        <p:txBody>
          <a:bodyPr wrap="square" lIns="0" tIns="0" rIns="0" bIns="0" anchor="t">
            <a:spAutoFit/>
          </a:bodyPr>
          <a:lstStyle/>
          <a:p>
            <a:pPr algn="l">
              <a:lnSpc>
                <a:spcPct val="128000"/>
              </a:lnSpc>
              <a:spcAft>
                <a:spcPts val="0"/>
              </a:spcAft>
            </a:pPr>
            <a:r>
              <a:rPr sz="1000" b="0">
                <a:solidFill>
                  <a:srgbClr val="87978B"/>
                </a:solidFill>
                <a:latin typeface="Segoe UI"/>
              </a:rPr>
              <a:t>Farmer training and applied agronomy</a:t>
            </a:r>
          </a:p>
        </p:txBody>
      </p:sp>
      <p:pic>
        <p:nvPicPr>
          <p:cNvPr id="22" name="Picture 21" descr="crop_IMG_BRIN_41201026.jpg"/>
          <p:cNvPicPr>
            <a:picLocks noChangeAspect="1"/>
          </p:cNvPicPr>
          <p:nvPr/>
        </p:nvPicPr>
        <p:blipFill>
          <a:blip r:embed="rId2"/>
          <a:stretch>
            <a:fillRect/>
          </a:stretch>
        </p:blipFill>
        <p:spPr>
          <a:xfrm>
            <a:off x="658368" y="3968496"/>
            <a:ext cx="5327751" cy="1920240"/>
          </a:xfrm>
          <a:prstGeom prst="rect">
            <a:avLst/>
          </a:prstGeom>
        </p:spPr>
      </p:pic>
      <p:sp>
        <p:nvSpPr>
          <p:cNvPr id="23" name="TextBox 22"/>
          <p:cNvSpPr txBox="1"/>
          <p:nvPr/>
        </p:nvSpPr>
        <p:spPr>
          <a:xfrm>
            <a:off x="658368" y="5952744"/>
            <a:ext cx="5327751" cy="201168"/>
          </a:xfrm>
          <a:prstGeom prst="rect">
            <a:avLst/>
          </a:prstGeom>
          <a:noFill/>
        </p:spPr>
        <p:txBody>
          <a:bodyPr wrap="square" lIns="0" tIns="0" rIns="0" bIns="0" anchor="t">
            <a:spAutoFit/>
          </a:bodyPr>
          <a:lstStyle/>
          <a:p>
            <a:pPr algn="l">
              <a:spcAft>
                <a:spcPts val="0"/>
              </a:spcAft>
            </a:pPr>
            <a:r>
              <a:rPr sz="750" b="0">
                <a:solidFill>
                  <a:srgbClr val="64796A"/>
                </a:solidFill>
                <a:latin typeface="Consolas"/>
              </a:rPr>
              <a:t>FARMER TRAINING WITH BRIN</a:t>
            </a:r>
          </a:p>
        </p:txBody>
      </p:sp>
      <p:pic>
        <p:nvPicPr>
          <p:cNvPr id="24" name="Picture 23" descr="crop_IMG_NUTMEG_81202003.jpg"/>
          <p:cNvPicPr>
            <a:picLocks noChangeAspect="1"/>
          </p:cNvPicPr>
          <p:nvPr/>
        </p:nvPicPr>
        <p:blipFill>
          <a:blip r:embed="rId3"/>
          <a:stretch>
            <a:fillRect/>
          </a:stretch>
        </p:blipFill>
        <p:spPr>
          <a:xfrm>
            <a:off x="6205575" y="3968496"/>
            <a:ext cx="5327751" cy="1920240"/>
          </a:xfrm>
          <a:prstGeom prst="rect">
            <a:avLst/>
          </a:prstGeom>
        </p:spPr>
      </p:pic>
      <p:sp>
        <p:nvSpPr>
          <p:cNvPr id="25" name="TextBox 24"/>
          <p:cNvSpPr txBox="1"/>
          <p:nvPr/>
        </p:nvSpPr>
        <p:spPr>
          <a:xfrm>
            <a:off x="6205575" y="5952744"/>
            <a:ext cx="5327751" cy="201168"/>
          </a:xfrm>
          <a:prstGeom prst="rect">
            <a:avLst/>
          </a:prstGeom>
          <a:noFill/>
        </p:spPr>
        <p:txBody>
          <a:bodyPr wrap="square" lIns="0" tIns="0" rIns="0" bIns="0" anchor="t">
            <a:spAutoFit/>
          </a:bodyPr>
          <a:lstStyle/>
          <a:p>
            <a:pPr algn="l">
              <a:spcAft>
                <a:spcPts val="0"/>
              </a:spcAft>
            </a:pPr>
            <a:r>
              <a:rPr sz="750" b="0">
                <a:solidFill>
                  <a:srgbClr val="64796A"/>
                </a:solidFill>
                <a:latin typeface="Consolas"/>
              </a:rPr>
              <a:t>HAND SELECTION · NUTMEG</a:t>
            </a:r>
          </a:p>
        </p:txBody>
      </p:sp>
      <p:sp>
        <p:nvSpPr>
          <p:cNvPr id="26" name="TextBox 25"/>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27" name="TextBox 26"/>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12</a:t>
            </a:r>
          </a:p>
        </p:txBody>
      </p:sp>
      <p:grpSp>
        <p:nvGrpSpPr>
          <p:cNvPr id="28" name="BrandLockup"/>
          <p:cNvGrpSpPr/>
          <p:nvPr/>
        </p:nvGrpSpPr>
        <p:grpSpPr>
          <a:xfrm>
            <a:off x="9123556" y="438912"/>
            <a:ext cx="2410045" cy="310896"/>
            <a:chOff x="9123556" y="438912"/>
            <a:chExt cx="2410045" cy="310896"/>
          </a:xfrm>
        </p:grpSpPr>
        <p:pic>
          <p:nvPicPr>
            <p:cNvPr id="29" name="Picture 28" descr="mark_kgf.png"/>
            <p:cNvPicPr>
              <a:picLocks noChangeAspect="1"/>
            </p:cNvPicPr>
            <p:nvPr/>
          </p:nvPicPr>
          <p:blipFill>
            <a:blip r:embed="rId4"/>
            <a:stretch>
              <a:fillRect/>
            </a:stretch>
          </p:blipFill>
          <p:spPr>
            <a:xfrm>
              <a:off x="9123556" y="438912"/>
              <a:ext cx="310896" cy="310896"/>
            </a:xfrm>
            <a:prstGeom prst="rect">
              <a:avLst/>
            </a:prstGeom>
          </p:spPr>
        </p:pic>
        <p:sp>
          <p:nvSpPr>
            <p:cNvPr id="30" name="Rectangle 29"/>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mark_c3.png"/>
            <p:cNvPicPr>
              <a:picLocks noChangeAspect="1"/>
            </p:cNvPicPr>
            <p:nvPr/>
          </p:nvPicPr>
          <p:blipFill>
            <a:blip r:embed="rId5"/>
            <a:stretch>
              <a:fillRect/>
            </a:stretch>
          </p:blipFill>
          <p:spPr>
            <a:xfrm>
              <a:off x="9708772" y="466344"/>
              <a:ext cx="1019596" cy="256032"/>
            </a:xfrm>
            <a:prstGeom prst="rect">
              <a:avLst/>
            </a:prstGeom>
          </p:spPr>
        </p:pic>
        <p:sp>
          <p:nvSpPr>
            <p:cNvPr id="32" name="Rectangle 31"/>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mark_hsbc.png"/>
            <p:cNvPicPr>
              <a:picLocks noChangeAspect="1"/>
            </p:cNvPicPr>
            <p:nvPr/>
          </p:nvPicPr>
          <p:blipFill>
            <a:blip r:embed="rId6"/>
            <a:stretch>
              <a:fillRect/>
            </a:stretch>
          </p:blipFill>
          <p:spPr>
            <a:xfrm>
              <a:off x="11002688" y="466344"/>
              <a:ext cx="530912" cy="256032"/>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13   ROADMAP</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400" b="1">
                <a:solidFill>
                  <a:srgbClr val="13251A"/>
                </a:solidFill>
                <a:latin typeface="Georgia"/>
              </a:rPr>
              <a:t>Where the next four years go.</a:t>
            </a:r>
          </a:p>
        </p:txBody>
      </p:sp>
      <p:sp>
        <p:nvSpPr>
          <p:cNvPr id="6" name="Rectangle 5"/>
          <p:cNvSpPr/>
          <p:nvPr/>
        </p:nvSpPr>
        <p:spPr>
          <a:xfrm>
            <a:off x="658368" y="2377440"/>
            <a:ext cx="2512999" cy="30175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2651760"/>
            <a:ext cx="1964359" cy="22860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2026-2027</a:t>
            </a:r>
          </a:p>
        </p:txBody>
      </p:sp>
      <p:sp>
        <p:nvSpPr>
          <p:cNvPr id="8" name="TextBox 7"/>
          <p:cNvSpPr txBox="1"/>
          <p:nvPr/>
        </p:nvSpPr>
        <p:spPr>
          <a:xfrm>
            <a:off x="932688" y="2944368"/>
            <a:ext cx="1964359"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Close the transaction gap</a:t>
            </a:r>
          </a:p>
        </p:txBody>
      </p:sp>
      <p:sp>
        <p:nvSpPr>
          <p:cNvPr id="9" name="TextBox 8"/>
          <p:cNvSpPr txBox="1"/>
          <p:nvPr/>
        </p:nvSpPr>
        <p:spPr>
          <a:xfrm>
            <a:off x="932688" y="3493008"/>
            <a:ext cx="1964359" cy="1700530"/>
          </a:xfrm>
          <a:prstGeom prst="rect">
            <a:avLst/>
          </a:prstGeom>
          <a:noFill/>
        </p:spPr>
        <p:txBody>
          <a:bodyPr wrap="square" lIns="0" tIns="0" rIns="0" bIns="0" anchor="t">
            <a:spAutoFit/>
          </a:bodyPr>
          <a:lstStyle/>
          <a:p>
            <a:pPr algn="l">
              <a:lnSpc>
                <a:spcPct val="134000"/>
              </a:lnSpc>
              <a:spcAft>
                <a:spcPts val="0"/>
              </a:spcAft>
            </a:pPr>
            <a:r>
              <a:rPr sz="1400" b="0" dirty="0">
                <a:solidFill>
                  <a:srgbClr val="35483A"/>
                </a:solidFill>
                <a:latin typeface="Segoe UI"/>
              </a:rPr>
              <a:t>Move from under 100 to the full 1,250 registered households buying-in, with working capital and placement capacity to match.</a:t>
            </a:r>
          </a:p>
        </p:txBody>
      </p:sp>
      <p:sp>
        <p:nvSpPr>
          <p:cNvPr id="10" name="Rectangle 9"/>
          <p:cNvSpPr/>
          <p:nvPr/>
        </p:nvSpPr>
        <p:spPr>
          <a:xfrm>
            <a:off x="3445687" y="2377440"/>
            <a:ext cx="2512999" cy="30175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20007" y="2651760"/>
            <a:ext cx="1964359" cy="22860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2027-2028</a:t>
            </a:r>
          </a:p>
        </p:txBody>
      </p:sp>
      <p:sp>
        <p:nvSpPr>
          <p:cNvPr id="12" name="TextBox 11"/>
          <p:cNvSpPr txBox="1"/>
          <p:nvPr/>
        </p:nvSpPr>
        <p:spPr>
          <a:xfrm>
            <a:off x="3720007" y="2944368"/>
            <a:ext cx="1964359"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Diversify the buyer book</a:t>
            </a:r>
          </a:p>
        </p:txBody>
      </p:sp>
      <p:sp>
        <p:nvSpPr>
          <p:cNvPr id="13" name="TextBox 12"/>
          <p:cNvSpPr txBox="1"/>
          <p:nvPr/>
        </p:nvSpPr>
        <p:spPr>
          <a:xfrm>
            <a:off x="3720007" y="3493008"/>
            <a:ext cx="1964359" cy="1411861"/>
          </a:xfrm>
          <a:prstGeom prst="rect">
            <a:avLst/>
          </a:prstGeom>
          <a:noFill/>
        </p:spPr>
        <p:txBody>
          <a:bodyPr wrap="square" lIns="0" tIns="0" rIns="0" bIns="0" anchor="t">
            <a:spAutoFit/>
          </a:bodyPr>
          <a:lstStyle/>
          <a:p>
            <a:pPr algn="l">
              <a:lnSpc>
                <a:spcPct val="134000"/>
              </a:lnSpc>
              <a:spcAft>
                <a:spcPts val="0"/>
              </a:spcAft>
            </a:pPr>
            <a:r>
              <a:rPr sz="1400" b="0" dirty="0">
                <a:solidFill>
                  <a:srgbClr val="35483A"/>
                </a:solidFill>
                <a:latin typeface="Segoe UI"/>
              </a:rPr>
              <a:t>Add coffee and cacao off-take contracts beyond the single spice relationship. Target 350 MT total placed volume.</a:t>
            </a:r>
          </a:p>
        </p:txBody>
      </p:sp>
      <p:sp>
        <p:nvSpPr>
          <p:cNvPr id="14" name="Rectangle 13"/>
          <p:cNvSpPr/>
          <p:nvPr/>
        </p:nvSpPr>
        <p:spPr>
          <a:xfrm>
            <a:off x="6233007" y="2377440"/>
            <a:ext cx="2512999" cy="30175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7327" y="2651760"/>
            <a:ext cx="1964359" cy="22860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2028-2029</a:t>
            </a:r>
          </a:p>
        </p:txBody>
      </p:sp>
      <p:sp>
        <p:nvSpPr>
          <p:cNvPr id="16" name="TextBox 15"/>
          <p:cNvSpPr txBox="1"/>
          <p:nvPr/>
        </p:nvSpPr>
        <p:spPr>
          <a:xfrm>
            <a:off x="6507327" y="2944368"/>
            <a:ext cx="1964359"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Downstream in-country</a:t>
            </a:r>
          </a:p>
        </p:txBody>
      </p:sp>
      <p:sp>
        <p:nvSpPr>
          <p:cNvPr id="17" name="TextBox 16"/>
          <p:cNvSpPr txBox="1"/>
          <p:nvPr/>
        </p:nvSpPr>
        <p:spPr>
          <a:xfrm>
            <a:off x="6507327" y="3493008"/>
            <a:ext cx="1964359" cy="1700530"/>
          </a:xfrm>
          <a:prstGeom prst="rect">
            <a:avLst/>
          </a:prstGeom>
          <a:noFill/>
        </p:spPr>
        <p:txBody>
          <a:bodyPr wrap="square" lIns="0" tIns="0" rIns="0" bIns="0" anchor="t">
            <a:spAutoFit/>
          </a:bodyPr>
          <a:lstStyle/>
          <a:p>
            <a:pPr algn="l">
              <a:lnSpc>
                <a:spcPct val="134000"/>
              </a:lnSpc>
              <a:spcAft>
                <a:spcPts val="0"/>
              </a:spcAft>
            </a:pPr>
            <a:r>
              <a:rPr sz="1400" b="0">
                <a:solidFill>
                  <a:srgbClr val="35483A"/>
                </a:solidFill>
                <a:latin typeface="Segoe UI"/>
              </a:rPr>
              <a:t>Cacao fermentation and processing scaled with Pemkab Pesawaran so value is captured in the regency, not exported raw.</a:t>
            </a:r>
          </a:p>
        </p:txBody>
      </p:sp>
      <p:sp>
        <p:nvSpPr>
          <p:cNvPr id="18" name="Rectangle 17"/>
          <p:cNvSpPr/>
          <p:nvPr/>
        </p:nvSpPr>
        <p:spPr>
          <a:xfrm>
            <a:off x="9020327" y="2377440"/>
            <a:ext cx="2512999" cy="30175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94647" y="2651760"/>
            <a:ext cx="1964359" cy="228600"/>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2029-2030</a:t>
            </a:r>
          </a:p>
        </p:txBody>
      </p:sp>
      <p:sp>
        <p:nvSpPr>
          <p:cNvPr id="20" name="TextBox 19"/>
          <p:cNvSpPr txBox="1"/>
          <p:nvPr/>
        </p:nvSpPr>
        <p:spPr>
          <a:xfrm>
            <a:off x="9294647" y="2944368"/>
            <a:ext cx="1964359"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Platform</a:t>
            </a:r>
          </a:p>
        </p:txBody>
      </p:sp>
      <p:sp>
        <p:nvSpPr>
          <p:cNvPr id="21" name="TextBox 20"/>
          <p:cNvSpPr txBox="1"/>
          <p:nvPr/>
        </p:nvSpPr>
        <p:spPr>
          <a:xfrm>
            <a:off x="9294647" y="3493008"/>
            <a:ext cx="1964359" cy="1700530"/>
          </a:xfrm>
          <a:prstGeom prst="rect">
            <a:avLst/>
          </a:prstGeom>
          <a:noFill/>
        </p:spPr>
        <p:txBody>
          <a:bodyPr wrap="square" lIns="0" tIns="0" rIns="0" bIns="0" anchor="t">
            <a:spAutoFit/>
          </a:bodyPr>
          <a:lstStyle/>
          <a:p>
            <a:pPr algn="l">
              <a:lnSpc>
                <a:spcPct val="134000"/>
              </a:lnSpc>
              <a:spcAft>
                <a:spcPts val="0"/>
              </a:spcAft>
            </a:pPr>
            <a:r>
              <a:rPr sz="1400" b="0">
                <a:solidFill>
                  <a:srgbClr val="35483A"/>
                </a:solidFill>
                <a:latin typeface="Segoe UI"/>
              </a:rPr>
              <a:t>500 MT and a replicable operating model other Indonesian landscapes can adopt without rebuilding TAPAK from scratch.</a:t>
            </a:r>
          </a:p>
        </p:txBody>
      </p:sp>
      <p:sp>
        <p:nvSpPr>
          <p:cNvPr id="22" name="TextBox 21"/>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23" name="TextBox 22"/>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13</a:t>
            </a:r>
          </a:p>
        </p:txBody>
      </p:sp>
      <p:grpSp>
        <p:nvGrpSpPr>
          <p:cNvPr id="24" name="BrandLockup"/>
          <p:cNvGrpSpPr/>
          <p:nvPr/>
        </p:nvGrpSpPr>
        <p:grpSpPr>
          <a:xfrm>
            <a:off x="9123556" y="438912"/>
            <a:ext cx="2410045" cy="310896"/>
            <a:chOff x="9123556" y="438912"/>
            <a:chExt cx="2410045" cy="310896"/>
          </a:xfrm>
        </p:grpSpPr>
        <p:pic>
          <p:nvPicPr>
            <p:cNvPr id="25" name="Picture 24" descr="mark_kgf.png"/>
            <p:cNvPicPr>
              <a:picLocks noChangeAspect="1"/>
            </p:cNvPicPr>
            <p:nvPr/>
          </p:nvPicPr>
          <p:blipFill>
            <a:blip r:embed="rId2"/>
            <a:stretch>
              <a:fillRect/>
            </a:stretch>
          </p:blipFill>
          <p:spPr>
            <a:xfrm>
              <a:off x="9123556" y="438912"/>
              <a:ext cx="310896" cy="310896"/>
            </a:xfrm>
            <a:prstGeom prst="rect">
              <a:avLst/>
            </a:prstGeom>
          </p:spPr>
        </p:pic>
        <p:sp>
          <p:nvSpPr>
            <p:cNvPr id="26" name="Rectangle 25"/>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mark_c3.png"/>
            <p:cNvPicPr>
              <a:picLocks noChangeAspect="1"/>
            </p:cNvPicPr>
            <p:nvPr/>
          </p:nvPicPr>
          <p:blipFill>
            <a:blip r:embed="rId3"/>
            <a:stretch>
              <a:fillRect/>
            </a:stretch>
          </p:blipFill>
          <p:spPr>
            <a:xfrm>
              <a:off x="9708772" y="466344"/>
              <a:ext cx="1019596" cy="256032"/>
            </a:xfrm>
            <a:prstGeom prst="rect">
              <a:avLst/>
            </a:prstGeom>
          </p:spPr>
        </p:pic>
        <p:sp>
          <p:nvSpPr>
            <p:cNvPr id="28" name="Rectangle 27"/>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14   THE ASK</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400" b="1">
                <a:solidFill>
                  <a:srgbClr val="13251A"/>
                </a:solidFill>
                <a:latin typeface="Georgia"/>
              </a:rPr>
              <a:t>What we need, in the order we need it.</a:t>
            </a:r>
          </a:p>
        </p:txBody>
      </p:sp>
      <p:sp>
        <p:nvSpPr>
          <p:cNvPr id="6" name="Rectangle 5"/>
          <p:cNvSpPr/>
          <p:nvPr/>
        </p:nvSpPr>
        <p:spPr>
          <a:xfrm>
            <a:off x="658368" y="2212848"/>
            <a:ext cx="10874959" cy="89611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468880"/>
            <a:ext cx="457200" cy="274320"/>
          </a:xfrm>
          <a:prstGeom prst="rect">
            <a:avLst/>
          </a:prstGeom>
          <a:noFill/>
        </p:spPr>
        <p:txBody>
          <a:bodyPr wrap="square" lIns="0" tIns="0" rIns="0" bIns="0" anchor="t">
            <a:spAutoFit/>
          </a:bodyPr>
          <a:lstStyle/>
          <a:p>
            <a:pPr algn="l">
              <a:spcAft>
                <a:spcPts val="0"/>
              </a:spcAft>
            </a:pPr>
            <a:r>
              <a:rPr sz="1000" b="0">
                <a:solidFill>
                  <a:srgbClr val="207A4B"/>
                </a:solidFill>
                <a:latin typeface="Consolas"/>
              </a:rPr>
              <a:t>01</a:t>
            </a:r>
          </a:p>
        </p:txBody>
      </p:sp>
      <p:sp>
        <p:nvSpPr>
          <p:cNvPr id="8" name="TextBox 7"/>
          <p:cNvSpPr txBox="1"/>
          <p:nvPr/>
        </p:nvSpPr>
        <p:spPr>
          <a:xfrm>
            <a:off x="1444752" y="2395728"/>
            <a:ext cx="2743200" cy="310896"/>
          </a:xfrm>
          <a:prstGeom prst="rect">
            <a:avLst/>
          </a:prstGeom>
          <a:noFill/>
        </p:spPr>
        <p:txBody>
          <a:bodyPr wrap="square" lIns="0" tIns="0" rIns="0" bIns="0" anchor="t">
            <a:spAutoFit/>
          </a:bodyPr>
          <a:lstStyle/>
          <a:p>
            <a:pPr algn="l">
              <a:spcAft>
                <a:spcPts val="0"/>
              </a:spcAft>
            </a:pPr>
            <a:r>
              <a:rPr sz="1400" b="1">
                <a:solidFill>
                  <a:srgbClr val="13251A"/>
                </a:solidFill>
                <a:latin typeface="Georgia"/>
              </a:rPr>
              <a:t>Buyers</a:t>
            </a:r>
          </a:p>
        </p:txBody>
      </p:sp>
      <p:sp>
        <p:nvSpPr>
          <p:cNvPr id="9" name="TextBox 8"/>
          <p:cNvSpPr txBox="1"/>
          <p:nvPr/>
        </p:nvSpPr>
        <p:spPr>
          <a:xfrm>
            <a:off x="4315968" y="2395728"/>
            <a:ext cx="6943039" cy="448456"/>
          </a:xfrm>
          <a:prstGeom prst="rect">
            <a:avLst/>
          </a:prstGeom>
          <a:noFill/>
        </p:spPr>
        <p:txBody>
          <a:bodyPr wrap="square" lIns="0" tIns="0" rIns="0" bIns="0" anchor="t">
            <a:spAutoFit/>
          </a:bodyPr>
          <a:lstStyle/>
          <a:p>
            <a:pPr algn="l">
              <a:lnSpc>
                <a:spcPct val="128000"/>
              </a:lnSpc>
              <a:spcAft>
                <a:spcPts val="0"/>
              </a:spcAft>
            </a:pPr>
            <a:r>
              <a:rPr sz="1200" b="0" dirty="0">
                <a:solidFill>
                  <a:srgbClr val="35483A"/>
                </a:solidFill>
                <a:latin typeface="Segoe UI"/>
              </a:rPr>
              <a:t>Introductions to food and spice groups across Europe and MENAT who can absorb coffee, cacao, cloves and nutmeg alongside pepper. Concentration on one buyer is the binding constraint on farmer reach.</a:t>
            </a:r>
          </a:p>
        </p:txBody>
      </p:sp>
      <p:sp>
        <p:nvSpPr>
          <p:cNvPr id="10" name="Rectangle 9"/>
          <p:cNvSpPr/>
          <p:nvPr/>
        </p:nvSpPr>
        <p:spPr>
          <a:xfrm>
            <a:off x="658368" y="3182112"/>
            <a:ext cx="10874959" cy="89611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438144"/>
            <a:ext cx="457200" cy="274320"/>
          </a:xfrm>
          <a:prstGeom prst="rect">
            <a:avLst/>
          </a:prstGeom>
          <a:noFill/>
        </p:spPr>
        <p:txBody>
          <a:bodyPr wrap="square" lIns="0" tIns="0" rIns="0" bIns="0" anchor="t">
            <a:spAutoFit/>
          </a:bodyPr>
          <a:lstStyle/>
          <a:p>
            <a:pPr algn="l">
              <a:spcAft>
                <a:spcPts val="0"/>
              </a:spcAft>
            </a:pPr>
            <a:r>
              <a:rPr sz="1000" b="0">
                <a:solidFill>
                  <a:srgbClr val="207A4B"/>
                </a:solidFill>
                <a:latin typeface="Consolas"/>
              </a:rPr>
              <a:t>02</a:t>
            </a:r>
          </a:p>
        </p:txBody>
      </p:sp>
      <p:sp>
        <p:nvSpPr>
          <p:cNvPr id="12" name="TextBox 11"/>
          <p:cNvSpPr txBox="1"/>
          <p:nvPr/>
        </p:nvSpPr>
        <p:spPr>
          <a:xfrm>
            <a:off x="1444752" y="3364992"/>
            <a:ext cx="2743200" cy="310896"/>
          </a:xfrm>
          <a:prstGeom prst="rect">
            <a:avLst/>
          </a:prstGeom>
          <a:noFill/>
        </p:spPr>
        <p:txBody>
          <a:bodyPr wrap="square" lIns="0" tIns="0" rIns="0" bIns="0" anchor="t">
            <a:spAutoFit/>
          </a:bodyPr>
          <a:lstStyle/>
          <a:p>
            <a:pPr algn="l">
              <a:spcAft>
                <a:spcPts val="0"/>
              </a:spcAft>
            </a:pPr>
            <a:r>
              <a:rPr sz="1400" b="1">
                <a:solidFill>
                  <a:srgbClr val="13251A"/>
                </a:solidFill>
                <a:latin typeface="Georgia"/>
              </a:rPr>
              <a:t>Working capital</a:t>
            </a:r>
          </a:p>
        </p:txBody>
      </p:sp>
      <p:sp>
        <p:nvSpPr>
          <p:cNvPr id="13" name="TextBox 12"/>
          <p:cNvSpPr txBox="1"/>
          <p:nvPr/>
        </p:nvSpPr>
        <p:spPr>
          <a:xfrm>
            <a:off x="4315968" y="3364992"/>
            <a:ext cx="6943039" cy="448456"/>
          </a:xfrm>
          <a:prstGeom prst="rect">
            <a:avLst/>
          </a:prstGeom>
          <a:noFill/>
        </p:spPr>
        <p:txBody>
          <a:bodyPr wrap="square" lIns="0" tIns="0" rIns="0" bIns="0" anchor="t">
            <a:spAutoFit/>
          </a:bodyPr>
          <a:lstStyle/>
          <a:p>
            <a:pPr algn="l">
              <a:lnSpc>
                <a:spcPct val="128000"/>
              </a:lnSpc>
              <a:spcAft>
                <a:spcPts val="0"/>
              </a:spcAft>
            </a:pPr>
            <a:r>
              <a:rPr sz="1200" b="0">
                <a:solidFill>
                  <a:srgbClr val="35483A"/>
                </a:solidFill>
                <a:latin typeface="Segoe UI"/>
              </a:rPr>
              <a:t>Trade finance structured for the gap between paying farmers at harvest and being paid by buyers on shipment. This converts registered farmers into transacting farmers.</a:t>
            </a:r>
          </a:p>
        </p:txBody>
      </p:sp>
      <p:sp>
        <p:nvSpPr>
          <p:cNvPr id="14" name="Rectangle 13"/>
          <p:cNvSpPr/>
          <p:nvPr/>
        </p:nvSpPr>
        <p:spPr>
          <a:xfrm>
            <a:off x="658368" y="4151376"/>
            <a:ext cx="10874959" cy="89611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407408"/>
            <a:ext cx="457200" cy="274320"/>
          </a:xfrm>
          <a:prstGeom prst="rect">
            <a:avLst/>
          </a:prstGeom>
          <a:noFill/>
        </p:spPr>
        <p:txBody>
          <a:bodyPr wrap="square" lIns="0" tIns="0" rIns="0" bIns="0" anchor="t">
            <a:spAutoFit/>
          </a:bodyPr>
          <a:lstStyle/>
          <a:p>
            <a:pPr algn="l">
              <a:spcAft>
                <a:spcPts val="0"/>
              </a:spcAft>
            </a:pPr>
            <a:r>
              <a:rPr sz="1000" b="0">
                <a:solidFill>
                  <a:srgbClr val="207A4B"/>
                </a:solidFill>
                <a:latin typeface="Consolas"/>
              </a:rPr>
              <a:t>03</a:t>
            </a:r>
          </a:p>
        </p:txBody>
      </p:sp>
      <p:sp>
        <p:nvSpPr>
          <p:cNvPr id="16" name="TextBox 15"/>
          <p:cNvSpPr txBox="1"/>
          <p:nvPr/>
        </p:nvSpPr>
        <p:spPr>
          <a:xfrm>
            <a:off x="1444752" y="4334256"/>
            <a:ext cx="2743200" cy="310896"/>
          </a:xfrm>
          <a:prstGeom prst="rect">
            <a:avLst/>
          </a:prstGeom>
          <a:noFill/>
        </p:spPr>
        <p:txBody>
          <a:bodyPr wrap="square" lIns="0" tIns="0" rIns="0" bIns="0" anchor="t">
            <a:spAutoFit/>
          </a:bodyPr>
          <a:lstStyle/>
          <a:p>
            <a:pPr algn="l">
              <a:spcAft>
                <a:spcPts val="0"/>
              </a:spcAft>
            </a:pPr>
            <a:r>
              <a:rPr sz="1400" b="1">
                <a:solidFill>
                  <a:srgbClr val="13251A"/>
                </a:solidFill>
                <a:latin typeface="Georgia"/>
              </a:rPr>
              <a:t>Transition finance structuring</a:t>
            </a:r>
          </a:p>
        </p:txBody>
      </p:sp>
      <p:sp>
        <p:nvSpPr>
          <p:cNvPr id="17" name="TextBox 16"/>
          <p:cNvSpPr txBox="1"/>
          <p:nvPr/>
        </p:nvSpPr>
        <p:spPr>
          <a:xfrm>
            <a:off x="4315968" y="4334256"/>
            <a:ext cx="6943039" cy="448456"/>
          </a:xfrm>
          <a:prstGeom prst="rect">
            <a:avLst/>
          </a:prstGeom>
          <a:noFill/>
        </p:spPr>
        <p:txBody>
          <a:bodyPr wrap="square" lIns="0" tIns="0" rIns="0" bIns="0" anchor="t">
            <a:spAutoFit/>
          </a:bodyPr>
          <a:lstStyle/>
          <a:p>
            <a:pPr algn="l">
              <a:lnSpc>
                <a:spcPct val="128000"/>
              </a:lnSpc>
              <a:spcAft>
                <a:spcPts val="0"/>
              </a:spcAft>
            </a:pPr>
            <a:r>
              <a:rPr sz="1200" b="0">
                <a:solidFill>
                  <a:srgbClr val="35483A"/>
                </a:solidFill>
                <a:latin typeface="Segoe UI"/>
              </a:rPr>
              <a:t>Support to shape KGF's commercial model for results-based finance on smallholder ecosystem services, so nature outcomes carry their own revenue line.</a:t>
            </a:r>
          </a:p>
        </p:txBody>
      </p:sp>
      <p:sp>
        <p:nvSpPr>
          <p:cNvPr id="18" name="Rectangle 17"/>
          <p:cNvSpPr/>
          <p:nvPr/>
        </p:nvSpPr>
        <p:spPr>
          <a:xfrm>
            <a:off x="658368" y="5120640"/>
            <a:ext cx="10874959" cy="89611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376672"/>
            <a:ext cx="457200" cy="274320"/>
          </a:xfrm>
          <a:prstGeom prst="rect">
            <a:avLst/>
          </a:prstGeom>
          <a:noFill/>
        </p:spPr>
        <p:txBody>
          <a:bodyPr wrap="square" lIns="0" tIns="0" rIns="0" bIns="0" anchor="t">
            <a:spAutoFit/>
          </a:bodyPr>
          <a:lstStyle/>
          <a:p>
            <a:pPr algn="l">
              <a:spcAft>
                <a:spcPts val="0"/>
              </a:spcAft>
            </a:pPr>
            <a:r>
              <a:rPr sz="1000" b="0">
                <a:solidFill>
                  <a:srgbClr val="207A4B"/>
                </a:solidFill>
                <a:latin typeface="Consolas"/>
              </a:rPr>
              <a:t>04</a:t>
            </a:r>
          </a:p>
        </p:txBody>
      </p:sp>
      <p:sp>
        <p:nvSpPr>
          <p:cNvPr id="20" name="TextBox 19"/>
          <p:cNvSpPr txBox="1"/>
          <p:nvPr/>
        </p:nvSpPr>
        <p:spPr>
          <a:xfrm>
            <a:off x="1444752" y="5303520"/>
            <a:ext cx="2743200" cy="310896"/>
          </a:xfrm>
          <a:prstGeom prst="rect">
            <a:avLst/>
          </a:prstGeom>
          <a:noFill/>
        </p:spPr>
        <p:txBody>
          <a:bodyPr wrap="square" lIns="0" tIns="0" rIns="0" bIns="0" anchor="t">
            <a:spAutoFit/>
          </a:bodyPr>
          <a:lstStyle/>
          <a:p>
            <a:pPr algn="l">
              <a:spcAft>
                <a:spcPts val="0"/>
              </a:spcAft>
            </a:pPr>
            <a:r>
              <a:rPr sz="1400" b="1">
                <a:solidFill>
                  <a:srgbClr val="13251A"/>
                </a:solidFill>
                <a:latin typeface="Georgia"/>
              </a:rPr>
              <a:t>A platform to be seen from</a:t>
            </a:r>
          </a:p>
        </p:txBody>
      </p:sp>
      <p:sp>
        <p:nvSpPr>
          <p:cNvPr id="21" name="TextBox 20"/>
          <p:cNvSpPr txBox="1"/>
          <p:nvPr/>
        </p:nvSpPr>
        <p:spPr>
          <a:xfrm>
            <a:off x="4315968" y="5303520"/>
            <a:ext cx="6943039" cy="448456"/>
          </a:xfrm>
          <a:prstGeom prst="rect">
            <a:avLst/>
          </a:prstGeom>
          <a:noFill/>
        </p:spPr>
        <p:txBody>
          <a:bodyPr wrap="square" lIns="0" tIns="0" rIns="0" bIns="0" anchor="t">
            <a:spAutoFit/>
          </a:bodyPr>
          <a:lstStyle/>
          <a:p>
            <a:pPr algn="l">
              <a:lnSpc>
                <a:spcPct val="128000"/>
              </a:lnSpc>
              <a:spcAft>
                <a:spcPts val="0"/>
              </a:spcAft>
            </a:pPr>
            <a:r>
              <a:rPr sz="1200" b="0">
                <a:solidFill>
                  <a:srgbClr val="35483A"/>
                </a:solidFill>
                <a:latin typeface="Segoe UI"/>
              </a:rPr>
              <a:t>Presenting KGF as a bankable nature-based solution where commercial return and landscape restoration are the same mechanism, not a trade-off.</a:t>
            </a:r>
          </a:p>
        </p:txBody>
      </p:sp>
      <p:sp>
        <p:nvSpPr>
          <p:cNvPr id="22" name="TextBox 21"/>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750" b="0">
                <a:solidFill>
                  <a:srgbClr val="87978B"/>
                </a:solidFill>
                <a:latin typeface="Consolas"/>
              </a:rPr>
              <a:t>PT KLUMBAYAN GOLD FARM   ·   C3 NATURE IMPACT ACCELERATOR</a:t>
            </a:r>
          </a:p>
        </p:txBody>
      </p:sp>
      <p:sp>
        <p:nvSpPr>
          <p:cNvPr id="23" name="TextBox 22"/>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750" b="0">
                <a:solidFill>
                  <a:srgbClr val="87978B"/>
                </a:solidFill>
                <a:latin typeface="Consolas"/>
              </a:rPr>
              <a:t>14</a:t>
            </a:r>
          </a:p>
        </p:txBody>
      </p:sp>
      <p:grpSp>
        <p:nvGrpSpPr>
          <p:cNvPr id="24" name="BrandLockup"/>
          <p:cNvGrpSpPr/>
          <p:nvPr/>
        </p:nvGrpSpPr>
        <p:grpSpPr>
          <a:xfrm>
            <a:off x="9123556" y="438912"/>
            <a:ext cx="2410045" cy="310896"/>
            <a:chOff x="9123556" y="438912"/>
            <a:chExt cx="2410045" cy="310896"/>
          </a:xfrm>
        </p:grpSpPr>
        <p:pic>
          <p:nvPicPr>
            <p:cNvPr id="25" name="Picture 24" descr="mark_kgf.png"/>
            <p:cNvPicPr>
              <a:picLocks noChangeAspect="1"/>
            </p:cNvPicPr>
            <p:nvPr/>
          </p:nvPicPr>
          <p:blipFill>
            <a:blip r:embed="rId2"/>
            <a:stretch>
              <a:fillRect/>
            </a:stretch>
          </p:blipFill>
          <p:spPr>
            <a:xfrm>
              <a:off x="9123556" y="438912"/>
              <a:ext cx="310896" cy="310896"/>
            </a:xfrm>
            <a:prstGeom prst="rect">
              <a:avLst/>
            </a:prstGeom>
          </p:spPr>
        </p:pic>
        <p:sp>
          <p:nvSpPr>
            <p:cNvPr id="26" name="Rectangle 25"/>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mark_c3.png"/>
            <p:cNvPicPr>
              <a:picLocks noChangeAspect="1"/>
            </p:cNvPicPr>
            <p:nvPr/>
          </p:nvPicPr>
          <p:blipFill>
            <a:blip r:embed="rId3"/>
            <a:stretch>
              <a:fillRect/>
            </a:stretch>
          </p:blipFill>
          <p:spPr>
            <a:xfrm>
              <a:off x="9708772" y="466344"/>
              <a:ext cx="1019596" cy="256032"/>
            </a:xfrm>
            <a:prstGeom prst="rect">
              <a:avLst/>
            </a:prstGeom>
          </p:spPr>
        </p:pic>
        <p:sp>
          <p:nvSpPr>
            <p:cNvPr id="28" name="Rectangle 27"/>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rop_IMG_FARMER_48736498.jpg"/>
          <p:cNvPicPr>
            <a:picLocks noChangeAspect="1"/>
          </p:cNvPicPr>
          <p:nvPr/>
        </p:nvPicPr>
        <p:blipFill>
          <a:blip r:embed="rId2"/>
          <a:stretch>
            <a:fillRect/>
          </a:stretch>
        </p:blipFill>
        <p:spPr>
          <a:xfrm>
            <a:off x="0" y="0"/>
            <a:ext cx="5120511" cy="6858000"/>
          </a:xfrm>
          <a:prstGeom prst="rect">
            <a:avLst/>
          </a:prstGeom>
        </p:spPr>
      </p:pic>
      <p:sp>
        <p:nvSpPr>
          <p:cNvPr id="4" name="TextBox 3"/>
          <p:cNvSpPr txBox="1"/>
          <p:nvPr/>
        </p:nvSpPr>
        <p:spPr>
          <a:xfrm>
            <a:off x="5943471" y="2304288"/>
            <a:ext cx="5486400" cy="402336"/>
          </a:xfrm>
          <a:prstGeom prst="rect">
            <a:avLst/>
          </a:prstGeom>
          <a:noFill/>
        </p:spPr>
        <p:txBody>
          <a:bodyPr wrap="square" lIns="0" tIns="0" rIns="0" bIns="0" anchor="t">
            <a:spAutoFit/>
          </a:bodyPr>
          <a:lstStyle/>
          <a:p>
            <a:pPr algn="l">
              <a:spcAft>
                <a:spcPts val="0"/>
              </a:spcAft>
            </a:pPr>
            <a:r>
              <a:rPr sz="2600" b="1">
                <a:solidFill>
                  <a:srgbClr val="13251A"/>
                </a:solidFill>
                <a:latin typeface="Georgia"/>
              </a:rPr>
              <a:t>PT Klumbayan Gold Farm</a:t>
            </a:r>
          </a:p>
        </p:txBody>
      </p:sp>
      <p:sp>
        <p:nvSpPr>
          <p:cNvPr id="5" name="TextBox 4"/>
          <p:cNvSpPr txBox="1"/>
          <p:nvPr/>
        </p:nvSpPr>
        <p:spPr>
          <a:xfrm>
            <a:off x="5943471" y="2761488"/>
            <a:ext cx="5486400" cy="256032"/>
          </a:xfrm>
          <a:prstGeom prst="rect">
            <a:avLst/>
          </a:prstGeom>
          <a:noFill/>
        </p:spPr>
        <p:txBody>
          <a:bodyPr wrap="square" lIns="0" tIns="0" rIns="0" bIns="0" anchor="t">
            <a:spAutoFit/>
          </a:bodyPr>
          <a:lstStyle/>
          <a:p>
            <a:pPr algn="l">
              <a:spcAft>
                <a:spcPts val="0"/>
              </a:spcAft>
            </a:pPr>
            <a:r>
              <a:rPr sz="850" b="0">
                <a:solidFill>
                  <a:srgbClr val="207A4B"/>
                </a:solidFill>
                <a:latin typeface="Consolas"/>
              </a:rPr>
              <a:t>TECH-ENABLED AGROFORESTRY OFF-TAKER</a:t>
            </a:r>
          </a:p>
        </p:txBody>
      </p:sp>
      <p:sp>
        <p:nvSpPr>
          <p:cNvPr id="6" name="Rectangle 5"/>
          <p:cNvSpPr/>
          <p:nvPr/>
        </p:nvSpPr>
        <p:spPr>
          <a:xfrm>
            <a:off x="5943471" y="3182112"/>
            <a:ext cx="4937760"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471" y="3401568"/>
            <a:ext cx="1188720" cy="237744"/>
          </a:xfrm>
          <a:prstGeom prst="rect">
            <a:avLst/>
          </a:prstGeom>
          <a:noFill/>
        </p:spPr>
        <p:txBody>
          <a:bodyPr wrap="square" lIns="0" tIns="0" rIns="0" bIns="0" anchor="t">
            <a:spAutoFit/>
          </a:bodyPr>
          <a:lstStyle/>
          <a:p>
            <a:pPr algn="l">
              <a:spcAft>
                <a:spcPts val="0"/>
              </a:spcAft>
            </a:pPr>
            <a:r>
              <a:rPr sz="800" b="0">
                <a:solidFill>
                  <a:srgbClr val="64796A"/>
                </a:solidFill>
                <a:latin typeface="Consolas"/>
              </a:rPr>
              <a:t>CONTACT</a:t>
            </a:r>
          </a:p>
        </p:txBody>
      </p:sp>
      <p:sp>
        <p:nvSpPr>
          <p:cNvPr id="8" name="TextBox 7"/>
          <p:cNvSpPr txBox="1"/>
          <p:nvPr/>
        </p:nvSpPr>
        <p:spPr>
          <a:xfrm>
            <a:off x="7315071" y="3355848"/>
            <a:ext cx="3657600" cy="274320"/>
          </a:xfrm>
          <a:prstGeom prst="rect">
            <a:avLst/>
          </a:prstGeom>
          <a:noFill/>
        </p:spPr>
        <p:txBody>
          <a:bodyPr wrap="square" lIns="0" tIns="0" rIns="0" bIns="0" anchor="t">
            <a:spAutoFit/>
          </a:bodyPr>
          <a:lstStyle/>
          <a:p>
            <a:pPr algn="l">
              <a:spcAft>
                <a:spcPts val="0"/>
              </a:spcAft>
            </a:pPr>
            <a:r>
              <a:rPr sz="1350" b="0">
                <a:solidFill>
                  <a:srgbClr val="13251A"/>
                </a:solidFill>
                <a:latin typeface="Segoe UI"/>
              </a:rPr>
              <a:t>Arif Rachman</a:t>
            </a:r>
          </a:p>
        </p:txBody>
      </p:sp>
      <p:sp>
        <p:nvSpPr>
          <p:cNvPr id="9" name="Rectangle 8"/>
          <p:cNvSpPr/>
          <p:nvPr/>
        </p:nvSpPr>
        <p:spPr>
          <a:xfrm>
            <a:off x="5943471" y="3749040"/>
            <a:ext cx="4937760"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471" y="3877056"/>
            <a:ext cx="1188720" cy="237744"/>
          </a:xfrm>
          <a:prstGeom prst="rect">
            <a:avLst/>
          </a:prstGeom>
          <a:noFill/>
        </p:spPr>
        <p:txBody>
          <a:bodyPr wrap="square" lIns="0" tIns="0" rIns="0" bIns="0" anchor="t">
            <a:spAutoFit/>
          </a:bodyPr>
          <a:lstStyle/>
          <a:p>
            <a:pPr algn="l">
              <a:spcAft>
                <a:spcPts val="0"/>
              </a:spcAft>
            </a:pPr>
            <a:r>
              <a:rPr sz="800" b="0">
                <a:solidFill>
                  <a:srgbClr val="64796A"/>
                </a:solidFill>
                <a:latin typeface="Consolas"/>
              </a:rPr>
              <a:t>EMAIL</a:t>
            </a:r>
          </a:p>
        </p:txBody>
      </p:sp>
      <p:sp>
        <p:nvSpPr>
          <p:cNvPr id="11" name="TextBox 10"/>
          <p:cNvSpPr txBox="1"/>
          <p:nvPr/>
        </p:nvSpPr>
        <p:spPr>
          <a:xfrm>
            <a:off x="7315071" y="3831336"/>
            <a:ext cx="3657600" cy="274320"/>
          </a:xfrm>
          <a:prstGeom prst="rect">
            <a:avLst/>
          </a:prstGeom>
          <a:noFill/>
        </p:spPr>
        <p:txBody>
          <a:bodyPr wrap="square" lIns="0" tIns="0" rIns="0" bIns="0" anchor="t">
            <a:spAutoFit/>
          </a:bodyPr>
          <a:lstStyle/>
          <a:p>
            <a:pPr algn="l">
              <a:spcAft>
                <a:spcPts val="0"/>
              </a:spcAft>
            </a:pPr>
            <a:r>
              <a:rPr sz="1350" b="0">
                <a:solidFill>
                  <a:srgbClr val="13251A"/>
                </a:solidFill>
                <a:latin typeface="Segoe UI"/>
              </a:rPr>
              <a:t>arif@klumbayanfarm.com</a:t>
            </a:r>
          </a:p>
        </p:txBody>
      </p:sp>
      <p:sp>
        <p:nvSpPr>
          <p:cNvPr id="12" name="Rectangle 11"/>
          <p:cNvSpPr/>
          <p:nvPr/>
        </p:nvSpPr>
        <p:spPr>
          <a:xfrm>
            <a:off x="5943471" y="4224528"/>
            <a:ext cx="4937760"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471" y="4352544"/>
            <a:ext cx="1188720" cy="237744"/>
          </a:xfrm>
          <a:prstGeom prst="rect">
            <a:avLst/>
          </a:prstGeom>
          <a:noFill/>
        </p:spPr>
        <p:txBody>
          <a:bodyPr wrap="square" lIns="0" tIns="0" rIns="0" bIns="0" anchor="t">
            <a:spAutoFit/>
          </a:bodyPr>
          <a:lstStyle/>
          <a:p>
            <a:pPr algn="l">
              <a:spcAft>
                <a:spcPts val="0"/>
              </a:spcAft>
            </a:pPr>
            <a:r>
              <a:rPr sz="800" b="0">
                <a:solidFill>
                  <a:srgbClr val="64796A"/>
                </a:solidFill>
                <a:latin typeface="Consolas"/>
              </a:rPr>
              <a:t>MOBILE / WA</a:t>
            </a:r>
          </a:p>
        </p:txBody>
      </p:sp>
      <p:sp>
        <p:nvSpPr>
          <p:cNvPr id="14" name="TextBox 13"/>
          <p:cNvSpPr txBox="1"/>
          <p:nvPr/>
        </p:nvSpPr>
        <p:spPr>
          <a:xfrm>
            <a:off x="7315071" y="4306824"/>
            <a:ext cx="3657600" cy="274320"/>
          </a:xfrm>
          <a:prstGeom prst="rect">
            <a:avLst/>
          </a:prstGeom>
          <a:noFill/>
        </p:spPr>
        <p:txBody>
          <a:bodyPr wrap="square" lIns="0" tIns="0" rIns="0" bIns="0" anchor="t">
            <a:spAutoFit/>
          </a:bodyPr>
          <a:lstStyle/>
          <a:p>
            <a:pPr algn="l">
              <a:spcAft>
                <a:spcPts val="0"/>
              </a:spcAft>
            </a:pPr>
            <a:r>
              <a:rPr sz="1350" b="0">
                <a:solidFill>
                  <a:srgbClr val="13251A"/>
                </a:solidFill>
                <a:latin typeface="Segoe UI"/>
              </a:rPr>
              <a:t>+62 853 7887 0007</a:t>
            </a:r>
          </a:p>
        </p:txBody>
      </p:sp>
      <p:sp>
        <p:nvSpPr>
          <p:cNvPr id="15" name="Rectangle 14"/>
          <p:cNvSpPr/>
          <p:nvPr/>
        </p:nvSpPr>
        <p:spPr>
          <a:xfrm>
            <a:off x="5943471" y="4700016"/>
            <a:ext cx="4937760"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471" y="4828031"/>
            <a:ext cx="1188720" cy="237744"/>
          </a:xfrm>
          <a:prstGeom prst="rect">
            <a:avLst/>
          </a:prstGeom>
          <a:noFill/>
        </p:spPr>
        <p:txBody>
          <a:bodyPr wrap="square" lIns="0" tIns="0" rIns="0" bIns="0" anchor="t">
            <a:spAutoFit/>
          </a:bodyPr>
          <a:lstStyle/>
          <a:p>
            <a:pPr algn="l">
              <a:spcAft>
                <a:spcPts val="0"/>
              </a:spcAft>
            </a:pPr>
            <a:r>
              <a:rPr sz="800" b="0">
                <a:solidFill>
                  <a:srgbClr val="64796A"/>
                </a:solidFill>
                <a:latin typeface="Consolas"/>
              </a:rPr>
              <a:t>WEB</a:t>
            </a:r>
          </a:p>
        </p:txBody>
      </p:sp>
      <p:sp>
        <p:nvSpPr>
          <p:cNvPr id="17" name="TextBox 16"/>
          <p:cNvSpPr txBox="1"/>
          <p:nvPr/>
        </p:nvSpPr>
        <p:spPr>
          <a:xfrm>
            <a:off x="7315071" y="4782312"/>
            <a:ext cx="3657600" cy="274320"/>
          </a:xfrm>
          <a:prstGeom prst="rect">
            <a:avLst/>
          </a:prstGeom>
          <a:noFill/>
        </p:spPr>
        <p:txBody>
          <a:bodyPr wrap="square" lIns="0" tIns="0" rIns="0" bIns="0" anchor="t">
            <a:spAutoFit/>
          </a:bodyPr>
          <a:lstStyle/>
          <a:p>
            <a:pPr algn="l">
              <a:spcAft>
                <a:spcPts val="0"/>
              </a:spcAft>
            </a:pPr>
            <a:r>
              <a:rPr sz="1350" b="0">
                <a:solidFill>
                  <a:srgbClr val="13251A"/>
                </a:solidFill>
                <a:latin typeface="Segoe UI"/>
              </a:rPr>
              <a:t>www.klumbayanfarm.com</a:t>
            </a:r>
          </a:p>
        </p:txBody>
      </p:sp>
      <p:sp>
        <p:nvSpPr>
          <p:cNvPr id="18" name="Rectangle 17"/>
          <p:cNvSpPr/>
          <p:nvPr/>
        </p:nvSpPr>
        <p:spPr>
          <a:xfrm>
            <a:off x="5943471" y="5175503"/>
            <a:ext cx="4937760"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471" y="5522975"/>
            <a:ext cx="4937760" cy="548640"/>
          </a:xfrm>
          <a:prstGeom prst="rect">
            <a:avLst/>
          </a:prstGeom>
          <a:noFill/>
        </p:spPr>
        <p:txBody>
          <a:bodyPr wrap="square" lIns="0" tIns="0" rIns="0" bIns="0" anchor="t">
            <a:spAutoFit/>
          </a:bodyPr>
          <a:lstStyle/>
          <a:p>
            <a:pPr algn="l">
              <a:lnSpc>
                <a:spcPct val="130000"/>
              </a:lnSpc>
              <a:spcAft>
                <a:spcPts val="0"/>
              </a:spcAft>
            </a:pPr>
            <a:r>
              <a:rPr sz="1000" b="0">
                <a:solidFill>
                  <a:srgbClr val="87978B"/>
                </a:solidFill>
                <a:latin typeface="Segoe UI"/>
              </a:rPr>
              <a:t>Bandar Lampung and Natar warehouse, Lampung, Indonesia. Operating in Tanggamus and Pesawaran regencies since 2022.</a:t>
            </a:r>
          </a:p>
        </p:txBody>
      </p:sp>
      <p:grpSp>
        <p:nvGrpSpPr>
          <p:cNvPr id="20" name="BrandLockup"/>
          <p:cNvGrpSpPr/>
          <p:nvPr/>
        </p:nvGrpSpPr>
        <p:grpSpPr>
          <a:xfrm>
            <a:off x="9123556" y="438912"/>
            <a:ext cx="2410045" cy="310896"/>
            <a:chOff x="9123556" y="438912"/>
            <a:chExt cx="2410045" cy="310896"/>
          </a:xfrm>
        </p:grpSpPr>
        <p:pic>
          <p:nvPicPr>
            <p:cNvPr id="21" name="Picture 20" descr="mark_kgf.png"/>
            <p:cNvPicPr>
              <a:picLocks noChangeAspect="1"/>
            </p:cNvPicPr>
            <p:nvPr/>
          </p:nvPicPr>
          <p:blipFill>
            <a:blip r:embed="rId3"/>
            <a:stretch>
              <a:fillRect/>
            </a:stretch>
          </p:blipFill>
          <p:spPr>
            <a:xfrm>
              <a:off x="9123556" y="438912"/>
              <a:ext cx="310896" cy="310896"/>
            </a:xfrm>
            <a:prstGeom prst="rect">
              <a:avLst/>
            </a:prstGeom>
          </p:spPr>
        </p:pic>
        <p:sp>
          <p:nvSpPr>
            <p:cNvPr id="22" name="Rectangle 21"/>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mark_c3.png"/>
            <p:cNvPicPr>
              <a:picLocks noChangeAspect="1"/>
            </p:cNvPicPr>
            <p:nvPr/>
          </p:nvPicPr>
          <p:blipFill>
            <a:blip r:embed="rId4"/>
            <a:stretch>
              <a:fillRect/>
            </a:stretch>
          </p:blipFill>
          <p:spPr>
            <a:xfrm>
              <a:off x="9708772" y="466344"/>
              <a:ext cx="1019596" cy="256032"/>
            </a:xfrm>
            <a:prstGeom prst="rect">
              <a:avLst/>
            </a:prstGeom>
          </p:spPr>
        </p:pic>
        <p:sp>
          <p:nvSpPr>
            <p:cNvPr id="24" name="Rectangle 23"/>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mark_hsbc.png"/>
            <p:cNvPicPr>
              <a:picLocks noChangeAspect="1"/>
            </p:cNvPicPr>
            <p:nvPr/>
          </p:nvPicPr>
          <p:blipFill>
            <a:blip r:embed="rId5"/>
            <a:stretch>
              <a:fillRect/>
            </a:stretch>
          </p:blipFill>
          <p:spPr>
            <a:xfrm>
              <a:off x="11002688" y="466344"/>
              <a:ext cx="530912" cy="256032"/>
            </a:xfrm>
            <a:prstGeom prst="rect">
              <a:avLst/>
            </a:prstGeom>
          </p:spPr>
        </p:pic>
      </p:grpSp>
      <p:pic>
        <p:nvPicPr>
          <p:cNvPr id="27" name="Picture 26">
            <a:extLst>
              <a:ext uri="{FF2B5EF4-FFF2-40B4-BE49-F238E27FC236}">
                <a16:creationId xmlns:a16="http://schemas.microsoft.com/office/drawing/2014/main" id="{EE730654-D092-C679-D272-B90FB2D9F1F0}"/>
              </a:ext>
            </a:extLst>
          </p:cNvPr>
          <p:cNvPicPr>
            <a:picLocks noChangeAspect="1"/>
          </p:cNvPicPr>
          <p:nvPr/>
        </p:nvPicPr>
        <p:blipFill>
          <a:blip r:embed="rId6"/>
          <a:stretch>
            <a:fillRect/>
          </a:stretch>
        </p:blipFill>
        <p:spPr>
          <a:xfrm>
            <a:off x="5787194" y="310001"/>
            <a:ext cx="2284808" cy="22848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171</TotalTime>
  <Words>1841</Words>
  <Application>Microsoft Office PowerPoint</Application>
  <PresentationFormat>Widescreen</PresentationFormat>
  <Paragraphs>260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Consolas</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kgfteam</cp:lastModifiedBy>
  <cp:revision>3</cp:revision>
  <dcterms:created xsi:type="dcterms:W3CDTF">2013-01-27T09:14:16Z</dcterms:created>
  <dcterms:modified xsi:type="dcterms:W3CDTF">2026-08-16T13:31:36Z</dcterms:modified>
  <cp:category/>
</cp:coreProperties>
</file>