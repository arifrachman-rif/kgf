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0E"/>
          </a:solidFill>
          <a:ln>
            <a:solidFill>
              <a:srgbClr val="0B13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gf_logo_full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5760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88720" y="347472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5A93C"/>
                </a:solidFill>
              </a:defRPr>
            </a:pPr>
            <a:r>
              <a:t>PT KLUMBAYAN GOLD FARM</a:t>
            </a:r>
          </a:p>
          <a:p>
            <a:pPr>
              <a:defRPr sz="900">
                <a:solidFill>
                  <a:srgbClr val="9BB0A3"/>
                </a:solidFill>
              </a:defRPr>
            </a:pPr>
            <a:r>
              <a:t>Regenerative Agribusiness &amp; Traceability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943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E5A93C"/>
                </a:solidFill>
              </a:defRPr>
            </a:pPr>
            <a:r>
              <a:t>COMPANY PROFILE</a:t>
            </a:r>
          </a:p>
          <a:p>
            <a:pPr>
              <a:spcAft>
                <a:spcPts val="800"/>
              </a:spcAft>
              <a:defRPr sz="3600" b="1">
                <a:solidFill>
                  <a:srgbClr val="F2F7F4"/>
                </a:solidFill>
              </a:defRPr>
            </a:pPr>
            <a:r>
              <a:t>PT Klumbayan Gold Farm</a:t>
            </a:r>
          </a:p>
          <a:p>
            <a:pPr>
              <a:spcAft>
                <a:spcPts val="2000"/>
              </a:spcAft>
              <a:defRPr sz="2000">
                <a:solidFill>
                  <a:srgbClr val="9BB0A3"/>
                </a:solidFill>
              </a:defRPr>
            </a:pPr>
            <a:r>
              <a:t>Tech-Enabled Trading &amp; Regenerative Agribusiness</a:t>
            </a:r>
          </a:p>
          <a:p>
            <a:pPr>
              <a:defRPr sz="1400">
                <a:solidFill>
                  <a:srgbClr val="F2F7F4"/>
                </a:solidFill>
              </a:defRPr>
            </a:pPr>
            <a:r>
              <a:t>Membangun ekosistem agribisnis ramah lingkungan, terpercaya, dan terintegrasi dari petani lokal hingga pasar ekspor global.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371600"/>
            <a:ext cx="4572000" cy="4754880"/>
          </a:xfrm>
          <a:prstGeom prst="roundRect">
            <a:avLst/>
          </a:prstGeom>
          <a:solidFill>
            <a:srgbClr val="E8EEEA"/>
          </a:solidFill>
          <a:ln w="19050">
            <a:solidFill>
              <a:srgbClr val="B4C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5A6E62"/>
                </a:solidFill>
              </a:defRPr>
            </a:pPr>
            <a:r>
              <a:t>📷 [ SLOT FOTO UTAMA COVER / HERO IMAGE KGF ]</a:t>
            </a:r>
            <a:br/>
            <a:r>
              <a:t>(Klik kanan / Replace dengan foto lo)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8"/>
          </a:solidFill>
          <a:ln>
            <a:solidFill>
              <a:srgbClr val="F7F9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gf_logo_full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5760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88720" y="347472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231A"/>
                </a:solidFill>
              </a:defRPr>
            </a:pPr>
            <a:r>
              <a:t>PT KLUMBAYAN GOLD FARM</a:t>
            </a:r>
          </a:p>
          <a:p>
            <a:pPr>
              <a:defRPr sz="900">
                <a:solidFill>
                  <a:srgbClr val="5A6E62"/>
                </a:solidFill>
              </a:defRPr>
            </a:pPr>
            <a:r>
              <a:t>Regenerative Agribusiness &amp; Traceability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31A"/>
                </a:solidFill>
              </a:defRPr>
            </a:pPr>
            <a:r>
              <a:t>TENTANG KGF | Company Overview</a:t>
            </a:r>
          </a:p>
          <a:p>
            <a:pPr>
              <a:defRPr sz="1500">
                <a:solidFill>
                  <a:srgbClr val="5A6E62"/>
                </a:solidFill>
              </a:defRPr>
            </a:pPr>
            <a:r>
              <a:t>Integrasi Wanatani Berkelanjutan &amp; Ekosistem Perdagangan Modern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6692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C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E8B57"/>
                </a:solidFill>
              </a:defRPr>
            </a:pPr>
            <a:r>
              <a:t>•  Tahun Berdiri &amp; Lokasi</a:t>
            </a:r>
          </a:p>
          <a:p>
            <a:pPr>
              <a:spcAft>
                <a:spcPts val="1200"/>
              </a:spcAft>
              <a:defRPr sz="1300">
                <a:solidFill>
                  <a:srgbClr val="14231A"/>
                </a:solidFill>
              </a:defRPr>
            </a:pPr>
            <a:r>
              <a:t>    Didirikan pada tahun 2022 di Bandar Lampung, Indonesia dengan visi pemulihan lingkungan dan kemitraan petani.</a:t>
            </a:r>
          </a:p>
          <a:p>
            <a:pPr>
              <a:defRPr sz="1500" b="1">
                <a:solidFill>
                  <a:srgbClr val="2E8B57"/>
                </a:solidFill>
              </a:defRPr>
            </a:pPr>
            <a:r>
              <a:t>•  Agregator &amp; Trading House</a:t>
            </a:r>
          </a:p>
          <a:p>
            <a:pPr>
              <a:spcAft>
                <a:spcPts val="1200"/>
              </a:spcAft>
              <a:defRPr sz="1300">
                <a:solidFill>
                  <a:srgbClr val="14231A"/>
                </a:solidFill>
              </a:defRPr>
            </a:pPr>
            <a:r>
              <a:t>    Mengelola pengolahan fisik pascapanen di Gudang Natar (Kapasitas 2.000 Ton), penjaminan mutu, dan logistik ekspor.</a:t>
            </a:r>
          </a:p>
          <a:p>
            <a:pPr>
              <a:defRPr sz="1500" b="1">
                <a:solidFill>
                  <a:srgbClr val="2E8B57"/>
                </a:solidFill>
              </a:defRPr>
            </a:pPr>
            <a:r>
              <a:t>•  Jaringan Petani Mitra</a:t>
            </a:r>
          </a:p>
          <a:p>
            <a:pPr>
              <a:spcAft>
                <a:spcPts val="1200"/>
              </a:spcAft>
              <a:defRPr sz="1300">
                <a:solidFill>
                  <a:srgbClr val="14231A"/>
                </a:solidFill>
              </a:defRPr>
            </a:pPr>
            <a:r>
              <a:t>    Mendampingi 1.250+ petani wanatani kopi, lada hitam, dan kakao di Lampung dan Sumatra.</a:t>
            </a:r>
          </a:p>
          <a:p>
            <a:pPr>
              <a:defRPr sz="1500" b="1">
                <a:solidFill>
                  <a:srgbClr val="2E8B57"/>
                </a:solidFill>
              </a:defRPr>
            </a:pPr>
            <a:r>
              <a:t>•  Kredibilitas Internasional</a:t>
            </a:r>
          </a:p>
          <a:p>
            <a:pPr>
              <a:spcAft>
                <a:spcPts val="1200"/>
              </a:spcAft>
              <a:defRPr sz="1300">
                <a:solidFill>
                  <a:srgbClr val="14231A"/>
                </a:solidFill>
              </a:defRPr>
            </a:pPr>
            <a:r>
              <a:t>    Implementator lokal utama proyek konsorsium aGROWforests (didanai GIZ) bersama mitra Eropa (Verstegen &amp; Fairfood).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2011680"/>
            <a:ext cx="4754880" cy="4297680"/>
          </a:xfrm>
          <a:prstGeom prst="roundRect">
            <a:avLst/>
          </a:prstGeom>
          <a:solidFill>
            <a:srgbClr val="E8EEEA"/>
          </a:solidFill>
          <a:ln w="19050">
            <a:solidFill>
              <a:srgbClr val="B4C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5A6E62"/>
                </a:solidFill>
              </a:defRPr>
            </a:pPr>
            <a:r>
              <a:t>📷 [ SLOT FOTO 1: Gudang Natar / Fasilitas KGF ]</a:t>
            </a:r>
            <a:br/>
            <a:r>
              <a:t>(Klik kanan / Replace dengan foto lo)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8"/>
          </a:solidFill>
          <a:ln>
            <a:solidFill>
              <a:srgbClr val="F7F9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gf_logo_full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5760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88720" y="347472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231A"/>
                </a:solidFill>
              </a:defRPr>
            </a:pPr>
            <a:r>
              <a:t>PT KLUMBAYAN GOLD FARM</a:t>
            </a:r>
          </a:p>
          <a:p>
            <a:pPr>
              <a:defRPr sz="900">
                <a:solidFill>
                  <a:srgbClr val="5A6E62"/>
                </a:solidFill>
              </a:defRPr>
            </a:pPr>
            <a:r>
              <a:t>Regenerative Agribusiness &amp; Traceability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31A"/>
                </a:solidFill>
              </a:defRPr>
            </a:pPr>
            <a:r>
              <a:t>KOMODITAS UNGGULAN | Core Products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8328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C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600" b="1">
                <a:solidFill>
                  <a:srgbClr val="2E8B57"/>
                </a:solidFill>
              </a:defRPr>
            </a:pPr>
            <a:r>
              <a:t>Lada Hitam Lampung</a:t>
            </a:r>
          </a:p>
          <a:p>
            <a:pPr>
              <a:spcAft>
                <a:spcPts val="1000"/>
              </a:spcAft>
              <a:defRPr sz="1200" b="1">
                <a:solidFill>
                  <a:srgbClr val="E5A93C"/>
                </a:solidFill>
              </a:defRPr>
            </a:pPr>
            <a:r>
              <a:t>ASTA Grade 550 Premium</a:t>
            </a:r>
          </a:p>
          <a:p>
            <a:pPr>
              <a:defRPr sz="1200">
                <a:solidFill>
                  <a:srgbClr val="5A6E62"/>
                </a:solidFill>
              </a:defRPr>
            </a:pPr>
            <a:r>
              <a:t>Kualitas FAQ ekspor dengan berat jenis ≥580 g/l, jaminan ketertelusuran penuh &amp; bebas pestisida.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920240"/>
            <a:ext cx="338328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C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600" b="1">
                <a:solidFill>
                  <a:srgbClr val="2E8B57"/>
                </a:solidFill>
              </a:defRPr>
            </a:pPr>
            <a:r>
              <a:t>Kopi Robusta Tanggamus</a:t>
            </a:r>
          </a:p>
          <a:p>
            <a:pPr>
              <a:spcAft>
                <a:spcPts val="1000"/>
              </a:spcAft>
              <a:defRPr sz="1200" b="1">
                <a:solidFill>
                  <a:srgbClr val="E5A93C"/>
                </a:solidFill>
              </a:defRPr>
            </a:pPr>
            <a:r>
              <a:t>Sorted Grade 1 Green Beans</a:t>
            </a:r>
          </a:p>
          <a:p>
            <a:pPr>
              <a:defRPr sz="1200">
                <a:solidFill>
                  <a:srgbClr val="5A6E62"/>
                </a:solidFill>
              </a:defRPr>
            </a:pPr>
            <a:r>
              <a:t>Kopi Robusta petik merah pilihan (defect 80/120) untuk pasar eksportir multinasional &amp; industri kopi.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920240"/>
            <a:ext cx="338328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C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600" b="1">
                <a:solidFill>
                  <a:srgbClr val="2E8B57"/>
                </a:solidFill>
              </a:defRPr>
            </a:pPr>
            <a:r>
              <a:t>Kakao Olahan</a:t>
            </a:r>
          </a:p>
          <a:p>
            <a:pPr>
              <a:spcAft>
                <a:spcPts val="1000"/>
              </a:spcAft>
              <a:defRPr sz="1200" b="1">
                <a:solidFill>
                  <a:srgbClr val="E5A93C"/>
                </a:solidFill>
              </a:defRPr>
            </a:pPr>
            <a:r>
              <a:t>Downstream Cocoa Products</a:t>
            </a:r>
          </a:p>
          <a:p>
            <a:pPr>
              <a:defRPr sz="1200">
                <a:solidFill>
                  <a:srgbClr val="5A6E62"/>
                </a:solidFill>
              </a:defRPr>
            </a:pPr>
            <a:r>
              <a:t>Pengolahan pascapanen kakao komunitas menjadi produk kakao olahan (nibs &amp; powder) berkualitas tinggi.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663440"/>
            <a:ext cx="10728655" cy="1737360"/>
          </a:xfrm>
          <a:prstGeom prst="roundRect">
            <a:avLst/>
          </a:prstGeom>
          <a:solidFill>
            <a:srgbClr val="E8EEEA"/>
          </a:solidFill>
          <a:ln w="19050">
            <a:solidFill>
              <a:srgbClr val="B4C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5A6E62"/>
                </a:solidFill>
              </a:defRPr>
            </a:pPr>
            <a:r>
              <a:t>📷 [ SLOT FOTO 2: Koleksi Produk Lada, Kopi &amp; Kakao KGF ]</a:t>
            </a:r>
            <a:br/>
            <a:r>
              <a:t>(Klik kanan / Replace dengan foto lo)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0E"/>
          </a:solidFill>
          <a:ln>
            <a:solidFill>
              <a:srgbClr val="0B13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gf_logo_full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5760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88720" y="347472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5A93C"/>
                </a:solidFill>
              </a:defRPr>
            </a:pPr>
            <a:r>
              <a:t>PT KLUMBAYAN GOLD FARM</a:t>
            </a:r>
          </a:p>
          <a:p>
            <a:pPr>
              <a:defRPr sz="900">
                <a:solidFill>
                  <a:srgbClr val="9BB0A3"/>
                </a:solidFill>
              </a:defRPr>
            </a:pPr>
            <a:r>
              <a:t>Regenerative Agribusiness &amp; Traceability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2F7F4"/>
                </a:solidFill>
              </a:defRPr>
            </a:pPr>
            <a:r>
              <a:t>TEKNOLOGI &amp; KETERTELUSURAN | TAPAK ERP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669280" cy="4297680"/>
          </a:xfrm>
          <a:prstGeom prst="roundRect">
            <a:avLst/>
          </a:prstGeom>
          <a:solidFill>
            <a:srgbClr val="121F17"/>
          </a:solidFill>
          <a:ln>
            <a:solidFill>
              <a:srgbClr val="254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5A93C"/>
                </a:solidFill>
              </a:defRPr>
            </a:pPr>
            <a:r>
              <a:t>✓  Aplikasi TAPAK</a:t>
            </a:r>
          </a:p>
          <a:p>
            <a:pPr>
              <a:spcAft>
                <a:spcPts val="1600"/>
              </a:spcAft>
              <a:defRPr sz="1300">
                <a:solidFill>
                  <a:srgbClr val="F2F7F4"/>
                </a:solidFill>
              </a:defRPr>
            </a:pPr>
            <a:r>
              <a:t>    Sistem ERP berbasis Event-Sourcing (Lot &amp; Log Graph Model) untuk mencatat transaksi dan ketertelusuran komoditas.</a:t>
            </a:r>
          </a:p>
          <a:p>
            <a:pPr>
              <a:defRPr sz="1600" b="1">
                <a:solidFill>
                  <a:srgbClr val="E5A93C"/>
                </a:solidFill>
              </a:defRPr>
            </a:pPr>
            <a:r>
              <a:t>✓  Validasi Standar EUDR</a:t>
            </a:r>
          </a:p>
          <a:p>
            <a:pPr>
              <a:spcAft>
                <a:spcPts val="1600"/>
              </a:spcAft>
              <a:defRPr sz="1300">
                <a:solidFill>
                  <a:srgbClr val="F2F7F4"/>
                </a:solidFill>
              </a:defRPr>
            </a:pPr>
            <a:r>
              <a:t>    Pemetaan polygon GPS 5.000+ kebun petani untuk membuktikan produk 100% deforestation-free sesuai regulasi Uni Eropa.</a:t>
            </a:r>
          </a:p>
          <a:p>
            <a:pPr>
              <a:defRPr sz="1600" b="1">
                <a:solidFill>
                  <a:srgbClr val="E5A93C"/>
                </a:solidFill>
              </a:defRPr>
            </a:pPr>
            <a:r>
              <a:t>✓  AI-CCDSS &amp; AgriMEL</a:t>
            </a:r>
          </a:p>
          <a:p>
            <a:pPr>
              <a:spcAft>
                <a:spcPts val="1600"/>
              </a:spcAft>
              <a:defRPr sz="1300">
                <a:solidFill>
                  <a:srgbClr val="F2F7F4"/>
                </a:solidFill>
              </a:defRPr>
            </a:pPr>
            <a:r>
              <a:t>    Kecerdasan buatan untuk pemantauan iklim serta aplikasi mobile pengumpulan data lapangan secara offline-first.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2011680"/>
            <a:ext cx="4754880" cy="4297680"/>
          </a:xfrm>
          <a:prstGeom prst="roundRect">
            <a:avLst/>
          </a:prstGeom>
          <a:solidFill>
            <a:srgbClr val="E8EEEA"/>
          </a:solidFill>
          <a:ln w="19050">
            <a:solidFill>
              <a:srgbClr val="B4C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5A6E62"/>
                </a:solidFill>
              </a:defRPr>
            </a:pPr>
            <a:r>
              <a:t>📷 [ SLOT FOTO 3: Screenshot Aplikasi TAPAK / Peta Polygon ]</a:t>
            </a:r>
            <a:br/>
            <a:r>
              <a:t>(Klik kanan / Replace dengan foto lo)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8"/>
          </a:solidFill>
          <a:ln>
            <a:solidFill>
              <a:srgbClr val="F7F9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gf_logo_full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5760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88720" y="347472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231A"/>
                </a:solidFill>
              </a:defRPr>
            </a:pPr>
            <a:r>
              <a:t>PT KLUMBAYAN GOLD FARM</a:t>
            </a:r>
          </a:p>
          <a:p>
            <a:pPr>
              <a:defRPr sz="900">
                <a:solidFill>
                  <a:srgbClr val="5A6E62"/>
                </a:solidFill>
              </a:defRPr>
            </a:pPr>
            <a:r>
              <a:t>Regenerative Agribusiness &amp; Traceability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31A"/>
                </a:solidFill>
              </a:defRPr>
            </a:pPr>
            <a:r>
              <a:t>KEMITRAAN &amp; PASAR EKSPOR | Strategic Consortium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834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E8B57"/>
                </a:solidFill>
              </a:defRPr>
            </a:pPr>
            <a:r>
              <a:t>Verstegen (Belanda)</a:t>
            </a:r>
          </a:p>
          <a:p>
            <a:pPr>
              <a:spcAft>
                <a:spcPts val="600"/>
              </a:spcAft>
              <a:defRPr sz="1100" b="1">
                <a:solidFill>
                  <a:srgbClr val="E5A93C"/>
                </a:solidFill>
              </a:defRPr>
            </a:pPr>
            <a:r>
              <a:t>Buyer Utama Rempah</a:t>
            </a:r>
          </a:p>
          <a:p>
            <a:pPr>
              <a:defRPr sz="1100">
                <a:solidFill>
                  <a:srgbClr val="5A6E62"/>
                </a:solidFill>
              </a:defRPr>
            </a:pPr>
            <a:r>
              <a:t>Offtaker lada hitam ekspor dengan komitmen 100% rantai pasok bebas deforestasi.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49039" y="2011680"/>
            <a:ext cx="2834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E8B57"/>
                </a:solidFill>
              </a:defRPr>
            </a:pPr>
            <a:r>
              <a:t>Fairfood (Belanda)</a:t>
            </a:r>
          </a:p>
          <a:p>
            <a:pPr>
              <a:spcAft>
                <a:spcPts val="600"/>
              </a:spcAft>
              <a:defRPr sz="1100" b="1">
                <a:solidFill>
                  <a:srgbClr val="E5A93C"/>
                </a:solidFill>
              </a:defRPr>
            </a:pPr>
            <a:r>
              <a:t>Mitra Teknologi NGO</a:t>
            </a:r>
          </a:p>
          <a:p>
            <a:pPr>
              <a:defRPr sz="1100">
                <a:solidFill>
                  <a:srgbClr val="5A6E62"/>
                </a:solidFill>
              </a:defRPr>
            </a:pPr>
            <a:r>
              <a:t>Penyedia Traceapp untuk transparansi rantai pasok &amp; insentif petani berbasis blockchain.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2834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E8B57"/>
                </a:solidFill>
              </a:defRPr>
            </a:pPr>
            <a:r>
              <a:t>Eksportir Multinasional</a:t>
            </a:r>
          </a:p>
          <a:p>
            <a:pPr>
              <a:spcAft>
                <a:spcPts val="600"/>
              </a:spcAft>
              <a:defRPr sz="1100" b="1">
                <a:solidFill>
                  <a:srgbClr val="E5A93C"/>
                </a:solidFill>
              </a:defRPr>
            </a:pPr>
            <a:r>
              <a:t>Olam / LDC / ECOM</a:t>
            </a:r>
          </a:p>
          <a:p>
            <a:pPr>
              <a:defRPr sz="1100">
                <a:solidFill>
                  <a:srgbClr val="5A6E62"/>
                </a:solidFill>
              </a:defRPr>
            </a:pPr>
            <a:r>
              <a:t>Jaringan pembeli komoditas kopi Robusta &amp; lada untuk pasar ekspor global.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49039" y="4206240"/>
            <a:ext cx="2834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E8B57"/>
                </a:solidFill>
              </a:defRPr>
            </a:pPr>
            <a:r>
              <a:t>Dukungan Lembaga</a:t>
            </a:r>
          </a:p>
          <a:p>
            <a:pPr>
              <a:spcAft>
                <a:spcPts val="600"/>
              </a:spcAft>
              <a:defRPr sz="1100" b="1">
                <a:solidFill>
                  <a:srgbClr val="E5A93C"/>
                </a:solidFill>
              </a:defRPr>
            </a:pPr>
            <a:r>
              <a:t>GIZ / EU / BAPPENAS</a:t>
            </a:r>
          </a:p>
          <a:p>
            <a:pPr>
              <a:defRPr sz="1100">
                <a:solidFill>
                  <a:srgbClr val="5A6E62"/>
                </a:solidFill>
              </a:defRPr>
            </a:pPr>
            <a:r>
              <a:t>Didukung proyek aGROWforests+ &amp; diakui BAPPENAS dalam pengembangan wanatani.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2011680"/>
            <a:ext cx="4754880" cy="4297680"/>
          </a:xfrm>
          <a:prstGeom prst="roundRect">
            <a:avLst/>
          </a:prstGeom>
          <a:solidFill>
            <a:srgbClr val="E8EEEA"/>
          </a:solidFill>
          <a:ln w="19050">
            <a:solidFill>
              <a:srgbClr val="B4C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5A6E62"/>
                </a:solidFill>
              </a:defRPr>
            </a:pPr>
            <a:r>
              <a:t>📷 [ SLOT FOTO 4: Dokumentasi Kemitraan / Pameran D-8 Halal Expo ]</a:t>
            </a:r>
            <a:br/>
            <a:r>
              <a:t>(Klik kanan / Replace dengan foto lo)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8"/>
          </a:solidFill>
          <a:ln>
            <a:solidFill>
              <a:srgbClr val="F7F9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gf_logo_full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5760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88720" y="347472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231A"/>
                </a:solidFill>
              </a:defRPr>
            </a:pPr>
            <a:r>
              <a:t>PT KLUMBAYAN GOLD FARM</a:t>
            </a:r>
          </a:p>
          <a:p>
            <a:pPr>
              <a:defRPr sz="900">
                <a:solidFill>
                  <a:srgbClr val="5A6E62"/>
                </a:solidFill>
              </a:defRPr>
            </a:pPr>
            <a:r>
              <a:t>Regenerative Agribusiness &amp; Traceability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31A"/>
                </a:solidFill>
              </a:defRPr>
            </a:pPr>
            <a:r>
              <a:t>DAMPAK SOSIAL &amp; LINGKUNGAN | Sustainability &amp; Impact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5146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C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E5A93C"/>
                </a:solidFill>
              </a:defRPr>
            </a:pPr>
            <a:r>
              <a:t>1.250+</a:t>
            </a:r>
          </a:p>
          <a:p>
            <a:pPr algn="ctr">
              <a:spcAft>
                <a:spcPts val="400"/>
              </a:spcAft>
              <a:defRPr sz="1300" b="1">
                <a:solidFill>
                  <a:srgbClr val="2E8B57"/>
                </a:solidFill>
              </a:defRPr>
            </a:pPr>
            <a:r>
              <a:t>Petani Wanatani Mitra</a:t>
            </a:r>
          </a:p>
          <a:p>
            <a:pPr algn="ctr">
              <a:defRPr sz="1100">
                <a:solidFill>
                  <a:srgbClr val="5A6E62"/>
                </a:solidFill>
              </a:defRPr>
            </a:pPr>
            <a:r>
              <a:t>Didampingi dalam praktik regeneratif &amp; bibit unggul.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2011680"/>
            <a:ext cx="25146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C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E5A93C"/>
                </a:solidFill>
              </a:defRPr>
            </a:pPr>
            <a:r>
              <a:t>100%</a:t>
            </a:r>
          </a:p>
          <a:p>
            <a:pPr algn="ctr">
              <a:spcAft>
                <a:spcPts val="400"/>
              </a:spcAft>
              <a:defRPr sz="1300" b="1">
                <a:solidFill>
                  <a:srgbClr val="2E8B57"/>
                </a:solidFill>
              </a:defRPr>
            </a:pPr>
            <a:r>
              <a:t>Kepatuhan EUDR</a:t>
            </a:r>
          </a:p>
          <a:p>
            <a:pPr algn="ctr">
              <a:defRPr sz="1100">
                <a:solidFill>
                  <a:srgbClr val="5A6E62"/>
                </a:solidFill>
              </a:defRPr>
            </a:pPr>
            <a:r>
              <a:t>Jaminan komoditas bebas deforestasi &amp; terverifikasi.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011680"/>
            <a:ext cx="25146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C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E5A93C"/>
                </a:solidFill>
              </a:defRPr>
            </a:pPr>
            <a:r>
              <a:t>+35%</a:t>
            </a:r>
          </a:p>
          <a:p>
            <a:pPr algn="ctr">
              <a:spcAft>
                <a:spcPts val="400"/>
              </a:spcAft>
              <a:defRPr sz="1300" b="1">
                <a:solidFill>
                  <a:srgbClr val="2E8B57"/>
                </a:solidFill>
              </a:defRPr>
            </a:pPr>
            <a:r>
              <a:t>Kenaikan Pendapatan</a:t>
            </a:r>
          </a:p>
          <a:p>
            <a:pPr algn="ctr">
              <a:defRPr sz="1100">
                <a:solidFill>
                  <a:srgbClr val="5A6E62"/>
                </a:solidFill>
              </a:defRPr>
            </a:pPr>
            <a:r>
              <a:t>Melalui premi mutu &amp; diversifikasi hasil kebun.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2011680"/>
            <a:ext cx="25146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C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E5A93C"/>
                </a:solidFill>
              </a:defRPr>
            </a:pPr>
            <a:r>
              <a:t>20%+</a:t>
            </a:r>
          </a:p>
          <a:p>
            <a:pPr algn="ctr">
              <a:spcAft>
                <a:spcPts val="400"/>
              </a:spcAft>
              <a:defRPr sz="1300" b="1">
                <a:solidFill>
                  <a:srgbClr val="2E8B57"/>
                </a:solidFill>
              </a:defRPr>
            </a:pPr>
            <a:r>
              <a:t>Petani Wanita &amp; Pemuda</a:t>
            </a:r>
          </a:p>
          <a:p>
            <a:pPr algn="ctr">
              <a:defRPr sz="1100">
                <a:solidFill>
                  <a:srgbClr val="5A6E62"/>
                </a:solidFill>
              </a:defRPr>
            </a:pPr>
            <a:r>
              <a:t>Prioritas pemberdayaan gender &amp; regenerasi petani.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480560"/>
            <a:ext cx="10728655" cy="1828800"/>
          </a:xfrm>
          <a:prstGeom prst="roundRect">
            <a:avLst/>
          </a:prstGeom>
          <a:solidFill>
            <a:srgbClr val="E8EEEA"/>
          </a:solidFill>
          <a:ln w="19050">
            <a:solidFill>
              <a:srgbClr val="B4C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5A6E62"/>
                </a:solidFill>
              </a:defRPr>
            </a:pPr>
            <a:r>
              <a:t>📷 [ SLOT FOTO 5: Dokumentasi Pendampingan Petani di Lapangan ]</a:t>
            </a:r>
            <a:br/>
            <a:r>
              <a:t>(Klik kanan / Replace dengan foto lo)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0E"/>
          </a:solidFill>
          <a:ln>
            <a:solidFill>
              <a:srgbClr val="0B13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gf_logo_full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5760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88720" y="347472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5A93C"/>
                </a:solidFill>
              </a:defRPr>
            </a:pPr>
            <a:r>
              <a:t>PT KLUMBAYAN GOLD FARM</a:t>
            </a:r>
          </a:p>
          <a:p>
            <a:pPr>
              <a:defRPr sz="900">
                <a:solidFill>
                  <a:srgbClr val="9BB0A3"/>
                </a:solidFill>
              </a:defRPr>
            </a:pPr>
            <a:r>
              <a:t>Regenerative Agribusiness &amp; Traceability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943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5A93C"/>
                </a:solidFill>
              </a:defRPr>
            </a:pPr>
            <a:r>
              <a:t>HUBUNGI KAMI | Contact Us</a:t>
            </a:r>
          </a:p>
          <a:p>
            <a:pPr>
              <a:defRPr sz="2600" b="1">
                <a:solidFill>
                  <a:srgbClr val="F2F7F4"/>
                </a:solidFill>
              </a:defRPr>
            </a:pPr>
            <a:r>
              <a:t>Mari Berkolaborasi Membangun Agribisnis Berkelanjutan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2834640" cy="1143000"/>
          </a:xfrm>
          <a:prstGeom prst="roundRect">
            <a:avLst/>
          </a:prstGeom>
          <a:solidFill>
            <a:srgbClr val="121F17"/>
          </a:solidFill>
          <a:ln>
            <a:solidFill>
              <a:srgbClr val="254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5A93C"/>
                </a:solidFill>
              </a:defRPr>
            </a:pPr>
            <a:r>
              <a:t>✉️  Email</a:t>
            </a:r>
          </a:p>
          <a:p>
            <a:pPr>
              <a:defRPr sz="1100">
                <a:solidFill>
                  <a:srgbClr val="F2F7F4"/>
                </a:solidFill>
              </a:defRPr>
            </a:pPr>
            <a:r>
              <a:t>contact@klumbayangoldfarm.com</a:t>
            </a:r>
            <a:br/>
            <a:r>
              <a:t>info@agrowforests.id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49039" y="2468880"/>
            <a:ext cx="2834640" cy="1143000"/>
          </a:xfrm>
          <a:prstGeom prst="roundRect">
            <a:avLst/>
          </a:prstGeom>
          <a:solidFill>
            <a:srgbClr val="121F17"/>
          </a:solidFill>
          <a:ln>
            <a:solidFill>
              <a:srgbClr val="254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5A93C"/>
                </a:solidFill>
              </a:defRPr>
            </a:pPr>
            <a:r>
              <a:t>📞  No. Telepon / WhatsApp</a:t>
            </a:r>
          </a:p>
          <a:p>
            <a:pPr>
              <a:defRPr sz="1100">
                <a:solidFill>
                  <a:srgbClr val="F2F7F4"/>
                </a:solidFill>
              </a:defRPr>
            </a:pPr>
            <a:r>
              <a:t>+62 811-7200-880 / +62 812-7900-1234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49039"/>
            <a:ext cx="2834640" cy="1143000"/>
          </a:xfrm>
          <a:prstGeom prst="roundRect">
            <a:avLst/>
          </a:prstGeom>
          <a:solidFill>
            <a:srgbClr val="121F17"/>
          </a:solidFill>
          <a:ln>
            <a:solidFill>
              <a:srgbClr val="254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5A93C"/>
                </a:solidFill>
              </a:defRPr>
            </a:pPr>
            <a:r>
              <a:t>🌐  Website</a:t>
            </a:r>
          </a:p>
          <a:p>
            <a:pPr>
              <a:defRPr sz="1100">
                <a:solidFill>
                  <a:srgbClr val="F2F7F4"/>
                </a:solidFill>
              </a:defRPr>
            </a:pPr>
            <a:r>
              <a:t>www.klumbayangoldfarm.com</a:t>
            </a:r>
            <a:br/>
            <a:r>
              <a:t>www.agrowforests.id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49039" y="3749039"/>
            <a:ext cx="2834640" cy="1143000"/>
          </a:xfrm>
          <a:prstGeom prst="roundRect">
            <a:avLst/>
          </a:prstGeom>
          <a:solidFill>
            <a:srgbClr val="121F17"/>
          </a:solidFill>
          <a:ln>
            <a:solidFill>
              <a:srgbClr val="254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5A93C"/>
                </a:solidFill>
              </a:defRPr>
            </a:pPr>
            <a:r>
              <a:t>📸  Instagram</a:t>
            </a:r>
          </a:p>
          <a:p>
            <a:pPr>
              <a:defRPr sz="1100">
                <a:solidFill>
                  <a:srgbClr val="F2F7F4"/>
                </a:solidFill>
              </a:defRPr>
            </a:pPr>
            <a:r>
              <a:t>@klumbayangoldfarm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029200"/>
            <a:ext cx="2834640" cy="1143000"/>
          </a:xfrm>
          <a:prstGeom prst="roundRect">
            <a:avLst/>
          </a:prstGeom>
          <a:solidFill>
            <a:srgbClr val="121F17"/>
          </a:solidFill>
          <a:ln>
            <a:solidFill>
              <a:srgbClr val="254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5A93C"/>
                </a:solidFill>
              </a:defRPr>
            </a:pPr>
            <a:r>
              <a:t>💼  LinkedIn</a:t>
            </a:r>
          </a:p>
          <a:p>
            <a:pPr>
              <a:defRPr sz="1100">
                <a:solidFill>
                  <a:srgbClr val="F2F7F4"/>
                </a:solidFill>
              </a:defRPr>
            </a:pPr>
            <a:r>
              <a:t>PT Klumbayan Gold Farm</a:t>
            </a:r>
            <a:br/>
            <a:r>
              <a:t>(linkedin.com/company/klumbayan-gold-farm)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49039" y="5029200"/>
            <a:ext cx="2834640" cy="1143000"/>
          </a:xfrm>
          <a:prstGeom prst="roundRect">
            <a:avLst/>
          </a:prstGeom>
          <a:solidFill>
            <a:srgbClr val="121F17"/>
          </a:solidFill>
          <a:ln>
            <a:solidFill>
              <a:srgbClr val="254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5A93C"/>
                </a:solidFill>
              </a:defRPr>
            </a:pPr>
            <a:r>
              <a:t>📍  Alamat Kantor &amp; Gudang</a:t>
            </a:r>
          </a:p>
          <a:p>
            <a:pPr>
              <a:defRPr sz="1100">
                <a:solidFill>
                  <a:srgbClr val="F2F7F4"/>
                </a:solidFill>
              </a:defRPr>
            </a:pPr>
            <a:r>
              <a:t>Bandar Lampung &amp; Gudang Natar, Lampung, Indonesia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1371600"/>
            <a:ext cx="4572000" cy="4846320"/>
          </a:xfrm>
          <a:prstGeom prst="roundRect">
            <a:avLst/>
          </a:prstGeom>
          <a:solidFill>
            <a:srgbClr val="E8EEEA"/>
          </a:solidFill>
          <a:ln w="19050">
            <a:solidFill>
              <a:srgbClr val="B4C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5A6E62"/>
                </a:solidFill>
              </a:defRPr>
            </a:pPr>
            <a:r>
              <a:t>📷 [ SLOT FOTO 6: Foto Tim KGF / Logo Besar Closing ]</a:t>
            </a:r>
            <a:br/>
            <a:r>
              <a:t>(Klik kanan / Replace dengan foto lo)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