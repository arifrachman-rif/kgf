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0" y="0"/>
            <a:ext cx="12191695" cy="2359152"/>
          </a:xfrm>
          <a:prstGeom prst="rect">
            <a:avLst/>
          </a:prstGeom>
        </p:spPr>
      </p:pic>
      <p:sp>
        <p:nvSpPr>
          <p:cNvPr id="4" name="Rectangle 3"/>
          <p:cNvSpPr/>
          <p:nvPr/>
        </p:nvSpPr>
        <p:spPr>
          <a:xfrm>
            <a:off x="0" y="2320747"/>
            <a:ext cx="12191695" cy="38404"/>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365760"/>
            <a:ext cx="6583680" cy="274320"/>
          </a:xfrm>
          <a:prstGeom prst="rect">
            <a:avLst/>
          </a:prstGeom>
          <a:noFill/>
        </p:spPr>
        <p:txBody>
          <a:bodyPr wrap="square" anchor="t" lIns="0" rIns="0" tIns="0" bIns="0">
            <a:spAutoFit/>
          </a:bodyPr>
          <a:lstStyle/>
          <a:p>
            <a:pPr algn="l">
              <a:lnSpc>
                <a:spcPct val="100000"/>
              </a:lnSpc>
              <a:spcAft>
                <a:spcPts val="0"/>
              </a:spcAft>
            </a:pPr>
            <a:r>
              <a:rPr sz="950" b="1">
                <a:solidFill>
                  <a:srgbClr val="E8D992"/>
                </a:solidFill>
                <a:latin typeface="Segoe UI"/>
              </a:rPr>
              <a:t>PT KLUMBAYAN GOLD FARM  ·  LAMPUNG, INDONESIA</a:t>
            </a:r>
          </a:p>
        </p:txBody>
      </p:sp>
      <p:sp>
        <p:nvSpPr>
          <p:cNvPr id="6" name="TextBox 5"/>
          <p:cNvSpPr txBox="1"/>
          <p:nvPr/>
        </p:nvSpPr>
        <p:spPr>
          <a:xfrm>
            <a:off x="685800" y="694944"/>
            <a:ext cx="7680960" cy="1280160"/>
          </a:xfrm>
          <a:prstGeom prst="rect">
            <a:avLst/>
          </a:prstGeom>
          <a:noFill/>
        </p:spPr>
        <p:txBody>
          <a:bodyPr wrap="square" anchor="t" lIns="0" rIns="0" tIns="0" bIns="0">
            <a:spAutoFit/>
          </a:bodyPr>
          <a:lstStyle/>
          <a:p>
            <a:pPr algn="l">
              <a:lnSpc>
                <a:spcPct val="105000"/>
              </a:lnSpc>
              <a:spcAft>
                <a:spcPts val="200"/>
              </a:spcAft>
            </a:pPr>
            <a:r>
              <a:rPr sz="2900" b="1">
                <a:solidFill>
                  <a:srgbClr val="FFFFFF"/>
                </a:solidFill>
                <a:latin typeface="Georgia"/>
              </a:rPr>
              <a:t>Traceable spices and cocoa,</a:t>
            </a:r>
          </a:p>
          <a:p>
            <a:pPr algn="l">
              <a:lnSpc>
                <a:spcPct val="105000"/>
              </a:lnSpc>
              <a:spcAft>
                <a:spcPts val="0"/>
              </a:spcAft>
            </a:pPr>
            <a:r>
              <a:rPr sz="2900" b="1">
                <a:solidFill>
                  <a:srgbClr val="E8D992"/>
                </a:solidFill>
                <a:latin typeface="Georgia"/>
              </a:rPr>
              <a:t>plot to container</a:t>
            </a:r>
          </a:p>
        </p:txBody>
      </p:sp>
      <p:sp>
        <p:nvSpPr>
          <p:cNvPr id="7" name="TextBox 6"/>
          <p:cNvSpPr txBox="1"/>
          <p:nvPr/>
        </p:nvSpPr>
        <p:spPr>
          <a:xfrm>
            <a:off x="685800" y="1700784"/>
            <a:ext cx="7955279" cy="365760"/>
          </a:xfrm>
          <a:prstGeom prst="rect">
            <a:avLst/>
          </a:prstGeom>
          <a:noFill/>
        </p:spPr>
        <p:txBody>
          <a:bodyPr wrap="square" anchor="t" lIns="0" rIns="0" tIns="0" bIns="0">
            <a:spAutoFit/>
          </a:bodyPr>
          <a:lstStyle/>
          <a:p>
            <a:pPr algn="l">
              <a:lnSpc>
                <a:spcPct val="120000"/>
              </a:lnSpc>
              <a:spcAft>
                <a:spcPts val="0"/>
              </a:spcAft>
            </a:pPr>
            <a:r>
              <a:rPr sz="1019" b="0">
                <a:solidFill>
                  <a:srgbClr val="DCE6DD"/>
                </a:solidFill>
                <a:latin typeface="Segoe UI"/>
              </a:rPr>
              <a:t>1,250 agroforestry smallholders  ·  2,000-tonne facility at Natar  ·  every lot verified in TAPAK</a:t>
            </a:r>
          </a:p>
        </p:txBody>
      </p:sp>
      <p:sp>
        <p:nvSpPr>
          <p:cNvPr id="8" name="TextBox 7"/>
          <p:cNvSpPr txBox="1"/>
          <p:nvPr/>
        </p:nvSpPr>
        <p:spPr>
          <a:xfrm>
            <a:off x="8915400" y="1737360"/>
            <a:ext cx="2651760" cy="365760"/>
          </a:xfrm>
          <a:prstGeom prst="rect">
            <a:avLst/>
          </a:prstGeom>
          <a:noFill/>
        </p:spPr>
        <p:txBody>
          <a:bodyPr wrap="square" anchor="t" lIns="0" rIns="0" tIns="0" bIns="0">
            <a:spAutoFit/>
          </a:bodyPr>
          <a:lstStyle/>
          <a:p>
            <a:pPr algn="r">
              <a:lnSpc>
                <a:spcPct val="100000"/>
              </a:lnSpc>
              <a:spcAft>
                <a:spcPts val="100"/>
              </a:spcAft>
            </a:pPr>
            <a:r>
              <a:rPr sz="780" b="1">
                <a:solidFill>
                  <a:srgbClr val="C9B878"/>
                </a:solidFill>
                <a:latin typeface="Segoe UI"/>
              </a:rPr>
              <a:t>Prepared for</a:t>
            </a:r>
          </a:p>
          <a:p>
            <a:pPr algn="r">
              <a:lnSpc>
                <a:spcPct val="115000"/>
              </a:lnSpc>
              <a:spcAft>
                <a:spcPts val="0"/>
              </a:spcAft>
            </a:pPr>
            <a:r>
              <a:rPr sz="919" b="1">
                <a:solidFill>
                  <a:srgbClr val="FFFFFF"/>
                </a:solidFill>
                <a:latin typeface="Segoe UI"/>
              </a:rPr>
              <a:t>ATDAG Cairo  ·  September 2026</a:t>
            </a:r>
          </a:p>
        </p:txBody>
      </p:sp>
      <p:sp>
        <p:nvSpPr>
          <p:cNvPr id="9" name="Rectangle 8"/>
          <p:cNvSpPr/>
          <p:nvPr/>
        </p:nvSpPr>
        <p:spPr>
          <a:xfrm>
            <a:off x="685800" y="2720340"/>
            <a:ext cx="274320" cy="32004"/>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2670048"/>
            <a:ext cx="5376672" cy="219456"/>
          </a:xfrm>
          <a:prstGeom prst="rect">
            <a:avLst/>
          </a:prstGeom>
          <a:noFill/>
        </p:spPr>
        <p:txBody>
          <a:bodyPr wrap="square" anchor="t" lIns="0" rIns="0" tIns="0" bIns="0">
            <a:spAutoFit/>
          </a:bodyPr>
          <a:lstStyle/>
          <a:p>
            <a:pPr algn="l">
              <a:lnSpc>
                <a:spcPct val="100000"/>
              </a:lnSpc>
              <a:spcAft>
                <a:spcPts val="0"/>
              </a:spcAft>
            </a:pPr>
            <a:r>
              <a:rPr sz="950" b="1">
                <a:solidFill>
                  <a:srgbClr val="1B5E3A"/>
                </a:solidFill>
                <a:latin typeface="Segoe UI"/>
              </a:rPr>
              <a:t>WHO WE ARE</a:t>
            </a:r>
          </a:p>
        </p:txBody>
      </p:sp>
      <p:sp>
        <p:nvSpPr>
          <p:cNvPr id="11" name="TextBox 10"/>
          <p:cNvSpPr txBox="1"/>
          <p:nvPr/>
        </p:nvSpPr>
        <p:spPr>
          <a:xfrm>
            <a:off x="685800" y="2980944"/>
            <a:ext cx="5760720" cy="1463040"/>
          </a:xfrm>
          <a:prstGeom prst="rect">
            <a:avLst/>
          </a:prstGeom>
          <a:noFill/>
        </p:spPr>
        <p:txBody>
          <a:bodyPr wrap="square" anchor="t" lIns="0" rIns="0" tIns="0" bIns="0">
            <a:spAutoFit/>
          </a:bodyPr>
          <a:lstStyle/>
          <a:p>
            <a:pPr algn="l">
              <a:lnSpc>
                <a:spcPct val="126000"/>
              </a:lnSpc>
              <a:spcAft>
                <a:spcPts val="600"/>
              </a:spcAft>
            </a:pPr>
            <a:r>
              <a:rPr sz="919" b="0">
                <a:solidFill>
                  <a:srgbClr val="555B56"/>
                </a:solidFill>
                <a:latin typeface="Segoe UI"/>
              </a:rPr>
              <a:t>KGF is an Indonesian spice and cocoa company based in Lampung, the country's principal pepper-producing province. We are not a broker. We buy directly from 1,250 smallholder farmers we organised and trained across three regencies — Pesawaran, Tanggamus and Lampung Barat — grade and consolidate at our own 2,000-tonne warehouse in Natar, and ship under contract.</a:t>
            </a:r>
          </a:p>
          <a:p>
            <a:pPr algn="l">
              <a:lnSpc>
                <a:spcPct val="126000"/>
              </a:lnSpc>
              <a:spcAft>
                <a:spcPts val="0"/>
              </a:spcAft>
            </a:pPr>
            <a:r>
              <a:rPr sz="919" b="0">
                <a:solidFill>
                  <a:srgbClr val="555B56"/>
                </a:solidFill>
                <a:latin typeface="Segoe UI"/>
              </a:rPr>
              <a:t>The company was founded in 2022 to restore land degraded by former gold mining and return villagers to professional farming. That is the origin of the name.</a:t>
            </a:r>
          </a:p>
        </p:txBody>
      </p:sp>
      <p:sp>
        <p:nvSpPr>
          <p:cNvPr id="12" name="Rectangle 11"/>
          <p:cNvSpPr/>
          <p:nvPr/>
        </p:nvSpPr>
        <p:spPr>
          <a:xfrm>
            <a:off x="685800" y="4293107"/>
            <a:ext cx="274320" cy="32004"/>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4242816"/>
            <a:ext cx="5376672" cy="219456"/>
          </a:xfrm>
          <a:prstGeom prst="rect">
            <a:avLst/>
          </a:prstGeom>
          <a:noFill/>
        </p:spPr>
        <p:txBody>
          <a:bodyPr wrap="square" anchor="t" lIns="0" rIns="0" tIns="0" bIns="0">
            <a:spAutoFit/>
          </a:bodyPr>
          <a:lstStyle/>
          <a:p>
            <a:pPr algn="l">
              <a:lnSpc>
                <a:spcPct val="100000"/>
              </a:lnSpc>
              <a:spcAft>
                <a:spcPts val="0"/>
              </a:spcAft>
            </a:pPr>
            <a:r>
              <a:rPr sz="950" b="1">
                <a:solidFill>
                  <a:srgbClr val="1B5E3A"/>
                </a:solidFill>
                <a:latin typeface="Segoe UI"/>
              </a:rPr>
              <a:t>TWO BUSINESSES THAT FUND EACH OTHER</a:t>
            </a:r>
          </a:p>
        </p:txBody>
      </p:sp>
      <p:sp>
        <p:nvSpPr>
          <p:cNvPr id="14" name="TextBox 13"/>
          <p:cNvSpPr txBox="1"/>
          <p:nvPr/>
        </p:nvSpPr>
        <p:spPr>
          <a:xfrm>
            <a:off x="685800" y="4553712"/>
            <a:ext cx="5760720" cy="1554480"/>
          </a:xfrm>
          <a:prstGeom prst="rect">
            <a:avLst/>
          </a:prstGeom>
          <a:noFill/>
        </p:spPr>
        <p:txBody>
          <a:bodyPr wrap="square" anchor="t" lIns="0" rIns="0" tIns="0" bIns="0">
            <a:spAutoFit/>
          </a:bodyPr>
          <a:lstStyle/>
          <a:p>
            <a:pPr algn="l">
              <a:lnSpc>
                <a:spcPct val="126000"/>
              </a:lnSpc>
              <a:spcAft>
                <a:spcPts val="600"/>
              </a:spcAft>
            </a:pPr>
            <a:r>
              <a:rPr sz="919" b="0">
                <a:solidFill>
                  <a:srgbClr val="555B56"/>
                </a:solidFill>
                <a:latin typeface="Segoe UI"/>
              </a:rPr>
              <a:t>Tech-enabled trading.  Buying direct removes the layers of collectors that normally sit between an Indonesian smallholder and an exporter. That is what makes both the traceability claim and the farmer price premium real.</a:t>
            </a:r>
          </a:p>
          <a:p>
            <a:pPr algn="l">
              <a:lnSpc>
                <a:spcPct val="126000"/>
              </a:lnSpc>
              <a:spcAft>
                <a:spcPts val="0"/>
              </a:spcAft>
            </a:pPr>
            <a:r>
              <a:rPr sz="919" b="0">
                <a:solidFill>
                  <a:srgbClr val="555B56"/>
                </a:solidFill>
                <a:latin typeface="Segoe UI"/>
              </a:rPr>
              <a:t>Regenerative agribusiness.  Our supply base is agroforestry, not monoculture. Crops grow in a multi-strata system alongside shade and timber trees, on land being restored rather than cleared — producing the verified deforestation-free supply that premium buyers increasingly require.</a:t>
            </a:r>
          </a:p>
        </p:txBody>
      </p:sp>
      <p:sp>
        <p:nvSpPr>
          <p:cNvPr id="15" name="Rectangle 14"/>
          <p:cNvSpPr/>
          <p:nvPr/>
        </p:nvSpPr>
        <p:spPr>
          <a:xfrm>
            <a:off x="7059168" y="2670048"/>
            <a:ext cx="4443984" cy="2066543"/>
          </a:xfrm>
          <a:prstGeom prst="rect">
            <a:avLst/>
          </a:prstGeom>
          <a:solidFill>
            <a:srgbClr val="E6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59168" y="2670048"/>
            <a:ext cx="41148" cy="2066543"/>
          </a:xfrm>
          <a:prstGeom prst="rect">
            <a:avLst/>
          </a:prstGeom>
          <a:solidFill>
            <a:srgbClr val="1B5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70064" y="2816352"/>
            <a:ext cx="3803904" cy="219456"/>
          </a:xfrm>
          <a:prstGeom prst="rect">
            <a:avLst/>
          </a:prstGeom>
          <a:noFill/>
        </p:spPr>
        <p:txBody>
          <a:bodyPr wrap="square" anchor="t" lIns="0" rIns="0" tIns="0" bIns="0">
            <a:spAutoFit/>
          </a:bodyPr>
          <a:lstStyle/>
          <a:p>
            <a:pPr algn="l">
              <a:lnSpc>
                <a:spcPct val="100000"/>
              </a:lnSpc>
              <a:spcAft>
                <a:spcPts val="0"/>
              </a:spcAft>
            </a:pPr>
            <a:r>
              <a:rPr sz="860" b="1">
                <a:solidFill>
                  <a:srgbClr val="1B5E3A"/>
                </a:solidFill>
                <a:latin typeface="Segoe UI"/>
              </a:rPr>
              <a:t>AT A GLANCE</a:t>
            </a:r>
          </a:p>
        </p:txBody>
      </p:sp>
      <p:sp>
        <p:nvSpPr>
          <p:cNvPr id="18" name="TextBox 17"/>
          <p:cNvSpPr txBox="1"/>
          <p:nvPr/>
        </p:nvSpPr>
        <p:spPr>
          <a:xfrm>
            <a:off x="7370064" y="3088843"/>
            <a:ext cx="1051560" cy="274320"/>
          </a:xfrm>
          <a:prstGeom prst="rect">
            <a:avLst/>
          </a:prstGeom>
          <a:noFill/>
        </p:spPr>
        <p:txBody>
          <a:bodyPr wrap="square" anchor="t" lIns="0" rIns="0" tIns="0" bIns="0">
            <a:spAutoFit/>
          </a:bodyPr>
          <a:lstStyle/>
          <a:p>
            <a:pPr algn="l">
              <a:lnSpc>
                <a:spcPct val="100000"/>
              </a:lnSpc>
              <a:spcAft>
                <a:spcPts val="0"/>
              </a:spcAft>
            </a:pPr>
            <a:r>
              <a:rPr sz="1100" b="1">
                <a:solidFill>
                  <a:srgbClr val="0E2A18"/>
                </a:solidFill>
                <a:latin typeface="Georgia"/>
              </a:rPr>
              <a:t>2022</a:t>
            </a:r>
          </a:p>
        </p:txBody>
      </p:sp>
      <p:sp>
        <p:nvSpPr>
          <p:cNvPr id="19" name="TextBox 18"/>
          <p:cNvSpPr txBox="1"/>
          <p:nvPr/>
        </p:nvSpPr>
        <p:spPr>
          <a:xfrm>
            <a:off x="8430767" y="3125419"/>
            <a:ext cx="2761488" cy="274320"/>
          </a:xfrm>
          <a:prstGeom prst="rect">
            <a:avLst/>
          </a:prstGeom>
          <a:noFill/>
        </p:spPr>
        <p:txBody>
          <a:bodyPr wrap="square" anchor="t" lIns="0" rIns="0" tIns="0" bIns="0">
            <a:spAutoFit/>
          </a:bodyPr>
          <a:lstStyle/>
          <a:p>
            <a:pPr algn="l">
              <a:lnSpc>
                <a:spcPct val="110000"/>
              </a:lnSpc>
              <a:spcAft>
                <a:spcPts val="0"/>
              </a:spcAft>
            </a:pPr>
            <a:r>
              <a:rPr sz="800" b="0">
                <a:solidFill>
                  <a:srgbClr val="555B56"/>
                </a:solidFill>
                <a:latin typeface="Segoe UI"/>
              </a:rPr>
              <a:t>Established, Pesawaran, Lampung</a:t>
            </a:r>
          </a:p>
        </p:txBody>
      </p:sp>
      <p:sp>
        <p:nvSpPr>
          <p:cNvPr id="20" name="TextBox 19"/>
          <p:cNvSpPr txBox="1"/>
          <p:nvPr/>
        </p:nvSpPr>
        <p:spPr>
          <a:xfrm>
            <a:off x="7370064" y="3354019"/>
            <a:ext cx="1051560" cy="274320"/>
          </a:xfrm>
          <a:prstGeom prst="rect">
            <a:avLst/>
          </a:prstGeom>
          <a:noFill/>
        </p:spPr>
        <p:txBody>
          <a:bodyPr wrap="square" anchor="t" lIns="0" rIns="0" tIns="0" bIns="0">
            <a:spAutoFit/>
          </a:bodyPr>
          <a:lstStyle/>
          <a:p>
            <a:pPr algn="l">
              <a:lnSpc>
                <a:spcPct val="100000"/>
              </a:lnSpc>
              <a:spcAft>
                <a:spcPts val="0"/>
              </a:spcAft>
            </a:pPr>
            <a:r>
              <a:rPr sz="1100" b="1">
                <a:solidFill>
                  <a:srgbClr val="0E2A18"/>
                </a:solidFill>
                <a:latin typeface="Georgia"/>
              </a:rPr>
              <a:t>1,250</a:t>
            </a:r>
          </a:p>
        </p:txBody>
      </p:sp>
      <p:sp>
        <p:nvSpPr>
          <p:cNvPr id="21" name="TextBox 20"/>
          <p:cNvSpPr txBox="1"/>
          <p:nvPr/>
        </p:nvSpPr>
        <p:spPr>
          <a:xfrm>
            <a:off x="8430767" y="3390595"/>
            <a:ext cx="2761488" cy="274320"/>
          </a:xfrm>
          <a:prstGeom prst="rect">
            <a:avLst/>
          </a:prstGeom>
          <a:noFill/>
        </p:spPr>
        <p:txBody>
          <a:bodyPr wrap="square" anchor="t" lIns="0" rIns="0" tIns="0" bIns="0">
            <a:spAutoFit/>
          </a:bodyPr>
          <a:lstStyle/>
          <a:p>
            <a:pPr algn="l">
              <a:lnSpc>
                <a:spcPct val="110000"/>
              </a:lnSpc>
              <a:spcAft>
                <a:spcPts val="0"/>
              </a:spcAft>
            </a:pPr>
            <a:r>
              <a:rPr sz="800" b="0">
                <a:solidFill>
                  <a:srgbClr val="555B56"/>
                </a:solidFill>
                <a:latin typeface="Segoe UI"/>
              </a:rPr>
              <a:t>Smallholder farmers under contract</a:t>
            </a:r>
          </a:p>
        </p:txBody>
      </p:sp>
      <p:sp>
        <p:nvSpPr>
          <p:cNvPr id="22" name="TextBox 21"/>
          <p:cNvSpPr txBox="1"/>
          <p:nvPr/>
        </p:nvSpPr>
        <p:spPr>
          <a:xfrm>
            <a:off x="7370064" y="3619195"/>
            <a:ext cx="1051560" cy="274320"/>
          </a:xfrm>
          <a:prstGeom prst="rect">
            <a:avLst/>
          </a:prstGeom>
          <a:noFill/>
        </p:spPr>
        <p:txBody>
          <a:bodyPr wrap="square" anchor="t" lIns="0" rIns="0" tIns="0" bIns="0">
            <a:spAutoFit/>
          </a:bodyPr>
          <a:lstStyle/>
          <a:p>
            <a:pPr algn="l">
              <a:lnSpc>
                <a:spcPct val="100000"/>
              </a:lnSpc>
              <a:spcAft>
                <a:spcPts val="0"/>
              </a:spcAft>
            </a:pPr>
            <a:r>
              <a:rPr sz="1100" b="1">
                <a:solidFill>
                  <a:srgbClr val="0E2A18"/>
                </a:solidFill>
                <a:latin typeface="Georgia"/>
              </a:rPr>
              <a:t>~600 ha</a:t>
            </a:r>
          </a:p>
        </p:txBody>
      </p:sp>
      <p:sp>
        <p:nvSpPr>
          <p:cNvPr id="23" name="TextBox 22"/>
          <p:cNvSpPr txBox="1"/>
          <p:nvPr/>
        </p:nvSpPr>
        <p:spPr>
          <a:xfrm>
            <a:off x="8430767" y="3655771"/>
            <a:ext cx="2761488" cy="274320"/>
          </a:xfrm>
          <a:prstGeom prst="rect">
            <a:avLst/>
          </a:prstGeom>
          <a:noFill/>
        </p:spPr>
        <p:txBody>
          <a:bodyPr wrap="square" anchor="t" lIns="0" rIns="0" tIns="0" bIns="0">
            <a:spAutoFit/>
          </a:bodyPr>
          <a:lstStyle/>
          <a:p>
            <a:pPr algn="l">
              <a:lnSpc>
                <a:spcPct val="110000"/>
              </a:lnSpc>
              <a:spcAft>
                <a:spcPts val="0"/>
              </a:spcAft>
            </a:pPr>
            <a:r>
              <a:rPr sz="800" b="0">
                <a:solidFill>
                  <a:srgbClr val="555B56"/>
                </a:solidFill>
                <a:latin typeface="Segoe UI"/>
              </a:rPr>
              <a:t>Under management (1,250 × 0.5 ha assumed)</a:t>
            </a:r>
          </a:p>
        </p:txBody>
      </p:sp>
      <p:sp>
        <p:nvSpPr>
          <p:cNvPr id="24" name="TextBox 23"/>
          <p:cNvSpPr txBox="1"/>
          <p:nvPr/>
        </p:nvSpPr>
        <p:spPr>
          <a:xfrm>
            <a:off x="7370064" y="3884371"/>
            <a:ext cx="1051560" cy="274320"/>
          </a:xfrm>
          <a:prstGeom prst="rect">
            <a:avLst/>
          </a:prstGeom>
          <a:noFill/>
        </p:spPr>
        <p:txBody>
          <a:bodyPr wrap="square" anchor="t" lIns="0" rIns="0" tIns="0" bIns="0">
            <a:spAutoFit/>
          </a:bodyPr>
          <a:lstStyle/>
          <a:p>
            <a:pPr algn="l">
              <a:lnSpc>
                <a:spcPct val="100000"/>
              </a:lnSpc>
              <a:spcAft>
                <a:spcPts val="0"/>
              </a:spcAft>
            </a:pPr>
            <a:r>
              <a:rPr sz="1100" b="1">
                <a:solidFill>
                  <a:srgbClr val="0E2A18"/>
                </a:solidFill>
                <a:latin typeface="Georgia"/>
              </a:rPr>
              <a:t>2,000 t</a:t>
            </a:r>
          </a:p>
        </p:txBody>
      </p:sp>
      <p:sp>
        <p:nvSpPr>
          <p:cNvPr id="25" name="TextBox 24"/>
          <p:cNvSpPr txBox="1"/>
          <p:nvPr/>
        </p:nvSpPr>
        <p:spPr>
          <a:xfrm>
            <a:off x="8430767" y="3920947"/>
            <a:ext cx="2761488" cy="274320"/>
          </a:xfrm>
          <a:prstGeom prst="rect">
            <a:avLst/>
          </a:prstGeom>
          <a:noFill/>
        </p:spPr>
        <p:txBody>
          <a:bodyPr wrap="square" anchor="t" lIns="0" rIns="0" tIns="0" bIns="0">
            <a:spAutoFit/>
          </a:bodyPr>
          <a:lstStyle/>
          <a:p>
            <a:pPr algn="l">
              <a:lnSpc>
                <a:spcPct val="110000"/>
              </a:lnSpc>
              <a:spcAft>
                <a:spcPts val="0"/>
              </a:spcAft>
            </a:pPr>
            <a:r>
              <a:rPr sz="800" b="0">
                <a:solidFill>
                  <a:srgbClr val="555B56"/>
                </a:solidFill>
                <a:latin typeface="Segoe UI"/>
              </a:rPr>
              <a:t>Warehouse and processing, Gudang Natar</a:t>
            </a:r>
          </a:p>
        </p:txBody>
      </p:sp>
      <p:sp>
        <p:nvSpPr>
          <p:cNvPr id="26" name="TextBox 25"/>
          <p:cNvSpPr txBox="1"/>
          <p:nvPr/>
        </p:nvSpPr>
        <p:spPr>
          <a:xfrm>
            <a:off x="7370064" y="4149547"/>
            <a:ext cx="1051560" cy="274320"/>
          </a:xfrm>
          <a:prstGeom prst="rect">
            <a:avLst/>
          </a:prstGeom>
          <a:noFill/>
        </p:spPr>
        <p:txBody>
          <a:bodyPr wrap="square" anchor="t" lIns="0" rIns="0" tIns="0" bIns="0">
            <a:spAutoFit/>
          </a:bodyPr>
          <a:lstStyle/>
          <a:p>
            <a:pPr algn="l">
              <a:lnSpc>
                <a:spcPct val="100000"/>
              </a:lnSpc>
              <a:spcAft>
                <a:spcPts val="0"/>
              </a:spcAft>
            </a:pPr>
            <a:r>
              <a:rPr sz="1100" b="1">
                <a:solidFill>
                  <a:srgbClr val="0E2A18"/>
                </a:solidFill>
                <a:latin typeface="Georgia"/>
              </a:rPr>
              <a:t>17</a:t>
            </a:r>
          </a:p>
        </p:txBody>
      </p:sp>
      <p:sp>
        <p:nvSpPr>
          <p:cNvPr id="27" name="TextBox 26"/>
          <p:cNvSpPr txBox="1"/>
          <p:nvPr/>
        </p:nvSpPr>
        <p:spPr>
          <a:xfrm>
            <a:off x="8430767" y="4186123"/>
            <a:ext cx="2761488" cy="274320"/>
          </a:xfrm>
          <a:prstGeom prst="rect">
            <a:avLst/>
          </a:prstGeom>
          <a:noFill/>
        </p:spPr>
        <p:txBody>
          <a:bodyPr wrap="square" anchor="t" lIns="0" rIns="0" tIns="0" bIns="0">
            <a:spAutoFit/>
          </a:bodyPr>
          <a:lstStyle/>
          <a:p>
            <a:pPr algn="l">
              <a:lnSpc>
                <a:spcPct val="110000"/>
              </a:lnSpc>
              <a:spcAft>
                <a:spcPts val="0"/>
              </a:spcAft>
            </a:pPr>
            <a:r>
              <a:rPr sz="800" b="0">
                <a:solidFill>
                  <a:srgbClr val="555B56"/>
                </a:solidFill>
                <a:latin typeface="Segoe UI"/>
              </a:rPr>
              <a:t>Verified field buying stations, Tanggamus</a:t>
            </a:r>
          </a:p>
        </p:txBody>
      </p:sp>
      <p:sp>
        <p:nvSpPr>
          <p:cNvPr id="28" name="TextBox 27"/>
          <p:cNvSpPr txBox="1"/>
          <p:nvPr/>
        </p:nvSpPr>
        <p:spPr>
          <a:xfrm>
            <a:off x="7370064" y="4414723"/>
            <a:ext cx="1051560" cy="274320"/>
          </a:xfrm>
          <a:prstGeom prst="rect">
            <a:avLst/>
          </a:prstGeom>
          <a:noFill/>
        </p:spPr>
        <p:txBody>
          <a:bodyPr wrap="square" anchor="t" lIns="0" rIns="0" tIns="0" bIns="0">
            <a:spAutoFit/>
          </a:bodyPr>
          <a:lstStyle/>
          <a:p>
            <a:pPr algn="l">
              <a:lnSpc>
                <a:spcPct val="100000"/>
              </a:lnSpc>
              <a:spcAft>
                <a:spcPts val="0"/>
              </a:spcAft>
            </a:pPr>
            <a:r>
              <a:rPr sz="1100" b="1">
                <a:solidFill>
                  <a:srgbClr val="0E2A18"/>
                </a:solidFill>
                <a:latin typeface="Georgia"/>
              </a:rPr>
              <a:t>15</a:t>
            </a:r>
          </a:p>
        </p:txBody>
      </p:sp>
      <p:sp>
        <p:nvSpPr>
          <p:cNvPr id="29" name="TextBox 28"/>
          <p:cNvSpPr txBox="1"/>
          <p:nvPr/>
        </p:nvSpPr>
        <p:spPr>
          <a:xfrm>
            <a:off x="8430767" y="4451299"/>
            <a:ext cx="2761488" cy="274320"/>
          </a:xfrm>
          <a:prstGeom prst="rect">
            <a:avLst/>
          </a:prstGeom>
          <a:noFill/>
        </p:spPr>
        <p:txBody>
          <a:bodyPr wrap="square" anchor="t" lIns="0" rIns="0" tIns="0" bIns="0">
            <a:spAutoFit/>
          </a:bodyPr>
          <a:lstStyle/>
          <a:p>
            <a:pPr algn="l">
              <a:lnSpc>
                <a:spcPct val="110000"/>
              </a:lnSpc>
              <a:spcAft>
                <a:spcPts val="0"/>
              </a:spcAft>
            </a:pPr>
            <a:r>
              <a:rPr sz="800" b="0">
                <a:solidFill>
                  <a:srgbClr val="555B56"/>
                </a:solidFill>
                <a:latin typeface="Segoe UI"/>
              </a:rPr>
              <a:t>Internal staff, incl. 5 field facilitators</a:t>
            </a:r>
          </a:p>
        </p:txBody>
      </p:sp>
      <p:sp>
        <p:nvSpPr>
          <p:cNvPr id="30" name="Rectangle 29"/>
          <p:cNvSpPr/>
          <p:nvPr/>
        </p:nvSpPr>
        <p:spPr>
          <a:xfrm>
            <a:off x="7059168" y="4988051"/>
            <a:ext cx="274320" cy="32004"/>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43216" y="4937759"/>
            <a:ext cx="4059936" cy="219456"/>
          </a:xfrm>
          <a:prstGeom prst="rect">
            <a:avLst/>
          </a:prstGeom>
          <a:noFill/>
        </p:spPr>
        <p:txBody>
          <a:bodyPr wrap="square" anchor="t" lIns="0" rIns="0" tIns="0" bIns="0">
            <a:spAutoFit/>
          </a:bodyPr>
          <a:lstStyle/>
          <a:p>
            <a:pPr algn="l">
              <a:lnSpc>
                <a:spcPct val="100000"/>
              </a:lnSpc>
              <a:spcAft>
                <a:spcPts val="0"/>
              </a:spcAft>
            </a:pPr>
            <a:r>
              <a:rPr sz="950" b="1">
                <a:solidFill>
                  <a:srgbClr val="1B5E3A"/>
                </a:solidFill>
                <a:latin typeface="Segoe UI"/>
              </a:rPr>
              <a:t>WHERE WE SHIP TODAY</a:t>
            </a:r>
          </a:p>
        </p:txBody>
      </p:sp>
      <p:sp>
        <p:nvSpPr>
          <p:cNvPr id="32" name="TextBox 31"/>
          <p:cNvSpPr txBox="1"/>
          <p:nvPr/>
        </p:nvSpPr>
        <p:spPr>
          <a:xfrm>
            <a:off x="7059168" y="5212079"/>
            <a:ext cx="4443984" cy="640080"/>
          </a:xfrm>
          <a:prstGeom prst="rect">
            <a:avLst/>
          </a:prstGeom>
          <a:noFill/>
        </p:spPr>
        <p:txBody>
          <a:bodyPr wrap="square" anchor="t" lIns="0" rIns="0" tIns="0" bIns="0">
            <a:spAutoFit/>
          </a:bodyPr>
          <a:lstStyle/>
          <a:p>
            <a:pPr algn="l">
              <a:lnSpc>
                <a:spcPct val="120000"/>
              </a:lnSpc>
              <a:spcAft>
                <a:spcPts val="0"/>
              </a:spcAft>
            </a:pPr>
            <a:r>
              <a:rPr sz="860" b="0">
                <a:solidFill>
                  <a:srgbClr val="555B56"/>
                </a:solidFill>
                <a:latin typeface="Segoe UI"/>
              </a:rPr>
              <a:t>Verstegen Spices and Sauces of the Netherlands contracts 80–100 t of black pepper for 2026 and audited our Natar warehouse in August. Europe is our only export market to date — Egypt is the second we are here to open.</a:t>
            </a:r>
          </a:p>
        </p:txBody>
      </p:sp>
      <p:sp>
        <p:nvSpPr>
          <p:cNvPr id="33" name="Rectangle 32"/>
          <p:cNvSpPr/>
          <p:nvPr/>
        </p:nvSpPr>
        <p:spPr>
          <a:xfrm>
            <a:off x="0" y="5797296"/>
            <a:ext cx="12191695" cy="106070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0" y="5797296"/>
            <a:ext cx="12191695" cy="27432"/>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image.png"/>
          <p:cNvPicPr>
            <a:picLocks noChangeAspect="1"/>
          </p:cNvPicPr>
          <p:nvPr/>
        </p:nvPicPr>
        <p:blipFill>
          <a:blip r:embed="rId3"/>
          <a:stretch>
            <a:fillRect/>
          </a:stretch>
        </p:blipFill>
        <p:spPr>
          <a:xfrm>
            <a:off x="566928" y="6016752"/>
            <a:ext cx="744082" cy="548640"/>
          </a:xfrm>
          <a:prstGeom prst="rect">
            <a:avLst/>
          </a:prstGeom>
        </p:spPr>
      </p:pic>
      <p:sp>
        <p:nvSpPr>
          <p:cNvPr id="36" name="Rectangle 35"/>
          <p:cNvSpPr/>
          <p:nvPr/>
        </p:nvSpPr>
        <p:spPr>
          <a:xfrm>
            <a:off x="1676770" y="6053327"/>
            <a:ext cx="10972" cy="493776"/>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877938" y="6181344"/>
            <a:ext cx="2743200" cy="219456"/>
          </a:xfrm>
          <a:prstGeom prst="rect">
            <a:avLst/>
          </a:prstGeom>
          <a:noFill/>
        </p:spPr>
        <p:txBody>
          <a:bodyPr wrap="square" anchor="t" lIns="0" rIns="0" tIns="0" bIns="0">
            <a:spAutoFit/>
          </a:bodyPr>
          <a:lstStyle/>
          <a:p>
            <a:pPr algn="l">
              <a:lnSpc>
                <a:spcPct val="100000"/>
              </a:lnSpc>
              <a:spcAft>
                <a:spcPts val="0"/>
              </a:spcAft>
            </a:pPr>
            <a:r>
              <a:rPr sz="740" b="0">
                <a:solidFill>
                  <a:srgbClr val="555B56"/>
                </a:solidFill>
                <a:latin typeface="Segoe UI"/>
              </a:rPr>
              <a:t>Lead local implementer, aGROWforests</a:t>
            </a:r>
          </a:p>
        </p:txBody>
      </p:sp>
      <p:pic>
        <p:nvPicPr>
          <p:cNvPr id="38" name="Picture 37" descr="image.png"/>
          <p:cNvPicPr>
            <a:picLocks noChangeAspect="1"/>
          </p:cNvPicPr>
          <p:nvPr/>
        </p:nvPicPr>
        <p:blipFill>
          <a:blip r:embed="rId4"/>
          <a:stretch>
            <a:fillRect/>
          </a:stretch>
        </p:blipFill>
        <p:spPr>
          <a:xfrm>
            <a:off x="7968642" y="6071616"/>
            <a:ext cx="727383" cy="475488"/>
          </a:xfrm>
          <a:prstGeom prst="rect">
            <a:avLst/>
          </a:prstGeom>
        </p:spPr>
      </p:pic>
      <p:pic>
        <p:nvPicPr>
          <p:cNvPr id="39" name="Picture 38" descr="image.png"/>
          <p:cNvPicPr>
            <a:picLocks noChangeAspect="1"/>
          </p:cNvPicPr>
          <p:nvPr/>
        </p:nvPicPr>
        <p:blipFill>
          <a:blip r:embed="rId5"/>
          <a:stretch>
            <a:fillRect/>
          </a:stretch>
        </p:blipFill>
        <p:spPr>
          <a:xfrm>
            <a:off x="9262953" y="6126479"/>
            <a:ext cx="711200" cy="365760"/>
          </a:xfrm>
          <a:prstGeom prst="rect">
            <a:avLst/>
          </a:prstGeom>
        </p:spPr>
      </p:pic>
      <p:pic>
        <p:nvPicPr>
          <p:cNvPr id="40" name="Picture 39" descr="image.png"/>
          <p:cNvPicPr>
            <a:picLocks noChangeAspect="1"/>
          </p:cNvPicPr>
          <p:nvPr/>
        </p:nvPicPr>
        <p:blipFill>
          <a:blip r:embed="rId6"/>
          <a:stretch>
            <a:fillRect/>
          </a:stretch>
        </p:blipFill>
        <p:spPr>
          <a:xfrm>
            <a:off x="10541081" y="6144768"/>
            <a:ext cx="1083685" cy="329184"/>
          </a:xfrm>
          <a:prstGeom prst="rect">
            <a:avLst/>
          </a:prstGeom>
        </p:spPr>
      </p:pic>
      <p:sp>
        <p:nvSpPr>
          <p:cNvPr id="41" name="TextBox 40"/>
          <p:cNvSpPr txBox="1"/>
          <p:nvPr/>
        </p:nvSpPr>
        <p:spPr>
          <a:xfrm>
            <a:off x="0" y="6583680"/>
            <a:ext cx="12191695" cy="201168"/>
          </a:xfrm>
          <a:prstGeom prst="rect">
            <a:avLst/>
          </a:prstGeom>
          <a:noFill/>
        </p:spPr>
        <p:txBody>
          <a:bodyPr wrap="square" anchor="t" lIns="0" rIns="0" tIns="0" bIns="0">
            <a:spAutoFit/>
          </a:bodyPr>
          <a:lstStyle/>
          <a:p>
            <a:pPr algn="ctr">
              <a:lnSpc>
                <a:spcPct val="100000"/>
              </a:lnSpc>
              <a:spcAft>
                <a:spcPts val="0"/>
              </a:spcAft>
            </a:pPr>
            <a:r>
              <a:rPr sz="700" b="0">
                <a:solidFill>
                  <a:srgbClr val="555B56"/>
                </a:solidFill>
                <a:latin typeface="Segoe UI"/>
              </a:rPr>
              <a:t>PT Klumbayan Gold Farm  ·  Company Profile  ·  Page 1 of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E2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09244"/>
            <a:ext cx="12191695" cy="32004"/>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9456"/>
            <a:ext cx="7772400" cy="457200"/>
          </a:xfrm>
          <a:prstGeom prst="rect">
            <a:avLst/>
          </a:prstGeom>
          <a:noFill/>
        </p:spPr>
        <p:txBody>
          <a:bodyPr wrap="square" anchor="t" lIns="0" rIns="0" tIns="0" bIns="0">
            <a:spAutoFit/>
          </a:bodyPr>
          <a:lstStyle/>
          <a:p>
            <a:pPr algn="l">
              <a:lnSpc>
                <a:spcPct val="100000"/>
              </a:lnSpc>
              <a:spcAft>
                <a:spcPts val="0"/>
              </a:spcAft>
            </a:pPr>
            <a:r>
              <a:rPr sz="2000" b="1">
                <a:solidFill>
                  <a:srgbClr val="FFFFFF"/>
                </a:solidFill>
                <a:latin typeface="Georgia"/>
              </a:rPr>
              <a:t>Capability, stated honestly</a:t>
            </a:r>
          </a:p>
        </p:txBody>
      </p:sp>
      <p:sp>
        <p:nvSpPr>
          <p:cNvPr id="6" name="TextBox 5"/>
          <p:cNvSpPr txBox="1"/>
          <p:nvPr/>
        </p:nvSpPr>
        <p:spPr>
          <a:xfrm>
            <a:off x="7863840" y="310896"/>
            <a:ext cx="3657600" cy="274320"/>
          </a:xfrm>
          <a:prstGeom prst="rect">
            <a:avLst/>
          </a:prstGeom>
          <a:noFill/>
        </p:spPr>
        <p:txBody>
          <a:bodyPr wrap="square" anchor="t" lIns="0" rIns="0" tIns="0" bIns="0">
            <a:spAutoFit/>
          </a:bodyPr>
          <a:lstStyle/>
          <a:p>
            <a:pPr algn="r">
              <a:lnSpc>
                <a:spcPct val="100000"/>
              </a:lnSpc>
              <a:spcAft>
                <a:spcPts val="0"/>
              </a:spcAft>
            </a:pPr>
            <a:r>
              <a:rPr sz="850" b="1">
                <a:solidFill>
                  <a:srgbClr val="C9B878"/>
                </a:solidFill>
                <a:latin typeface="Segoe UI"/>
              </a:rPr>
              <a:t>PT KLUMBAYAN GOLD FARM</a:t>
            </a:r>
          </a:p>
        </p:txBody>
      </p:sp>
      <p:sp>
        <p:nvSpPr>
          <p:cNvPr id="7" name="Rectangle 6"/>
          <p:cNvSpPr/>
          <p:nvPr/>
        </p:nvSpPr>
        <p:spPr>
          <a:xfrm>
            <a:off x="685800" y="1220724"/>
            <a:ext cx="274320" cy="32004"/>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1170432"/>
            <a:ext cx="6382512" cy="219456"/>
          </a:xfrm>
          <a:prstGeom prst="rect">
            <a:avLst/>
          </a:prstGeom>
          <a:noFill/>
        </p:spPr>
        <p:txBody>
          <a:bodyPr wrap="square" anchor="t" lIns="0" rIns="0" tIns="0" bIns="0">
            <a:spAutoFit/>
          </a:bodyPr>
          <a:lstStyle/>
          <a:p>
            <a:pPr algn="l">
              <a:lnSpc>
                <a:spcPct val="100000"/>
              </a:lnSpc>
              <a:spcAft>
                <a:spcPts val="0"/>
              </a:spcAft>
            </a:pPr>
            <a:r>
              <a:rPr sz="950" b="1">
                <a:solidFill>
                  <a:srgbClr val="1B5E3A"/>
                </a:solidFill>
                <a:latin typeface="Segoe UI"/>
              </a:rPr>
              <a:t>CAPACITY — THE CONSTRAINT IS WORKING CAPITAL, NOT PLANT</a:t>
            </a:r>
          </a:p>
        </p:txBody>
      </p:sp>
      <p:sp>
        <p:nvSpPr>
          <p:cNvPr id="9" name="TextBox 8"/>
          <p:cNvSpPr txBox="1"/>
          <p:nvPr/>
        </p:nvSpPr>
        <p:spPr>
          <a:xfrm>
            <a:off x="685800" y="1499616"/>
            <a:ext cx="6766560" cy="457200"/>
          </a:xfrm>
          <a:prstGeom prst="rect">
            <a:avLst/>
          </a:prstGeom>
          <a:noFill/>
        </p:spPr>
        <p:txBody>
          <a:bodyPr wrap="square" anchor="t" lIns="0" rIns="0" tIns="0" bIns="0">
            <a:spAutoFit/>
          </a:bodyPr>
          <a:lstStyle/>
          <a:p>
            <a:pPr algn="l">
              <a:lnSpc>
                <a:spcPct val="128000"/>
              </a:lnSpc>
              <a:spcAft>
                <a:spcPts val="0"/>
              </a:spcAft>
            </a:pPr>
            <a:r>
              <a:rPr sz="930" b="0">
                <a:solidFill>
                  <a:srgbClr val="555B56"/>
                </a:solidFill>
                <a:latin typeface="Segoe UI"/>
              </a:rPr>
              <a:t>Our facility at Natar is deliberately not running at its limit. Machine hours are available and our farmer network can supply more than we currently buy, because until now we concentrated on a single European contract. New buyer volume displaces nothing.</a:t>
            </a:r>
          </a:p>
        </p:txBody>
      </p:sp>
      <p:sp>
        <p:nvSpPr>
          <p:cNvPr id="10" name="Rectangle 9"/>
          <p:cNvSpPr/>
          <p:nvPr/>
        </p:nvSpPr>
        <p:spPr>
          <a:xfrm>
            <a:off x="685800" y="2048256"/>
            <a:ext cx="6766560" cy="292608"/>
          </a:xfrm>
          <a:prstGeom prst="rect">
            <a:avLst/>
          </a:prstGeom>
          <a:solidFill>
            <a:srgbClr val="1B5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 y="2112264"/>
            <a:ext cx="2099462" cy="292608"/>
          </a:xfrm>
          <a:prstGeom prst="rect">
            <a:avLst/>
          </a:prstGeom>
          <a:noFill/>
        </p:spPr>
        <p:txBody>
          <a:bodyPr wrap="square" anchor="t" lIns="0" rIns="0" tIns="0" bIns="0">
            <a:spAutoFit/>
          </a:bodyPr>
          <a:lstStyle/>
          <a:p>
            <a:pPr algn="l">
              <a:lnSpc>
                <a:spcPct val="100000"/>
              </a:lnSpc>
              <a:spcAft>
                <a:spcPts val="0"/>
              </a:spcAft>
            </a:pPr>
            <a:r>
              <a:rPr sz="819" b="1">
                <a:solidFill>
                  <a:srgbClr val="FFFFFF"/>
                </a:solidFill>
                <a:latin typeface="Segoe UI"/>
              </a:rPr>
              <a:t>LINE</a:t>
            </a:r>
          </a:p>
        </p:txBody>
      </p:sp>
      <p:sp>
        <p:nvSpPr>
          <p:cNvPr id="12" name="TextBox 11"/>
          <p:cNvSpPr txBox="1"/>
          <p:nvPr/>
        </p:nvSpPr>
        <p:spPr>
          <a:xfrm>
            <a:off x="3087014" y="2112264"/>
            <a:ext cx="2370124" cy="292608"/>
          </a:xfrm>
          <a:prstGeom prst="rect">
            <a:avLst/>
          </a:prstGeom>
          <a:noFill/>
        </p:spPr>
        <p:txBody>
          <a:bodyPr wrap="square" anchor="t" lIns="0" rIns="0" tIns="0" bIns="0">
            <a:spAutoFit/>
          </a:bodyPr>
          <a:lstStyle/>
          <a:p>
            <a:pPr algn="l">
              <a:lnSpc>
                <a:spcPct val="100000"/>
              </a:lnSpc>
              <a:spcAft>
                <a:spcPts val="0"/>
              </a:spcAft>
            </a:pPr>
            <a:r>
              <a:rPr sz="819" b="1">
                <a:solidFill>
                  <a:srgbClr val="FFFFFF"/>
                </a:solidFill>
                <a:latin typeface="Segoe UI"/>
              </a:rPr>
              <a:t>POSITION TODAY</a:t>
            </a:r>
          </a:p>
        </p:txBody>
      </p:sp>
      <p:sp>
        <p:nvSpPr>
          <p:cNvPr id="13" name="TextBox 12"/>
          <p:cNvSpPr txBox="1"/>
          <p:nvPr/>
        </p:nvSpPr>
        <p:spPr>
          <a:xfrm>
            <a:off x="5658307" y="2112264"/>
            <a:ext cx="1693468" cy="292608"/>
          </a:xfrm>
          <a:prstGeom prst="rect">
            <a:avLst/>
          </a:prstGeom>
          <a:noFill/>
        </p:spPr>
        <p:txBody>
          <a:bodyPr wrap="square" anchor="t" lIns="0" rIns="0" tIns="0" bIns="0">
            <a:spAutoFit/>
          </a:bodyPr>
          <a:lstStyle/>
          <a:p>
            <a:pPr algn="l">
              <a:lnSpc>
                <a:spcPct val="100000"/>
              </a:lnSpc>
              <a:spcAft>
                <a:spcPts val="0"/>
              </a:spcAft>
            </a:pPr>
            <a:r>
              <a:rPr sz="819" b="1">
                <a:solidFill>
                  <a:srgbClr val="FFFFFF"/>
                </a:solidFill>
                <a:latin typeface="Segoe UI"/>
              </a:rPr>
              <a:t>FACILITY</a:t>
            </a:r>
          </a:p>
        </p:txBody>
      </p:sp>
      <p:sp>
        <p:nvSpPr>
          <p:cNvPr id="14" name="Rectangle 13"/>
          <p:cNvSpPr/>
          <p:nvPr/>
        </p:nvSpPr>
        <p:spPr>
          <a:xfrm>
            <a:off x="685800" y="2340864"/>
            <a:ext cx="6766560" cy="428244"/>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2761792"/>
            <a:ext cx="6766560" cy="7315"/>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 y="2418588"/>
            <a:ext cx="2099462" cy="428244"/>
          </a:xfrm>
          <a:prstGeom prst="rect">
            <a:avLst/>
          </a:prstGeom>
          <a:noFill/>
        </p:spPr>
        <p:txBody>
          <a:bodyPr wrap="square" anchor="t" lIns="0" rIns="0" tIns="0" bIns="0">
            <a:spAutoFit/>
          </a:bodyPr>
          <a:lstStyle/>
          <a:p>
            <a:pPr algn="l">
              <a:lnSpc>
                <a:spcPct val="115000"/>
              </a:lnSpc>
              <a:spcAft>
                <a:spcPts val="0"/>
              </a:spcAft>
            </a:pPr>
            <a:r>
              <a:rPr sz="840" b="1">
                <a:solidFill>
                  <a:srgbClr val="141A16"/>
                </a:solidFill>
                <a:latin typeface="Segoe UI"/>
              </a:rPr>
              <a:t>Black pepper, premium 580 g/l</a:t>
            </a:r>
          </a:p>
        </p:txBody>
      </p:sp>
      <p:sp>
        <p:nvSpPr>
          <p:cNvPr id="17" name="TextBox 16"/>
          <p:cNvSpPr txBox="1"/>
          <p:nvPr/>
        </p:nvSpPr>
        <p:spPr>
          <a:xfrm>
            <a:off x="3087014" y="2418588"/>
            <a:ext cx="2370124" cy="428244"/>
          </a:xfrm>
          <a:prstGeom prst="rect">
            <a:avLst/>
          </a:prstGeom>
          <a:noFill/>
        </p:spPr>
        <p:txBody>
          <a:bodyPr wrap="square" anchor="t" lIns="0" rIns="0" tIns="0" bIns="0">
            <a:spAutoFit/>
          </a:bodyPr>
          <a:lstStyle/>
          <a:p>
            <a:pPr algn="l">
              <a:lnSpc>
                <a:spcPct val="115000"/>
              </a:lnSpc>
              <a:spcAft>
                <a:spcPts val="0"/>
              </a:spcAft>
            </a:pPr>
            <a:r>
              <a:rPr sz="840" b="0">
                <a:solidFill>
                  <a:srgbClr val="555B56"/>
                </a:solidFill>
                <a:latin typeface="Segoe UI"/>
              </a:rPr>
              <a:t>80–100 t contracted for 2026; expandable against a firm 2027 order</a:t>
            </a:r>
          </a:p>
        </p:txBody>
      </p:sp>
      <p:sp>
        <p:nvSpPr>
          <p:cNvPr id="18" name="TextBox 17"/>
          <p:cNvSpPr txBox="1"/>
          <p:nvPr/>
        </p:nvSpPr>
        <p:spPr>
          <a:xfrm>
            <a:off x="5658307" y="2418588"/>
            <a:ext cx="1693468" cy="428244"/>
          </a:xfrm>
          <a:prstGeom prst="rect">
            <a:avLst/>
          </a:prstGeom>
          <a:noFill/>
        </p:spPr>
        <p:txBody>
          <a:bodyPr wrap="square" anchor="t" lIns="0" rIns="0" tIns="0" bIns="0">
            <a:spAutoFit/>
          </a:bodyPr>
          <a:lstStyle/>
          <a:p>
            <a:pPr algn="l">
              <a:lnSpc>
                <a:spcPct val="115000"/>
              </a:lnSpc>
              <a:spcAft>
                <a:spcPts val="0"/>
              </a:spcAft>
            </a:pPr>
            <a:r>
              <a:rPr sz="840" b="0">
                <a:solidFill>
                  <a:srgbClr val="555B56"/>
                </a:solidFill>
                <a:latin typeface="Segoe UI"/>
              </a:rPr>
              <a:t>Natar</a:t>
            </a:r>
          </a:p>
        </p:txBody>
      </p:sp>
      <p:sp>
        <p:nvSpPr>
          <p:cNvPr id="19" name="Rectangle 18"/>
          <p:cNvSpPr/>
          <p:nvPr/>
        </p:nvSpPr>
        <p:spPr>
          <a:xfrm>
            <a:off x="685800" y="3067354"/>
            <a:ext cx="6766560" cy="7315"/>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6384" y="2846832"/>
            <a:ext cx="2099462" cy="305562"/>
          </a:xfrm>
          <a:prstGeom prst="rect">
            <a:avLst/>
          </a:prstGeom>
          <a:noFill/>
        </p:spPr>
        <p:txBody>
          <a:bodyPr wrap="square" anchor="t" lIns="0" rIns="0" tIns="0" bIns="0">
            <a:spAutoFit/>
          </a:bodyPr>
          <a:lstStyle/>
          <a:p>
            <a:pPr algn="l">
              <a:lnSpc>
                <a:spcPct val="115000"/>
              </a:lnSpc>
              <a:spcAft>
                <a:spcPts val="0"/>
              </a:spcAft>
            </a:pPr>
            <a:r>
              <a:rPr sz="840" b="1">
                <a:solidFill>
                  <a:srgbClr val="141A16"/>
                </a:solidFill>
                <a:latin typeface="Segoe UI"/>
              </a:rPr>
              <a:t>Black pepper, standard 500 g/l</a:t>
            </a:r>
          </a:p>
        </p:txBody>
      </p:sp>
      <p:sp>
        <p:nvSpPr>
          <p:cNvPr id="21" name="TextBox 20"/>
          <p:cNvSpPr txBox="1"/>
          <p:nvPr/>
        </p:nvSpPr>
        <p:spPr>
          <a:xfrm>
            <a:off x="3087014" y="2846832"/>
            <a:ext cx="2370124" cy="305562"/>
          </a:xfrm>
          <a:prstGeom prst="rect">
            <a:avLst/>
          </a:prstGeom>
          <a:noFill/>
        </p:spPr>
        <p:txBody>
          <a:bodyPr wrap="square" anchor="t" lIns="0" rIns="0" tIns="0" bIns="0">
            <a:spAutoFit/>
          </a:bodyPr>
          <a:lstStyle/>
          <a:p>
            <a:pPr algn="l">
              <a:lnSpc>
                <a:spcPct val="115000"/>
              </a:lnSpc>
              <a:spcAft>
                <a:spcPts val="0"/>
              </a:spcAft>
            </a:pPr>
            <a:r>
              <a:rPr sz="840" b="0">
                <a:solidFill>
                  <a:srgbClr val="555B56"/>
                </a:solidFill>
                <a:latin typeface="Segoe UI"/>
              </a:rPr>
              <a:t>Available now — 200 t per year</a:t>
            </a:r>
          </a:p>
        </p:txBody>
      </p:sp>
      <p:sp>
        <p:nvSpPr>
          <p:cNvPr id="22" name="TextBox 21"/>
          <p:cNvSpPr txBox="1"/>
          <p:nvPr/>
        </p:nvSpPr>
        <p:spPr>
          <a:xfrm>
            <a:off x="5658307" y="2846832"/>
            <a:ext cx="1693468" cy="305562"/>
          </a:xfrm>
          <a:prstGeom prst="rect">
            <a:avLst/>
          </a:prstGeom>
          <a:noFill/>
        </p:spPr>
        <p:txBody>
          <a:bodyPr wrap="square" anchor="t" lIns="0" rIns="0" tIns="0" bIns="0">
            <a:spAutoFit/>
          </a:bodyPr>
          <a:lstStyle/>
          <a:p>
            <a:pPr algn="l">
              <a:lnSpc>
                <a:spcPct val="115000"/>
              </a:lnSpc>
              <a:spcAft>
                <a:spcPts val="0"/>
              </a:spcAft>
            </a:pPr>
            <a:r>
              <a:rPr sz="840" b="0">
                <a:solidFill>
                  <a:srgbClr val="555B56"/>
                </a:solidFill>
                <a:latin typeface="Segoe UI"/>
              </a:rPr>
              <a:t>Natar</a:t>
            </a:r>
          </a:p>
        </p:txBody>
      </p:sp>
      <p:sp>
        <p:nvSpPr>
          <p:cNvPr id="23" name="Rectangle 22"/>
          <p:cNvSpPr/>
          <p:nvPr/>
        </p:nvSpPr>
        <p:spPr>
          <a:xfrm>
            <a:off x="685800" y="3074670"/>
            <a:ext cx="6766560" cy="428244"/>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3495598"/>
            <a:ext cx="6766560" cy="7315"/>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3152394"/>
            <a:ext cx="2099462" cy="428244"/>
          </a:xfrm>
          <a:prstGeom prst="rect">
            <a:avLst/>
          </a:prstGeom>
          <a:noFill/>
        </p:spPr>
        <p:txBody>
          <a:bodyPr wrap="square" anchor="t" lIns="0" rIns="0" tIns="0" bIns="0">
            <a:spAutoFit/>
          </a:bodyPr>
          <a:lstStyle/>
          <a:p>
            <a:pPr algn="l">
              <a:lnSpc>
                <a:spcPct val="115000"/>
              </a:lnSpc>
              <a:spcAft>
                <a:spcPts val="0"/>
              </a:spcAft>
            </a:pPr>
            <a:r>
              <a:rPr sz="840" b="1">
                <a:solidFill>
                  <a:srgbClr val="141A16"/>
                </a:solidFill>
                <a:latin typeface="Segoe UI"/>
              </a:rPr>
              <a:t>Robusta coffee, green</a:t>
            </a:r>
          </a:p>
        </p:txBody>
      </p:sp>
      <p:sp>
        <p:nvSpPr>
          <p:cNvPr id="26" name="TextBox 25"/>
          <p:cNvSpPr txBox="1"/>
          <p:nvPr/>
        </p:nvSpPr>
        <p:spPr>
          <a:xfrm>
            <a:off x="3087014" y="3152394"/>
            <a:ext cx="2370124" cy="428244"/>
          </a:xfrm>
          <a:prstGeom prst="rect">
            <a:avLst/>
          </a:prstGeom>
          <a:noFill/>
        </p:spPr>
        <p:txBody>
          <a:bodyPr wrap="square" anchor="t" lIns="0" rIns="0" tIns="0" bIns="0">
            <a:spAutoFit/>
          </a:bodyPr>
          <a:lstStyle/>
          <a:p>
            <a:pPr algn="l">
              <a:lnSpc>
                <a:spcPct val="115000"/>
              </a:lnSpc>
              <a:spcAft>
                <a:spcPts val="0"/>
              </a:spcAft>
            </a:pPr>
            <a:r>
              <a:rPr sz="840" b="0">
                <a:solidFill>
                  <a:srgbClr val="555B56"/>
                </a:solidFill>
                <a:latin typeface="Segoe UI"/>
              </a:rPr>
              <a:t>300 t/month sustained, headroom to 720 t/month</a:t>
            </a:r>
          </a:p>
        </p:txBody>
      </p:sp>
      <p:sp>
        <p:nvSpPr>
          <p:cNvPr id="27" name="TextBox 26"/>
          <p:cNvSpPr txBox="1"/>
          <p:nvPr/>
        </p:nvSpPr>
        <p:spPr>
          <a:xfrm>
            <a:off x="5658307" y="3152394"/>
            <a:ext cx="1693468" cy="428244"/>
          </a:xfrm>
          <a:prstGeom prst="rect">
            <a:avLst/>
          </a:prstGeom>
          <a:noFill/>
        </p:spPr>
        <p:txBody>
          <a:bodyPr wrap="square" anchor="t" lIns="0" rIns="0" tIns="0" bIns="0">
            <a:spAutoFit/>
          </a:bodyPr>
          <a:lstStyle/>
          <a:p>
            <a:pPr algn="l">
              <a:lnSpc>
                <a:spcPct val="115000"/>
              </a:lnSpc>
              <a:spcAft>
                <a:spcPts val="0"/>
              </a:spcAft>
            </a:pPr>
            <a:r>
              <a:rPr sz="840" b="0">
                <a:solidFill>
                  <a:srgbClr val="555B56"/>
                </a:solidFill>
                <a:latin typeface="Segoe UI"/>
              </a:rPr>
              <a:t>Natar + 17 stations</a:t>
            </a:r>
          </a:p>
        </p:txBody>
      </p:sp>
      <p:sp>
        <p:nvSpPr>
          <p:cNvPr id="28" name="Rectangle 27"/>
          <p:cNvSpPr/>
          <p:nvPr/>
        </p:nvSpPr>
        <p:spPr>
          <a:xfrm>
            <a:off x="685800" y="3801160"/>
            <a:ext cx="6766560" cy="7315"/>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86384" y="3580637"/>
            <a:ext cx="2099462" cy="305562"/>
          </a:xfrm>
          <a:prstGeom prst="rect">
            <a:avLst/>
          </a:prstGeom>
          <a:noFill/>
        </p:spPr>
        <p:txBody>
          <a:bodyPr wrap="square" anchor="t" lIns="0" rIns="0" tIns="0" bIns="0">
            <a:spAutoFit/>
          </a:bodyPr>
          <a:lstStyle/>
          <a:p>
            <a:pPr algn="l">
              <a:lnSpc>
                <a:spcPct val="115000"/>
              </a:lnSpc>
              <a:spcAft>
                <a:spcPts val="0"/>
              </a:spcAft>
            </a:pPr>
            <a:r>
              <a:rPr sz="840" b="1">
                <a:solidFill>
                  <a:srgbClr val="141A16"/>
                </a:solidFill>
                <a:latin typeface="Segoe UI"/>
              </a:rPr>
              <a:t>Cocoa, bean and processed</a:t>
            </a:r>
          </a:p>
        </p:txBody>
      </p:sp>
      <p:sp>
        <p:nvSpPr>
          <p:cNvPr id="30" name="TextBox 29"/>
          <p:cNvSpPr txBox="1"/>
          <p:nvPr/>
        </p:nvSpPr>
        <p:spPr>
          <a:xfrm>
            <a:off x="3087014" y="3580637"/>
            <a:ext cx="2370124" cy="305562"/>
          </a:xfrm>
          <a:prstGeom prst="rect">
            <a:avLst/>
          </a:prstGeom>
          <a:noFill/>
        </p:spPr>
        <p:txBody>
          <a:bodyPr wrap="square" anchor="t" lIns="0" rIns="0" tIns="0" bIns="0">
            <a:spAutoFit/>
          </a:bodyPr>
          <a:lstStyle/>
          <a:p>
            <a:pPr algn="l">
              <a:lnSpc>
                <a:spcPct val="115000"/>
              </a:lnSpc>
              <a:spcAft>
                <a:spcPts val="0"/>
              </a:spcAft>
            </a:pPr>
            <a:r>
              <a:rPr sz="840" b="0">
                <a:solidFill>
                  <a:srgbClr val="555B56"/>
                </a:solidFill>
                <a:latin typeface="Segoe UI"/>
              </a:rPr>
              <a:t>Available; powder and nibs produced in-house</a:t>
            </a:r>
          </a:p>
        </p:txBody>
      </p:sp>
      <p:sp>
        <p:nvSpPr>
          <p:cNvPr id="31" name="TextBox 30"/>
          <p:cNvSpPr txBox="1"/>
          <p:nvPr/>
        </p:nvSpPr>
        <p:spPr>
          <a:xfrm>
            <a:off x="5658307" y="3580637"/>
            <a:ext cx="1693468" cy="305562"/>
          </a:xfrm>
          <a:prstGeom prst="rect">
            <a:avLst/>
          </a:prstGeom>
          <a:noFill/>
        </p:spPr>
        <p:txBody>
          <a:bodyPr wrap="square" anchor="t" lIns="0" rIns="0" tIns="0" bIns="0">
            <a:spAutoFit/>
          </a:bodyPr>
          <a:lstStyle/>
          <a:p>
            <a:pPr algn="l">
              <a:lnSpc>
                <a:spcPct val="115000"/>
              </a:lnSpc>
              <a:spcAft>
                <a:spcPts val="0"/>
              </a:spcAft>
            </a:pPr>
            <a:r>
              <a:rPr sz="840" b="0">
                <a:solidFill>
                  <a:srgbClr val="555B56"/>
                </a:solidFill>
                <a:latin typeface="Segoe UI"/>
              </a:rPr>
              <a:t>Natar</a:t>
            </a:r>
          </a:p>
        </p:txBody>
      </p:sp>
      <p:sp>
        <p:nvSpPr>
          <p:cNvPr id="32" name="Rectangle 31"/>
          <p:cNvSpPr/>
          <p:nvPr/>
        </p:nvSpPr>
        <p:spPr>
          <a:xfrm>
            <a:off x="685800" y="4119372"/>
            <a:ext cx="6766560" cy="1517904"/>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85800" y="4119372"/>
            <a:ext cx="41148" cy="1517904"/>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4128" y="4302252"/>
            <a:ext cx="6263640" cy="1280160"/>
          </a:xfrm>
          <a:prstGeom prst="rect">
            <a:avLst/>
          </a:prstGeom>
          <a:noFill/>
        </p:spPr>
        <p:txBody>
          <a:bodyPr wrap="square" anchor="t" lIns="0" rIns="0" tIns="0" bIns="0">
            <a:spAutoFit/>
          </a:bodyPr>
          <a:lstStyle/>
          <a:p>
            <a:pPr algn="l">
              <a:lnSpc>
                <a:spcPct val="100000"/>
              </a:lnSpc>
              <a:spcAft>
                <a:spcPts val="600"/>
              </a:spcAft>
            </a:pPr>
            <a:r>
              <a:rPr sz="1100" b="1">
                <a:solidFill>
                  <a:srgbClr val="0E2A18"/>
                </a:solidFill>
                <a:latin typeface="Georgia"/>
              </a:rPr>
              <a:t>TAPAK — traceability that can be checked</a:t>
            </a:r>
          </a:p>
          <a:p>
            <a:pPr algn="l">
              <a:lnSpc>
                <a:spcPct val="126000"/>
              </a:lnSpc>
              <a:spcAft>
                <a:spcPts val="600"/>
              </a:spcAft>
            </a:pPr>
            <a:r>
              <a:rPr sz="919" b="0">
                <a:solidFill>
                  <a:srgbClr val="555B56"/>
                </a:solidFill>
                <a:latin typeface="Segoe UI"/>
              </a:rPr>
              <a:t>Traceability and Accountability of Professional Agri-KGF. Our own platform, live and in production. It records farmer identity, plot polygon coordinates, purchase volume per transaction, digital receipts, and warehouse lot movement.</a:t>
            </a:r>
          </a:p>
          <a:p>
            <a:pPr algn="l">
              <a:lnSpc>
                <a:spcPct val="126000"/>
              </a:lnSpc>
              <a:spcAft>
                <a:spcPts val="0"/>
              </a:spcAft>
            </a:pPr>
            <a:r>
              <a:rPr sz="919" b="0">
                <a:solidFill>
                  <a:srgbClr val="555B56"/>
                </a:solidFill>
                <a:latin typeface="Segoe UI"/>
              </a:rPr>
              <a:t>A buyer asking which farms a container came from receives a plot-level answer. We can grant dashboard access for independent verification rather than asking a buyer to take our word for it.</a:t>
            </a:r>
          </a:p>
        </p:txBody>
      </p:sp>
      <p:pic>
        <p:nvPicPr>
          <p:cNvPr id="35" name="Picture 34" descr="image.jpg"/>
          <p:cNvPicPr>
            <a:picLocks noChangeAspect="1"/>
          </p:cNvPicPr>
          <p:nvPr/>
        </p:nvPicPr>
        <p:blipFill>
          <a:blip r:embed="rId2"/>
          <a:stretch>
            <a:fillRect/>
          </a:stretch>
        </p:blipFill>
        <p:spPr>
          <a:xfrm>
            <a:off x="7882127" y="1170432"/>
            <a:ext cx="3611880" cy="1572768"/>
          </a:xfrm>
          <a:prstGeom prst="rect">
            <a:avLst/>
          </a:prstGeom>
        </p:spPr>
      </p:pic>
      <p:sp>
        <p:nvSpPr>
          <p:cNvPr id="36" name="Rectangle 35"/>
          <p:cNvSpPr/>
          <p:nvPr/>
        </p:nvSpPr>
        <p:spPr>
          <a:xfrm>
            <a:off x="7882127" y="2994660"/>
            <a:ext cx="274320" cy="32004"/>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66175" y="2944368"/>
            <a:ext cx="3227832" cy="219456"/>
          </a:xfrm>
          <a:prstGeom prst="rect">
            <a:avLst/>
          </a:prstGeom>
          <a:noFill/>
        </p:spPr>
        <p:txBody>
          <a:bodyPr wrap="square" anchor="t" lIns="0" rIns="0" tIns="0" bIns="0">
            <a:spAutoFit/>
          </a:bodyPr>
          <a:lstStyle/>
          <a:p>
            <a:pPr algn="l">
              <a:lnSpc>
                <a:spcPct val="100000"/>
              </a:lnSpc>
              <a:spcAft>
                <a:spcPts val="0"/>
              </a:spcAft>
            </a:pPr>
            <a:r>
              <a:rPr sz="950" b="1">
                <a:solidFill>
                  <a:srgbClr val="1B5E3A"/>
                </a:solidFill>
                <a:latin typeface="Segoe UI"/>
              </a:rPr>
              <a:t>SUSTAINABILITY</a:t>
            </a:r>
          </a:p>
        </p:txBody>
      </p:sp>
      <p:sp>
        <p:nvSpPr>
          <p:cNvPr id="38" name="TextBox 37"/>
          <p:cNvSpPr txBox="1"/>
          <p:nvPr/>
        </p:nvSpPr>
        <p:spPr>
          <a:xfrm>
            <a:off x="7882127" y="3273552"/>
            <a:ext cx="3611880" cy="1371600"/>
          </a:xfrm>
          <a:prstGeom prst="rect">
            <a:avLst/>
          </a:prstGeom>
          <a:noFill/>
        </p:spPr>
        <p:txBody>
          <a:bodyPr wrap="square" anchor="t" lIns="0" rIns="0" tIns="0" bIns="0">
            <a:spAutoFit/>
          </a:bodyPr>
          <a:lstStyle/>
          <a:p>
            <a:pPr algn="l">
              <a:lnSpc>
                <a:spcPct val="124000"/>
              </a:lnSpc>
              <a:spcAft>
                <a:spcPts val="600"/>
              </a:spcAft>
            </a:pPr>
            <a:r>
              <a:rPr sz="880" b="0">
                <a:solidFill>
                  <a:srgbClr val="555B56"/>
                </a:solidFill>
                <a:latin typeface="Segoe UI"/>
              </a:rPr>
              <a:t>aGROWforests — a consortium funded by GIZ, the German development agency — covers land restoration, deforestation prevention and certified supply chains. GIZ funds it and audits compliance. KGF is the lead local implementer.</a:t>
            </a:r>
          </a:p>
          <a:p>
            <a:pPr algn="l">
              <a:lnSpc>
                <a:spcPct val="124000"/>
              </a:lnSpc>
              <a:spcAft>
                <a:spcPts val="0"/>
              </a:spcAft>
            </a:pPr>
            <a:r>
              <a:rPr sz="880" b="0">
                <a:solidFill>
                  <a:srgbClr val="555B56"/>
                </a:solidFill>
                <a:latin typeface="Segoe UI"/>
              </a:rPr>
              <a:t>Composting runs at our LKC and Taman Sari facilities plus two communal units in Ulu Belu. More than 10 tonnes of compost has been distributed to farmers to date.</a:t>
            </a:r>
          </a:p>
        </p:txBody>
      </p:sp>
      <p:sp>
        <p:nvSpPr>
          <p:cNvPr id="39" name="Rectangle 38"/>
          <p:cNvSpPr/>
          <p:nvPr/>
        </p:nvSpPr>
        <p:spPr>
          <a:xfrm>
            <a:off x="7882127" y="4640579"/>
            <a:ext cx="274320" cy="32004"/>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66175" y="4590288"/>
            <a:ext cx="3227832" cy="219456"/>
          </a:xfrm>
          <a:prstGeom prst="rect">
            <a:avLst/>
          </a:prstGeom>
          <a:noFill/>
        </p:spPr>
        <p:txBody>
          <a:bodyPr wrap="square" anchor="t" lIns="0" rIns="0" tIns="0" bIns="0">
            <a:spAutoFit/>
          </a:bodyPr>
          <a:lstStyle/>
          <a:p>
            <a:pPr algn="l">
              <a:lnSpc>
                <a:spcPct val="100000"/>
              </a:lnSpc>
              <a:spcAft>
                <a:spcPts val="0"/>
              </a:spcAft>
            </a:pPr>
            <a:r>
              <a:rPr sz="950" b="1">
                <a:solidFill>
                  <a:srgbClr val="1B5E3A"/>
                </a:solidFill>
                <a:latin typeface="Segoe UI"/>
              </a:rPr>
              <a:t>COMPLIANCE — INCLUDING WHAT WE DO NOT HOLD</a:t>
            </a:r>
          </a:p>
        </p:txBody>
      </p:sp>
      <p:sp>
        <p:nvSpPr>
          <p:cNvPr id="41" name="Rectangle 40"/>
          <p:cNvSpPr/>
          <p:nvPr/>
        </p:nvSpPr>
        <p:spPr>
          <a:xfrm>
            <a:off x="7882127" y="4946903"/>
            <a:ext cx="59436" cy="59436"/>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55863" y="4901183"/>
            <a:ext cx="3438144" cy="365760"/>
          </a:xfrm>
          <a:prstGeom prst="rect">
            <a:avLst/>
          </a:prstGeom>
          <a:noFill/>
        </p:spPr>
        <p:txBody>
          <a:bodyPr wrap="square" lIns="0" rIns="0" tIns="0" bIns="0">
            <a:spAutoFit/>
          </a:bodyPr>
          <a:lstStyle/>
          <a:p>
            <a:pPr>
              <a:lnSpc>
                <a:spcPct val="115000"/>
              </a:lnSpc>
            </a:pPr>
            <a:r>
              <a:rPr sz="819" b="1">
                <a:solidFill>
                  <a:srgbClr val="141A16"/>
                </a:solidFill>
                <a:latin typeface="Segoe UI"/>
              </a:rPr>
              <a:t>Halal (BPJPH) — </a:t>
            </a:r>
            <a:r>
              <a:rPr sz="819">
                <a:solidFill>
                  <a:srgbClr val="555B56"/>
                </a:solidFill>
                <a:latin typeface="Segoe UI"/>
              </a:rPr>
              <a:t>Not yet held. Will be obtained to buyer requirement.</a:t>
            </a:r>
          </a:p>
        </p:txBody>
      </p:sp>
      <p:sp>
        <p:nvSpPr>
          <p:cNvPr id="43" name="Rectangle 42"/>
          <p:cNvSpPr/>
          <p:nvPr/>
        </p:nvSpPr>
        <p:spPr>
          <a:xfrm>
            <a:off x="7882127" y="5381243"/>
            <a:ext cx="59436" cy="59436"/>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55863" y="5335523"/>
            <a:ext cx="3438144" cy="365760"/>
          </a:xfrm>
          <a:prstGeom prst="rect">
            <a:avLst/>
          </a:prstGeom>
          <a:noFill/>
        </p:spPr>
        <p:txBody>
          <a:bodyPr wrap="square" lIns="0" rIns="0" tIns="0" bIns="0">
            <a:spAutoFit/>
          </a:bodyPr>
          <a:lstStyle/>
          <a:p>
            <a:pPr>
              <a:lnSpc>
                <a:spcPct val="115000"/>
              </a:lnSpc>
            </a:pPr>
            <a:r>
              <a:rPr sz="819" b="1">
                <a:solidFill>
                  <a:srgbClr val="141A16"/>
                </a:solidFill>
                <a:latin typeface="Segoe UI"/>
              </a:rPr>
              <a:t>Organic — </a:t>
            </a:r>
            <a:r>
              <a:rPr sz="819">
                <a:solidFill>
                  <a:srgbClr val="555B56"/>
                </a:solidFill>
                <a:latin typeface="Segoe UI"/>
              </a:rPr>
              <a:t>Not certified. Land in transition; we do not claim it.</a:t>
            </a:r>
          </a:p>
        </p:txBody>
      </p:sp>
      <p:sp>
        <p:nvSpPr>
          <p:cNvPr id="45" name="Rectangle 44"/>
          <p:cNvSpPr/>
          <p:nvPr/>
        </p:nvSpPr>
        <p:spPr>
          <a:xfrm>
            <a:off x="7882127" y="5815583"/>
            <a:ext cx="59436" cy="59436"/>
          </a:xfrm>
          <a:prstGeom prst="rect">
            <a:avLst/>
          </a:prstGeom>
          <a:solidFill>
            <a:srgbClr val="1B5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55863" y="5769863"/>
            <a:ext cx="3438144" cy="365760"/>
          </a:xfrm>
          <a:prstGeom prst="rect">
            <a:avLst/>
          </a:prstGeom>
          <a:noFill/>
        </p:spPr>
        <p:txBody>
          <a:bodyPr wrap="square" lIns="0" rIns="0" tIns="0" bIns="0">
            <a:spAutoFit/>
          </a:bodyPr>
          <a:lstStyle/>
          <a:p>
            <a:pPr>
              <a:lnSpc>
                <a:spcPct val="115000"/>
              </a:lnSpc>
            </a:pPr>
            <a:r>
              <a:rPr sz="819" b="1">
                <a:solidFill>
                  <a:srgbClr val="141A16"/>
                </a:solidFill>
                <a:latin typeface="Segoe UI"/>
              </a:rPr>
              <a:t>EUDR due diligence — </a:t>
            </a:r>
            <a:r>
              <a:rPr sz="819">
                <a:solidFill>
                  <a:srgbClr val="555B56"/>
                </a:solidFill>
                <a:latin typeface="Segoe UI"/>
              </a:rPr>
              <a:t>In preparation with Verstegen and Fairfood.</a:t>
            </a:r>
          </a:p>
        </p:txBody>
      </p:sp>
      <p:sp>
        <p:nvSpPr>
          <p:cNvPr id="47" name="Rectangle 46"/>
          <p:cNvSpPr/>
          <p:nvPr/>
        </p:nvSpPr>
        <p:spPr>
          <a:xfrm>
            <a:off x="7882127" y="6249923"/>
            <a:ext cx="59436" cy="59436"/>
          </a:xfrm>
          <a:prstGeom prst="rect">
            <a:avLst/>
          </a:prstGeom>
          <a:solidFill>
            <a:srgbClr val="1B5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055863" y="6204203"/>
            <a:ext cx="3438144" cy="365760"/>
          </a:xfrm>
          <a:prstGeom prst="rect">
            <a:avLst/>
          </a:prstGeom>
          <a:noFill/>
        </p:spPr>
        <p:txBody>
          <a:bodyPr wrap="square" lIns="0" rIns="0" tIns="0" bIns="0">
            <a:spAutoFit/>
          </a:bodyPr>
          <a:lstStyle/>
          <a:p>
            <a:pPr>
              <a:lnSpc>
                <a:spcPct val="115000"/>
              </a:lnSpc>
            </a:pPr>
            <a:r>
              <a:rPr sz="819" b="1">
                <a:solidFill>
                  <a:srgbClr val="141A16"/>
                </a:solidFill>
                <a:latin typeface="Segoe UI"/>
              </a:rPr>
              <a:t>K3 and waste SOP — </a:t>
            </a:r>
            <a:r>
              <a:rPr sz="819">
                <a:solidFill>
                  <a:srgbClr val="555B56"/>
                </a:solidFill>
                <a:latin typeface="Segoe UI"/>
              </a:rPr>
              <a:t>In place at Gudang Natar.</a:t>
            </a:r>
          </a:p>
        </p:txBody>
      </p:sp>
      <p:sp>
        <p:nvSpPr>
          <p:cNvPr id="49" name="Rectangle 48"/>
          <p:cNvSpPr/>
          <p:nvPr/>
        </p:nvSpPr>
        <p:spPr>
          <a:xfrm>
            <a:off x="7882127" y="6556247"/>
            <a:ext cx="59436" cy="59436"/>
          </a:xfrm>
          <a:prstGeom prst="rect">
            <a:avLst/>
          </a:prstGeom>
          <a:solidFill>
            <a:srgbClr val="1B5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055863" y="6510527"/>
            <a:ext cx="3438144" cy="365760"/>
          </a:xfrm>
          <a:prstGeom prst="rect">
            <a:avLst/>
          </a:prstGeom>
          <a:noFill/>
        </p:spPr>
        <p:txBody>
          <a:bodyPr wrap="square" lIns="0" rIns="0" tIns="0" bIns="0">
            <a:spAutoFit/>
          </a:bodyPr>
          <a:lstStyle/>
          <a:p>
            <a:pPr>
              <a:lnSpc>
                <a:spcPct val="115000"/>
              </a:lnSpc>
            </a:pPr>
            <a:r>
              <a:rPr sz="819" b="1">
                <a:solidFill>
                  <a:srgbClr val="141A16"/>
                </a:solidFill>
                <a:latin typeface="Segoe UI"/>
              </a:rPr>
              <a:t>BPJS and payroll — </a:t>
            </a:r>
            <a:r>
              <a:rPr sz="819">
                <a:solidFill>
                  <a:srgbClr val="555B56"/>
                </a:solidFill>
                <a:latin typeface="Segoe UI"/>
              </a:rPr>
              <a:t>Paid and active.</a:t>
            </a:r>
          </a:p>
        </p:txBody>
      </p:sp>
      <p:sp>
        <p:nvSpPr>
          <p:cNvPr id="51" name="TextBox 50"/>
          <p:cNvSpPr txBox="1"/>
          <p:nvPr/>
        </p:nvSpPr>
        <p:spPr>
          <a:xfrm>
            <a:off x="0" y="6547104"/>
            <a:ext cx="12191695" cy="201168"/>
          </a:xfrm>
          <a:prstGeom prst="rect">
            <a:avLst/>
          </a:prstGeom>
          <a:noFill/>
        </p:spPr>
        <p:txBody>
          <a:bodyPr wrap="square" anchor="t" lIns="0" rIns="0" tIns="0" bIns="0">
            <a:spAutoFit/>
          </a:bodyPr>
          <a:lstStyle/>
          <a:p>
            <a:pPr algn="ctr">
              <a:lnSpc>
                <a:spcPct val="100000"/>
              </a:lnSpc>
              <a:spcAft>
                <a:spcPts val="0"/>
              </a:spcAft>
            </a:pPr>
            <a:r>
              <a:rPr sz="700" b="0">
                <a:solidFill>
                  <a:srgbClr val="555B56"/>
                </a:solidFill>
                <a:latin typeface="Segoe UI"/>
              </a:rPr>
              <a:t>PT Klumbayan Gold Farm  ·  Company Profile  ·  Page 2 of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41248"/>
          </a:xfrm>
          <a:prstGeom prst="rect">
            <a:avLst/>
          </a:prstGeom>
          <a:solidFill>
            <a:srgbClr val="0E2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809244"/>
            <a:ext cx="12191695" cy="32004"/>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19456"/>
            <a:ext cx="7772400" cy="457200"/>
          </a:xfrm>
          <a:prstGeom prst="rect">
            <a:avLst/>
          </a:prstGeom>
          <a:noFill/>
        </p:spPr>
        <p:txBody>
          <a:bodyPr wrap="square" anchor="t" lIns="0" rIns="0" tIns="0" bIns="0">
            <a:spAutoFit/>
          </a:bodyPr>
          <a:lstStyle/>
          <a:p>
            <a:pPr algn="l">
              <a:lnSpc>
                <a:spcPct val="100000"/>
              </a:lnSpc>
              <a:spcAft>
                <a:spcPts val="0"/>
              </a:spcAft>
            </a:pPr>
            <a:r>
              <a:rPr sz="2000" b="1">
                <a:solidFill>
                  <a:srgbClr val="FFFFFF"/>
                </a:solidFill>
                <a:latin typeface="Georgia"/>
              </a:rPr>
              <a:t>Product catalogue</a:t>
            </a:r>
          </a:p>
        </p:txBody>
      </p:sp>
      <p:sp>
        <p:nvSpPr>
          <p:cNvPr id="6" name="TextBox 5"/>
          <p:cNvSpPr txBox="1"/>
          <p:nvPr/>
        </p:nvSpPr>
        <p:spPr>
          <a:xfrm>
            <a:off x="7863840" y="310896"/>
            <a:ext cx="3657600" cy="274320"/>
          </a:xfrm>
          <a:prstGeom prst="rect">
            <a:avLst/>
          </a:prstGeom>
          <a:noFill/>
        </p:spPr>
        <p:txBody>
          <a:bodyPr wrap="square" anchor="t" lIns="0" rIns="0" tIns="0" bIns="0">
            <a:spAutoFit/>
          </a:bodyPr>
          <a:lstStyle/>
          <a:p>
            <a:pPr algn="r">
              <a:lnSpc>
                <a:spcPct val="100000"/>
              </a:lnSpc>
              <a:spcAft>
                <a:spcPts val="0"/>
              </a:spcAft>
            </a:pPr>
            <a:r>
              <a:rPr sz="850" b="1">
                <a:solidFill>
                  <a:srgbClr val="C9B878"/>
                </a:solidFill>
                <a:latin typeface="Segoe UI"/>
              </a:rPr>
              <a:t>ORIGIN: LAMPUNG, INDONESIA</a:t>
            </a:r>
          </a:p>
        </p:txBody>
      </p:sp>
      <p:sp>
        <p:nvSpPr>
          <p:cNvPr id="7" name="Rectangle 6"/>
          <p:cNvSpPr/>
          <p:nvPr/>
        </p:nvSpPr>
        <p:spPr>
          <a:xfrm>
            <a:off x="685800" y="1042415"/>
            <a:ext cx="10817352" cy="292608"/>
          </a:xfrm>
          <a:prstGeom prst="rect">
            <a:avLst/>
          </a:prstGeom>
          <a:solidFill>
            <a:srgbClr val="1B5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1106424"/>
            <a:ext cx="1854128" cy="292608"/>
          </a:xfrm>
          <a:prstGeom prst="rect">
            <a:avLst/>
          </a:prstGeom>
          <a:noFill/>
        </p:spPr>
        <p:txBody>
          <a:bodyPr wrap="square" anchor="t" lIns="0" rIns="0" tIns="0" bIns="0">
            <a:spAutoFit/>
          </a:bodyPr>
          <a:lstStyle/>
          <a:p>
            <a:pPr algn="l">
              <a:lnSpc>
                <a:spcPct val="100000"/>
              </a:lnSpc>
              <a:spcAft>
                <a:spcPts val="0"/>
              </a:spcAft>
            </a:pPr>
            <a:r>
              <a:rPr sz="800" b="1">
                <a:solidFill>
                  <a:srgbClr val="FFFFFF"/>
                </a:solidFill>
                <a:latin typeface="Segoe UI"/>
              </a:rPr>
              <a:t>PRODUCT</a:t>
            </a:r>
          </a:p>
        </p:txBody>
      </p:sp>
      <p:sp>
        <p:nvSpPr>
          <p:cNvPr id="9" name="TextBox 8"/>
          <p:cNvSpPr txBox="1"/>
          <p:nvPr/>
        </p:nvSpPr>
        <p:spPr>
          <a:xfrm>
            <a:off x="2841680" y="1106424"/>
            <a:ext cx="2286822" cy="292608"/>
          </a:xfrm>
          <a:prstGeom prst="rect">
            <a:avLst/>
          </a:prstGeom>
          <a:noFill/>
        </p:spPr>
        <p:txBody>
          <a:bodyPr wrap="square" anchor="t" lIns="0" rIns="0" tIns="0" bIns="0">
            <a:spAutoFit/>
          </a:bodyPr>
          <a:lstStyle/>
          <a:p>
            <a:pPr algn="l">
              <a:lnSpc>
                <a:spcPct val="100000"/>
              </a:lnSpc>
              <a:spcAft>
                <a:spcPts val="0"/>
              </a:spcAft>
            </a:pPr>
            <a:r>
              <a:rPr sz="800" b="1">
                <a:solidFill>
                  <a:srgbClr val="FFFFFF"/>
                </a:solidFill>
                <a:latin typeface="Segoe UI"/>
              </a:rPr>
              <a:t>GRADE / FORM</a:t>
            </a:r>
          </a:p>
        </p:txBody>
      </p:sp>
      <p:sp>
        <p:nvSpPr>
          <p:cNvPr id="10" name="TextBox 9"/>
          <p:cNvSpPr txBox="1"/>
          <p:nvPr/>
        </p:nvSpPr>
        <p:spPr>
          <a:xfrm>
            <a:off x="5329671" y="1106424"/>
            <a:ext cx="3044037" cy="292608"/>
          </a:xfrm>
          <a:prstGeom prst="rect">
            <a:avLst/>
          </a:prstGeom>
          <a:noFill/>
        </p:spPr>
        <p:txBody>
          <a:bodyPr wrap="square" anchor="t" lIns="0" rIns="0" tIns="0" bIns="0">
            <a:spAutoFit/>
          </a:bodyPr>
          <a:lstStyle/>
          <a:p>
            <a:pPr algn="l">
              <a:lnSpc>
                <a:spcPct val="100000"/>
              </a:lnSpc>
              <a:spcAft>
                <a:spcPts val="0"/>
              </a:spcAft>
            </a:pPr>
            <a:r>
              <a:rPr sz="800" b="1">
                <a:solidFill>
                  <a:srgbClr val="FFFFFF"/>
                </a:solidFill>
                <a:latin typeface="Segoe UI"/>
              </a:rPr>
              <a:t>SPECIFICATION</a:t>
            </a:r>
          </a:p>
        </p:txBody>
      </p:sp>
      <p:sp>
        <p:nvSpPr>
          <p:cNvPr id="11" name="TextBox 10"/>
          <p:cNvSpPr txBox="1"/>
          <p:nvPr/>
        </p:nvSpPr>
        <p:spPr>
          <a:xfrm>
            <a:off x="8574877" y="1106424"/>
            <a:ext cx="2827690" cy="292608"/>
          </a:xfrm>
          <a:prstGeom prst="rect">
            <a:avLst/>
          </a:prstGeom>
          <a:noFill/>
        </p:spPr>
        <p:txBody>
          <a:bodyPr wrap="square" anchor="t" lIns="0" rIns="0" tIns="0" bIns="0">
            <a:spAutoFit/>
          </a:bodyPr>
          <a:lstStyle/>
          <a:p>
            <a:pPr algn="l">
              <a:lnSpc>
                <a:spcPct val="100000"/>
              </a:lnSpc>
              <a:spcAft>
                <a:spcPts val="0"/>
              </a:spcAft>
            </a:pPr>
            <a:r>
              <a:rPr sz="800" b="1">
                <a:solidFill>
                  <a:srgbClr val="FFFFFF"/>
                </a:solidFill>
                <a:latin typeface="Segoe UI"/>
              </a:rPr>
              <a:t>AVAILABILITY</a:t>
            </a:r>
          </a:p>
        </p:txBody>
      </p:sp>
      <p:sp>
        <p:nvSpPr>
          <p:cNvPr id="12" name="Rectangle 11"/>
          <p:cNvSpPr/>
          <p:nvPr/>
        </p:nvSpPr>
        <p:spPr>
          <a:xfrm>
            <a:off x="685800" y="1335024"/>
            <a:ext cx="10817352" cy="394969"/>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1722678"/>
            <a:ext cx="10817352" cy="7315"/>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1399032"/>
            <a:ext cx="1854128" cy="394969"/>
          </a:xfrm>
          <a:prstGeom prst="rect">
            <a:avLst/>
          </a:prstGeom>
          <a:noFill/>
        </p:spPr>
        <p:txBody>
          <a:bodyPr wrap="square" anchor="t" lIns="0" rIns="0" tIns="0" bIns="0">
            <a:spAutoFit/>
          </a:bodyPr>
          <a:lstStyle/>
          <a:p>
            <a:pPr algn="l">
              <a:lnSpc>
                <a:spcPct val="115000"/>
              </a:lnSpc>
              <a:spcAft>
                <a:spcPts val="0"/>
              </a:spcAft>
            </a:pPr>
            <a:r>
              <a:rPr sz="819" b="1">
                <a:solidFill>
                  <a:srgbClr val="141A16"/>
                </a:solidFill>
                <a:latin typeface="Segoe UI"/>
              </a:rPr>
              <a:t>Black pepper — Premium</a:t>
            </a:r>
          </a:p>
        </p:txBody>
      </p:sp>
      <p:sp>
        <p:nvSpPr>
          <p:cNvPr id="15" name="TextBox 14"/>
          <p:cNvSpPr txBox="1"/>
          <p:nvPr/>
        </p:nvSpPr>
        <p:spPr>
          <a:xfrm>
            <a:off x="2841680" y="1399032"/>
            <a:ext cx="2286822"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Premium FAQ, export grade</a:t>
            </a:r>
          </a:p>
        </p:txBody>
      </p:sp>
      <p:sp>
        <p:nvSpPr>
          <p:cNvPr id="16" name="TextBox 15"/>
          <p:cNvSpPr txBox="1"/>
          <p:nvPr/>
        </p:nvSpPr>
        <p:spPr>
          <a:xfrm>
            <a:off x="5329671" y="1399032"/>
            <a:ext cx="3044037"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Bulk density min. 580 g/l. Lampung Black Pepper is a protected origin name.</a:t>
            </a:r>
          </a:p>
        </p:txBody>
      </p:sp>
      <p:sp>
        <p:nvSpPr>
          <p:cNvPr id="17" name="TextBox 16"/>
          <p:cNvSpPr txBox="1"/>
          <p:nvPr/>
        </p:nvSpPr>
        <p:spPr>
          <a:xfrm>
            <a:off x="8574877" y="1399032"/>
            <a:ext cx="2827690"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≈100 t/year, contracted to our European buyer. Expandable against a firm 2027 order.</a:t>
            </a:r>
          </a:p>
        </p:txBody>
      </p:sp>
      <p:sp>
        <p:nvSpPr>
          <p:cNvPr id="18" name="Rectangle 17"/>
          <p:cNvSpPr/>
          <p:nvPr/>
        </p:nvSpPr>
        <p:spPr>
          <a:xfrm>
            <a:off x="685800" y="2117648"/>
            <a:ext cx="10817352" cy="7315"/>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1794002"/>
            <a:ext cx="1854128" cy="394969"/>
          </a:xfrm>
          <a:prstGeom prst="rect">
            <a:avLst/>
          </a:prstGeom>
          <a:noFill/>
        </p:spPr>
        <p:txBody>
          <a:bodyPr wrap="square" anchor="t" lIns="0" rIns="0" tIns="0" bIns="0">
            <a:spAutoFit/>
          </a:bodyPr>
          <a:lstStyle/>
          <a:p>
            <a:pPr algn="l">
              <a:lnSpc>
                <a:spcPct val="115000"/>
              </a:lnSpc>
              <a:spcAft>
                <a:spcPts val="0"/>
              </a:spcAft>
            </a:pPr>
            <a:r>
              <a:rPr sz="819" b="1">
                <a:solidFill>
                  <a:srgbClr val="141A16"/>
                </a:solidFill>
                <a:latin typeface="Segoe UI"/>
              </a:rPr>
              <a:t>Black pepper — Standard</a:t>
            </a:r>
          </a:p>
        </p:txBody>
      </p:sp>
      <p:sp>
        <p:nvSpPr>
          <p:cNvPr id="20" name="TextBox 19"/>
          <p:cNvSpPr txBox="1"/>
          <p:nvPr/>
        </p:nvSpPr>
        <p:spPr>
          <a:xfrm>
            <a:off x="2841680" y="1794002"/>
            <a:ext cx="2286822"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Grinding and blending grade</a:t>
            </a:r>
          </a:p>
        </p:txBody>
      </p:sp>
      <p:sp>
        <p:nvSpPr>
          <p:cNvPr id="21" name="TextBox 20"/>
          <p:cNvSpPr txBox="1"/>
          <p:nvPr/>
        </p:nvSpPr>
        <p:spPr>
          <a:xfrm>
            <a:off x="5329671" y="1794002"/>
            <a:ext cx="3044037"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Bulk density 500 g/l. Sound, clean pepper below European premium density.</a:t>
            </a:r>
          </a:p>
        </p:txBody>
      </p:sp>
      <p:sp>
        <p:nvSpPr>
          <p:cNvPr id="22" name="TextBox 21"/>
          <p:cNvSpPr txBox="1"/>
          <p:nvPr/>
        </p:nvSpPr>
        <p:spPr>
          <a:xfrm>
            <a:off x="8574877" y="1794002"/>
            <a:ext cx="2827690"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Available now — 200 t/year. Does not compete with the premium line.</a:t>
            </a:r>
          </a:p>
        </p:txBody>
      </p:sp>
      <p:sp>
        <p:nvSpPr>
          <p:cNvPr id="23" name="Rectangle 22"/>
          <p:cNvSpPr/>
          <p:nvPr/>
        </p:nvSpPr>
        <p:spPr>
          <a:xfrm>
            <a:off x="685800" y="2124964"/>
            <a:ext cx="10817352" cy="394969"/>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5800" y="2512618"/>
            <a:ext cx="10817352" cy="7315"/>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 y="2188972"/>
            <a:ext cx="1854128" cy="394969"/>
          </a:xfrm>
          <a:prstGeom prst="rect">
            <a:avLst/>
          </a:prstGeom>
          <a:noFill/>
        </p:spPr>
        <p:txBody>
          <a:bodyPr wrap="square" anchor="t" lIns="0" rIns="0" tIns="0" bIns="0">
            <a:spAutoFit/>
          </a:bodyPr>
          <a:lstStyle/>
          <a:p>
            <a:pPr algn="l">
              <a:lnSpc>
                <a:spcPct val="115000"/>
              </a:lnSpc>
              <a:spcAft>
                <a:spcPts val="0"/>
              </a:spcAft>
            </a:pPr>
            <a:r>
              <a:rPr sz="819" b="1">
                <a:solidFill>
                  <a:srgbClr val="141A16"/>
                </a:solidFill>
                <a:latin typeface="Segoe UI"/>
              </a:rPr>
              <a:t>Robusta coffee</a:t>
            </a:r>
          </a:p>
        </p:txBody>
      </p:sp>
      <p:sp>
        <p:nvSpPr>
          <p:cNvPr id="26" name="TextBox 25"/>
          <p:cNvSpPr txBox="1"/>
          <p:nvPr/>
        </p:nvSpPr>
        <p:spPr>
          <a:xfrm>
            <a:off x="2841680" y="2188972"/>
            <a:ext cx="2286822"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Green bean</a:t>
            </a:r>
          </a:p>
        </p:txBody>
      </p:sp>
      <p:sp>
        <p:nvSpPr>
          <p:cNvPr id="27" name="TextBox 26"/>
          <p:cNvSpPr txBox="1"/>
          <p:nvPr/>
        </p:nvSpPr>
        <p:spPr>
          <a:xfrm>
            <a:off x="5329671" y="2188972"/>
            <a:ext cx="3044037"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Dry natural (asalan kering), and sorted to defect 80 / 120.</a:t>
            </a:r>
          </a:p>
        </p:txBody>
      </p:sp>
      <p:sp>
        <p:nvSpPr>
          <p:cNvPr id="28" name="TextBox 27"/>
          <p:cNvSpPr txBox="1"/>
          <p:nvPr/>
        </p:nvSpPr>
        <p:spPr>
          <a:xfrm>
            <a:off x="8574877" y="2188972"/>
            <a:ext cx="2827690"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300 t/month sustained, headroom to 720 t/month. Sourced Tanggamus.</a:t>
            </a:r>
          </a:p>
        </p:txBody>
      </p:sp>
      <p:sp>
        <p:nvSpPr>
          <p:cNvPr id="29" name="Rectangle 28"/>
          <p:cNvSpPr/>
          <p:nvPr/>
        </p:nvSpPr>
        <p:spPr>
          <a:xfrm>
            <a:off x="685800" y="2907588"/>
            <a:ext cx="10817352" cy="7315"/>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2583942"/>
            <a:ext cx="1854128" cy="394969"/>
          </a:xfrm>
          <a:prstGeom prst="rect">
            <a:avLst/>
          </a:prstGeom>
          <a:noFill/>
        </p:spPr>
        <p:txBody>
          <a:bodyPr wrap="square" anchor="t" lIns="0" rIns="0" tIns="0" bIns="0">
            <a:spAutoFit/>
          </a:bodyPr>
          <a:lstStyle/>
          <a:p>
            <a:pPr algn="l">
              <a:lnSpc>
                <a:spcPct val="115000"/>
              </a:lnSpc>
              <a:spcAft>
                <a:spcPts val="0"/>
              </a:spcAft>
            </a:pPr>
            <a:r>
              <a:rPr sz="819" b="1">
                <a:solidFill>
                  <a:srgbClr val="141A16"/>
                </a:solidFill>
                <a:latin typeface="Segoe UI"/>
              </a:rPr>
              <a:t>Cocoa bean</a:t>
            </a:r>
          </a:p>
        </p:txBody>
      </p:sp>
      <p:sp>
        <p:nvSpPr>
          <p:cNvPr id="31" name="TextBox 30"/>
          <p:cNvSpPr txBox="1"/>
          <p:nvPr/>
        </p:nvSpPr>
        <p:spPr>
          <a:xfrm>
            <a:off x="2841680" y="2583942"/>
            <a:ext cx="2286822"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Fermented and non-fermented</a:t>
            </a:r>
          </a:p>
        </p:txBody>
      </p:sp>
      <p:sp>
        <p:nvSpPr>
          <p:cNvPr id="32" name="TextBox 31"/>
          <p:cNvSpPr txBox="1"/>
          <p:nvPr/>
        </p:nvSpPr>
        <p:spPr>
          <a:xfrm>
            <a:off x="5329671" y="2583942"/>
            <a:ext cx="3044037"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Fermented carries a premium over non-fermented at the farm gate.</a:t>
            </a:r>
          </a:p>
        </p:txBody>
      </p:sp>
      <p:sp>
        <p:nvSpPr>
          <p:cNvPr id="33" name="TextBox 32"/>
          <p:cNvSpPr txBox="1"/>
          <p:nvPr/>
        </p:nvSpPr>
        <p:spPr>
          <a:xfrm>
            <a:off x="8574877" y="2583942"/>
            <a:ext cx="2827690" cy="39496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Available across the Lampung network.</a:t>
            </a:r>
          </a:p>
        </p:txBody>
      </p:sp>
      <p:sp>
        <p:nvSpPr>
          <p:cNvPr id="34" name="Rectangle 33"/>
          <p:cNvSpPr/>
          <p:nvPr/>
        </p:nvSpPr>
        <p:spPr>
          <a:xfrm>
            <a:off x="685800" y="2914904"/>
            <a:ext cx="10817352" cy="275209"/>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85800" y="3182797"/>
            <a:ext cx="10817352" cy="7315"/>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86384" y="2978912"/>
            <a:ext cx="1854128" cy="275209"/>
          </a:xfrm>
          <a:prstGeom prst="rect">
            <a:avLst/>
          </a:prstGeom>
          <a:noFill/>
        </p:spPr>
        <p:txBody>
          <a:bodyPr wrap="square" anchor="t" lIns="0" rIns="0" tIns="0" bIns="0">
            <a:spAutoFit/>
          </a:bodyPr>
          <a:lstStyle/>
          <a:p>
            <a:pPr algn="l">
              <a:lnSpc>
                <a:spcPct val="115000"/>
              </a:lnSpc>
              <a:spcAft>
                <a:spcPts val="0"/>
              </a:spcAft>
            </a:pPr>
            <a:r>
              <a:rPr sz="819" b="1">
                <a:solidFill>
                  <a:srgbClr val="141A16"/>
                </a:solidFill>
                <a:latin typeface="Segoe UI"/>
              </a:rPr>
              <a:t>Cocoa processed</a:t>
            </a:r>
          </a:p>
        </p:txBody>
      </p:sp>
      <p:sp>
        <p:nvSpPr>
          <p:cNvPr id="37" name="TextBox 36"/>
          <p:cNvSpPr txBox="1"/>
          <p:nvPr/>
        </p:nvSpPr>
        <p:spPr>
          <a:xfrm>
            <a:off x="2841680" y="2978912"/>
            <a:ext cx="2286822" cy="27520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Powder and nibs</a:t>
            </a:r>
          </a:p>
        </p:txBody>
      </p:sp>
      <p:sp>
        <p:nvSpPr>
          <p:cNvPr id="38" name="TextBox 37"/>
          <p:cNvSpPr txBox="1"/>
          <p:nvPr/>
        </p:nvSpPr>
        <p:spPr>
          <a:xfrm>
            <a:off x="5329671" y="2978912"/>
            <a:ext cx="3044037" cy="27520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Downstream processed in-house at Natar, not raw bean only.</a:t>
            </a:r>
          </a:p>
        </p:txBody>
      </p:sp>
      <p:sp>
        <p:nvSpPr>
          <p:cNvPr id="39" name="TextBox 38"/>
          <p:cNvSpPr txBox="1"/>
          <p:nvPr/>
        </p:nvSpPr>
        <p:spPr>
          <a:xfrm>
            <a:off x="8574877" y="2978912"/>
            <a:ext cx="2827690" cy="27520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Available.</a:t>
            </a:r>
          </a:p>
        </p:txBody>
      </p:sp>
      <p:sp>
        <p:nvSpPr>
          <p:cNvPr id="40" name="Rectangle 39"/>
          <p:cNvSpPr/>
          <p:nvPr/>
        </p:nvSpPr>
        <p:spPr>
          <a:xfrm>
            <a:off x="685800" y="3458006"/>
            <a:ext cx="10817352" cy="7315"/>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86384" y="3254121"/>
            <a:ext cx="1854128" cy="275209"/>
          </a:xfrm>
          <a:prstGeom prst="rect">
            <a:avLst/>
          </a:prstGeom>
          <a:noFill/>
        </p:spPr>
        <p:txBody>
          <a:bodyPr wrap="square" anchor="t" lIns="0" rIns="0" tIns="0" bIns="0">
            <a:spAutoFit/>
          </a:bodyPr>
          <a:lstStyle/>
          <a:p>
            <a:pPr algn="l">
              <a:lnSpc>
                <a:spcPct val="115000"/>
              </a:lnSpc>
              <a:spcAft>
                <a:spcPts val="0"/>
              </a:spcAft>
            </a:pPr>
            <a:r>
              <a:rPr sz="819" b="1">
                <a:solidFill>
                  <a:srgbClr val="141A16"/>
                </a:solidFill>
                <a:latin typeface="Segoe UI"/>
              </a:rPr>
              <a:t>Cocoa butter</a:t>
            </a:r>
          </a:p>
        </p:txBody>
      </p:sp>
      <p:sp>
        <p:nvSpPr>
          <p:cNvPr id="42" name="TextBox 41"/>
          <p:cNvSpPr txBox="1"/>
          <p:nvPr/>
        </p:nvSpPr>
        <p:spPr>
          <a:xfrm>
            <a:off x="2841680" y="3254121"/>
            <a:ext cx="2286822" cy="27520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Pressed</a:t>
            </a:r>
          </a:p>
        </p:txBody>
      </p:sp>
      <p:sp>
        <p:nvSpPr>
          <p:cNvPr id="43" name="TextBox 42"/>
          <p:cNvSpPr txBox="1"/>
          <p:nvPr/>
        </p:nvSpPr>
        <p:spPr>
          <a:xfrm>
            <a:off x="5329671" y="3254121"/>
            <a:ext cx="3044037" cy="27520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Specification confirmed against enquiry.</a:t>
            </a:r>
          </a:p>
        </p:txBody>
      </p:sp>
      <p:sp>
        <p:nvSpPr>
          <p:cNvPr id="44" name="TextBox 43"/>
          <p:cNvSpPr txBox="1"/>
          <p:nvPr/>
        </p:nvSpPr>
        <p:spPr>
          <a:xfrm>
            <a:off x="8574877" y="3254121"/>
            <a:ext cx="2827690" cy="27520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Sourced to order — not a stocked line.</a:t>
            </a:r>
          </a:p>
        </p:txBody>
      </p:sp>
      <p:sp>
        <p:nvSpPr>
          <p:cNvPr id="45" name="Rectangle 44"/>
          <p:cNvSpPr/>
          <p:nvPr/>
        </p:nvSpPr>
        <p:spPr>
          <a:xfrm>
            <a:off x="685800" y="3465322"/>
            <a:ext cx="10817352" cy="275209"/>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85800" y="3733215"/>
            <a:ext cx="10817352" cy="7315"/>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86384" y="3529330"/>
            <a:ext cx="1854128" cy="275209"/>
          </a:xfrm>
          <a:prstGeom prst="rect">
            <a:avLst/>
          </a:prstGeom>
          <a:noFill/>
        </p:spPr>
        <p:txBody>
          <a:bodyPr wrap="square" anchor="t" lIns="0" rIns="0" tIns="0" bIns="0">
            <a:spAutoFit/>
          </a:bodyPr>
          <a:lstStyle/>
          <a:p>
            <a:pPr algn="l">
              <a:lnSpc>
                <a:spcPct val="115000"/>
              </a:lnSpc>
              <a:spcAft>
                <a:spcPts val="0"/>
              </a:spcAft>
            </a:pPr>
            <a:r>
              <a:rPr sz="819" b="1">
                <a:solidFill>
                  <a:srgbClr val="141A16"/>
                </a:solidFill>
                <a:latin typeface="Segoe UI"/>
              </a:rPr>
              <a:t>Nutmeg</a:t>
            </a:r>
          </a:p>
        </p:txBody>
      </p:sp>
      <p:sp>
        <p:nvSpPr>
          <p:cNvPr id="48" name="TextBox 47"/>
          <p:cNvSpPr txBox="1"/>
          <p:nvPr/>
        </p:nvSpPr>
        <p:spPr>
          <a:xfrm>
            <a:off x="2841680" y="3529330"/>
            <a:ext cx="2286822" cy="27520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Whole dried</a:t>
            </a:r>
          </a:p>
        </p:txBody>
      </p:sp>
      <p:sp>
        <p:nvSpPr>
          <p:cNvPr id="49" name="TextBox 48"/>
          <p:cNvSpPr txBox="1"/>
          <p:nvPr/>
        </p:nvSpPr>
        <p:spPr>
          <a:xfrm>
            <a:off x="5329671" y="3529330"/>
            <a:ext cx="3044037" cy="27520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Specification confirmed against enquiry.</a:t>
            </a:r>
          </a:p>
        </p:txBody>
      </p:sp>
      <p:sp>
        <p:nvSpPr>
          <p:cNvPr id="50" name="TextBox 49"/>
          <p:cNvSpPr txBox="1"/>
          <p:nvPr/>
        </p:nvSpPr>
        <p:spPr>
          <a:xfrm>
            <a:off x="8574877" y="3529330"/>
            <a:ext cx="2827690" cy="275209"/>
          </a:xfrm>
          <a:prstGeom prst="rect">
            <a:avLst/>
          </a:prstGeom>
          <a:noFill/>
        </p:spPr>
        <p:txBody>
          <a:bodyPr wrap="square" anchor="t" lIns="0" rIns="0" tIns="0" bIns="0">
            <a:spAutoFit/>
          </a:bodyPr>
          <a:lstStyle/>
          <a:p>
            <a:pPr algn="l">
              <a:lnSpc>
                <a:spcPct val="115000"/>
              </a:lnSpc>
              <a:spcAft>
                <a:spcPts val="0"/>
              </a:spcAft>
            </a:pPr>
            <a:r>
              <a:rPr sz="819" b="0">
                <a:solidFill>
                  <a:srgbClr val="555B56"/>
                </a:solidFill>
                <a:latin typeface="Segoe UI"/>
              </a:rPr>
              <a:t>Sourced to order — not a stocked line.</a:t>
            </a:r>
          </a:p>
        </p:txBody>
      </p:sp>
      <p:sp>
        <p:nvSpPr>
          <p:cNvPr id="51" name="Rectangle 50"/>
          <p:cNvSpPr/>
          <p:nvPr/>
        </p:nvSpPr>
        <p:spPr>
          <a:xfrm>
            <a:off x="685800" y="3941699"/>
            <a:ext cx="5230368" cy="969264"/>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685800" y="3941699"/>
            <a:ext cx="41148" cy="969264"/>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4078859"/>
            <a:ext cx="4754880" cy="786384"/>
          </a:xfrm>
          <a:prstGeom prst="rect">
            <a:avLst/>
          </a:prstGeom>
          <a:noFill/>
        </p:spPr>
        <p:txBody>
          <a:bodyPr wrap="square" anchor="t" lIns="0" rIns="0" tIns="0" bIns="0">
            <a:spAutoFit/>
          </a:bodyPr>
          <a:lstStyle/>
          <a:p>
            <a:pPr algn="l">
              <a:lnSpc>
                <a:spcPct val="100000"/>
              </a:lnSpc>
              <a:spcAft>
                <a:spcPts val="400"/>
              </a:spcAft>
            </a:pPr>
            <a:r>
              <a:rPr sz="919" b="1">
                <a:solidFill>
                  <a:srgbClr val="0E2A18"/>
                </a:solidFill>
                <a:latin typeface="Georgia"/>
              </a:rPr>
              <a:t>Also sourced to order</a:t>
            </a:r>
          </a:p>
          <a:p>
            <a:pPr algn="l">
              <a:lnSpc>
                <a:spcPct val="122000"/>
              </a:lnSpc>
              <a:spcAft>
                <a:spcPts val="0"/>
              </a:spcAft>
            </a:pPr>
            <a:r>
              <a:rPr sz="830" b="0">
                <a:solidFill>
                  <a:srgbClr val="555B56"/>
                </a:solidFill>
                <a:latin typeface="Segoe UI"/>
              </a:rPr>
              <a:t>Cloves (cengkeh), Java long pepper (cabe jawa) and cubeb (kemukus), all whole dried, from the same farmer network. Volume confirmed against enquiry.</a:t>
            </a:r>
          </a:p>
        </p:txBody>
      </p:sp>
      <p:sp>
        <p:nvSpPr>
          <p:cNvPr id="54" name="Rectangle 53"/>
          <p:cNvSpPr/>
          <p:nvPr/>
        </p:nvSpPr>
        <p:spPr>
          <a:xfrm>
            <a:off x="6272784" y="3941699"/>
            <a:ext cx="5230368" cy="969264"/>
          </a:xfrm>
          <a:prstGeom prst="rect">
            <a:avLst/>
          </a:prstGeom>
          <a:solidFill>
            <a:srgbClr val="E6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72784" y="3941699"/>
            <a:ext cx="41148" cy="969264"/>
          </a:xfrm>
          <a:prstGeom prst="rect">
            <a:avLst/>
          </a:prstGeom>
          <a:solidFill>
            <a:srgbClr val="1B5E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92824" y="4078859"/>
            <a:ext cx="4754880" cy="786384"/>
          </a:xfrm>
          <a:prstGeom prst="rect">
            <a:avLst/>
          </a:prstGeom>
          <a:noFill/>
        </p:spPr>
        <p:txBody>
          <a:bodyPr wrap="square" anchor="t" lIns="0" rIns="0" tIns="0" bIns="0">
            <a:spAutoFit/>
          </a:bodyPr>
          <a:lstStyle/>
          <a:p>
            <a:pPr algn="l">
              <a:lnSpc>
                <a:spcPct val="100000"/>
              </a:lnSpc>
              <a:spcAft>
                <a:spcPts val="400"/>
              </a:spcAft>
            </a:pPr>
            <a:r>
              <a:rPr sz="919" b="1">
                <a:solidFill>
                  <a:srgbClr val="0E2A18"/>
                </a:solidFill>
                <a:latin typeface="Georgia"/>
              </a:rPr>
              <a:t>Confirmed per order</a:t>
            </a:r>
          </a:p>
          <a:p>
            <a:pPr algn="l">
              <a:lnSpc>
                <a:spcPct val="122000"/>
              </a:lnSpc>
              <a:spcAft>
                <a:spcPts val="0"/>
              </a:spcAft>
            </a:pPr>
            <a:r>
              <a:rPr sz="830" b="0">
                <a:solidFill>
                  <a:srgbClr val="555B56"/>
                </a:solidFill>
                <a:latin typeface="Segoe UI"/>
              </a:rPr>
              <a:t>Moisture and foreign matter, packaging and net weight, shelf life, MOQ, incoterms, port of loading and lead time are agreed against each enquiry. Pricing on application.</a:t>
            </a:r>
          </a:p>
        </p:txBody>
      </p:sp>
      <p:sp>
        <p:nvSpPr>
          <p:cNvPr id="57" name="Rectangle 56"/>
          <p:cNvSpPr/>
          <p:nvPr/>
        </p:nvSpPr>
        <p:spPr>
          <a:xfrm>
            <a:off x="685800" y="5130419"/>
            <a:ext cx="10817352" cy="859536"/>
          </a:xfrm>
          <a:prstGeom prst="rect">
            <a:avLst/>
          </a:prstGeom>
          <a:solidFill>
            <a:srgbClr val="0E2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24128" y="5267579"/>
            <a:ext cx="6583680" cy="658368"/>
          </a:xfrm>
          <a:prstGeom prst="rect">
            <a:avLst/>
          </a:prstGeom>
          <a:noFill/>
        </p:spPr>
        <p:txBody>
          <a:bodyPr wrap="square" anchor="t" lIns="0" rIns="0" tIns="0" bIns="0">
            <a:spAutoFit/>
          </a:bodyPr>
          <a:lstStyle/>
          <a:p>
            <a:pPr algn="l">
              <a:lnSpc>
                <a:spcPct val="100000"/>
              </a:lnSpc>
              <a:spcAft>
                <a:spcPts val="300"/>
              </a:spcAft>
            </a:pPr>
            <a:r>
              <a:rPr sz="1000" b="1">
                <a:solidFill>
                  <a:srgbClr val="FFFFFF"/>
                </a:solidFill>
                <a:latin typeface="Georgia"/>
              </a:rPr>
              <a:t>What we are asking of ATDAG Cairo</a:t>
            </a:r>
          </a:p>
          <a:p>
            <a:pPr algn="l">
              <a:lnSpc>
                <a:spcPct val="122000"/>
              </a:lnSpc>
              <a:spcAft>
                <a:spcPts val="0"/>
              </a:spcAft>
            </a:pPr>
            <a:r>
              <a:rPr sz="830" b="0">
                <a:solidFill>
                  <a:srgbClr val="D2DED4"/>
                </a:solidFill>
                <a:latin typeface="Segoe UI"/>
              </a:rPr>
              <a:t>Introductions to Egyptian importers, grinders and distributors whose requirements match this portfolio. We would open any relationship with a trial container, so quality is judged on the product rather than on paper.</a:t>
            </a:r>
          </a:p>
        </p:txBody>
      </p:sp>
      <p:sp>
        <p:nvSpPr>
          <p:cNvPr id="59" name="TextBox 58"/>
          <p:cNvSpPr txBox="1"/>
          <p:nvPr/>
        </p:nvSpPr>
        <p:spPr>
          <a:xfrm>
            <a:off x="7882127" y="5276723"/>
            <a:ext cx="3474720" cy="658368"/>
          </a:xfrm>
          <a:prstGeom prst="rect">
            <a:avLst/>
          </a:prstGeom>
          <a:noFill/>
        </p:spPr>
        <p:txBody>
          <a:bodyPr wrap="square" anchor="t" lIns="0" rIns="0" tIns="0" bIns="0">
            <a:spAutoFit/>
          </a:bodyPr>
          <a:lstStyle/>
          <a:p>
            <a:pPr algn="r">
              <a:lnSpc>
                <a:spcPct val="112000"/>
              </a:lnSpc>
              <a:spcAft>
                <a:spcPts val="200"/>
              </a:spcAft>
            </a:pPr>
            <a:r>
              <a:rPr sz="840" b="1">
                <a:solidFill>
                  <a:srgbClr val="FFFFFF"/>
                </a:solidFill>
                <a:latin typeface="Segoe UI"/>
              </a:rPr>
              <a:t>Arif Rachman  ·  Operational Director</a:t>
            </a:r>
          </a:p>
          <a:p>
            <a:pPr algn="r">
              <a:lnSpc>
                <a:spcPct val="112000"/>
              </a:lnSpc>
              <a:spcAft>
                <a:spcPts val="200"/>
              </a:spcAft>
            </a:pPr>
            <a:r>
              <a:rPr sz="800" b="0">
                <a:solidFill>
                  <a:srgbClr val="C9B878"/>
                </a:solidFill>
                <a:latin typeface="Segoe UI"/>
              </a:rPr>
              <a:t>arif@klumbayanfarm.com  ·  +62 853 7887 0007</a:t>
            </a:r>
          </a:p>
          <a:p>
            <a:pPr algn="r">
              <a:lnSpc>
                <a:spcPct val="116000"/>
              </a:lnSpc>
              <a:spcAft>
                <a:spcPts val="0"/>
              </a:spcAft>
            </a:pPr>
            <a:r>
              <a:rPr sz="740" b="0">
                <a:solidFill>
                  <a:srgbClr val="B8C6BA"/>
                </a:solidFill>
                <a:latin typeface="Segoe UI"/>
              </a:rPr>
              <a:t>Jln. Wolter Monginsidi No. 159, Bandar Lampung  ·  www.klumbayanfarm.com</a:t>
            </a:r>
          </a:p>
        </p:txBody>
      </p:sp>
      <p:sp>
        <p:nvSpPr>
          <p:cNvPr id="60" name="Rectangle 59"/>
          <p:cNvSpPr/>
          <p:nvPr/>
        </p:nvSpPr>
        <p:spPr>
          <a:xfrm>
            <a:off x="0" y="5870448"/>
            <a:ext cx="12191695" cy="9875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5870448"/>
            <a:ext cx="12191695" cy="27432"/>
          </a:xfrm>
          <a:prstGeom prst="rect">
            <a:avLst/>
          </a:prstGeom>
          <a:solidFill>
            <a:srgbClr val="C6A3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image.png"/>
          <p:cNvPicPr>
            <a:picLocks noChangeAspect="1"/>
          </p:cNvPicPr>
          <p:nvPr/>
        </p:nvPicPr>
        <p:blipFill>
          <a:blip r:embed="rId2"/>
          <a:stretch>
            <a:fillRect/>
          </a:stretch>
        </p:blipFill>
        <p:spPr>
          <a:xfrm>
            <a:off x="566928" y="6089904"/>
            <a:ext cx="744082" cy="548640"/>
          </a:xfrm>
          <a:prstGeom prst="rect">
            <a:avLst/>
          </a:prstGeom>
        </p:spPr>
      </p:pic>
      <p:sp>
        <p:nvSpPr>
          <p:cNvPr id="63" name="Rectangle 62"/>
          <p:cNvSpPr/>
          <p:nvPr/>
        </p:nvSpPr>
        <p:spPr>
          <a:xfrm>
            <a:off x="1676770" y="6126479"/>
            <a:ext cx="10972" cy="493776"/>
          </a:xfrm>
          <a:prstGeom prst="rect">
            <a:avLst/>
          </a:prstGeom>
          <a:solidFill>
            <a:srgbClr val="D9D9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4" name="Picture 63" descr="image.png"/>
          <p:cNvPicPr>
            <a:picLocks noChangeAspect="1"/>
          </p:cNvPicPr>
          <p:nvPr/>
        </p:nvPicPr>
        <p:blipFill>
          <a:blip r:embed="rId3"/>
          <a:stretch>
            <a:fillRect/>
          </a:stretch>
        </p:blipFill>
        <p:spPr>
          <a:xfrm>
            <a:off x="7968642" y="6144768"/>
            <a:ext cx="727383" cy="475488"/>
          </a:xfrm>
          <a:prstGeom prst="rect">
            <a:avLst/>
          </a:prstGeom>
        </p:spPr>
      </p:pic>
      <p:pic>
        <p:nvPicPr>
          <p:cNvPr id="65" name="Picture 64" descr="image.png"/>
          <p:cNvPicPr>
            <a:picLocks noChangeAspect="1"/>
          </p:cNvPicPr>
          <p:nvPr/>
        </p:nvPicPr>
        <p:blipFill>
          <a:blip r:embed="rId4"/>
          <a:stretch>
            <a:fillRect/>
          </a:stretch>
        </p:blipFill>
        <p:spPr>
          <a:xfrm>
            <a:off x="9262953" y="6199631"/>
            <a:ext cx="711200" cy="365760"/>
          </a:xfrm>
          <a:prstGeom prst="rect">
            <a:avLst/>
          </a:prstGeom>
        </p:spPr>
      </p:pic>
      <p:pic>
        <p:nvPicPr>
          <p:cNvPr id="66" name="Picture 65" descr="image.png"/>
          <p:cNvPicPr>
            <a:picLocks noChangeAspect="1"/>
          </p:cNvPicPr>
          <p:nvPr/>
        </p:nvPicPr>
        <p:blipFill>
          <a:blip r:embed="rId5"/>
          <a:stretch>
            <a:fillRect/>
          </a:stretch>
        </p:blipFill>
        <p:spPr>
          <a:xfrm>
            <a:off x="10541081" y="6217920"/>
            <a:ext cx="1083685" cy="329184"/>
          </a:xfrm>
          <a:prstGeom prst="rect">
            <a:avLst/>
          </a:prstGeom>
        </p:spPr>
      </p:pic>
      <p:sp>
        <p:nvSpPr>
          <p:cNvPr id="67" name="TextBox 66"/>
          <p:cNvSpPr txBox="1"/>
          <p:nvPr/>
        </p:nvSpPr>
        <p:spPr>
          <a:xfrm>
            <a:off x="0" y="6583680"/>
            <a:ext cx="12191695" cy="201168"/>
          </a:xfrm>
          <a:prstGeom prst="rect">
            <a:avLst/>
          </a:prstGeom>
          <a:noFill/>
        </p:spPr>
        <p:txBody>
          <a:bodyPr wrap="square" anchor="t" lIns="0" rIns="0" tIns="0" bIns="0">
            <a:spAutoFit/>
          </a:bodyPr>
          <a:lstStyle/>
          <a:p>
            <a:pPr algn="ctr">
              <a:lnSpc>
                <a:spcPct val="100000"/>
              </a:lnSpc>
              <a:spcAft>
                <a:spcPts val="0"/>
              </a:spcAft>
            </a:pPr>
            <a:r>
              <a:rPr sz="700" b="0">
                <a:solidFill>
                  <a:srgbClr val="555B56"/>
                </a:solidFill>
                <a:latin typeface="Segoe UI"/>
              </a:rPr>
              <a:t>PT Klumbayan Gold Farm  ·  Product Catalogue  ·  Page 3 of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