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sldSz cx="12188825"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81" d="100"/>
          <a:sy n="81" d="100"/>
        </p:scale>
        <p:origin x="88" y="25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8/20/2026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8/20/2026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8/20/2026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8/20/2026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8/20/2026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8/20/2026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8/20/2026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6.jpg"/><Relationship Id="rId7" Type="http://schemas.openxmlformats.org/officeDocument/2006/relationships/image" Target="../media/image10.jpg"/><Relationship Id="rId2" Type="http://schemas.openxmlformats.org/officeDocument/2006/relationships/image" Target="../media/image5.jpg"/><Relationship Id="rId1" Type="http://schemas.openxmlformats.org/officeDocument/2006/relationships/slideLayout" Target="../slideLayouts/slideLayout7.xml"/><Relationship Id="rId6" Type="http://schemas.openxmlformats.org/officeDocument/2006/relationships/image" Target="../media/image9.jpg"/><Relationship Id="rId5" Type="http://schemas.openxmlformats.org/officeDocument/2006/relationships/image" Target="../media/image8.jpg"/><Relationship Id="rId4" Type="http://schemas.openxmlformats.org/officeDocument/2006/relationships/image" Target="../media/image7.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image" Target="../media/image12.jpg"/><Relationship Id="rId1" Type="http://schemas.openxmlformats.org/officeDocument/2006/relationships/slideLayout" Target="../slideLayouts/slideLayout7.xml"/><Relationship Id="rId5" Type="http://schemas.openxmlformats.org/officeDocument/2006/relationships/image" Target="../media/image15.jpg"/><Relationship Id="rId4" Type="http://schemas.openxmlformats.org/officeDocument/2006/relationships/image" Target="../media/image14.jpg"/></Relationships>
</file>

<file path=ppt/slides/_rels/slide13.xml.rels><?xml version="1.0" encoding="UTF-8" standalone="yes"?>
<Relationships xmlns="http://schemas.openxmlformats.org/package/2006/relationships"><Relationship Id="rId3" Type="http://schemas.openxmlformats.org/officeDocument/2006/relationships/image" Target="../media/image17.png"/><Relationship Id="rId7" Type="http://schemas.openxmlformats.org/officeDocument/2006/relationships/image" Target="../media/image21.png"/><Relationship Id="rId2" Type="http://schemas.openxmlformats.org/officeDocument/2006/relationships/image" Target="../media/image16.png"/><Relationship Id="rId1" Type="http://schemas.openxmlformats.org/officeDocument/2006/relationships/slideLayout" Target="../slideLayouts/slideLayout7.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s>
</file>

<file path=ppt/slides/_rels/slide14.xml.rels><?xml version="1.0" encoding="UTF-8" standalone="yes"?>
<Relationships xmlns="http://schemas.openxmlformats.org/package/2006/relationships"><Relationship Id="rId3" Type="http://schemas.openxmlformats.org/officeDocument/2006/relationships/image" Target="../media/image23.png"/><Relationship Id="rId7" Type="http://schemas.openxmlformats.org/officeDocument/2006/relationships/image" Target="../media/image27.png"/><Relationship Id="rId2" Type="http://schemas.openxmlformats.org/officeDocument/2006/relationships/image" Target="../media/image22.png"/><Relationship Id="rId1" Type="http://schemas.openxmlformats.org/officeDocument/2006/relationships/slideLayout" Target="../slideLayouts/slideLayout7.xml"/><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image" Target="../media/image2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28.jp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cover_bg.jpg"/>
          <p:cNvPicPr>
            <a:picLocks noChangeAspect="1"/>
          </p:cNvPicPr>
          <p:nvPr/>
        </p:nvPicPr>
        <p:blipFill>
          <a:blip r:embed="rId2"/>
          <a:srcRect l="12" r="12"/>
          <a:stretch>
            <a:fillRect/>
          </a:stretch>
        </p:blipFill>
        <p:spPr>
          <a:xfrm>
            <a:off x="0" y="0"/>
            <a:ext cx="12188952" cy="6858000"/>
          </a:xfrm>
          <a:prstGeom prst="rect">
            <a:avLst/>
          </a:prstGeom>
        </p:spPr>
      </p:pic>
      <p:sp>
        <p:nvSpPr>
          <p:cNvPr id="4" name="Rectangle 3"/>
          <p:cNvSpPr/>
          <p:nvPr/>
        </p:nvSpPr>
        <p:spPr>
          <a:xfrm>
            <a:off x="0" y="0"/>
            <a:ext cx="8778240" cy="6858000"/>
          </a:xfrm>
          <a:prstGeom prst="rect">
            <a:avLst/>
          </a:prstGeom>
          <a:gradFill rotWithShape="1">
            <a:gsLst>
              <a:gs pos="0">
                <a:srgbClr val="1F4034">
                  <a:alpha val="100000"/>
                </a:srgbClr>
              </a:gs>
              <a:gs pos="42000">
                <a:srgbClr val="1F4034">
                  <a:alpha val="92000"/>
                </a:srgbClr>
              </a:gs>
              <a:gs pos="72000">
                <a:srgbClr val="1F4034">
                  <a:alpha val="55000"/>
                </a:srgbClr>
              </a:gs>
              <a:gs pos="100000">
                <a:srgbClr val="1F4034">
                  <a:alpha val="0"/>
                </a:srgbClr>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Picture 4" descr="logo_small.png"/>
          <p:cNvPicPr>
            <a:picLocks noChangeAspect="1"/>
          </p:cNvPicPr>
          <p:nvPr/>
        </p:nvPicPr>
        <p:blipFill>
          <a:blip r:embed="rId3"/>
          <a:stretch>
            <a:fillRect/>
          </a:stretch>
        </p:blipFill>
        <p:spPr>
          <a:xfrm>
            <a:off x="374904" y="219456"/>
            <a:ext cx="694944" cy="694944"/>
          </a:xfrm>
          <a:prstGeom prst="rect">
            <a:avLst/>
          </a:prstGeom>
        </p:spPr>
      </p:pic>
      <p:sp>
        <p:nvSpPr>
          <p:cNvPr id="6" name="TextBox 5"/>
          <p:cNvSpPr txBox="1"/>
          <p:nvPr/>
        </p:nvSpPr>
        <p:spPr>
          <a:xfrm>
            <a:off x="1188720" y="292608"/>
            <a:ext cx="4023360" cy="310896"/>
          </a:xfrm>
          <a:prstGeom prst="rect">
            <a:avLst/>
          </a:prstGeom>
          <a:noFill/>
        </p:spPr>
        <p:txBody>
          <a:bodyPr wrap="square" lIns="0" tIns="0" rIns="0" bIns="0">
            <a:spAutoFit/>
          </a:bodyPr>
          <a:lstStyle/>
          <a:p>
            <a:pPr algn="l"/>
            <a:r>
              <a:rPr sz="2000" b="1">
                <a:solidFill>
                  <a:srgbClr val="FFFFFF"/>
                </a:solidFill>
                <a:latin typeface="Segoe UI"/>
              </a:rPr>
              <a:t>PT Klumbayan Gold Farm</a:t>
            </a:r>
          </a:p>
        </p:txBody>
      </p:sp>
      <p:sp>
        <p:nvSpPr>
          <p:cNvPr id="7" name="TextBox 6"/>
          <p:cNvSpPr txBox="1"/>
          <p:nvPr/>
        </p:nvSpPr>
        <p:spPr>
          <a:xfrm>
            <a:off x="1188720" y="621792"/>
            <a:ext cx="4023360" cy="256032"/>
          </a:xfrm>
          <a:prstGeom prst="rect">
            <a:avLst/>
          </a:prstGeom>
          <a:noFill/>
        </p:spPr>
        <p:txBody>
          <a:bodyPr wrap="square" lIns="0" tIns="0" rIns="0" bIns="0">
            <a:spAutoFit/>
          </a:bodyPr>
          <a:lstStyle/>
          <a:p>
            <a:pPr algn="l"/>
            <a:r>
              <a:rPr sz="1100" b="0" spc="160">
                <a:solidFill>
                  <a:srgbClr val="C7D8CD"/>
                </a:solidFill>
                <a:latin typeface="Segoe UI"/>
              </a:rPr>
              <a:t>LAMPUNG · INDONESIA · EST. 2022</a:t>
            </a:r>
          </a:p>
        </p:txBody>
      </p:sp>
      <p:sp>
        <p:nvSpPr>
          <p:cNvPr id="8" name="TextBox 7"/>
          <p:cNvSpPr txBox="1"/>
          <p:nvPr/>
        </p:nvSpPr>
        <p:spPr>
          <a:xfrm>
            <a:off x="658368" y="1783080"/>
            <a:ext cx="6766560" cy="1691640"/>
          </a:xfrm>
          <a:prstGeom prst="rect">
            <a:avLst/>
          </a:prstGeom>
          <a:noFill/>
        </p:spPr>
        <p:txBody>
          <a:bodyPr wrap="square" lIns="0" tIns="0" rIns="0" bIns="0">
            <a:spAutoFit/>
          </a:bodyPr>
          <a:lstStyle/>
          <a:p>
            <a:pPr algn="l">
              <a:lnSpc>
                <a:spcPct val="108000"/>
              </a:lnSpc>
            </a:pPr>
            <a:r>
              <a:rPr sz="3600" b="1">
                <a:solidFill>
                  <a:srgbClr val="FFFFFF"/>
                </a:solidFill>
                <a:latin typeface="Georgia"/>
              </a:rPr>
              <a:t>Graded for Europe.</a:t>
            </a:r>
          </a:p>
          <a:p>
            <a:pPr algn="l">
              <a:lnSpc>
                <a:spcPct val="108000"/>
              </a:lnSpc>
            </a:pPr>
            <a:r>
              <a:rPr sz="3600" b="1">
                <a:solidFill>
                  <a:srgbClr val="FFFFFF"/>
                </a:solidFill>
                <a:latin typeface="Georgia"/>
              </a:rPr>
              <a:t>Available to Bangladesh.</a:t>
            </a:r>
          </a:p>
        </p:txBody>
      </p:sp>
      <p:sp>
        <p:nvSpPr>
          <p:cNvPr id="9" name="TextBox 8"/>
          <p:cNvSpPr txBox="1"/>
          <p:nvPr/>
        </p:nvSpPr>
        <p:spPr>
          <a:xfrm>
            <a:off x="658368" y="3749039"/>
            <a:ext cx="4937760" cy="1005840"/>
          </a:xfrm>
          <a:prstGeom prst="rect">
            <a:avLst/>
          </a:prstGeom>
          <a:noFill/>
        </p:spPr>
        <p:txBody>
          <a:bodyPr wrap="square" lIns="0" tIns="0" rIns="0" bIns="0">
            <a:spAutoFit/>
          </a:bodyPr>
          <a:lstStyle/>
          <a:p>
            <a:pPr algn="l">
              <a:lnSpc>
                <a:spcPct val="136000"/>
              </a:lnSpc>
            </a:pPr>
            <a:r>
              <a:rPr sz="1600" b="0">
                <a:solidFill>
                  <a:srgbClr val="D9E1DA"/>
                </a:solidFill>
                <a:latin typeface="Segoe UI"/>
              </a:rPr>
              <a:t>A tech-enabled agroforestry off-taker in Lampung supplying black pepper, robusta coffee, cocoa and cloves with plot-level traceability.</a:t>
            </a:r>
          </a:p>
        </p:txBody>
      </p:sp>
      <p:sp>
        <p:nvSpPr>
          <p:cNvPr id="10" name="Rectangle 9"/>
          <p:cNvSpPr/>
          <p:nvPr/>
        </p:nvSpPr>
        <p:spPr>
          <a:xfrm>
            <a:off x="658368" y="4828032"/>
            <a:ext cx="5120640" cy="10972"/>
          </a:xfrm>
          <a:prstGeom prst="rect">
            <a:avLst/>
          </a:prstGeom>
          <a:solidFill>
            <a:srgbClr val="4A6B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58368" y="4983480"/>
            <a:ext cx="5669280" cy="237744"/>
          </a:xfrm>
          <a:prstGeom prst="rect">
            <a:avLst/>
          </a:prstGeom>
          <a:noFill/>
        </p:spPr>
        <p:txBody>
          <a:bodyPr wrap="square" lIns="0" tIns="0" rIns="0" bIns="0">
            <a:spAutoFit/>
          </a:bodyPr>
          <a:lstStyle/>
          <a:p>
            <a:pPr algn="l"/>
            <a:r>
              <a:rPr sz="1100" b="1" spc="160">
                <a:solidFill>
                  <a:srgbClr val="9A7526"/>
                </a:solidFill>
                <a:latin typeface="Segoe UI"/>
              </a:rPr>
              <a:t>PREPARED FOR</a:t>
            </a:r>
          </a:p>
        </p:txBody>
      </p:sp>
      <p:sp>
        <p:nvSpPr>
          <p:cNvPr id="12" name="TextBox 11"/>
          <p:cNvSpPr txBox="1"/>
          <p:nvPr/>
        </p:nvSpPr>
        <p:spPr>
          <a:xfrm>
            <a:off x="658368" y="5230368"/>
            <a:ext cx="5669280" cy="566928"/>
          </a:xfrm>
          <a:prstGeom prst="rect">
            <a:avLst/>
          </a:prstGeom>
          <a:noFill/>
        </p:spPr>
        <p:txBody>
          <a:bodyPr wrap="square" lIns="0" tIns="0" rIns="0" bIns="0">
            <a:spAutoFit/>
          </a:bodyPr>
          <a:lstStyle/>
          <a:p>
            <a:pPr algn="l">
              <a:lnSpc>
                <a:spcPct val="120000"/>
              </a:lnSpc>
            </a:pPr>
            <a:r>
              <a:rPr sz="2000" b="1">
                <a:solidFill>
                  <a:srgbClr val="FFFFFF"/>
                </a:solidFill>
                <a:latin typeface="Georgia"/>
              </a:rPr>
              <a:t>H.E. the Ambassador of Bangladesh</a:t>
            </a:r>
          </a:p>
          <a:p>
            <a:pPr algn="l">
              <a:lnSpc>
                <a:spcPct val="120000"/>
              </a:lnSpc>
            </a:pPr>
            <a:r>
              <a:rPr sz="2000" b="1">
                <a:solidFill>
                  <a:srgbClr val="FFFFFF"/>
                </a:solidFill>
                <a:latin typeface="Georgia"/>
              </a:rPr>
              <a:t>to the Republic of Indonesia</a:t>
            </a:r>
          </a:p>
        </p:txBody>
      </p:sp>
      <p:sp>
        <p:nvSpPr>
          <p:cNvPr id="13" name="TextBox 12"/>
          <p:cNvSpPr txBox="1"/>
          <p:nvPr/>
        </p:nvSpPr>
        <p:spPr>
          <a:xfrm>
            <a:off x="658368" y="6172200"/>
            <a:ext cx="5486400" cy="237744"/>
          </a:xfrm>
          <a:prstGeom prst="rect">
            <a:avLst/>
          </a:prstGeom>
          <a:noFill/>
        </p:spPr>
        <p:txBody>
          <a:bodyPr wrap="square" lIns="0" tIns="0" rIns="0" bIns="0">
            <a:spAutoFit/>
          </a:bodyPr>
          <a:lstStyle/>
          <a:p>
            <a:pPr algn="l"/>
            <a:r>
              <a:rPr sz="1100" b="0" spc="120">
                <a:solidFill>
                  <a:srgbClr val="9A7526"/>
                </a:solidFill>
                <a:latin typeface="Segoe UI"/>
              </a:rPr>
              <a:t>COMPANY PROFILE · BANGLADESH EDITION · AUGUST 2026</a:t>
            </a:r>
          </a:p>
        </p:txBody>
      </p:sp>
      <p:sp>
        <p:nvSpPr>
          <p:cNvPr id="14" name="TextBox 13"/>
          <p:cNvSpPr txBox="1"/>
          <p:nvPr/>
        </p:nvSpPr>
        <p:spPr>
          <a:xfrm>
            <a:off x="658368" y="6419088"/>
            <a:ext cx="6400800" cy="237744"/>
          </a:xfrm>
          <a:prstGeom prst="rect">
            <a:avLst/>
          </a:prstGeom>
          <a:noFill/>
        </p:spPr>
        <p:txBody>
          <a:bodyPr wrap="square" lIns="0" tIns="0" rIns="0" bIns="0">
            <a:spAutoFit/>
          </a:bodyPr>
          <a:lstStyle/>
          <a:p>
            <a:pPr algn="l"/>
            <a:r>
              <a:rPr sz="1100" b="0">
                <a:solidFill>
                  <a:srgbClr val="B9C7BE"/>
                </a:solidFill>
                <a:latin typeface="Segoe UI"/>
              </a:rPr>
              <a:t>klumbayanfarm.com    arif@klumbayanfarm.com    +62 853 7887 0007</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58368" y="566928"/>
            <a:ext cx="5486400" cy="274320"/>
          </a:xfrm>
          <a:prstGeom prst="rect">
            <a:avLst/>
          </a:prstGeom>
          <a:noFill/>
        </p:spPr>
        <p:txBody>
          <a:bodyPr wrap="square" lIns="0" tIns="0" rIns="0" bIns="0">
            <a:spAutoFit/>
          </a:bodyPr>
          <a:lstStyle/>
          <a:p>
            <a:pPr algn="l"/>
            <a:r>
              <a:rPr sz="1300" b="0" spc="140">
                <a:solidFill>
                  <a:srgbClr val="9A7526"/>
                </a:solidFill>
                <a:latin typeface="Segoe UI"/>
              </a:rPr>
              <a:t>01   WHY WE ARE WRITING</a:t>
            </a:r>
          </a:p>
        </p:txBody>
      </p:sp>
      <p:sp>
        <p:nvSpPr>
          <p:cNvPr id="4" name="Rectangle 3"/>
          <p:cNvSpPr/>
          <p:nvPr/>
        </p:nvSpPr>
        <p:spPr>
          <a:xfrm>
            <a:off x="658368" y="822960"/>
            <a:ext cx="10872215" cy="10972"/>
          </a:xfrm>
          <a:prstGeom prst="rect">
            <a:avLst/>
          </a:prstGeom>
          <a:solidFill>
            <a:srgbClr val="B9C7B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658368" y="818388"/>
            <a:ext cx="402336" cy="20116"/>
          </a:xfrm>
          <a:prstGeom prst="rect">
            <a:avLst/>
          </a:prstGeom>
          <a:solidFill>
            <a:srgbClr val="9A75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58368" y="1024128"/>
            <a:ext cx="10872216" cy="1188720"/>
          </a:xfrm>
          <a:prstGeom prst="rect">
            <a:avLst/>
          </a:prstGeom>
          <a:noFill/>
        </p:spPr>
        <p:txBody>
          <a:bodyPr wrap="square" lIns="0" tIns="0" rIns="0" bIns="0">
            <a:spAutoFit/>
          </a:bodyPr>
          <a:lstStyle/>
          <a:p>
            <a:pPr algn="l">
              <a:lnSpc>
                <a:spcPct val="112000"/>
              </a:lnSpc>
            </a:pPr>
            <a:r>
              <a:rPr sz="3600" b="1">
                <a:solidFill>
                  <a:srgbClr val="141D18"/>
                </a:solidFill>
                <a:latin typeface="Georgia"/>
              </a:rPr>
              <a:t>We did not arrive at Bangladesh cold.</a:t>
            </a:r>
          </a:p>
        </p:txBody>
      </p:sp>
      <p:sp>
        <p:nvSpPr>
          <p:cNvPr id="7" name="Rectangle 6"/>
          <p:cNvSpPr/>
          <p:nvPr/>
        </p:nvSpPr>
        <p:spPr>
          <a:xfrm>
            <a:off x="658368" y="2395728"/>
            <a:ext cx="3310128" cy="841248"/>
          </a:xfrm>
          <a:prstGeom prst="rect">
            <a:avLst/>
          </a:prstGeom>
          <a:solidFill>
            <a:srgbClr val="FFFFFF"/>
          </a:solidFill>
          <a:ln w="9525">
            <a:solidFill>
              <a:srgbClr val="1F40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04672" y="2514600"/>
            <a:ext cx="3017520" cy="256032"/>
          </a:xfrm>
          <a:prstGeom prst="rect">
            <a:avLst/>
          </a:prstGeom>
          <a:noFill/>
        </p:spPr>
        <p:txBody>
          <a:bodyPr wrap="square" lIns="0" tIns="0" rIns="0" bIns="0">
            <a:spAutoFit/>
          </a:bodyPr>
          <a:lstStyle/>
          <a:p>
            <a:pPr algn="ctr"/>
            <a:r>
              <a:rPr sz="1300" b="1" spc="90">
                <a:solidFill>
                  <a:srgbClr val="141D18"/>
                </a:solidFill>
                <a:latin typeface="Segoe UI"/>
              </a:rPr>
              <a:t>D-8 HALAL EXPO</a:t>
            </a:r>
          </a:p>
        </p:txBody>
      </p:sp>
      <p:sp>
        <p:nvSpPr>
          <p:cNvPr id="9" name="TextBox 8"/>
          <p:cNvSpPr txBox="1"/>
          <p:nvPr/>
        </p:nvSpPr>
        <p:spPr>
          <a:xfrm>
            <a:off x="804672" y="2825496"/>
            <a:ext cx="3017520" cy="310896"/>
          </a:xfrm>
          <a:prstGeom prst="rect">
            <a:avLst/>
          </a:prstGeom>
          <a:noFill/>
        </p:spPr>
        <p:txBody>
          <a:bodyPr wrap="square" lIns="0" tIns="0" rIns="0" bIns="0">
            <a:spAutoFit/>
          </a:bodyPr>
          <a:lstStyle/>
          <a:p>
            <a:pPr algn="ctr"/>
            <a:r>
              <a:rPr sz="1300" b="0">
                <a:solidFill>
                  <a:srgbClr val="3D4A43"/>
                </a:solidFill>
                <a:latin typeface="Segoe UI"/>
              </a:rPr>
              <a:t>Business matching, July 2026</a:t>
            </a:r>
          </a:p>
        </p:txBody>
      </p:sp>
      <p:sp>
        <p:nvSpPr>
          <p:cNvPr id="10" name="Right Arrow 9"/>
          <p:cNvSpPr/>
          <p:nvPr/>
        </p:nvSpPr>
        <p:spPr>
          <a:xfrm>
            <a:off x="4059935" y="2715768"/>
            <a:ext cx="283464" cy="201168"/>
          </a:xfrm>
          <a:prstGeom prst="rightArrow">
            <a:avLst/>
          </a:prstGeom>
          <a:solidFill>
            <a:srgbClr val="9A75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4434840" y="2395728"/>
            <a:ext cx="3310128" cy="841248"/>
          </a:xfrm>
          <a:prstGeom prst="rect">
            <a:avLst/>
          </a:prstGeom>
          <a:solidFill>
            <a:srgbClr val="FFFFFF"/>
          </a:solidFill>
          <a:ln w="9525">
            <a:solidFill>
              <a:srgbClr val="1F40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581144" y="2514600"/>
            <a:ext cx="3017520" cy="256032"/>
          </a:xfrm>
          <a:prstGeom prst="rect">
            <a:avLst/>
          </a:prstGeom>
          <a:noFill/>
        </p:spPr>
        <p:txBody>
          <a:bodyPr wrap="square" lIns="0" tIns="0" rIns="0" bIns="0">
            <a:spAutoFit/>
          </a:bodyPr>
          <a:lstStyle/>
          <a:p>
            <a:pPr algn="ctr"/>
            <a:r>
              <a:rPr sz="1300" b="1" spc="90">
                <a:solidFill>
                  <a:srgbClr val="141D18"/>
                </a:solidFill>
                <a:latin typeface="Segoe UI"/>
              </a:rPr>
              <a:t>SITE VISIT TO LAMPUNG</a:t>
            </a:r>
          </a:p>
        </p:txBody>
      </p:sp>
      <p:sp>
        <p:nvSpPr>
          <p:cNvPr id="13" name="TextBox 12"/>
          <p:cNvSpPr txBox="1"/>
          <p:nvPr/>
        </p:nvSpPr>
        <p:spPr>
          <a:xfrm>
            <a:off x="4581144" y="2825496"/>
            <a:ext cx="3017520" cy="310896"/>
          </a:xfrm>
          <a:prstGeom prst="rect">
            <a:avLst/>
          </a:prstGeom>
          <a:noFill/>
        </p:spPr>
        <p:txBody>
          <a:bodyPr wrap="square" lIns="0" tIns="0" rIns="0" bIns="0">
            <a:spAutoFit/>
          </a:bodyPr>
          <a:lstStyle/>
          <a:p>
            <a:pPr algn="ctr"/>
            <a:r>
              <a:rPr sz="1300" b="0">
                <a:solidFill>
                  <a:srgbClr val="3D4A43"/>
                </a:solidFill>
                <a:latin typeface="Segoe UI"/>
              </a:rPr>
              <a:t>11 July 2026</a:t>
            </a:r>
          </a:p>
        </p:txBody>
      </p:sp>
      <p:sp>
        <p:nvSpPr>
          <p:cNvPr id="14" name="Right Arrow 13"/>
          <p:cNvSpPr/>
          <p:nvPr/>
        </p:nvSpPr>
        <p:spPr>
          <a:xfrm>
            <a:off x="7836407" y="2715768"/>
            <a:ext cx="283464" cy="201168"/>
          </a:xfrm>
          <a:prstGeom prst="rightArrow">
            <a:avLst/>
          </a:prstGeom>
          <a:solidFill>
            <a:srgbClr val="9A75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8211312" y="2395728"/>
            <a:ext cx="3310128" cy="841248"/>
          </a:xfrm>
          <a:prstGeom prst="rect">
            <a:avLst/>
          </a:prstGeom>
          <a:solidFill>
            <a:srgbClr val="1F4034"/>
          </a:solidFill>
          <a:ln w="9525">
            <a:solidFill>
              <a:srgbClr val="1F40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357616" y="2514600"/>
            <a:ext cx="3017520" cy="256032"/>
          </a:xfrm>
          <a:prstGeom prst="rect">
            <a:avLst/>
          </a:prstGeom>
          <a:noFill/>
        </p:spPr>
        <p:txBody>
          <a:bodyPr wrap="square" lIns="0" tIns="0" rIns="0" bIns="0">
            <a:spAutoFit/>
          </a:bodyPr>
          <a:lstStyle/>
          <a:p>
            <a:pPr algn="ctr"/>
            <a:r>
              <a:rPr sz="1300" b="1" spc="90">
                <a:solidFill>
                  <a:srgbClr val="FFFFFF"/>
                </a:solidFill>
                <a:latin typeface="Segoe UI"/>
              </a:rPr>
              <a:t>STANDING SUPPLY</a:t>
            </a:r>
          </a:p>
        </p:txBody>
      </p:sp>
      <p:sp>
        <p:nvSpPr>
          <p:cNvPr id="17" name="TextBox 16"/>
          <p:cNvSpPr txBox="1"/>
          <p:nvPr/>
        </p:nvSpPr>
        <p:spPr>
          <a:xfrm>
            <a:off x="8357616" y="2825496"/>
            <a:ext cx="3017520" cy="310896"/>
          </a:xfrm>
          <a:prstGeom prst="rect">
            <a:avLst/>
          </a:prstGeom>
          <a:noFill/>
        </p:spPr>
        <p:txBody>
          <a:bodyPr wrap="square" lIns="0" tIns="0" rIns="0" bIns="0">
            <a:spAutoFit/>
          </a:bodyPr>
          <a:lstStyle/>
          <a:p>
            <a:pPr algn="ctr"/>
            <a:r>
              <a:rPr sz="1300" b="0">
                <a:solidFill>
                  <a:srgbClr val="C7D8CD"/>
                </a:solidFill>
                <a:latin typeface="Segoe UI"/>
              </a:rPr>
              <a:t>What we are asking for now</a:t>
            </a:r>
          </a:p>
        </p:txBody>
      </p:sp>
      <p:sp>
        <p:nvSpPr>
          <p:cNvPr id="18" name="TextBox 17"/>
          <p:cNvSpPr txBox="1"/>
          <p:nvPr/>
        </p:nvSpPr>
        <p:spPr>
          <a:xfrm>
            <a:off x="658368" y="3401568"/>
            <a:ext cx="6309360" cy="1188720"/>
          </a:xfrm>
          <a:prstGeom prst="rect">
            <a:avLst/>
          </a:prstGeom>
          <a:noFill/>
        </p:spPr>
        <p:txBody>
          <a:bodyPr wrap="square" lIns="0" tIns="0" rIns="0" bIns="0">
            <a:spAutoFit/>
          </a:bodyPr>
          <a:lstStyle/>
          <a:p>
            <a:pPr algn="l">
              <a:lnSpc>
                <a:spcPct val="138000"/>
              </a:lnSpc>
            </a:pPr>
            <a:r>
              <a:rPr sz="1600" b="0">
                <a:solidFill>
                  <a:srgbClr val="3D4A43"/>
                </a:solidFill>
                <a:latin typeface="Segoe UI"/>
              </a:rPr>
              <a:t>We met Bangladeshi buyers during business matching at the D-8 Halal Expo Indonesia. One of them then travelled to Lampung and inspected our gardens, our processing line and our warehouse in person. Our interest in this market is therefore not speculative.</a:t>
            </a:r>
          </a:p>
        </p:txBody>
      </p:sp>
      <p:sp>
        <p:nvSpPr>
          <p:cNvPr id="19" name="Rectangle 18"/>
          <p:cNvSpPr/>
          <p:nvPr/>
        </p:nvSpPr>
        <p:spPr>
          <a:xfrm>
            <a:off x="658368" y="4800600"/>
            <a:ext cx="6309360" cy="10972"/>
          </a:xfrm>
          <a:prstGeom prst="rect">
            <a:avLst/>
          </a:prstGeom>
          <a:solidFill>
            <a:srgbClr val="B9C7B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58368" y="4956048"/>
            <a:ext cx="6309360" cy="1005840"/>
          </a:xfrm>
          <a:prstGeom prst="rect">
            <a:avLst/>
          </a:prstGeom>
          <a:noFill/>
        </p:spPr>
        <p:txBody>
          <a:bodyPr wrap="square" lIns="0" tIns="0" rIns="0" bIns="0">
            <a:spAutoFit/>
          </a:bodyPr>
          <a:lstStyle/>
          <a:p>
            <a:pPr algn="l">
              <a:lnSpc>
                <a:spcPct val="122000"/>
              </a:lnSpc>
            </a:pPr>
            <a:r>
              <a:rPr b="1" dirty="0">
                <a:solidFill>
                  <a:srgbClr val="1F4034"/>
                </a:solidFill>
                <a:latin typeface="Georgia"/>
              </a:rPr>
              <a:t>What we now seek is a durable supply relationship with the Bangladesh market, and the Embassy's help in reaching the importers who fit our portfolio.</a:t>
            </a:r>
          </a:p>
        </p:txBody>
      </p:sp>
      <p:pic>
        <p:nvPicPr>
          <p:cNvPr id="21" name="Picture 20" descr="expo_business_matching.jpg"/>
          <p:cNvPicPr>
            <a:picLocks noChangeAspect="1"/>
          </p:cNvPicPr>
          <p:nvPr/>
        </p:nvPicPr>
        <p:blipFill>
          <a:blip r:embed="rId2"/>
          <a:srcRect t="976" b="976"/>
          <a:stretch>
            <a:fillRect/>
          </a:stretch>
        </p:blipFill>
        <p:spPr>
          <a:xfrm>
            <a:off x="7315200" y="3401568"/>
            <a:ext cx="4215384" cy="2834640"/>
          </a:xfrm>
          <a:prstGeom prst="rect">
            <a:avLst/>
          </a:prstGeom>
        </p:spPr>
      </p:pic>
      <p:sp>
        <p:nvSpPr>
          <p:cNvPr id="22" name="Rectangle 21"/>
          <p:cNvSpPr/>
          <p:nvPr/>
        </p:nvSpPr>
        <p:spPr>
          <a:xfrm>
            <a:off x="7315200" y="5961888"/>
            <a:ext cx="4215384" cy="274320"/>
          </a:xfrm>
          <a:prstGeom prst="rect">
            <a:avLst/>
          </a:prstGeom>
          <a:solidFill>
            <a:srgbClr val="1F40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7424927" y="6012180"/>
            <a:ext cx="3995928" cy="201168"/>
          </a:xfrm>
          <a:prstGeom prst="rect">
            <a:avLst/>
          </a:prstGeom>
          <a:noFill/>
        </p:spPr>
        <p:txBody>
          <a:bodyPr wrap="square" lIns="0" tIns="0" rIns="0" bIns="0">
            <a:spAutoFit/>
          </a:bodyPr>
          <a:lstStyle/>
          <a:p>
            <a:pPr algn="l"/>
            <a:r>
              <a:rPr sz="1100" b="1" spc="90">
                <a:solidFill>
                  <a:srgbClr val="FFFFFF"/>
                </a:solidFill>
                <a:latin typeface="Segoe UI"/>
              </a:rPr>
              <a:t>BUSINESS MATCHING, D-8 HALAL EXPO</a:t>
            </a:r>
          </a:p>
        </p:txBody>
      </p:sp>
      <p:sp>
        <p:nvSpPr>
          <p:cNvPr id="24" name="TextBox 23"/>
          <p:cNvSpPr txBox="1"/>
          <p:nvPr/>
        </p:nvSpPr>
        <p:spPr>
          <a:xfrm>
            <a:off x="658368" y="6419088"/>
            <a:ext cx="6400800" cy="237744"/>
          </a:xfrm>
          <a:prstGeom prst="rect">
            <a:avLst/>
          </a:prstGeom>
          <a:noFill/>
        </p:spPr>
        <p:txBody>
          <a:bodyPr wrap="square" lIns="0" tIns="0" rIns="0" bIns="0">
            <a:spAutoFit/>
          </a:bodyPr>
          <a:lstStyle/>
          <a:p>
            <a:pPr algn="l"/>
            <a:r>
              <a:rPr sz="1100" b="0" spc="100">
                <a:solidFill>
                  <a:srgbClr val="6C7A72"/>
                </a:solidFill>
                <a:latin typeface="Segoe UI"/>
              </a:rPr>
              <a:t>PT KLUMBAYAN GOLD FARM   ·   COMPANY PROFILE   ·   BANGLADESH EDITION</a:t>
            </a:r>
          </a:p>
        </p:txBody>
      </p:sp>
      <p:sp>
        <p:nvSpPr>
          <p:cNvPr id="25" name="TextBox 24"/>
          <p:cNvSpPr txBox="1"/>
          <p:nvPr/>
        </p:nvSpPr>
        <p:spPr>
          <a:xfrm>
            <a:off x="9701784" y="6419088"/>
            <a:ext cx="1828800" cy="237744"/>
          </a:xfrm>
          <a:prstGeom prst="rect">
            <a:avLst/>
          </a:prstGeom>
          <a:noFill/>
        </p:spPr>
        <p:txBody>
          <a:bodyPr wrap="square" lIns="0" tIns="0" rIns="0" bIns="0">
            <a:spAutoFit/>
          </a:bodyPr>
          <a:lstStyle/>
          <a:p>
            <a:pPr algn="r"/>
            <a:r>
              <a:rPr sz="1100" b="0" spc="100">
                <a:solidFill>
                  <a:srgbClr val="6C7A72"/>
                </a:solidFill>
                <a:latin typeface="Segoe UI"/>
              </a:rPr>
              <a:t>01</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58368" y="566928"/>
            <a:ext cx="5486400" cy="274320"/>
          </a:xfrm>
          <a:prstGeom prst="rect">
            <a:avLst/>
          </a:prstGeom>
          <a:noFill/>
        </p:spPr>
        <p:txBody>
          <a:bodyPr wrap="square" lIns="0" tIns="0" rIns="0" bIns="0">
            <a:spAutoFit/>
          </a:bodyPr>
          <a:lstStyle/>
          <a:p>
            <a:pPr algn="l"/>
            <a:r>
              <a:rPr sz="1300" b="0" spc="140">
                <a:solidFill>
                  <a:srgbClr val="9A7526"/>
                </a:solidFill>
                <a:latin typeface="Segoe UI"/>
              </a:rPr>
              <a:t>02   WHO WE ARE</a:t>
            </a:r>
          </a:p>
        </p:txBody>
      </p:sp>
      <p:sp>
        <p:nvSpPr>
          <p:cNvPr id="4" name="Rectangle 3"/>
          <p:cNvSpPr/>
          <p:nvPr/>
        </p:nvSpPr>
        <p:spPr>
          <a:xfrm>
            <a:off x="658368" y="822960"/>
            <a:ext cx="10872215" cy="10972"/>
          </a:xfrm>
          <a:prstGeom prst="rect">
            <a:avLst/>
          </a:prstGeom>
          <a:solidFill>
            <a:srgbClr val="B9C7B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658368" y="818388"/>
            <a:ext cx="402336" cy="20116"/>
          </a:xfrm>
          <a:prstGeom prst="rect">
            <a:avLst/>
          </a:prstGeom>
          <a:solidFill>
            <a:srgbClr val="9A75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58368" y="1024128"/>
            <a:ext cx="10872216" cy="1188720"/>
          </a:xfrm>
          <a:prstGeom prst="rect">
            <a:avLst/>
          </a:prstGeom>
          <a:noFill/>
        </p:spPr>
        <p:txBody>
          <a:bodyPr wrap="square" lIns="0" tIns="0" rIns="0" bIns="0">
            <a:spAutoFit/>
          </a:bodyPr>
          <a:lstStyle/>
          <a:p>
            <a:pPr algn="l">
              <a:lnSpc>
                <a:spcPct val="112000"/>
              </a:lnSpc>
            </a:pPr>
            <a:r>
              <a:rPr sz="3200" b="1">
                <a:solidFill>
                  <a:srgbClr val="141D18"/>
                </a:solidFill>
                <a:latin typeface="Georgia"/>
              </a:rPr>
              <a:t>We are the farm side of the chain, not a broker.</a:t>
            </a:r>
          </a:p>
        </p:txBody>
      </p:sp>
      <p:sp>
        <p:nvSpPr>
          <p:cNvPr id="7" name="TextBox 6"/>
          <p:cNvSpPr txBox="1"/>
          <p:nvPr/>
        </p:nvSpPr>
        <p:spPr>
          <a:xfrm>
            <a:off x="658368" y="2359152"/>
            <a:ext cx="5760720" cy="1463040"/>
          </a:xfrm>
          <a:prstGeom prst="rect">
            <a:avLst/>
          </a:prstGeom>
          <a:noFill/>
        </p:spPr>
        <p:txBody>
          <a:bodyPr wrap="square" lIns="0" tIns="0" rIns="0" bIns="0">
            <a:spAutoFit/>
          </a:bodyPr>
          <a:lstStyle/>
          <a:p>
            <a:pPr algn="l">
              <a:lnSpc>
                <a:spcPct val="138000"/>
              </a:lnSpc>
            </a:pPr>
            <a:r>
              <a:rPr sz="1600" b="0">
                <a:solidFill>
                  <a:srgbClr val="3D4A43"/>
                </a:solidFill>
                <a:latin typeface="Segoe UI"/>
              </a:rPr>
              <a:t>PT Klumbayan Gold Farm sources directly from smallholder farmers we organised and trained ourselves, and consolidates and quality-controls at our own 2,000-tonne warehouse in Natar. There is no chain of collectors between the farm and the container.</a:t>
            </a:r>
          </a:p>
        </p:txBody>
      </p:sp>
      <p:sp>
        <p:nvSpPr>
          <p:cNvPr id="8" name="TextBox 7"/>
          <p:cNvSpPr txBox="1"/>
          <p:nvPr/>
        </p:nvSpPr>
        <p:spPr>
          <a:xfrm>
            <a:off x="658368" y="4069080"/>
            <a:ext cx="5760720" cy="1005840"/>
          </a:xfrm>
          <a:prstGeom prst="rect">
            <a:avLst/>
          </a:prstGeom>
          <a:noFill/>
        </p:spPr>
        <p:txBody>
          <a:bodyPr wrap="square" lIns="0" tIns="0" rIns="0" bIns="0">
            <a:spAutoFit/>
          </a:bodyPr>
          <a:lstStyle/>
          <a:p>
            <a:pPr algn="l">
              <a:lnSpc>
                <a:spcPct val="138000"/>
              </a:lnSpc>
            </a:pPr>
            <a:r>
              <a:rPr sz="1600" b="0">
                <a:solidFill>
                  <a:srgbClr val="3D4A43"/>
                </a:solidFill>
                <a:latin typeface="Segoe UI"/>
              </a:rPr>
              <a:t>Our anchor buyer is Verstegen Spices and Sauces of the Netherlands, which contracts our black pepper against European quality standards and audits our facility.</a:t>
            </a:r>
          </a:p>
        </p:txBody>
      </p:sp>
      <p:sp>
        <p:nvSpPr>
          <p:cNvPr id="9" name="TextBox 8"/>
          <p:cNvSpPr txBox="1"/>
          <p:nvPr/>
        </p:nvSpPr>
        <p:spPr>
          <a:xfrm>
            <a:off x="658368" y="5120640"/>
            <a:ext cx="1737360" cy="566928"/>
          </a:xfrm>
          <a:prstGeom prst="rect">
            <a:avLst/>
          </a:prstGeom>
          <a:noFill/>
        </p:spPr>
        <p:txBody>
          <a:bodyPr wrap="square" lIns="0" tIns="0" rIns="0" bIns="0">
            <a:spAutoFit/>
          </a:bodyPr>
          <a:lstStyle/>
          <a:p>
            <a:pPr algn="l"/>
            <a:r>
              <a:rPr sz="3200" b="1">
                <a:solidFill>
                  <a:srgbClr val="1F4034"/>
                </a:solidFill>
                <a:latin typeface="Georgia"/>
              </a:rPr>
              <a:t>2022</a:t>
            </a:r>
          </a:p>
        </p:txBody>
      </p:sp>
      <p:sp>
        <p:nvSpPr>
          <p:cNvPr id="10" name="TextBox 9"/>
          <p:cNvSpPr txBox="1"/>
          <p:nvPr/>
        </p:nvSpPr>
        <p:spPr>
          <a:xfrm>
            <a:off x="658368" y="5687568"/>
            <a:ext cx="1737360" cy="274320"/>
          </a:xfrm>
          <a:prstGeom prst="rect">
            <a:avLst/>
          </a:prstGeom>
          <a:noFill/>
        </p:spPr>
        <p:txBody>
          <a:bodyPr wrap="square" lIns="0" tIns="0" rIns="0" bIns="0">
            <a:spAutoFit/>
          </a:bodyPr>
          <a:lstStyle/>
          <a:p>
            <a:pPr algn="l"/>
            <a:r>
              <a:rPr sz="1100" b="0" spc="100">
                <a:solidFill>
                  <a:srgbClr val="6C7A72"/>
                </a:solidFill>
                <a:latin typeface="Segoe UI"/>
              </a:rPr>
              <a:t>FOUNDED</a:t>
            </a:r>
          </a:p>
        </p:txBody>
      </p:sp>
      <p:sp>
        <p:nvSpPr>
          <p:cNvPr id="11" name="TextBox 10"/>
          <p:cNvSpPr txBox="1"/>
          <p:nvPr/>
        </p:nvSpPr>
        <p:spPr>
          <a:xfrm>
            <a:off x="2578608" y="5120640"/>
            <a:ext cx="1737360" cy="566928"/>
          </a:xfrm>
          <a:prstGeom prst="rect">
            <a:avLst/>
          </a:prstGeom>
          <a:noFill/>
        </p:spPr>
        <p:txBody>
          <a:bodyPr wrap="square" lIns="0" tIns="0" rIns="0" bIns="0">
            <a:spAutoFit/>
          </a:bodyPr>
          <a:lstStyle/>
          <a:p>
            <a:pPr algn="l"/>
            <a:r>
              <a:rPr sz="3200" b="1">
                <a:solidFill>
                  <a:srgbClr val="1F4034"/>
                </a:solidFill>
                <a:latin typeface="Georgia"/>
              </a:rPr>
              <a:t>1,250</a:t>
            </a:r>
          </a:p>
        </p:txBody>
      </p:sp>
      <p:sp>
        <p:nvSpPr>
          <p:cNvPr id="12" name="TextBox 11"/>
          <p:cNvSpPr txBox="1"/>
          <p:nvPr/>
        </p:nvSpPr>
        <p:spPr>
          <a:xfrm>
            <a:off x="2578608" y="5687568"/>
            <a:ext cx="1737360" cy="274320"/>
          </a:xfrm>
          <a:prstGeom prst="rect">
            <a:avLst/>
          </a:prstGeom>
          <a:noFill/>
        </p:spPr>
        <p:txBody>
          <a:bodyPr wrap="square" lIns="0" tIns="0" rIns="0" bIns="0">
            <a:spAutoFit/>
          </a:bodyPr>
          <a:lstStyle/>
          <a:p>
            <a:pPr algn="l"/>
            <a:r>
              <a:rPr sz="1100" b="0" spc="100">
                <a:solidFill>
                  <a:srgbClr val="6C7A72"/>
                </a:solidFill>
                <a:latin typeface="Segoe UI"/>
              </a:rPr>
              <a:t>FARMERS</a:t>
            </a:r>
          </a:p>
        </p:txBody>
      </p:sp>
      <p:sp>
        <p:nvSpPr>
          <p:cNvPr id="13" name="TextBox 12"/>
          <p:cNvSpPr txBox="1"/>
          <p:nvPr/>
        </p:nvSpPr>
        <p:spPr>
          <a:xfrm>
            <a:off x="4498848" y="5120640"/>
            <a:ext cx="1828800" cy="566928"/>
          </a:xfrm>
          <a:prstGeom prst="rect">
            <a:avLst/>
          </a:prstGeom>
          <a:noFill/>
        </p:spPr>
        <p:txBody>
          <a:bodyPr wrap="square" lIns="0" tIns="0" rIns="0" bIns="0">
            <a:spAutoFit/>
          </a:bodyPr>
          <a:lstStyle/>
          <a:p>
            <a:pPr algn="l"/>
            <a:r>
              <a:rPr sz="3200" b="1">
                <a:solidFill>
                  <a:srgbClr val="1F4034"/>
                </a:solidFill>
                <a:latin typeface="Georgia"/>
              </a:rPr>
              <a:t>17</a:t>
            </a:r>
          </a:p>
        </p:txBody>
      </p:sp>
      <p:sp>
        <p:nvSpPr>
          <p:cNvPr id="14" name="TextBox 13"/>
          <p:cNvSpPr txBox="1"/>
          <p:nvPr/>
        </p:nvSpPr>
        <p:spPr>
          <a:xfrm>
            <a:off x="4498848" y="5687568"/>
            <a:ext cx="1828800" cy="274320"/>
          </a:xfrm>
          <a:prstGeom prst="rect">
            <a:avLst/>
          </a:prstGeom>
          <a:noFill/>
        </p:spPr>
        <p:txBody>
          <a:bodyPr wrap="square" lIns="0" tIns="0" rIns="0" bIns="0">
            <a:spAutoFit/>
          </a:bodyPr>
          <a:lstStyle/>
          <a:p>
            <a:pPr algn="l"/>
            <a:r>
              <a:rPr sz="1100" b="0" spc="100">
                <a:solidFill>
                  <a:srgbClr val="6C7A72"/>
                </a:solidFill>
                <a:latin typeface="Segoe UI"/>
              </a:rPr>
              <a:t>BUYING STATIONS</a:t>
            </a:r>
          </a:p>
        </p:txBody>
      </p:sp>
      <p:pic>
        <p:nvPicPr>
          <p:cNvPr id="15" name="Picture 14" descr="ops_farmer_training.jpg"/>
          <p:cNvPicPr>
            <a:picLocks noChangeAspect="1"/>
          </p:cNvPicPr>
          <p:nvPr/>
        </p:nvPicPr>
        <p:blipFill>
          <a:blip r:embed="rId2"/>
          <a:srcRect t="18900" b="18900"/>
          <a:stretch>
            <a:fillRect/>
          </a:stretch>
        </p:blipFill>
        <p:spPr>
          <a:xfrm>
            <a:off x="6903720" y="2359152"/>
            <a:ext cx="4626864" cy="3566160"/>
          </a:xfrm>
          <a:prstGeom prst="rect">
            <a:avLst/>
          </a:prstGeom>
        </p:spPr>
      </p:pic>
      <p:sp>
        <p:nvSpPr>
          <p:cNvPr id="16" name="Rectangle 15"/>
          <p:cNvSpPr/>
          <p:nvPr/>
        </p:nvSpPr>
        <p:spPr>
          <a:xfrm>
            <a:off x="6903720" y="5650992"/>
            <a:ext cx="4626864" cy="274320"/>
          </a:xfrm>
          <a:prstGeom prst="rect">
            <a:avLst/>
          </a:prstGeom>
          <a:solidFill>
            <a:srgbClr val="1F40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7013448" y="5701284"/>
            <a:ext cx="4407407" cy="201168"/>
          </a:xfrm>
          <a:prstGeom prst="rect">
            <a:avLst/>
          </a:prstGeom>
          <a:noFill/>
        </p:spPr>
        <p:txBody>
          <a:bodyPr wrap="square" lIns="0" tIns="0" rIns="0" bIns="0">
            <a:spAutoFit/>
          </a:bodyPr>
          <a:lstStyle/>
          <a:p>
            <a:pPr algn="l"/>
            <a:r>
              <a:rPr sz="1100" b="1" spc="90">
                <a:solidFill>
                  <a:srgbClr val="FFFFFF"/>
                </a:solidFill>
                <a:latin typeface="Segoe UI"/>
              </a:rPr>
              <a:t>FARMER TRAINING, LAMPUNG</a:t>
            </a:r>
          </a:p>
        </p:txBody>
      </p:sp>
      <p:sp>
        <p:nvSpPr>
          <p:cNvPr id="18" name="TextBox 17"/>
          <p:cNvSpPr txBox="1"/>
          <p:nvPr/>
        </p:nvSpPr>
        <p:spPr>
          <a:xfrm>
            <a:off x="658368" y="6419088"/>
            <a:ext cx="6400800" cy="237744"/>
          </a:xfrm>
          <a:prstGeom prst="rect">
            <a:avLst/>
          </a:prstGeom>
          <a:noFill/>
        </p:spPr>
        <p:txBody>
          <a:bodyPr wrap="square" lIns="0" tIns="0" rIns="0" bIns="0">
            <a:spAutoFit/>
          </a:bodyPr>
          <a:lstStyle/>
          <a:p>
            <a:pPr algn="l"/>
            <a:r>
              <a:rPr sz="1100" b="0" spc="100">
                <a:solidFill>
                  <a:srgbClr val="6C7A72"/>
                </a:solidFill>
                <a:latin typeface="Segoe UI"/>
              </a:rPr>
              <a:t>PT KLUMBAYAN GOLD FARM   ·   COMPANY PROFILE   ·   BANGLADESH EDITION</a:t>
            </a:r>
          </a:p>
        </p:txBody>
      </p:sp>
      <p:sp>
        <p:nvSpPr>
          <p:cNvPr id="19" name="TextBox 18"/>
          <p:cNvSpPr txBox="1"/>
          <p:nvPr/>
        </p:nvSpPr>
        <p:spPr>
          <a:xfrm>
            <a:off x="9701784" y="6419088"/>
            <a:ext cx="1828800" cy="237744"/>
          </a:xfrm>
          <a:prstGeom prst="rect">
            <a:avLst/>
          </a:prstGeom>
          <a:noFill/>
        </p:spPr>
        <p:txBody>
          <a:bodyPr wrap="square" lIns="0" tIns="0" rIns="0" bIns="0">
            <a:spAutoFit/>
          </a:bodyPr>
          <a:lstStyle/>
          <a:p>
            <a:pPr algn="r"/>
            <a:r>
              <a:rPr sz="1100" b="0" spc="100">
                <a:solidFill>
                  <a:srgbClr val="6C7A72"/>
                </a:solidFill>
                <a:latin typeface="Segoe UI"/>
              </a:rPr>
              <a:t>02</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58368" y="566928"/>
            <a:ext cx="5486400" cy="274320"/>
          </a:xfrm>
          <a:prstGeom prst="rect">
            <a:avLst/>
          </a:prstGeom>
          <a:noFill/>
        </p:spPr>
        <p:txBody>
          <a:bodyPr wrap="square" lIns="0" tIns="0" rIns="0" bIns="0">
            <a:spAutoFit/>
          </a:bodyPr>
          <a:lstStyle/>
          <a:p>
            <a:pPr algn="l"/>
            <a:r>
              <a:rPr sz="1300" b="0" spc="140">
                <a:solidFill>
                  <a:srgbClr val="9A7526"/>
                </a:solidFill>
                <a:latin typeface="Segoe UI"/>
              </a:rPr>
              <a:t>03   THE CASE FOR INDONESIAN ORIGIN</a:t>
            </a:r>
          </a:p>
        </p:txBody>
      </p:sp>
      <p:sp>
        <p:nvSpPr>
          <p:cNvPr id="4" name="Rectangle 3"/>
          <p:cNvSpPr/>
          <p:nvPr/>
        </p:nvSpPr>
        <p:spPr>
          <a:xfrm>
            <a:off x="658368" y="822960"/>
            <a:ext cx="10872215" cy="10972"/>
          </a:xfrm>
          <a:prstGeom prst="rect">
            <a:avLst/>
          </a:prstGeom>
          <a:solidFill>
            <a:srgbClr val="B9C7B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658368" y="818388"/>
            <a:ext cx="402336" cy="20116"/>
          </a:xfrm>
          <a:prstGeom prst="rect">
            <a:avLst/>
          </a:prstGeom>
          <a:solidFill>
            <a:srgbClr val="9A75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58368" y="1024128"/>
            <a:ext cx="10872216" cy="1188720"/>
          </a:xfrm>
          <a:prstGeom prst="rect">
            <a:avLst/>
          </a:prstGeom>
          <a:noFill/>
        </p:spPr>
        <p:txBody>
          <a:bodyPr wrap="square" lIns="0" tIns="0" rIns="0" bIns="0">
            <a:spAutoFit/>
          </a:bodyPr>
          <a:lstStyle/>
          <a:p>
            <a:pPr algn="l">
              <a:lnSpc>
                <a:spcPct val="112000"/>
              </a:lnSpc>
            </a:pPr>
            <a:r>
              <a:rPr sz="3600" b="1">
                <a:solidFill>
                  <a:srgbClr val="141D18"/>
                </a:solidFill>
                <a:latin typeface="Georgia"/>
              </a:rPr>
              <a:t>A second origin is a commercial safeguard.</a:t>
            </a:r>
          </a:p>
        </p:txBody>
      </p:sp>
      <p:sp>
        <p:nvSpPr>
          <p:cNvPr id="7" name="Rectangle 6"/>
          <p:cNvSpPr/>
          <p:nvPr/>
        </p:nvSpPr>
        <p:spPr>
          <a:xfrm>
            <a:off x="658368" y="2395728"/>
            <a:ext cx="27432" cy="2788920"/>
          </a:xfrm>
          <a:prstGeom prst="rect">
            <a:avLst/>
          </a:prstGeom>
          <a:solidFill>
            <a:srgbClr val="9A75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77824" y="2395728"/>
            <a:ext cx="3090672" cy="676656"/>
          </a:xfrm>
          <a:prstGeom prst="rect">
            <a:avLst/>
          </a:prstGeom>
          <a:noFill/>
        </p:spPr>
        <p:txBody>
          <a:bodyPr wrap="square" lIns="0" tIns="0" rIns="0" bIns="0">
            <a:spAutoFit/>
          </a:bodyPr>
          <a:lstStyle/>
          <a:p>
            <a:pPr algn="l">
              <a:lnSpc>
                <a:spcPct val="114000"/>
              </a:lnSpc>
            </a:pPr>
            <a:r>
              <a:rPr sz="2000" b="1">
                <a:solidFill>
                  <a:srgbClr val="141D18"/>
                </a:solidFill>
                <a:latin typeface="Segoe UI"/>
              </a:rPr>
              <a:t>Concentration is exposure</a:t>
            </a:r>
          </a:p>
        </p:txBody>
      </p:sp>
      <p:sp>
        <p:nvSpPr>
          <p:cNvPr id="9" name="TextBox 8"/>
          <p:cNvSpPr txBox="1"/>
          <p:nvPr/>
        </p:nvSpPr>
        <p:spPr>
          <a:xfrm>
            <a:off x="877824" y="3163824"/>
            <a:ext cx="3090672" cy="2020824"/>
          </a:xfrm>
          <a:prstGeom prst="rect">
            <a:avLst/>
          </a:prstGeom>
          <a:noFill/>
        </p:spPr>
        <p:txBody>
          <a:bodyPr wrap="square" lIns="0" tIns="0" rIns="0" bIns="0">
            <a:spAutoFit/>
          </a:bodyPr>
          <a:lstStyle/>
          <a:p>
            <a:pPr algn="l">
              <a:lnSpc>
                <a:spcPct val="132000"/>
              </a:lnSpc>
            </a:pPr>
            <a:r>
              <a:rPr sz="1600" b="0">
                <a:solidFill>
                  <a:srgbClr val="3D4A43"/>
                </a:solidFill>
                <a:latin typeface="Segoe UI"/>
              </a:rPr>
              <a:t>Bangladesh imports the greater part of the black pepper it consumes, and that supply sits on a small number of origins, principally Vietnam and India.</a:t>
            </a:r>
          </a:p>
        </p:txBody>
      </p:sp>
      <p:sp>
        <p:nvSpPr>
          <p:cNvPr id="10" name="Rectangle 9"/>
          <p:cNvSpPr/>
          <p:nvPr/>
        </p:nvSpPr>
        <p:spPr>
          <a:xfrm>
            <a:off x="4270248" y="2395728"/>
            <a:ext cx="27432" cy="2788920"/>
          </a:xfrm>
          <a:prstGeom prst="rect">
            <a:avLst/>
          </a:prstGeom>
          <a:solidFill>
            <a:srgbClr val="9A75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489704" y="2395728"/>
            <a:ext cx="3090672" cy="676656"/>
          </a:xfrm>
          <a:prstGeom prst="rect">
            <a:avLst/>
          </a:prstGeom>
          <a:noFill/>
        </p:spPr>
        <p:txBody>
          <a:bodyPr wrap="square" lIns="0" tIns="0" rIns="0" bIns="0">
            <a:spAutoFit/>
          </a:bodyPr>
          <a:lstStyle/>
          <a:p>
            <a:pPr algn="l">
              <a:lnSpc>
                <a:spcPct val="114000"/>
              </a:lnSpc>
            </a:pPr>
            <a:r>
              <a:rPr sz="2000" b="1">
                <a:solidFill>
                  <a:srgbClr val="141D18"/>
                </a:solidFill>
                <a:latin typeface="Segoe UI"/>
              </a:rPr>
              <a:t>Lampung is an established origin</a:t>
            </a:r>
          </a:p>
        </p:txBody>
      </p:sp>
      <p:sp>
        <p:nvSpPr>
          <p:cNvPr id="12" name="TextBox 11"/>
          <p:cNvSpPr txBox="1"/>
          <p:nvPr/>
        </p:nvSpPr>
        <p:spPr>
          <a:xfrm>
            <a:off x="4489704" y="3163824"/>
            <a:ext cx="3090672" cy="2020824"/>
          </a:xfrm>
          <a:prstGeom prst="rect">
            <a:avLst/>
          </a:prstGeom>
          <a:noFill/>
        </p:spPr>
        <p:txBody>
          <a:bodyPr wrap="square" lIns="0" tIns="0" rIns="0" bIns="0">
            <a:spAutoFit/>
          </a:bodyPr>
          <a:lstStyle/>
          <a:p>
            <a:pPr algn="l">
              <a:lnSpc>
                <a:spcPct val="132000"/>
              </a:lnSpc>
            </a:pPr>
            <a:r>
              <a:rPr sz="1600" b="0">
                <a:solidFill>
                  <a:srgbClr val="3D4A43"/>
                </a:solidFill>
                <a:latin typeface="Segoe UI"/>
              </a:rPr>
              <a:t>Indonesia is a credible second origin rather than an experiment, and Lampung is among its established pepper-producing provinces, with a long export history.</a:t>
            </a:r>
          </a:p>
        </p:txBody>
      </p:sp>
      <p:sp>
        <p:nvSpPr>
          <p:cNvPr id="13" name="Rectangle 12"/>
          <p:cNvSpPr/>
          <p:nvPr/>
        </p:nvSpPr>
        <p:spPr>
          <a:xfrm>
            <a:off x="7882128" y="2395728"/>
            <a:ext cx="27432" cy="2788920"/>
          </a:xfrm>
          <a:prstGeom prst="rect">
            <a:avLst/>
          </a:prstGeom>
          <a:solidFill>
            <a:srgbClr val="9A75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101584" y="2395728"/>
            <a:ext cx="3090672" cy="676656"/>
          </a:xfrm>
          <a:prstGeom prst="rect">
            <a:avLst/>
          </a:prstGeom>
          <a:noFill/>
        </p:spPr>
        <p:txBody>
          <a:bodyPr wrap="square" lIns="0" tIns="0" rIns="0" bIns="0">
            <a:spAutoFit/>
          </a:bodyPr>
          <a:lstStyle/>
          <a:p>
            <a:pPr algn="l">
              <a:lnSpc>
                <a:spcPct val="114000"/>
              </a:lnSpc>
            </a:pPr>
            <a:r>
              <a:rPr sz="2000" b="1">
                <a:solidFill>
                  <a:srgbClr val="141D18"/>
                </a:solidFill>
                <a:latin typeface="Segoe UI"/>
              </a:rPr>
              <a:t>Cloves are not a substitution</a:t>
            </a:r>
          </a:p>
        </p:txBody>
      </p:sp>
      <p:sp>
        <p:nvSpPr>
          <p:cNvPr id="15" name="TextBox 14"/>
          <p:cNvSpPr txBox="1"/>
          <p:nvPr/>
        </p:nvSpPr>
        <p:spPr>
          <a:xfrm>
            <a:off x="8101584" y="3163824"/>
            <a:ext cx="3090672" cy="2020824"/>
          </a:xfrm>
          <a:prstGeom prst="rect">
            <a:avLst/>
          </a:prstGeom>
          <a:noFill/>
        </p:spPr>
        <p:txBody>
          <a:bodyPr wrap="square" lIns="0" tIns="0" rIns="0" bIns="0">
            <a:spAutoFit/>
          </a:bodyPr>
          <a:lstStyle/>
          <a:p>
            <a:pPr algn="l">
              <a:lnSpc>
                <a:spcPct val="132000"/>
              </a:lnSpc>
            </a:pPr>
            <a:r>
              <a:rPr sz="1600" b="0">
                <a:solidFill>
                  <a:srgbClr val="3D4A43"/>
                </a:solidFill>
                <a:latin typeface="Segoe UI"/>
              </a:rPr>
              <a:t>Indonesia is a leading global producer of cloves. For that commodity, Indonesian origin is the natural fit for Bangladeshi demand rather than a replacement for someone else.</a:t>
            </a:r>
          </a:p>
        </p:txBody>
      </p:sp>
      <p:sp>
        <p:nvSpPr>
          <p:cNvPr id="16" name="Rectangle 15"/>
          <p:cNvSpPr/>
          <p:nvPr/>
        </p:nvSpPr>
        <p:spPr>
          <a:xfrm>
            <a:off x="658368" y="5394960"/>
            <a:ext cx="10872216" cy="10972"/>
          </a:xfrm>
          <a:prstGeom prst="rect">
            <a:avLst/>
          </a:prstGeom>
          <a:solidFill>
            <a:srgbClr val="B9C7B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58368" y="5532120"/>
            <a:ext cx="10424160" cy="457200"/>
          </a:xfrm>
          <a:prstGeom prst="rect">
            <a:avLst/>
          </a:prstGeom>
          <a:noFill/>
        </p:spPr>
        <p:txBody>
          <a:bodyPr wrap="square" lIns="0" tIns="0" rIns="0" bIns="0">
            <a:spAutoFit/>
          </a:bodyPr>
          <a:lstStyle/>
          <a:p>
            <a:pPr algn="l"/>
            <a:r>
              <a:rPr sz="2000" b="1">
                <a:solidFill>
                  <a:srgbClr val="1F4034"/>
                </a:solidFill>
                <a:latin typeface="Georgia"/>
              </a:rPr>
              <a:t>Both countries are D-8 members, and halal integrity in the supply chain is a shared requirement rather than an added condition.</a:t>
            </a:r>
          </a:p>
        </p:txBody>
      </p:sp>
      <p:sp>
        <p:nvSpPr>
          <p:cNvPr id="18" name="TextBox 17"/>
          <p:cNvSpPr txBox="1"/>
          <p:nvPr/>
        </p:nvSpPr>
        <p:spPr>
          <a:xfrm>
            <a:off x="658368" y="6181344"/>
            <a:ext cx="10424160" cy="219456"/>
          </a:xfrm>
          <a:prstGeom prst="rect">
            <a:avLst/>
          </a:prstGeom>
          <a:noFill/>
        </p:spPr>
        <p:txBody>
          <a:bodyPr wrap="square" lIns="0" tIns="0" rIns="0" bIns="0">
            <a:spAutoFit/>
          </a:bodyPr>
          <a:lstStyle/>
          <a:p>
            <a:pPr algn="l"/>
            <a:r>
              <a:rPr sz="1100" b="0">
                <a:solidFill>
                  <a:srgbClr val="6C7A72"/>
                </a:solidFill>
                <a:latin typeface="Segoe UI"/>
              </a:rPr>
              <a:t>Origin shares are stated in general terms from public trade reporting, not from our own data.</a:t>
            </a:r>
          </a:p>
        </p:txBody>
      </p:sp>
      <p:sp>
        <p:nvSpPr>
          <p:cNvPr id="19" name="TextBox 18"/>
          <p:cNvSpPr txBox="1"/>
          <p:nvPr/>
        </p:nvSpPr>
        <p:spPr>
          <a:xfrm>
            <a:off x="658368" y="6419088"/>
            <a:ext cx="6400800" cy="237744"/>
          </a:xfrm>
          <a:prstGeom prst="rect">
            <a:avLst/>
          </a:prstGeom>
          <a:noFill/>
        </p:spPr>
        <p:txBody>
          <a:bodyPr wrap="square" lIns="0" tIns="0" rIns="0" bIns="0">
            <a:spAutoFit/>
          </a:bodyPr>
          <a:lstStyle/>
          <a:p>
            <a:pPr algn="l"/>
            <a:r>
              <a:rPr sz="1100" b="0" spc="100">
                <a:solidFill>
                  <a:srgbClr val="6C7A72"/>
                </a:solidFill>
                <a:latin typeface="Segoe UI"/>
              </a:rPr>
              <a:t>PT KLUMBAYAN GOLD FARM   ·   COMPANY PROFILE   ·   BANGLADESH EDITION</a:t>
            </a:r>
          </a:p>
        </p:txBody>
      </p:sp>
      <p:sp>
        <p:nvSpPr>
          <p:cNvPr id="20" name="TextBox 19"/>
          <p:cNvSpPr txBox="1"/>
          <p:nvPr/>
        </p:nvSpPr>
        <p:spPr>
          <a:xfrm>
            <a:off x="9701784" y="6419088"/>
            <a:ext cx="1828800" cy="237744"/>
          </a:xfrm>
          <a:prstGeom prst="rect">
            <a:avLst/>
          </a:prstGeom>
          <a:noFill/>
        </p:spPr>
        <p:txBody>
          <a:bodyPr wrap="square" lIns="0" tIns="0" rIns="0" bIns="0">
            <a:spAutoFit/>
          </a:bodyPr>
          <a:lstStyle/>
          <a:p>
            <a:pPr algn="r"/>
            <a:r>
              <a:rPr sz="1100" b="0" spc="100">
                <a:solidFill>
                  <a:srgbClr val="6C7A72"/>
                </a:solidFill>
                <a:latin typeface="Segoe UI"/>
              </a:rPr>
              <a:t>03</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58368" y="566928"/>
            <a:ext cx="5486400" cy="274320"/>
          </a:xfrm>
          <a:prstGeom prst="rect">
            <a:avLst/>
          </a:prstGeom>
          <a:noFill/>
        </p:spPr>
        <p:txBody>
          <a:bodyPr wrap="square" lIns="0" tIns="0" rIns="0" bIns="0">
            <a:spAutoFit/>
          </a:bodyPr>
          <a:lstStyle/>
          <a:p>
            <a:pPr algn="l"/>
            <a:r>
              <a:rPr sz="1300" b="0" spc="140">
                <a:solidFill>
                  <a:srgbClr val="9A7526"/>
                </a:solidFill>
                <a:latin typeface="Segoe UI"/>
              </a:rPr>
              <a:t>04   THE MODEL</a:t>
            </a:r>
          </a:p>
        </p:txBody>
      </p:sp>
      <p:sp>
        <p:nvSpPr>
          <p:cNvPr id="4" name="Rectangle 3"/>
          <p:cNvSpPr/>
          <p:nvPr/>
        </p:nvSpPr>
        <p:spPr>
          <a:xfrm>
            <a:off x="658368" y="822960"/>
            <a:ext cx="10872215" cy="10972"/>
          </a:xfrm>
          <a:prstGeom prst="rect">
            <a:avLst/>
          </a:prstGeom>
          <a:solidFill>
            <a:srgbClr val="B9C7B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658368" y="818388"/>
            <a:ext cx="402336" cy="20116"/>
          </a:xfrm>
          <a:prstGeom prst="rect">
            <a:avLst/>
          </a:prstGeom>
          <a:solidFill>
            <a:srgbClr val="9A75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58368" y="1024128"/>
            <a:ext cx="10872216" cy="1188720"/>
          </a:xfrm>
          <a:prstGeom prst="rect">
            <a:avLst/>
          </a:prstGeom>
          <a:noFill/>
        </p:spPr>
        <p:txBody>
          <a:bodyPr wrap="square" lIns="0" tIns="0" rIns="0" bIns="0">
            <a:spAutoFit/>
          </a:bodyPr>
          <a:lstStyle/>
          <a:p>
            <a:pPr algn="l">
              <a:lnSpc>
                <a:spcPct val="112000"/>
              </a:lnSpc>
            </a:pPr>
            <a:r>
              <a:rPr sz="3600" b="1">
                <a:solidFill>
                  <a:srgbClr val="141D18"/>
                </a:solidFill>
                <a:latin typeface="Georgia"/>
              </a:rPr>
              <a:t>One company from the plot to the container.</a:t>
            </a:r>
          </a:p>
        </p:txBody>
      </p:sp>
      <p:sp>
        <p:nvSpPr>
          <p:cNvPr id="7" name="Rectangle 6"/>
          <p:cNvSpPr/>
          <p:nvPr/>
        </p:nvSpPr>
        <p:spPr>
          <a:xfrm>
            <a:off x="658368" y="2359152"/>
            <a:ext cx="2395728" cy="841248"/>
          </a:xfrm>
          <a:prstGeom prst="rect">
            <a:avLst/>
          </a:prstGeom>
          <a:solidFill>
            <a:srgbClr val="FFFFFF"/>
          </a:solidFill>
          <a:ln w="9525">
            <a:solidFill>
              <a:srgbClr val="1F40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04672" y="2478024"/>
            <a:ext cx="2103120" cy="256032"/>
          </a:xfrm>
          <a:prstGeom prst="rect">
            <a:avLst/>
          </a:prstGeom>
          <a:noFill/>
        </p:spPr>
        <p:txBody>
          <a:bodyPr wrap="square" lIns="0" tIns="0" rIns="0" bIns="0">
            <a:spAutoFit/>
          </a:bodyPr>
          <a:lstStyle/>
          <a:p>
            <a:pPr algn="ctr"/>
            <a:r>
              <a:rPr sz="1300" b="1" spc="90">
                <a:solidFill>
                  <a:srgbClr val="141D18"/>
                </a:solidFill>
                <a:latin typeface="Segoe UI"/>
              </a:rPr>
              <a:t>FARMERS</a:t>
            </a:r>
          </a:p>
        </p:txBody>
      </p:sp>
      <p:sp>
        <p:nvSpPr>
          <p:cNvPr id="9" name="TextBox 8"/>
          <p:cNvSpPr txBox="1"/>
          <p:nvPr/>
        </p:nvSpPr>
        <p:spPr>
          <a:xfrm>
            <a:off x="804672" y="2788920"/>
            <a:ext cx="2103120" cy="310896"/>
          </a:xfrm>
          <a:prstGeom prst="rect">
            <a:avLst/>
          </a:prstGeom>
          <a:noFill/>
        </p:spPr>
        <p:txBody>
          <a:bodyPr wrap="square" lIns="0" tIns="0" rIns="0" bIns="0">
            <a:spAutoFit/>
          </a:bodyPr>
          <a:lstStyle/>
          <a:p>
            <a:pPr algn="ctr"/>
            <a:r>
              <a:rPr sz="1300" b="0">
                <a:solidFill>
                  <a:srgbClr val="3D4A43"/>
                </a:solidFill>
                <a:latin typeface="Segoe UI"/>
              </a:rPr>
              <a:t>1,250 registered</a:t>
            </a:r>
          </a:p>
        </p:txBody>
      </p:sp>
      <p:sp>
        <p:nvSpPr>
          <p:cNvPr id="10" name="Right Arrow 9"/>
          <p:cNvSpPr/>
          <p:nvPr/>
        </p:nvSpPr>
        <p:spPr>
          <a:xfrm>
            <a:off x="3136391" y="2679192"/>
            <a:ext cx="265176" cy="201168"/>
          </a:xfrm>
          <a:prstGeom prst="rightArrow">
            <a:avLst/>
          </a:prstGeom>
          <a:solidFill>
            <a:srgbClr val="9A75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3483863" y="2359152"/>
            <a:ext cx="2395728" cy="841248"/>
          </a:xfrm>
          <a:prstGeom prst="rect">
            <a:avLst/>
          </a:prstGeom>
          <a:solidFill>
            <a:srgbClr val="FFFFFF"/>
          </a:solidFill>
          <a:ln w="9525">
            <a:solidFill>
              <a:srgbClr val="1F40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630168" y="2478024"/>
            <a:ext cx="2103120" cy="256032"/>
          </a:xfrm>
          <a:prstGeom prst="rect">
            <a:avLst/>
          </a:prstGeom>
          <a:noFill/>
        </p:spPr>
        <p:txBody>
          <a:bodyPr wrap="square" lIns="0" tIns="0" rIns="0" bIns="0">
            <a:spAutoFit/>
          </a:bodyPr>
          <a:lstStyle/>
          <a:p>
            <a:pPr algn="ctr"/>
            <a:r>
              <a:rPr sz="1300" b="1" spc="90">
                <a:solidFill>
                  <a:srgbClr val="141D18"/>
                </a:solidFill>
                <a:latin typeface="Segoe UI"/>
              </a:rPr>
              <a:t>BUYING STATIONS</a:t>
            </a:r>
          </a:p>
        </p:txBody>
      </p:sp>
      <p:sp>
        <p:nvSpPr>
          <p:cNvPr id="13" name="TextBox 12"/>
          <p:cNvSpPr txBox="1"/>
          <p:nvPr/>
        </p:nvSpPr>
        <p:spPr>
          <a:xfrm>
            <a:off x="3630168" y="2788920"/>
            <a:ext cx="2103120" cy="310896"/>
          </a:xfrm>
          <a:prstGeom prst="rect">
            <a:avLst/>
          </a:prstGeom>
          <a:noFill/>
        </p:spPr>
        <p:txBody>
          <a:bodyPr wrap="square" lIns="0" tIns="0" rIns="0" bIns="0">
            <a:spAutoFit/>
          </a:bodyPr>
          <a:lstStyle/>
          <a:p>
            <a:pPr algn="ctr"/>
            <a:r>
              <a:rPr sz="1300" b="0">
                <a:solidFill>
                  <a:srgbClr val="3D4A43"/>
                </a:solidFill>
                <a:latin typeface="Segoe UI"/>
              </a:rPr>
              <a:t>17 verified</a:t>
            </a:r>
          </a:p>
        </p:txBody>
      </p:sp>
      <p:sp>
        <p:nvSpPr>
          <p:cNvPr id="14" name="Right Arrow 13"/>
          <p:cNvSpPr/>
          <p:nvPr/>
        </p:nvSpPr>
        <p:spPr>
          <a:xfrm>
            <a:off x="5961888" y="2679192"/>
            <a:ext cx="265176" cy="201168"/>
          </a:xfrm>
          <a:prstGeom prst="rightArrow">
            <a:avLst/>
          </a:prstGeom>
          <a:solidFill>
            <a:srgbClr val="9A75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6309359" y="2359152"/>
            <a:ext cx="2395728" cy="841248"/>
          </a:xfrm>
          <a:prstGeom prst="rect">
            <a:avLst/>
          </a:prstGeom>
          <a:solidFill>
            <a:srgbClr val="FFFFFF"/>
          </a:solidFill>
          <a:ln w="9525">
            <a:solidFill>
              <a:srgbClr val="1F40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455664" y="2478024"/>
            <a:ext cx="2103120" cy="256032"/>
          </a:xfrm>
          <a:prstGeom prst="rect">
            <a:avLst/>
          </a:prstGeom>
          <a:noFill/>
        </p:spPr>
        <p:txBody>
          <a:bodyPr wrap="square" lIns="0" tIns="0" rIns="0" bIns="0">
            <a:spAutoFit/>
          </a:bodyPr>
          <a:lstStyle/>
          <a:p>
            <a:pPr algn="ctr"/>
            <a:r>
              <a:rPr sz="1300" b="1" spc="90">
                <a:solidFill>
                  <a:srgbClr val="141D18"/>
                </a:solidFill>
                <a:latin typeface="Segoe UI"/>
              </a:rPr>
              <a:t>GUDANG NATAR</a:t>
            </a:r>
          </a:p>
        </p:txBody>
      </p:sp>
      <p:sp>
        <p:nvSpPr>
          <p:cNvPr id="17" name="TextBox 16"/>
          <p:cNvSpPr txBox="1"/>
          <p:nvPr/>
        </p:nvSpPr>
        <p:spPr>
          <a:xfrm>
            <a:off x="6455664" y="2788920"/>
            <a:ext cx="2103120" cy="310896"/>
          </a:xfrm>
          <a:prstGeom prst="rect">
            <a:avLst/>
          </a:prstGeom>
          <a:noFill/>
        </p:spPr>
        <p:txBody>
          <a:bodyPr wrap="square" lIns="0" tIns="0" rIns="0" bIns="0">
            <a:spAutoFit/>
          </a:bodyPr>
          <a:lstStyle/>
          <a:p>
            <a:pPr algn="ctr"/>
            <a:r>
              <a:rPr sz="1300" b="0">
                <a:solidFill>
                  <a:srgbClr val="3D4A43"/>
                </a:solidFill>
                <a:latin typeface="Segoe UI"/>
              </a:rPr>
              <a:t>2,000 tonnes</a:t>
            </a:r>
          </a:p>
        </p:txBody>
      </p:sp>
      <p:sp>
        <p:nvSpPr>
          <p:cNvPr id="18" name="Right Arrow 17"/>
          <p:cNvSpPr/>
          <p:nvPr/>
        </p:nvSpPr>
        <p:spPr>
          <a:xfrm>
            <a:off x="8787384" y="2679192"/>
            <a:ext cx="265176" cy="201168"/>
          </a:xfrm>
          <a:prstGeom prst="rightArrow">
            <a:avLst/>
          </a:prstGeom>
          <a:solidFill>
            <a:srgbClr val="9A75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9134856" y="2359152"/>
            <a:ext cx="2395728" cy="841248"/>
          </a:xfrm>
          <a:prstGeom prst="rect">
            <a:avLst/>
          </a:prstGeom>
          <a:solidFill>
            <a:srgbClr val="1F4034"/>
          </a:solidFill>
          <a:ln w="9525">
            <a:solidFill>
              <a:srgbClr val="1F40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9281160" y="2478024"/>
            <a:ext cx="2103120" cy="256032"/>
          </a:xfrm>
          <a:prstGeom prst="rect">
            <a:avLst/>
          </a:prstGeom>
          <a:noFill/>
        </p:spPr>
        <p:txBody>
          <a:bodyPr wrap="square" lIns="0" tIns="0" rIns="0" bIns="0">
            <a:spAutoFit/>
          </a:bodyPr>
          <a:lstStyle/>
          <a:p>
            <a:pPr algn="ctr"/>
            <a:r>
              <a:rPr sz="1300" b="1" spc="90">
                <a:solidFill>
                  <a:srgbClr val="FFFFFF"/>
                </a:solidFill>
                <a:latin typeface="Segoe UI"/>
              </a:rPr>
              <a:t>EXPORT CONTAINER</a:t>
            </a:r>
          </a:p>
        </p:txBody>
      </p:sp>
      <p:sp>
        <p:nvSpPr>
          <p:cNvPr id="21" name="TextBox 20"/>
          <p:cNvSpPr txBox="1"/>
          <p:nvPr/>
        </p:nvSpPr>
        <p:spPr>
          <a:xfrm>
            <a:off x="9281160" y="2788920"/>
            <a:ext cx="2103120" cy="310896"/>
          </a:xfrm>
          <a:prstGeom prst="rect">
            <a:avLst/>
          </a:prstGeom>
          <a:noFill/>
        </p:spPr>
        <p:txBody>
          <a:bodyPr wrap="square" lIns="0" tIns="0" rIns="0" bIns="0">
            <a:spAutoFit/>
          </a:bodyPr>
          <a:lstStyle/>
          <a:p>
            <a:pPr algn="ctr"/>
            <a:r>
              <a:rPr sz="1300" b="0">
                <a:solidFill>
                  <a:srgbClr val="C7D8CD"/>
                </a:solidFill>
                <a:latin typeface="Segoe UI"/>
              </a:rPr>
              <a:t>Lot-level record</a:t>
            </a:r>
          </a:p>
        </p:txBody>
      </p:sp>
      <p:sp>
        <p:nvSpPr>
          <p:cNvPr id="22" name="Rectangle 21"/>
          <p:cNvSpPr/>
          <p:nvPr/>
        </p:nvSpPr>
        <p:spPr>
          <a:xfrm>
            <a:off x="658368" y="3401568"/>
            <a:ext cx="10872216" cy="25603"/>
          </a:xfrm>
          <a:prstGeom prst="rect">
            <a:avLst/>
          </a:prstGeom>
          <a:solidFill>
            <a:srgbClr val="9A75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658368" y="3401568"/>
            <a:ext cx="10872216" cy="384048"/>
          </a:xfrm>
          <a:prstGeom prst="rect">
            <a:avLst/>
          </a:prstGeom>
          <a:solidFill>
            <a:srgbClr val="F7F2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804672" y="3493008"/>
            <a:ext cx="10515600" cy="237744"/>
          </a:xfrm>
          <a:prstGeom prst="rect">
            <a:avLst/>
          </a:prstGeom>
          <a:noFill/>
        </p:spPr>
        <p:txBody>
          <a:bodyPr wrap="square" lIns="0" tIns="0" rIns="0" bIns="0">
            <a:spAutoFit/>
          </a:bodyPr>
          <a:lstStyle/>
          <a:p>
            <a:pPr algn="ctr"/>
            <a:r>
              <a:rPr sz="1300" b="1" spc="60">
                <a:solidFill>
                  <a:srgbClr val="9A7526"/>
                </a:solidFill>
                <a:latin typeface="Segoe UI"/>
              </a:rPr>
              <a:t>TAPAK records farmer identity, plot coordinates, volume and receipts at every step</a:t>
            </a:r>
          </a:p>
        </p:txBody>
      </p:sp>
      <p:sp>
        <p:nvSpPr>
          <p:cNvPr id="25" name="Rectangle 24"/>
          <p:cNvSpPr/>
          <p:nvPr/>
        </p:nvSpPr>
        <p:spPr>
          <a:xfrm>
            <a:off x="658368" y="4041648"/>
            <a:ext cx="27432" cy="2103120"/>
          </a:xfrm>
          <a:prstGeom prst="rect">
            <a:avLst/>
          </a:prstGeom>
          <a:solidFill>
            <a:srgbClr val="9A75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877824" y="4041648"/>
            <a:ext cx="3090672" cy="676656"/>
          </a:xfrm>
          <a:prstGeom prst="rect">
            <a:avLst/>
          </a:prstGeom>
          <a:noFill/>
        </p:spPr>
        <p:txBody>
          <a:bodyPr wrap="square" lIns="0" tIns="0" rIns="0" bIns="0">
            <a:spAutoFit/>
          </a:bodyPr>
          <a:lstStyle/>
          <a:p>
            <a:pPr algn="l">
              <a:lnSpc>
                <a:spcPct val="114000"/>
              </a:lnSpc>
            </a:pPr>
            <a:r>
              <a:rPr sz="2000" b="1">
                <a:solidFill>
                  <a:srgbClr val="141D18"/>
                </a:solidFill>
                <a:latin typeface="Segoe UI"/>
              </a:rPr>
              <a:t>We organise the farmers</a:t>
            </a:r>
          </a:p>
        </p:txBody>
      </p:sp>
      <p:sp>
        <p:nvSpPr>
          <p:cNvPr id="27" name="TextBox 26"/>
          <p:cNvSpPr txBox="1"/>
          <p:nvPr/>
        </p:nvSpPr>
        <p:spPr>
          <a:xfrm>
            <a:off x="877824" y="4809744"/>
            <a:ext cx="3090672" cy="1335024"/>
          </a:xfrm>
          <a:prstGeom prst="rect">
            <a:avLst/>
          </a:prstGeom>
          <a:noFill/>
        </p:spPr>
        <p:txBody>
          <a:bodyPr wrap="square" lIns="0" tIns="0" rIns="0" bIns="0">
            <a:spAutoFit/>
          </a:bodyPr>
          <a:lstStyle/>
          <a:p>
            <a:pPr algn="l">
              <a:lnSpc>
                <a:spcPct val="132000"/>
              </a:lnSpc>
            </a:pPr>
            <a:r>
              <a:rPr sz="1600" b="0">
                <a:solidFill>
                  <a:srgbClr val="3D4A43"/>
                </a:solidFill>
                <a:latin typeface="Segoe UI"/>
              </a:rPr>
              <a:t>1,250 registered, trained and bought from directly.</a:t>
            </a:r>
          </a:p>
        </p:txBody>
      </p:sp>
      <p:sp>
        <p:nvSpPr>
          <p:cNvPr id="28" name="Rectangle 27"/>
          <p:cNvSpPr/>
          <p:nvPr/>
        </p:nvSpPr>
        <p:spPr>
          <a:xfrm>
            <a:off x="4270248" y="4041648"/>
            <a:ext cx="27432" cy="2103120"/>
          </a:xfrm>
          <a:prstGeom prst="rect">
            <a:avLst/>
          </a:prstGeom>
          <a:solidFill>
            <a:srgbClr val="9A75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4489704" y="4041648"/>
            <a:ext cx="3090672" cy="676656"/>
          </a:xfrm>
          <a:prstGeom prst="rect">
            <a:avLst/>
          </a:prstGeom>
          <a:noFill/>
        </p:spPr>
        <p:txBody>
          <a:bodyPr wrap="square" lIns="0" tIns="0" rIns="0" bIns="0">
            <a:spAutoFit/>
          </a:bodyPr>
          <a:lstStyle/>
          <a:p>
            <a:pPr algn="l">
              <a:lnSpc>
                <a:spcPct val="114000"/>
              </a:lnSpc>
            </a:pPr>
            <a:r>
              <a:rPr sz="2000" b="1">
                <a:solidFill>
                  <a:srgbClr val="141D18"/>
                </a:solidFill>
                <a:latin typeface="Segoe UI"/>
              </a:rPr>
              <a:t>We own the middle</a:t>
            </a:r>
          </a:p>
        </p:txBody>
      </p:sp>
      <p:sp>
        <p:nvSpPr>
          <p:cNvPr id="30" name="TextBox 29"/>
          <p:cNvSpPr txBox="1"/>
          <p:nvPr/>
        </p:nvSpPr>
        <p:spPr>
          <a:xfrm>
            <a:off x="4489704" y="4809744"/>
            <a:ext cx="3090672" cy="1335024"/>
          </a:xfrm>
          <a:prstGeom prst="rect">
            <a:avLst/>
          </a:prstGeom>
          <a:noFill/>
        </p:spPr>
        <p:txBody>
          <a:bodyPr wrap="square" lIns="0" tIns="0" rIns="0" bIns="0">
            <a:spAutoFit/>
          </a:bodyPr>
          <a:lstStyle/>
          <a:p>
            <a:pPr algn="l">
              <a:lnSpc>
                <a:spcPct val="132000"/>
              </a:lnSpc>
            </a:pPr>
            <a:r>
              <a:rPr sz="1600" b="0">
                <a:solidFill>
                  <a:srgbClr val="3D4A43"/>
                </a:solidFill>
                <a:latin typeface="Segoe UI"/>
              </a:rPr>
              <a:t>17 verified buying stations and our own 2,000-tonne facility, so consolidation and quality control are not outsourced.</a:t>
            </a:r>
          </a:p>
        </p:txBody>
      </p:sp>
      <p:sp>
        <p:nvSpPr>
          <p:cNvPr id="31" name="Rectangle 30"/>
          <p:cNvSpPr/>
          <p:nvPr/>
        </p:nvSpPr>
        <p:spPr>
          <a:xfrm>
            <a:off x="7882128" y="4041648"/>
            <a:ext cx="27432" cy="2103120"/>
          </a:xfrm>
          <a:prstGeom prst="rect">
            <a:avLst/>
          </a:prstGeom>
          <a:solidFill>
            <a:srgbClr val="9A75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8101584" y="4041648"/>
            <a:ext cx="3090672" cy="676656"/>
          </a:xfrm>
          <a:prstGeom prst="rect">
            <a:avLst/>
          </a:prstGeom>
          <a:noFill/>
        </p:spPr>
        <p:txBody>
          <a:bodyPr wrap="square" lIns="0" tIns="0" rIns="0" bIns="0">
            <a:spAutoFit/>
          </a:bodyPr>
          <a:lstStyle/>
          <a:p>
            <a:pPr algn="l">
              <a:lnSpc>
                <a:spcPct val="114000"/>
              </a:lnSpc>
            </a:pPr>
            <a:r>
              <a:rPr sz="2000" b="1">
                <a:solidFill>
                  <a:srgbClr val="141D18"/>
                </a:solidFill>
                <a:latin typeface="Segoe UI"/>
              </a:rPr>
              <a:t>We record as we go</a:t>
            </a:r>
          </a:p>
        </p:txBody>
      </p:sp>
      <p:sp>
        <p:nvSpPr>
          <p:cNvPr id="33" name="TextBox 32"/>
          <p:cNvSpPr txBox="1"/>
          <p:nvPr/>
        </p:nvSpPr>
        <p:spPr>
          <a:xfrm>
            <a:off x="8101584" y="4809744"/>
            <a:ext cx="3090672" cy="1335024"/>
          </a:xfrm>
          <a:prstGeom prst="rect">
            <a:avLst/>
          </a:prstGeom>
          <a:noFill/>
        </p:spPr>
        <p:txBody>
          <a:bodyPr wrap="square" lIns="0" tIns="0" rIns="0" bIns="0">
            <a:spAutoFit/>
          </a:bodyPr>
          <a:lstStyle/>
          <a:p>
            <a:pPr algn="l">
              <a:lnSpc>
                <a:spcPct val="132000"/>
              </a:lnSpc>
            </a:pPr>
            <a:r>
              <a:rPr sz="1600" b="0">
                <a:solidFill>
                  <a:srgbClr val="3D4A43"/>
                </a:solidFill>
                <a:latin typeface="Segoe UI"/>
              </a:rPr>
              <a:t>Captured at the moment of purchase, not reconstructed afterwards.</a:t>
            </a:r>
          </a:p>
        </p:txBody>
      </p:sp>
      <p:sp>
        <p:nvSpPr>
          <p:cNvPr id="34" name="TextBox 33"/>
          <p:cNvSpPr txBox="1"/>
          <p:nvPr/>
        </p:nvSpPr>
        <p:spPr>
          <a:xfrm>
            <a:off x="658368" y="6419088"/>
            <a:ext cx="6400800" cy="237744"/>
          </a:xfrm>
          <a:prstGeom prst="rect">
            <a:avLst/>
          </a:prstGeom>
          <a:noFill/>
        </p:spPr>
        <p:txBody>
          <a:bodyPr wrap="square" lIns="0" tIns="0" rIns="0" bIns="0">
            <a:spAutoFit/>
          </a:bodyPr>
          <a:lstStyle/>
          <a:p>
            <a:pPr algn="l"/>
            <a:r>
              <a:rPr sz="1100" b="0" spc="100">
                <a:solidFill>
                  <a:srgbClr val="6C7A72"/>
                </a:solidFill>
                <a:latin typeface="Segoe UI"/>
              </a:rPr>
              <a:t>PT KLUMBAYAN GOLD FARM   ·   COMPANY PROFILE   ·   BANGLADESH EDITION</a:t>
            </a:r>
          </a:p>
        </p:txBody>
      </p:sp>
      <p:sp>
        <p:nvSpPr>
          <p:cNvPr id="35" name="TextBox 34"/>
          <p:cNvSpPr txBox="1"/>
          <p:nvPr/>
        </p:nvSpPr>
        <p:spPr>
          <a:xfrm>
            <a:off x="9701784" y="6419088"/>
            <a:ext cx="1828800" cy="237744"/>
          </a:xfrm>
          <a:prstGeom prst="rect">
            <a:avLst/>
          </a:prstGeom>
          <a:noFill/>
        </p:spPr>
        <p:txBody>
          <a:bodyPr wrap="square" lIns="0" tIns="0" rIns="0" bIns="0">
            <a:spAutoFit/>
          </a:bodyPr>
          <a:lstStyle/>
          <a:p>
            <a:pPr algn="r"/>
            <a:r>
              <a:rPr sz="1100" b="0" spc="100">
                <a:solidFill>
                  <a:srgbClr val="6C7A72"/>
                </a:solidFill>
                <a:latin typeface="Segoe UI"/>
              </a:rPr>
              <a:t>04</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58368" y="566928"/>
            <a:ext cx="5486400" cy="274320"/>
          </a:xfrm>
          <a:prstGeom prst="rect">
            <a:avLst/>
          </a:prstGeom>
          <a:noFill/>
        </p:spPr>
        <p:txBody>
          <a:bodyPr wrap="square" lIns="0" tIns="0" rIns="0" bIns="0">
            <a:spAutoFit/>
          </a:bodyPr>
          <a:lstStyle/>
          <a:p>
            <a:pPr algn="l"/>
            <a:r>
              <a:rPr sz="1300" b="0" spc="140">
                <a:solidFill>
                  <a:srgbClr val="9A7526"/>
                </a:solidFill>
                <a:latin typeface="Segoe UI"/>
              </a:rPr>
              <a:t>05   OPERATIONS</a:t>
            </a:r>
          </a:p>
        </p:txBody>
      </p:sp>
      <p:sp>
        <p:nvSpPr>
          <p:cNvPr id="4" name="Rectangle 3"/>
          <p:cNvSpPr/>
          <p:nvPr/>
        </p:nvSpPr>
        <p:spPr>
          <a:xfrm>
            <a:off x="658368" y="822960"/>
            <a:ext cx="10872215" cy="10972"/>
          </a:xfrm>
          <a:prstGeom prst="rect">
            <a:avLst/>
          </a:prstGeom>
          <a:solidFill>
            <a:srgbClr val="B9C7B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658368" y="818388"/>
            <a:ext cx="402336" cy="20116"/>
          </a:xfrm>
          <a:prstGeom prst="rect">
            <a:avLst/>
          </a:prstGeom>
          <a:solidFill>
            <a:srgbClr val="9A75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58368" y="1024128"/>
            <a:ext cx="10872216" cy="1188720"/>
          </a:xfrm>
          <a:prstGeom prst="rect">
            <a:avLst/>
          </a:prstGeom>
          <a:noFill/>
        </p:spPr>
        <p:txBody>
          <a:bodyPr wrap="square" lIns="0" tIns="0" rIns="0" bIns="0">
            <a:spAutoFit/>
          </a:bodyPr>
          <a:lstStyle/>
          <a:p>
            <a:pPr algn="l">
              <a:lnSpc>
                <a:spcPct val="112000"/>
              </a:lnSpc>
            </a:pPr>
            <a:r>
              <a:rPr sz="3200" b="1">
                <a:solidFill>
                  <a:srgbClr val="141D18"/>
                </a:solidFill>
                <a:latin typeface="Georgia"/>
              </a:rPr>
              <a:t>Built and running, not proposed.</a:t>
            </a:r>
          </a:p>
        </p:txBody>
      </p:sp>
      <p:pic>
        <p:nvPicPr>
          <p:cNvPr id="7" name="Picture 6" descr="ops_natar_warehouse.jpg"/>
          <p:cNvPicPr>
            <a:picLocks noChangeAspect="1"/>
          </p:cNvPicPr>
          <p:nvPr/>
        </p:nvPicPr>
        <p:blipFill>
          <a:blip r:embed="rId2"/>
          <a:srcRect l="8754" r="8754"/>
          <a:stretch>
            <a:fillRect/>
          </a:stretch>
        </p:blipFill>
        <p:spPr>
          <a:xfrm>
            <a:off x="658368" y="2359152"/>
            <a:ext cx="3529584" cy="1700784"/>
          </a:xfrm>
          <a:prstGeom prst="rect">
            <a:avLst/>
          </a:prstGeom>
        </p:spPr>
      </p:pic>
      <p:sp>
        <p:nvSpPr>
          <p:cNvPr id="8" name="Rectangle 7"/>
          <p:cNvSpPr/>
          <p:nvPr/>
        </p:nvSpPr>
        <p:spPr>
          <a:xfrm>
            <a:off x="658368" y="3785616"/>
            <a:ext cx="3529584" cy="274320"/>
          </a:xfrm>
          <a:prstGeom prst="rect">
            <a:avLst/>
          </a:prstGeom>
          <a:solidFill>
            <a:srgbClr val="1F40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68096" y="3835908"/>
            <a:ext cx="3310128" cy="201168"/>
          </a:xfrm>
          <a:prstGeom prst="rect">
            <a:avLst/>
          </a:prstGeom>
          <a:noFill/>
        </p:spPr>
        <p:txBody>
          <a:bodyPr wrap="square" lIns="0" tIns="0" rIns="0" bIns="0">
            <a:spAutoFit/>
          </a:bodyPr>
          <a:lstStyle/>
          <a:p>
            <a:pPr algn="l"/>
            <a:r>
              <a:rPr sz="1100" b="1" spc="90">
                <a:solidFill>
                  <a:srgbClr val="FFFFFF"/>
                </a:solidFill>
                <a:latin typeface="Segoe UI"/>
              </a:rPr>
              <a:t>NATAR WAREHOUSE</a:t>
            </a:r>
          </a:p>
        </p:txBody>
      </p:sp>
      <p:pic>
        <p:nvPicPr>
          <p:cNvPr id="10" name="Picture 9" descr="ops_cleaning_grading.jpg"/>
          <p:cNvPicPr>
            <a:picLocks noChangeAspect="1"/>
          </p:cNvPicPr>
          <p:nvPr/>
        </p:nvPicPr>
        <p:blipFill>
          <a:blip r:embed="rId3"/>
          <a:srcRect t="6392" b="6392"/>
          <a:stretch>
            <a:fillRect/>
          </a:stretch>
        </p:blipFill>
        <p:spPr>
          <a:xfrm>
            <a:off x="4334255" y="2359152"/>
            <a:ext cx="3529584" cy="1700784"/>
          </a:xfrm>
          <a:prstGeom prst="rect">
            <a:avLst/>
          </a:prstGeom>
        </p:spPr>
      </p:pic>
      <p:sp>
        <p:nvSpPr>
          <p:cNvPr id="11" name="Rectangle 10"/>
          <p:cNvSpPr/>
          <p:nvPr/>
        </p:nvSpPr>
        <p:spPr>
          <a:xfrm>
            <a:off x="4334255" y="3785616"/>
            <a:ext cx="3529584" cy="274320"/>
          </a:xfrm>
          <a:prstGeom prst="rect">
            <a:avLst/>
          </a:prstGeom>
          <a:solidFill>
            <a:srgbClr val="1F40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443983" y="3835908"/>
            <a:ext cx="3310128" cy="201168"/>
          </a:xfrm>
          <a:prstGeom prst="rect">
            <a:avLst/>
          </a:prstGeom>
          <a:noFill/>
        </p:spPr>
        <p:txBody>
          <a:bodyPr wrap="square" lIns="0" tIns="0" rIns="0" bIns="0">
            <a:spAutoFit/>
          </a:bodyPr>
          <a:lstStyle/>
          <a:p>
            <a:pPr algn="l"/>
            <a:r>
              <a:rPr sz="1100" b="1" spc="90">
                <a:solidFill>
                  <a:srgbClr val="FFFFFF"/>
                </a:solidFill>
                <a:latin typeface="Segoe UI"/>
              </a:rPr>
              <a:t>CLEANING AND GRADING LINE</a:t>
            </a:r>
          </a:p>
        </p:txBody>
      </p:sp>
      <p:pic>
        <p:nvPicPr>
          <p:cNvPr id="13" name="Picture 12" descr="ops_quality_control.jpg"/>
          <p:cNvPicPr>
            <a:picLocks noChangeAspect="1"/>
          </p:cNvPicPr>
          <p:nvPr/>
        </p:nvPicPr>
        <p:blipFill>
          <a:blip r:embed="rId4"/>
          <a:srcRect t="30557" b="30557"/>
          <a:stretch>
            <a:fillRect/>
          </a:stretch>
        </p:blipFill>
        <p:spPr>
          <a:xfrm>
            <a:off x="8010144" y="2359152"/>
            <a:ext cx="3529584" cy="1700784"/>
          </a:xfrm>
          <a:prstGeom prst="rect">
            <a:avLst/>
          </a:prstGeom>
        </p:spPr>
      </p:pic>
      <p:sp>
        <p:nvSpPr>
          <p:cNvPr id="14" name="Rectangle 13"/>
          <p:cNvSpPr/>
          <p:nvPr/>
        </p:nvSpPr>
        <p:spPr>
          <a:xfrm>
            <a:off x="8010144" y="3785616"/>
            <a:ext cx="3529584" cy="274320"/>
          </a:xfrm>
          <a:prstGeom prst="rect">
            <a:avLst/>
          </a:prstGeom>
          <a:solidFill>
            <a:srgbClr val="1F40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119871" y="3835908"/>
            <a:ext cx="3310128" cy="201168"/>
          </a:xfrm>
          <a:prstGeom prst="rect">
            <a:avLst/>
          </a:prstGeom>
          <a:noFill/>
        </p:spPr>
        <p:txBody>
          <a:bodyPr wrap="square" lIns="0" tIns="0" rIns="0" bIns="0">
            <a:spAutoFit/>
          </a:bodyPr>
          <a:lstStyle/>
          <a:p>
            <a:pPr algn="l"/>
            <a:r>
              <a:rPr sz="1100" b="1" spc="90">
                <a:solidFill>
                  <a:srgbClr val="FFFFFF"/>
                </a:solidFill>
                <a:latin typeface="Segoe UI"/>
              </a:rPr>
              <a:t>QUALITY CONTROL</a:t>
            </a:r>
          </a:p>
        </p:txBody>
      </p:sp>
      <p:pic>
        <p:nvPicPr>
          <p:cNvPr id="16" name="Picture 15" descr="ops_cacao_roasting.jpg"/>
          <p:cNvPicPr>
            <a:picLocks noChangeAspect="1"/>
          </p:cNvPicPr>
          <p:nvPr/>
        </p:nvPicPr>
        <p:blipFill>
          <a:blip r:embed="rId5"/>
          <a:srcRect t="30557" b="30557"/>
          <a:stretch>
            <a:fillRect/>
          </a:stretch>
        </p:blipFill>
        <p:spPr>
          <a:xfrm>
            <a:off x="658368" y="4206240"/>
            <a:ext cx="3529584" cy="1700784"/>
          </a:xfrm>
          <a:prstGeom prst="rect">
            <a:avLst/>
          </a:prstGeom>
        </p:spPr>
      </p:pic>
      <p:sp>
        <p:nvSpPr>
          <p:cNvPr id="17" name="Rectangle 16"/>
          <p:cNvSpPr/>
          <p:nvPr/>
        </p:nvSpPr>
        <p:spPr>
          <a:xfrm>
            <a:off x="658368" y="5632704"/>
            <a:ext cx="3529584" cy="274320"/>
          </a:xfrm>
          <a:prstGeom prst="rect">
            <a:avLst/>
          </a:prstGeom>
          <a:solidFill>
            <a:srgbClr val="1F40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68096" y="5682996"/>
            <a:ext cx="3310128" cy="201168"/>
          </a:xfrm>
          <a:prstGeom prst="rect">
            <a:avLst/>
          </a:prstGeom>
          <a:noFill/>
        </p:spPr>
        <p:txBody>
          <a:bodyPr wrap="square" lIns="0" tIns="0" rIns="0" bIns="0">
            <a:spAutoFit/>
          </a:bodyPr>
          <a:lstStyle/>
          <a:p>
            <a:pPr algn="l"/>
            <a:r>
              <a:rPr sz="1100" b="1" spc="90">
                <a:solidFill>
                  <a:srgbClr val="FFFFFF"/>
                </a:solidFill>
                <a:latin typeface="Segoe UI"/>
              </a:rPr>
              <a:t>CACAO ROASTING</a:t>
            </a:r>
          </a:p>
        </p:txBody>
      </p:sp>
      <p:pic>
        <p:nvPicPr>
          <p:cNvPr id="19" name="Picture 18" descr="ops_cacao_winnowing.jpg"/>
          <p:cNvPicPr>
            <a:picLocks noChangeAspect="1"/>
          </p:cNvPicPr>
          <p:nvPr/>
        </p:nvPicPr>
        <p:blipFill>
          <a:blip r:embed="rId6"/>
          <a:srcRect t="6392" b="6392"/>
          <a:stretch>
            <a:fillRect/>
          </a:stretch>
        </p:blipFill>
        <p:spPr>
          <a:xfrm>
            <a:off x="4334255" y="4206240"/>
            <a:ext cx="3529584" cy="1700784"/>
          </a:xfrm>
          <a:prstGeom prst="rect">
            <a:avLst/>
          </a:prstGeom>
        </p:spPr>
      </p:pic>
      <p:sp>
        <p:nvSpPr>
          <p:cNvPr id="20" name="Rectangle 19"/>
          <p:cNvSpPr/>
          <p:nvPr/>
        </p:nvSpPr>
        <p:spPr>
          <a:xfrm>
            <a:off x="4334255" y="5632704"/>
            <a:ext cx="3529584" cy="274320"/>
          </a:xfrm>
          <a:prstGeom prst="rect">
            <a:avLst/>
          </a:prstGeom>
          <a:solidFill>
            <a:srgbClr val="1F40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4443983" y="5682996"/>
            <a:ext cx="3310128" cy="201168"/>
          </a:xfrm>
          <a:prstGeom prst="rect">
            <a:avLst/>
          </a:prstGeom>
          <a:noFill/>
        </p:spPr>
        <p:txBody>
          <a:bodyPr wrap="square" lIns="0" tIns="0" rIns="0" bIns="0">
            <a:spAutoFit/>
          </a:bodyPr>
          <a:lstStyle/>
          <a:p>
            <a:pPr algn="l"/>
            <a:r>
              <a:rPr sz="1100" b="1" spc="90">
                <a:solidFill>
                  <a:srgbClr val="FFFFFF"/>
                </a:solidFill>
                <a:latin typeface="Segoe UI"/>
              </a:rPr>
              <a:t>CACAO WINNOWING</a:t>
            </a:r>
          </a:p>
        </p:txBody>
      </p:sp>
      <p:pic>
        <p:nvPicPr>
          <p:cNvPr id="22" name="Picture 21" descr="ops_field_school.jpg"/>
          <p:cNvPicPr>
            <a:picLocks noChangeAspect="1"/>
          </p:cNvPicPr>
          <p:nvPr/>
        </p:nvPicPr>
        <p:blipFill>
          <a:blip r:embed="rId7"/>
          <a:srcRect t="6392" b="6392"/>
          <a:stretch>
            <a:fillRect/>
          </a:stretch>
        </p:blipFill>
        <p:spPr>
          <a:xfrm>
            <a:off x="8010144" y="4206240"/>
            <a:ext cx="3529584" cy="1700784"/>
          </a:xfrm>
          <a:prstGeom prst="rect">
            <a:avLst/>
          </a:prstGeom>
        </p:spPr>
      </p:pic>
      <p:sp>
        <p:nvSpPr>
          <p:cNvPr id="23" name="Rectangle 22"/>
          <p:cNvSpPr/>
          <p:nvPr/>
        </p:nvSpPr>
        <p:spPr>
          <a:xfrm>
            <a:off x="8010144" y="5632704"/>
            <a:ext cx="3529584" cy="274320"/>
          </a:xfrm>
          <a:prstGeom prst="rect">
            <a:avLst/>
          </a:prstGeom>
          <a:solidFill>
            <a:srgbClr val="1F40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8119871" y="5682996"/>
            <a:ext cx="3310128" cy="201168"/>
          </a:xfrm>
          <a:prstGeom prst="rect">
            <a:avLst/>
          </a:prstGeom>
          <a:noFill/>
        </p:spPr>
        <p:txBody>
          <a:bodyPr wrap="square" lIns="0" tIns="0" rIns="0" bIns="0">
            <a:spAutoFit/>
          </a:bodyPr>
          <a:lstStyle/>
          <a:p>
            <a:pPr algn="l"/>
            <a:r>
              <a:rPr sz="1100" b="1" spc="90">
                <a:solidFill>
                  <a:srgbClr val="FFFFFF"/>
                </a:solidFill>
                <a:latin typeface="Segoe UI"/>
              </a:rPr>
              <a:t>FIELD SCHOOL</a:t>
            </a:r>
          </a:p>
        </p:txBody>
      </p:sp>
      <p:sp>
        <p:nvSpPr>
          <p:cNvPr id="25" name="TextBox 24"/>
          <p:cNvSpPr txBox="1"/>
          <p:nvPr/>
        </p:nvSpPr>
        <p:spPr>
          <a:xfrm>
            <a:off x="658368" y="6053328"/>
            <a:ext cx="10424160" cy="365760"/>
          </a:xfrm>
          <a:prstGeom prst="rect">
            <a:avLst/>
          </a:prstGeom>
          <a:noFill/>
        </p:spPr>
        <p:txBody>
          <a:bodyPr wrap="square" lIns="0" tIns="0" rIns="0" bIns="0">
            <a:spAutoFit/>
          </a:bodyPr>
          <a:lstStyle/>
          <a:p>
            <a:pPr algn="l"/>
            <a:r>
              <a:rPr sz="1300" b="0" spc="60">
                <a:solidFill>
                  <a:srgbClr val="6C7A72"/>
                </a:solidFill>
                <a:latin typeface="Segoe UI"/>
              </a:rPr>
              <a:t>Gudang Natar: 2,000 tonnes  ·  green house  ·  sifting machine  ·  Suton machine  ·  oven</a:t>
            </a:r>
          </a:p>
        </p:txBody>
      </p:sp>
      <p:sp>
        <p:nvSpPr>
          <p:cNvPr id="26" name="TextBox 25"/>
          <p:cNvSpPr txBox="1"/>
          <p:nvPr/>
        </p:nvSpPr>
        <p:spPr>
          <a:xfrm>
            <a:off x="658368" y="6419088"/>
            <a:ext cx="6400800" cy="237744"/>
          </a:xfrm>
          <a:prstGeom prst="rect">
            <a:avLst/>
          </a:prstGeom>
          <a:noFill/>
        </p:spPr>
        <p:txBody>
          <a:bodyPr wrap="square" lIns="0" tIns="0" rIns="0" bIns="0">
            <a:spAutoFit/>
          </a:bodyPr>
          <a:lstStyle/>
          <a:p>
            <a:pPr algn="l"/>
            <a:r>
              <a:rPr sz="1100" b="0" spc="100">
                <a:solidFill>
                  <a:srgbClr val="6C7A72"/>
                </a:solidFill>
                <a:latin typeface="Segoe UI"/>
              </a:rPr>
              <a:t>PT KLUMBAYAN GOLD FARM   ·   COMPANY PROFILE   ·   BANGLADESH EDITION</a:t>
            </a:r>
          </a:p>
        </p:txBody>
      </p:sp>
      <p:sp>
        <p:nvSpPr>
          <p:cNvPr id="27" name="TextBox 26"/>
          <p:cNvSpPr txBox="1"/>
          <p:nvPr/>
        </p:nvSpPr>
        <p:spPr>
          <a:xfrm>
            <a:off x="9701784" y="6419088"/>
            <a:ext cx="1828800" cy="237744"/>
          </a:xfrm>
          <a:prstGeom prst="rect">
            <a:avLst/>
          </a:prstGeom>
          <a:noFill/>
        </p:spPr>
        <p:txBody>
          <a:bodyPr wrap="square" lIns="0" tIns="0" rIns="0" bIns="0">
            <a:spAutoFit/>
          </a:bodyPr>
          <a:lstStyle/>
          <a:p>
            <a:pPr algn="r"/>
            <a:r>
              <a:rPr sz="1100" b="0" spc="100">
                <a:solidFill>
                  <a:srgbClr val="6C7A72"/>
                </a:solidFill>
                <a:latin typeface="Segoe UI"/>
              </a:rPr>
              <a:t>05</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58368" y="566928"/>
            <a:ext cx="5486400" cy="274320"/>
          </a:xfrm>
          <a:prstGeom prst="rect">
            <a:avLst/>
          </a:prstGeom>
          <a:noFill/>
        </p:spPr>
        <p:txBody>
          <a:bodyPr wrap="square" lIns="0" tIns="0" rIns="0" bIns="0">
            <a:spAutoFit/>
          </a:bodyPr>
          <a:lstStyle/>
          <a:p>
            <a:pPr algn="l"/>
            <a:r>
              <a:rPr sz="1300" b="0" spc="140">
                <a:solidFill>
                  <a:srgbClr val="9A7526"/>
                </a:solidFill>
                <a:latin typeface="Segoe UI"/>
              </a:rPr>
              <a:t>06   PORTFOLIO</a:t>
            </a:r>
          </a:p>
        </p:txBody>
      </p:sp>
      <p:sp>
        <p:nvSpPr>
          <p:cNvPr id="4" name="Rectangle 3"/>
          <p:cNvSpPr/>
          <p:nvPr/>
        </p:nvSpPr>
        <p:spPr>
          <a:xfrm>
            <a:off x="658368" y="822960"/>
            <a:ext cx="10872215" cy="10972"/>
          </a:xfrm>
          <a:prstGeom prst="rect">
            <a:avLst/>
          </a:prstGeom>
          <a:solidFill>
            <a:srgbClr val="B9C7B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658368" y="818388"/>
            <a:ext cx="402336" cy="20116"/>
          </a:xfrm>
          <a:prstGeom prst="rect">
            <a:avLst/>
          </a:prstGeom>
          <a:solidFill>
            <a:srgbClr val="9A75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58368" y="1024128"/>
            <a:ext cx="10872216" cy="1188720"/>
          </a:xfrm>
          <a:prstGeom prst="rect">
            <a:avLst/>
          </a:prstGeom>
          <a:noFill/>
        </p:spPr>
        <p:txBody>
          <a:bodyPr wrap="square" lIns="0" tIns="0" rIns="0" bIns="0">
            <a:spAutoFit/>
          </a:bodyPr>
          <a:lstStyle/>
          <a:p>
            <a:pPr algn="l">
              <a:lnSpc>
                <a:spcPct val="112000"/>
              </a:lnSpc>
            </a:pPr>
            <a:r>
              <a:rPr sz="3200" b="1">
                <a:solidFill>
                  <a:srgbClr val="141D18"/>
                </a:solidFill>
                <a:latin typeface="Georgia"/>
              </a:rPr>
              <a:t>Six commodities from one supply base.</a:t>
            </a:r>
          </a:p>
        </p:txBody>
      </p:sp>
      <p:sp>
        <p:nvSpPr>
          <p:cNvPr id="7" name="Rectangle 6"/>
          <p:cNvSpPr/>
          <p:nvPr/>
        </p:nvSpPr>
        <p:spPr>
          <a:xfrm>
            <a:off x="658368" y="2340864"/>
            <a:ext cx="10872216" cy="365760"/>
          </a:xfrm>
          <a:prstGeom prst="rect">
            <a:avLst/>
          </a:prstGeom>
          <a:solidFill>
            <a:srgbClr val="1F40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59536" y="2432304"/>
            <a:ext cx="3675887" cy="219456"/>
          </a:xfrm>
          <a:prstGeom prst="rect">
            <a:avLst/>
          </a:prstGeom>
          <a:noFill/>
        </p:spPr>
        <p:txBody>
          <a:bodyPr wrap="square" lIns="0" tIns="0" rIns="0" bIns="0">
            <a:spAutoFit/>
          </a:bodyPr>
          <a:lstStyle/>
          <a:p>
            <a:pPr algn="l"/>
            <a:r>
              <a:rPr sz="1100" b="1" spc="120">
                <a:solidFill>
                  <a:srgbClr val="FFFFFF"/>
                </a:solidFill>
                <a:latin typeface="Segoe UI"/>
              </a:rPr>
              <a:t>PRODUCT</a:t>
            </a:r>
          </a:p>
        </p:txBody>
      </p:sp>
      <p:sp>
        <p:nvSpPr>
          <p:cNvPr id="9" name="TextBox 8"/>
          <p:cNvSpPr txBox="1"/>
          <p:nvPr/>
        </p:nvSpPr>
        <p:spPr>
          <a:xfrm>
            <a:off x="4590288" y="2432304"/>
            <a:ext cx="4160520" cy="219456"/>
          </a:xfrm>
          <a:prstGeom prst="rect">
            <a:avLst/>
          </a:prstGeom>
          <a:noFill/>
        </p:spPr>
        <p:txBody>
          <a:bodyPr wrap="square" lIns="0" tIns="0" rIns="0" bIns="0">
            <a:spAutoFit/>
          </a:bodyPr>
          <a:lstStyle/>
          <a:p>
            <a:pPr algn="l"/>
            <a:r>
              <a:rPr sz="1100" b="1" spc="120">
                <a:solidFill>
                  <a:srgbClr val="FFFFFF"/>
                </a:solidFill>
                <a:latin typeface="Segoe UI"/>
              </a:rPr>
              <a:t>GRADE AND SPECIFICATION</a:t>
            </a:r>
          </a:p>
        </p:txBody>
      </p:sp>
      <p:sp>
        <p:nvSpPr>
          <p:cNvPr id="10" name="TextBox 9"/>
          <p:cNvSpPr txBox="1"/>
          <p:nvPr/>
        </p:nvSpPr>
        <p:spPr>
          <a:xfrm>
            <a:off x="8750808" y="2432304"/>
            <a:ext cx="2779776" cy="219456"/>
          </a:xfrm>
          <a:prstGeom prst="rect">
            <a:avLst/>
          </a:prstGeom>
          <a:noFill/>
        </p:spPr>
        <p:txBody>
          <a:bodyPr wrap="square" lIns="0" tIns="0" rIns="0" bIns="0">
            <a:spAutoFit/>
          </a:bodyPr>
          <a:lstStyle/>
          <a:p>
            <a:pPr algn="l"/>
            <a:r>
              <a:rPr sz="1100" b="1" spc="120">
                <a:solidFill>
                  <a:srgbClr val="FFFFFF"/>
                </a:solidFill>
                <a:latin typeface="Segoe UI"/>
              </a:rPr>
              <a:t>AVAILABILITY</a:t>
            </a:r>
          </a:p>
        </p:txBody>
      </p:sp>
      <p:sp>
        <p:nvSpPr>
          <p:cNvPr id="11" name="Rectangle 10"/>
          <p:cNvSpPr/>
          <p:nvPr/>
        </p:nvSpPr>
        <p:spPr>
          <a:xfrm>
            <a:off x="658368" y="2715768"/>
            <a:ext cx="10872216" cy="512064"/>
          </a:xfrm>
          <a:prstGeom prst="rect">
            <a:avLst/>
          </a:prstGeom>
          <a:solidFill>
            <a:srgbClr val="EFF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59536" y="2779776"/>
            <a:ext cx="3657600" cy="256032"/>
          </a:xfrm>
          <a:prstGeom prst="rect">
            <a:avLst/>
          </a:prstGeom>
          <a:noFill/>
        </p:spPr>
        <p:txBody>
          <a:bodyPr wrap="square" lIns="0" tIns="0" rIns="0" bIns="0">
            <a:spAutoFit/>
          </a:bodyPr>
          <a:lstStyle/>
          <a:p>
            <a:pPr algn="l"/>
            <a:r>
              <a:rPr sz="1600" b="1">
                <a:solidFill>
                  <a:srgbClr val="141D18"/>
                </a:solidFill>
                <a:latin typeface="Segoe UI"/>
              </a:rPr>
              <a:t>Black pepper, standard</a:t>
            </a:r>
          </a:p>
        </p:txBody>
      </p:sp>
      <p:sp>
        <p:nvSpPr>
          <p:cNvPr id="13" name="TextBox 12"/>
          <p:cNvSpPr txBox="1"/>
          <p:nvPr/>
        </p:nvSpPr>
        <p:spPr>
          <a:xfrm>
            <a:off x="4590288" y="2798064"/>
            <a:ext cx="3886200" cy="237744"/>
          </a:xfrm>
          <a:prstGeom prst="rect">
            <a:avLst/>
          </a:prstGeom>
          <a:noFill/>
        </p:spPr>
        <p:txBody>
          <a:bodyPr wrap="square" lIns="0" tIns="0" rIns="0" bIns="0">
            <a:spAutoFit/>
          </a:bodyPr>
          <a:lstStyle/>
          <a:p>
            <a:pPr algn="l"/>
            <a:r>
              <a:rPr sz="1600" b="0">
                <a:solidFill>
                  <a:srgbClr val="3D4A43"/>
                </a:solidFill>
                <a:latin typeface="Segoe UI"/>
              </a:rPr>
              <a:t>Bulk density 500 g/l</a:t>
            </a:r>
          </a:p>
        </p:txBody>
      </p:sp>
      <p:sp>
        <p:nvSpPr>
          <p:cNvPr id="14" name="TextBox 13"/>
          <p:cNvSpPr txBox="1"/>
          <p:nvPr/>
        </p:nvSpPr>
        <p:spPr>
          <a:xfrm>
            <a:off x="8750808" y="2761488"/>
            <a:ext cx="2779776" cy="219456"/>
          </a:xfrm>
          <a:prstGeom prst="rect">
            <a:avLst/>
          </a:prstGeom>
          <a:noFill/>
        </p:spPr>
        <p:txBody>
          <a:bodyPr wrap="square" lIns="0" tIns="0" rIns="0" bIns="0">
            <a:spAutoFit/>
          </a:bodyPr>
          <a:lstStyle/>
          <a:p>
            <a:pPr algn="l"/>
            <a:r>
              <a:rPr sz="1100" b="1" spc="100">
                <a:solidFill>
                  <a:srgbClr val="1F4034"/>
                </a:solidFill>
                <a:latin typeface="Segoe UI"/>
              </a:rPr>
              <a:t>AVAILABLE NOW</a:t>
            </a:r>
          </a:p>
        </p:txBody>
      </p:sp>
      <p:sp>
        <p:nvSpPr>
          <p:cNvPr id="15" name="TextBox 14"/>
          <p:cNvSpPr txBox="1"/>
          <p:nvPr/>
        </p:nvSpPr>
        <p:spPr>
          <a:xfrm>
            <a:off x="8750808" y="2980944"/>
            <a:ext cx="2779776" cy="219456"/>
          </a:xfrm>
          <a:prstGeom prst="rect">
            <a:avLst/>
          </a:prstGeom>
          <a:noFill/>
        </p:spPr>
        <p:txBody>
          <a:bodyPr wrap="square" lIns="0" tIns="0" rIns="0" bIns="0">
            <a:spAutoFit/>
          </a:bodyPr>
          <a:lstStyle/>
          <a:p>
            <a:pPr algn="l"/>
            <a:r>
              <a:rPr sz="1100" b="0">
                <a:solidFill>
                  <a:srgbClr val="6C7A72"/>
                </a:solidFill>
                <a:latin typeface="Segoe UI"/>
              </a:rPr>
              <a:t>200 MT / year</a:t>
            </a:r>
          </a:p>
        </p:txBody>
      </p:sp>
      <p:sp>
        <p:nvSpPr>
          <p:cNvPr id="16" name="TextBox 15"/>
          <p:cNvSpPr txBox="1"/>
          <p:nvPr/>
        </p:nvSpPr>
        <p:spPr>
          <a:xfrm>
            <a:off x="859536" y="3291840"/>
            <a:ext cx="3657600" cy="256032"/>
          </a:xfrm>
          <a:prstGeom prst="rect">
            <a:avLst/>
          </a:prstGeom>
          <a:noFill/>
        </p:spPr>
        <p:txBody>
          <a:bodyPr wrap="square" lIns="0" tIns="0" rIns="0" bIns="0">
            <a:spAutoFit/>
          </a:bodyPr>
          <a:lstStyle/>
          <a:p>
            <a:pPr algn="l"/>
            <a:r>
              <a:rPr sz="1600" b="1">
                <a:solidFill>
                  <a:srgbClr val="141D18"/>
                </a:solidFill>
                <a:latin typeface="Segoe UI"/>
              </a:rPr>
              <a:t>Cloves</a:t>
            </a:r>
          </a:p>
        </p:txBody>
      </p:sp>
      <p:sp>
        <p:nvSpPr>
          <p:cNvPr id="17" name="TextBox 16"/>
          <p:cNvSpPr txBox="1"/>
          <p:nvPr/>
        </p:nvSpPr>
        <p:spPr>
          <a:xfrm>
            <a:off x="4590288" y="3310128"/>
            <a:ext cx="3886200" cy="237744"/>
          </a:xfrm>
          <a:prstGeom prst="rect">
            <a:avLst/>
          </a:prstGeom>
          <a:noFill/>
        </p:spPr>
        <p:txBody>
          <a:bodyPr wrap="square" lIns="0" tIns="0" rIns="0" bIns="0">
            <a:spAutoFit/>
          </a:bodyPr>
          <a:lstStyle/>
          <a:p>
            <a:pPr algn="l"/>
            <a:r>
              <a:rPr sz="1600" b="0">
                <a:solidFill>
                  <a:srgbClr val="3D4A43"/>
                </a:solidFill>
                <a:latin typeface="Segoe UI"/>
              </a:rPr>
              <a:t>Whole dried</a:t>
            </a:r>
          </a:p>
        </p:txBody>
      </p:sp>
      <p:sp>
        <p:nvSpPr>
          <p:cNvPr id="18" name="TextBox 17"/>
          <p:cNvSpPr txBox="1"/>
          <p:nvPr/>
        </p:nvSpPr>
        <p:spPr>
          <a:xfrm>
            <a:off x="8750808" y="3273552"/>
            <a:ext cx="2779776" cy="219456"/>
          </a:xfrm>
          <a:prstGeom prst="rect">
            <a:avLst/>
          </a:prstGeom>
          <a:noFill/>
        </p:spPr>
        <p:txBody>
          <a:bodyPr wrap="square" lIns="0" tIns="0" rIns="0" bIns="0">
            <a:spAutoFit/>
          </a:bodyPr>
          <a:lstStyle/>
          <a:p>
            <a:pPr algn="l"/>
            <a:r>
              <a:rPr sz="1100" b="1" spc="100">
                <a:solidFill>
                  <a:srgbClr val="1F4034"/>
                </a:solidFill>
                <a:latin typeface="Segoe UI"/>
              </a:rPr>
              <a:t>TO ORDER</a:t>
            </a:r>
          </a:p>
        </p:txBody>
      </p:sp>
      <p:sp>
        <p:nvSpPr>
          <p:cNvPr id="19" name="TextBox 18"/>
          <p:cNvSpPr txBox="1"/>
          <p:nvPr/>
        </p:nvSpPr>
        <p:spPr>
          <a:xfrm>
            <a:off x="8750808" y="3493008"/>
            <a:ext cx="2779776" cy="219456"/>
          </a:xfrm>
          <a:prstGeom prst="rect">
            <a:avLst/>
          </a:prstGeom>
          <a:noFill/>
        </p:spPr>
        <p:txBody>
          <a:bodyPr wrap="square" lIns="0" tIns="0" rIns="0" bIns="0">
            <a:spAutoFit/>
          </a:bodyPr>
          <a:lstStyle/>
          <a:p>
            <a:pPr algn="l"/>
            <a:r>
              <a:rPr sz="1100" b="0">
                <a:solidFill>
                  <a:srgbClr val="6C7A72"/>
                </a:solidFill>
                <a:latin typeface="Segoe UI"/>
              </a:rPr>
              <a:t>Volume on enquiry</a:t>
            </a:r>
          </a:p>
        </p:txBody>
      </p:sp>
      <p:sp>
        <p:nvSpPr>
          <p:cNvPr id="20" name="Rectangle 19"/>
          <p:cNvSpPr/>
          <p:nvPr/>
        </p:nvSpPr>
        <p:spPr>
          <a:xfrm>
            <a:off x="658368" y="3739896"/>
            <a:ext cx="10872216" cy="512064"/>
          </a:xfrm>
          <a:prstGeom prst="rect">
            <a:avLst/>
          </a:prstGeom>
          <a:solidFill>
            <a:srgbClr val="EFF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859536" y="3803904"/>
            <a:ext cx="3657600" cy="256032"/>
          </a:xfrm>
          <a:prstGeom prst="rect">
            <a:avLst/>
          </a:prstGeom>
          <a:noFill/>
        </p:spPr>
        <p:txBody>
          <a:bodyPr wrap="square" lIns="0" tIns="0" rIns="0" bIns="0">
            <a:spAutoFit/>
          </a:bodyPr>
          <a:lstStyle/>
          <a:p>
            <a:pPr algn="l"/>
            <a:r>
              <a:rPr sz="1600" b="1">
                <a:solidFill>
                  <a:srgbClr val="141D18"/>
                </a:solidFill>
                <a:latin typeface="Segoe UI"/>
              </a:rPr>
              <a:t>Robusta coffee, green</a:t>
            </a:r>
          </a:p>
        </p:txBody>
      </p:sp>
      <p:sp>
        <p:nvSpPr>
          <p:cNvPr id="22" name="TextBox 21"/>
          <p:cNvSpPr txBox="1"/>
          <p:nvPr/>
        </p:nvSpPr>
        <p:spPr>
          <a:xfrm>
            <a:off x="4590288" y="3822192"/>
            <a:ext cx="3886200" cy="237744"/>
          </a:xfrm>
          <a:prstGeom prst="rect">
            <a:avLst/>
          </a:prstGeom>
          <a:noFill/>
        </p:spPr>
        <p:txBody>
          <a:bodyPr wrap="square" lIns="0" tIns="0" rIns="0" bIns="0">
            <a:spAutoFit/>
          </a:bodyPr>
          <a:lstStyle/>
          <a:p>
            <a:pPr algn="l"/>
            <a:r>
              <a:rPr sz="1600" b="0">
                <a:solidFill>
                  <a:srgbClr val="3D4A43"/>
                </a:solidFill>
                <a:latin typeface="Segoe UI"/>
              </a:rPr>
              <a:t>Dry natural, defect 80 / 120</a:t>
            </a:r>
          </a:p>
        </p:txBody>
      </p:sp>
      <p:sp>
        <p:nvSpPr>
          <p:cNvPr id="23" name="TextBox 22"/>
          <p:cNvSpPr txBox="1"/>
          <p:nvPr/>
        </p:nvSpPr>
        <p:spPr>
          <a:xfrm>
            <a:off x="8750808" y="3785616"/>
            <a:ext cx="2779776" cy="219456"/>
          </a:xfrm>
          <a:prstGeom prst="rect">
            <a:avLst/>
          </a:prstGeom>
          <a:noFill/>
        </p:spPr>
        <p:txBody>
          <a:bodyPr wrap="square" lIns="0" tIns="0" rIns="0" bIns="0">
            <a:spAutoFit/>
          </a:bodyPr>
          <a:lstStyle/>
          <a:p>
            <a:pPr algn="l"/>
            <a:r>
              <a:rPr sz="1100" b="1" spc="100">
                <a:solidFill>
                  <a:srgbClr val="1F4034"/>
                </a:solidFill>
                <a:latin typeface="Segoe UI"/>
              </a:rPr>
              <a:t>AVAILABLE NOW</a:t>
            </a:r>
          </a:p>
        </p:txBody>
      </p:sp>
      <p:sp>
        <p:nvSpPr>
          <p:cNvPr id="24" name="TextBox 23"/>
          <p:cNvSpPr txBox="1"/>
          <p:nvPr/>
        </p:nvSpPr>
        <p:spPr>
          <a:xfrm>
            <a:off x="8750808" y="4005072"/>
            <a:ext cx="2779776" cy="219456"/>
          </a:xfrm>
          <a:prstGeom prst="rect">
            <a:avLst/>
          </a:prstGeom>
          <a:noFill/>
        </p:spPr>
        <p:txBody>
          <a:bodyPr wrap="square" lIns="0" tIns="0" rIns="0" bIns="0">
            <a:spAutoFit/>
          </a:bodyPr>
          <a:lstStyle/>
          <a:p>
            <a:pPr algn="l"/>
            <a:r>
              <a:rPr sz="1100" b="0">
                <a:solidFill>
                  <a:srgbClr val="6C7A72"/>
                </a:solidFill>
                <a:latin typeface="Segoe UI"/>
              </a:rPr>
              <a:t>300 MT / month</a:t>
            </a:r>
          </a:p>
        </p:txBody>
      </p:sp>
      <p:sp>
        <p:nvSpPr>
          <p:cNvPr id="25" name="TextBox 24"/>
          <p:cNvSpPr txBox="1"/>
          <p:nvPr/>
        </p:nvSpPr>
        <p:spPr>
          <a:xfrm>
            <a:off x="859536" y="4315968"/>
            <a:ext cx="3657600" cy="256032"/>
          </a:xfrm>
          <a:prstGeom prst="rect">
            <a:avLst/>
          </a:prstGeom>
          <a:noFill/>
        </p:spPr>
        <p:txBody>
          <a:bodyPr wrap="square" lIns="0" tIns="0" rIns="0" bIns="0">
            <a:spAutoFit/>
          </a:bodyPr>
          <a:lstStyle/>
          <a:p>
            <a:pPr algn="l"/>
            <a:r>
              <a:rPr sz="1600" b="1">
                <a:solidFill>
                  <a:srgbClr val="141D18"/>
                </a:solidFill>
                <a:latin typeface="Segoe UI"/>
              </a:rPr>
              <a:t>Cocoa</a:t>
            </a:r>
          </a:p>
        </p:txBody>
      </p:sp>
      <p:sp>
        <p:nvSpPr>
          <p:cNvPr id="26" name="TextBox 25"/>
          <p:cNvSpPr txBox="1"/>
          <p:nvPr/>
        </p:nvSpPr>
        <p:spPr>
          <a:xfrm>
            <a:off x="4590288" y="4334256"/>
            <a:ext cx="3886200" cy="237744"/>
          </a:xfrm>
          <a:prstGeom prst="rect">
            <a:avLst/>
          </a:prstGeom>
          <a:noFill/>
        </p:spPr>
        <p:txBody>
          <a:bodyPr wrap="square" lIns="0" tIns="0" rIns="0" bIns="0">
            <a:spAutoFit/>
          </a:bodyPr>
          <a:lstStyle/>
          <a:p>
            <a:pPr algn="l"/>
            <a:r>
              <a:rPr sz="1600" b="0">
                <a:solidFill>
                  <a:srgbClr val="3D4A43"/>
                </a:solidFill>
                <a:latin typeface="Segoe UI"/>
              </a:rPr>
              <a:t>Beans, powder and nibs</a:t>
            </a:r>
          </a:p>
        </p:txBody>
      </p:sp>
      <p:sp>
        <p:nvSpPr>
          <p:cNvPr id="27" name="TextBox 26"/>
          <p:cNvSpPr txBox="1"/>
          <p:nvPr/>
        </p:nvSpPr>
        <p:spPr>
          <a:xfrm>
            <a:off x="8750808" y="4297680"/>
            <a:ext cx="2779776" cy="219456"/>
          </a:xfrm>
          <a:prstGeom prst="rect">
            <a:avLst/>
          </a:prstGeom>
          <a:noFill/>
        </p:spPr>
        <p:txBody>
          <a:bodyPr wrap="square" lIns="0" tIns="0" rIns="0" bIns="0">
            <a:spAutoFit/>
          </a:bodyPr>
          <a:lstStyle/>
          <a:p>
            <a:pPr algn="l"/>
            <a:r>
              <a:rPr sz="1100" b="1" spc="100">
                <a:solidFill>
                  <a:srgbClr val="1F4034"/>
                </a:solidFill>
                <a:latin typeface="Segoe UI"/>
              </a:rPr>
              <a:t>AVAILABLE</a:t>
            </a:r>
          </a:p>
        </p:txBody>
      </p:sp>
      <p:sp>
        <p:nvSpPr>
          <p:cNvPr id="28" name="TextBox 27"/>
          <p:cNvSpPr txBox="1"/>
          <p:nvPr/>
        </p:nvSpPr>
        <p:spPr>
          <a:xfrm>
            <a:off x="8750808" y="4517136"/>
            <a:ext cx="2779776" cy="219456"/>
          </a:xfrm>
          <a:prstGeom prst="rect">
            <a:avLst/>
          </a:prstGeom>
          <a:noFill/>
        </p:spPr>
        <p:txBody>
          <a:bodyPr wrap="square" lIns="0" tIns="0" rIns="0" bIns="0">
            <a:spAutoFit/>
          </a:bodyPr>
          <a:lstStyle/>
          <a:p>
            <a:pPr algn="l"/>
            <a:r>
              <a:rPr sz="1100" b="0">
                <a:solidFill>
                  <a:srgbClr val="6C7A72"/>
                </a:solidFill>
                <a:latin typeface="Segoe UI"/>
              </a:rPr>
              <a:t>Processed in-house</a:t>
            </a:r>
          </a:p>
        </p:txBody>
      </p:sp>
      <p:sp>
        <p:nvSpPr>
          <p:cNvPr id="29" name="Rectangle 28"/>
          <p:cNvSpPr/>
          <p:nvPr/>
        </p:nvSpPr>
        <p:spPr>
          <a:xfrm>
            <a:off x="658368" y="4764024"/>
            <a:ext cx="10872216" cy="512064"/>
          </a:xfrm>
          <a:prstGeom prst="rect">
            <a:avLst/>
          </a:prstGeom>
          <a:solidFill>
            <a:srgbClr val="EFF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859536" y="4828032"/>
            <a:ext cx="3657600" cy="256032"/>
          </a:xfrm>
          <a:prstGeom prst="rect">
            <a:avLst/>
          </a:prstGeom>
          <a:noFill/>
        </p:spPr>
        <p:txBody>
          <a:bodyPr wrap="square" lIns="0" tIns="0" rIns="0" bIns="0">
            <a:spAutoFit/>
          </a:bodyPr>
          <a:lstStyle/>
          <a:p>
            <a:pPr algn="l"/>
            <a:r>
              <a:rPr sz="1600" b="1">
                <a:solidFill>
                  <a:srgbClr val="141D18"/>
                </a:solidFill>
                <a:latin typeface="Segoe UI"/>
              </a:rPr>
              <a:t>Black pepper, premium</a:t>
            </a:r>
          </a:p>
        </p:txBody>
      </p:sp>
      <p:sp>
        <p:nvSpPr>
          <p:cNvPr id="31" name="TextBox 30"/>
          <p:cNvSpPr txBox="1"/>
          <p:nvPr/>
        </p:nvSpPr>
        <p:spPr>
          <a:xfrm>
            <a:off x="4590288" y="4846320"/>
            <a:ext cx="3886200" cy="237744"/>
          </a:xfrm>
          <a:prstGeom prst="rect">
            <a:avLst/>
          </a:prstGeom>
          <a:noFill/>
        </p:spPr>
        <p:txBody>
          <a:bodyPr wrap="square" lIns="0" tIns="0" rIns="0" bIns="0">
            <a:spAutoFit/>
          </a:bodyPr>
          <a:lstStyle/>
          <a:p>
            <a:pPr algn="l"/>
            <a:r>
              <a:rPr sz="1600" b="0">
                <a:solidFill>
                  <a:srgbClr val="3D4A43"/>
                </a:solidFill>
                <a:latin typeface="Segoe UI"/>
              </a:rPr>
              <a:t>Premium FAQ, min. 580 g/l</a:t>
            </a:r>
          </a:p>
        </p:txBody>
      </p:sp>
      <p:sp>
        <p:nvSpPr>
          <p:cNvPr id="32" name="TextBox 31"/>
          <p:cNvSpPr txBox="1"/>
          <p:nvPr/>
        </p:nvSpPr>
        <p:spPr>
          <a:xfrm>
            <a:off x="8750808" y="4809744"/>
            <a:ext cx="2779776" cy="219456"/>
          </a:xfrm>
          <a:prstGeom prst="rect">
            <a:avLst/>
          </a:prstGeom>
          <a:noFill/>
        </p:spPr>
        <p:txBody>
          <a:bodyPr wrap="square" lIns="0" tIns="0" rIns="0" bIns="0">
            <a:spAutoFit/>
          </a:bodyPr>
          <a:lstStyle/>
          <a:p>
            <a:pPr algn="l"/>
            <a:r>
              <a:rPr sz="1100" b="1" spc="100">
                <a:solidFill>
                  <a:srgbClr val="9A7526"/>
                </a:solidFill>
                <a:latin typeface="Segoe UI"/>
              </a:rPr>
              <a:t>CONTRACTED 2026</a:t>
            </a:r>
          </a:p>
        </p:txBody>
      </p:sp>
      <p:sp>
        <p:nvSpPr>
          <p:cNvPr id="33" name="TextBox 32"/>
          <p:cNvSpPr txBox="1"/>
          <p:nvPr/>
        </p:nvSpPr>
        <p:spPr>
          <a:xfrm>
            <a:off x="8750808" y="5029200"/>
            <a:ext cx="2779776" cy="219456"/>
          </a:xfrm>
          <a:prstGeom prst="rect">
            <a:avLst/>
          </a:prstGeom>
          <a:noFill/>
        </p:spPr>
        <p:txBody>
          <a:bodyPr wrap="square" lIns="0" tIns="0" rIns="0" bIns="0">
            <a:spAutoFit/>
          </a:bodyPr>
          <a:lstStyle/>
          <a:p>
            <a:pPr algn="l"/>
            <a:r>
              <a:rPr sz="1100" b="0">
                <a:solidFill>
                  <a:srgbClr val="6C7A72"/>
                </a:solidFill>
                <a:latin typeface="Segoe UI"/>
              </a:rPr>
              <a:t>80 to 100 MT, Europe</a:t>
            </a:r>
          </a:p>
        </p:txBody>
      </p:sp>
      <p:sp>
        <p:nvSpPr>
          <p:cNvPr id="34" name="TextBox 33"/>
          <p:cNvSpPr txBox="1"/>
          <p:nvPr/>
        </p:nvSpPr>
        <p:spPr>
          <a:xfrm>
            <a:off x="859536" y="5340096"/>
            <a:ext cx="3657600" cy="256032"/>
          </a:xfrm>
          <a:prstGeom prst="rect">
            <a:avLst/>
          </a:prstGeom>
          <a:noFill/>
        </p:spPr>
        <p:txBody>
          <a:bodyPr wrap="square" lIns="0" tIns="0" rIns="0" bIns="0">
            <a:spAutoFit/>
          </a:bodyPr>
          <a:lstStyle/>
          <a:p>
            <a:pPr algn="l"/>
            <a:r>
              <a:rPr sz="1600" b="1">
                <a:solidFill>
                  <a:srgbClr val="141D18"/>
                </a:solidFill>
                <a:latin typeface="Segoe UI"/>
              </a:rPr>
              <a:t>Java long pepper, cubeb</a:t>
            </a:r>
          </a:p>
        </p:txBody>
      </p:sp>
      <p:sp>
        <p:nvSpPr>
          <p:cNvPr id="35" name="TextBox 34"/>
          <p:cNvSpPr txBox="1"/>
          <p:nvPr/>
        </p:nvSpPr>
        <p:spPr>
          <a:xfrm>
            <a:off x="4590288" y="5358384"/>
            <a:ext cx="3886200" cy="237744"/>
          </a:xfrm>
          <a:prstGeom prst="rect">
            <a:avLst/>
          </a:prstGeom>
          <a:noFill/>
        </p:spPr>
        <p:txBody>
          <a:bodyPr wrap="square" lIns="0" tIns="0" rIns="0" bIns="0">
            <a:spAutoFit/>
          </a:bodyPr>
          <a:lstStyle/>
          <a:p>
            <a:pPr algn="l"/>
            <a:r>
              <a:rPr sz="1600" b="0">
                <a:solidFill>
                  <a:srgbClr val="3D4A43"/>
                </a:solidFill>
                <a:latin typeface="Segoe UI"/>
              </a:rPr>
              <a:t>Whole dried, specialty</a:t>
            </a:r>
          </a:p>
        </p:txBody>
      </p:sp>
      <p:sp>
        <p:nvSpPr>
          <p:cNvPr id="36" name="TextBox 35"/>
          <p:cNvSpPr txBox="1"/>
          <p:nvPr/>
        </p:nvSpPr>
        <p:spPr>
          <a:xfrm>
            <a:off x="8750808" y="5321808"/>
            <a:ext cx="2779776" cy="219456"/>
          </a:xfrm>
          <a:prstGeom prst="rect">
            <a:avLst/>
          </a:prstGeom>
          <a:noFill/>
        </p:spPr>
        <p:txBody>
          <a:bodyPr wrap="square" lIns="0" tIns="0" rIns="0" bIns="0">
            <a:spAutoFit/>
          </a:bodyPr>
          <a:lstStyle/>
          <a:p>
            <a:pPr algn="l"/>
            <a:r>
              <a:rPr sz="1100" b="1" spc="100">
                <a:solidFill>
                  <a:srgbClr val="6C7A72"/>
                </a:solidFill>
                <a:latin typeface="Segoe UI"/>
              </a:rPr>
              <a:t>TO ORDER</a:t>
            </a:r>
          </a:p>
        </p:txBody>
      </p:sp>
      <p:sp>
        <p:nvSpPr>
          <p:cNvPr id="37" name="TextBox 36"/>
          <p:cNvSpPr txBox="1"/>
          <p:nvPr/>
        </p:nvSpPr>
        <p:spPr>
          <a:xfrm>
            <a:off x="8750808" y="5541264"/>
            <a:ext cx="2779776" cy="219456"/>
          </a:xfrm>
          <a:prstGeom prst="rect">
            <a:avLst/>
          </a:prstGeom>
          <a:noFill/>
        </p:spPr>
        <p:txBody>
          <a:bodyPr wrap="square" lIns="0" tIns="0" rIns="0" bIns="0">
            <a:spAutoFit/>
          </a:bodyPr>
          <a:lstStyle/>
          <a:p>
            <a:pPr algn="l"/>
            <a:r>
              <a:rPr sz="1100" b="0">
                <a:solidFill>
                  <a:srgbClr val="6C7A72"/>
                </a:solidFill>
                <a:latin typeface="Segoe UI"/>
              </a:rPr>
              <a:t>Volume on enquiry</a:t>
            </a:r>
          </a:p>
        </p:txBody>
      </p:sp>
      <p:sp>
        <p:nvSpPr>
          <p:cNvPr id="38" name="Rectangle 37"/>
          <p:cNvSpPr/>
          <p:nvPr/>
        </p:nvSpPr>
        <p:spPr>
          <a:xfrm>
            <a:off x="658368" y="5907024"/>
            <a:ext cx="6035040" cy="310896"/>
          </a:xfrm>
          <a:prstGeom prst="rect">
            <a:avLst/>
          </a:prstGeom>
          <a:solidFill>
            <a:srgbClr val="FDF3D8"/>
          </a:solidFill>
          <a:ln w="9525">
            <a:solidFill>
              <a:srgbClr val="9A75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786384" y="5971032"/>
            <a:ext cx="5779007" cy="219456"/>
          </a:xfrm>
          <a:prstGeom prst="rect">
            <a:avLst/>
          </a:prstGeom>
          <a:noFill/>
        </p:spPr>
        <p:txBody>
          <a:bodyPr wrap="square" lIns="0" tIns="0" rIns="0" bIns="0">
            <a:spAutoFit/>
          </a:bodyPr>
          <a:lstStyle/>
          <a:p>
            <a:pPr algn="l"/>
            <a:r>
              <a:rPr sz="1100" b="1" spc="60">
                <a:solidFill>
                  <a:srgbClr val="9A7526"/>
                </a:solidFill>
                <a:latin typeface="Segoe UI"/>
              </a:rPr>
              <a:t>[ TO COMPLETE: moisture, foreign matter, packaging, MOQ, incoterms ]</a:t>
            </a:r>
          </a:p>
        </p:txBody>
      </p:sp>
      <p:sp>
        <p:nvSpPr>
          <p:cNvPr id="40" name="TextBox 39"/>
          <p:cNvSpPr txBox="1"/>
          <p:nvPr/>
        </p:nvSpPr>
        <p:spPr>
          <a:xfrm>
            <a:off x="6949440" y="5961888"/>
            <a:ext cx="4480560" cy="256032"/>
          </a:xfrm>
          <a:prstGeom prst="rect">
            <a:avLst/>
          </a:prstGeom>
          <a:noFill/>
        </p:spPr>
        <p:txBody>
          <a:bodyPr wrap="square" lIns="0" tIns="0" rIns="0" bIns="0">
            <a:spAutoFit/>
          </a:bodyPr>
          <a:lstStyle/>
          <a:p>
            <a:pPr algn="l"/>
            <a:r>
              <a:rPr sz="1300" b="0">
                <a:solidFill>
                  <a:srgbClr val="6C7A72"/>
                </a:solidFill>
                <a:latin typeface="Segoe UI"/>
              </a:rPr>
              <a:t>Full parameters are in our Product Specification Sheet.</a:t>
            </a:r>
          </a:p>
        </p:txBody>
      </p:sp>
      <p:sp>
        <p:nvSpPr>
          <p:cNvPr id="41" name="TextBox 40"/>
          <p:cNvSpPr txBox="1"/>
          <p:nvPr/>
        </p:nvSpPr>
        <p:spPr>
          <a:xfrm>
            <a:off x="658368" y="6419088"/>
            <a:ext cx="6400800" cy="237744"/>
          </a:xfrm>
          <a:prstGeom prst="rect">
            <a:avLst/>
          </a:prstGeom>
          <a:noFill/>
        </p:spPr>
        <p:txBody>
          <a:bodyPr wrap="square" lIns="0" tIns="0" rIns="0" bIns="0">
            <a:spAutoFit/>
          </a:bodyPr>
          <a:lstStyle/>
          <a:p>
            <a:pPr algn="l"/>
            <a:r>
              <a:rPr sz="1100" b="0" spc="100">
                <a:solidFill>
                  <a:srgbClr val="6C7A72"/>
                </a:solidFill>
                <a:latin typeface="Segoe UI"/>
              </a:rPr>
              <a:t>PT KLUMBAYAN GOLD FARM   ·   COMPANY PROFILE   ·   BANGLADESH EDITION</a:t>
            </a:r>
          </a:p>
        </p:txBody>
      </p:sp>
      <p:sp>
        <p:nvSpPr>
          <p:cNvPr id="42" name="TextBox 41"/>
          <p:cNvSpPr txBox="1"/>
          <p:nvPr/>
        </p:nvSpPr>
        <p:spPr>
          <a:xfrm>
            <a:off x="9701784" y="6419088"/>
            <a:ext cx="1828800" cy="237744"/>
          </a:xfrm>
          <a:prstGeom prst="rect">
            <a:avLst/>
          </a:prstGeom>
          <a:noFill/>
        </p:spPr>
        <p:txBody>
          <a:bodyPr wrap="square" lIns="0" tIns="0" rIns="0" bIns="0">
            <a:spAutoFit/>
          </a:bodyPr>
          <a:lstStyle/>
          <a:p>
            <a:pPr algn="r"/>
            <a:r>
              <a:rPr sz="1100" b="0" spc="100">
                <a:solidFill>
                  <a:srgbClr val="6C7A72"/>
                </a:solidFill>
                <a:latin typeface="Segoe UI"/>
              </a:rPr>
              <a:t>06</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58368" y="566928"/>
            <a:ext cx="5486400" cy="274320"/>
          </a:xfrm>
          <a:prstGeom prst="rect">
            <a:avLst/>
          </a:prstGeom>
          <a:noFill/>
        </p:spPr>
        <p:txBody>
          <a:bodyPr wrap="square" lIns="0" tIns="0" rIns="0" bIns="0">
            <a:spAutoFit/>
          </a:bodyPr>
          <a:lstStyle/>
          <a:p>
            <a:pPr algn="l"/>
            <a:r>
              <a:rPr sz="1300" b="0" spc="140">
                <a:solidFill>
                  <a:srgbClr val="9A7526"/>
                </a:solidFill>
                <a:latin typeface="Segoe UI"/>
              </a:rPr>
              <a:t>07   THE GRADE SPLIT</a:t>
            </a:r>
          </a:p>
        </p:txBody>
      </p:sp>
      <p:sp>
        <p:nvSpPr>
          <p:cNvPr id="4" name="Rectangle 3"/>
          <p:cNvSpPr/>
          <p:nvPr/>
        </p:nvSpPr>
        <p:spPr>
          <a:xfrm>
            <a:off x="658368" y="822960"/>
            <a:ext cx="10872215" cy="10972"/>
          </a:xfrm>
          <a:prstGeom prst="rect">
            <a:avLst/>
          </a:prstGeom>
          <a:solidFill>
            <a:srgbClr val="B9C7B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658368" y="818388"/>
            <a:ext cx="402336" cy="20116"/>
          </a:xfrm>
          <a:prstGeom prst="rect">
            <a:avLst/>
          </a:prstGeom>
          <a:solidFill>
            <a:srgbClr val="9A75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58368" y="1024128"/>
            <a:ext cx="10872216" cy="1188720"/>
          </a:xfrm>
          <a:prstGeom prst="rect">
            <a:avLst/>
          </a:prstGeom>
          <a:noFill/>
        </p:spPr>
        <p:txBody>
          <a:bodyPr wrap="square" lIns="0" tIns="0" rIns="0" bIns="0">
            <a:spAutoFit/>
          </a:bodyPr>
          <a:lstStyle/>
          <a:p>
            <a:pPr algn="l">
              <a:lnSpc>
                <a:spcPct val="112000"/>
              </a:lnSpc>
            </a:pPr>
            <a:r>
              <a:rPr sz="3600" b="1">
                <a:solidFill>
                  <a:srgbClr val="141D18"/>
                </a:solidFill>
                <a:latin typeface="Georgia"/>
              </a:rPr>
              <a:t>One harvest, two grades. One is available.</a:t>
            </a:r>
          </a:p>
        </p:txBody>
      </p:sp>
      <p:sp>
        <p:nvSpPr>
          <p:cNvPr id="7" name="Rectangle 6"/>
          <p:cNvSpPr/>
          <p:nvPr/>
        </p:nvSpPr>
        <p:spPr>
          <a:xfrm>
            <a:off x="658368" y="2788920"/>
            <a:ext cx="2331720" cy="841248"/>
          </a:xfrm>
          <a:prstGeom prst="rect">
            <a:avLst/>
          </a:prstGeom>
          <a:solidFill>
            <a:srgbClr val="FFFFFF"/>
          </a:solidFill>
          <a:ln w="9525">
            <a:solidFill>
              <a:srgbClr val="1F40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04672" y="2907791"/>
            <a:ext cx="2039112" cy="256032"/>
          </a:xfrm>
          <a:prstGeom prst="rect">
            <a:avLst/>
          </a:prstGeom>
          <a:noFill/>
        </p:spPr>
        <p:txBody>
          <a:bodyPr wrap="square" lIns="0" tIns="0" rIns="0" bIns="0">
            <a:spAutoFit/>
          </a:bodyPr>
          <a:lstStyle/>
          <a:p>
            <a:pPr algn="ctr"/>
            <a:r>
              <a:rPr sz="1300" b="1" spc="90">
                <a:solidFill>
                  <a:srgbClr val="141D18"/>
                </a:solidFill>
                <a:latin typeface="Segoe UI"/>
              </a:rPr>
              <a:t>ONE HARVEST</a:t>
            </a:r>
          </a:p>
        </p:txBody>
      </p:sp>
      <p:sp>
        <p:nvSpPr>
          <p:cNvPr id="9" name="TextBox 8"/>
          <p:cNvSpPr txBox="1"/>
          <p:nvPr/>
        </p:nvSpPr>
        <p:spPr>
          <a:xfrm>
            <a:off x="804672" y="3218687"/>
            <a:ext cx="2039112" cy="310896"/>
          </a:xfrm>
          <a:prstGeom prst="rect">
            <a:avLst/>
          </a:prstGeom>
          <a:noFill/>
        </p:spPr>
        <p:txBody>
          <a:bodyPr wrap="square" lIns="0" tIns="0" rIns="0" bIns="0">
            <a:spAutoFit/>
          </a:bodyPr>
          <a:lstStyle/>
          <a:p>
            <a:pPr algn="ctr"/>
            <a:r>
              <a:rPr sz="1300" b="0">
                <a:solidFill>
                  <a:srgbClr val="3D4A43"/>
                </a:solidFill>
                <a:latin typeface="Segoe UI"/>
              </a:rPr>
              <a:t>Lampung black pepper</a:t>
            </a:r>
          </a:p>
        </p:txBody>
      </p:sp>
      <p:sp>
        <p:nvSpPr>
          <p:cNvPr id="10" name="Right Arrow 9"/>
          <p:cNvSpPr/>
          <p:nvPr/>
        </p:nvSpPr>
        <p:spPr>
          <a:xfrm>
            <a:off x="3090672" y="3108960"/>
            <a:ext cx="365760" cy="201168"/>
          </a:xfrm>
          <a:prstGeom prst="rightArrow">
            <a:avLst/>
          </a:prstGeom>
          <a:solidFill>
            <a:srgbClr val="9A75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3566160" y="2788920"/>
            <a:ext cx="2331720" cy="841248"/>
          </a:xfrm>
          <a:prstGeom prst="rect">
            <a:avLst/>
          </a:prstGeom>
          <a:solidFill>
            <a:srgbClr val="FFFFFF"/>
          </a:solidFill>
          <a:ln w="9525">
            <a:solidFill>
              <a:srgbClr val="1F40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712464" y="2907791"/>
            <a:ext cx="2039112" cy="256032"/>
          </a:xfrm>
          <a:prstGeom prst="rect">
            <a:avLst/>
          </a:prstGeom>
          <a:noFill/>
        </p:spPr>
        <p:txBody>
          <a:bodyPr wrap="square" lIns="0" tIns="0" rIns="0" bIns="0">
            <a:spAutoFit/>
          </a:bodyPr>
          <a:lstStyle/>
          <a:p>
            <a:pPr algn="ctr"/>
            <a:r>
              <a:rPr sz="1300" b="1" spc="90">
                <a:solidFill>
                  <a:srgbClr val="141D18"/>
                </a:solidFill>
                <a:latin typeface="Segoe UI"/>
              </a:rPr>
              <a:t>GRADE TO 580 G/L</a:t>
            </a:r>
          </a:p>
        </p:txBody>
      </p:sp>
      <p:sp>
        <p:nvSpPr>
          <p:cNvPr id="13" name="TextBox 12"/>
          <p:cNvSpPr txBox="1"/>
          <p:nvPr/>
        </p:nvSpPr>
        <p:spPr>
          <a:xfrm>
            <a:off x="3712464" y="3218687"/>
            <a:ext cx="2039112" cy="310896"/>
          </a:xfrm>
          <a:prstGeom prst="rect">
            <a:avLst/>
          </a:prstGeom>
          <a:noFill/>
        </p:spPr>
        <p:txBody>
          <a:bodyPr wrap="square" lIns="0" tIns="0" rIns="0" bIns="0">
            <a:spAutoFit/>
          </a:bodyPr>
          <a:lstStyle/>
          <a:p>
            <a:pPr algn="ctr"/>
            <a:r>
              <a:rPr sz="1300" b="0">
                <a:solidFill>
                  <a:srgbClr val="3D4A43"/>
                </a:solidFill>
                <a:latin typeface="Segoe UI"/>
              </a:rPr>
              <a:t>European spec</a:t>
            </a:r>
          </a:p>
        </p:txBody>
      </p:sp>
      <p:sp>
        <p:nvSpPr>
          <p:cNvPr id="14" name="Rectangle 13"/>
          <p:cNvSpPr/>
          <p:nvPr/>
        </p:nvSpPr>
        <p:spPr>
          <a:xfrm>
            <a:off x="5559552" y="3200400"/>
            <a:ext cx="274320" cy="20116"/>
          </a:xfrm>
          <a:prstGeom prst="rect">
            <a:avLst/>
          </a:prstGeom>
          <a:solidFill>
            <a:srgbClr val="9A75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5815583" y="2670048"/>
            <a:ext cx="20116" cy="548640"/>
          </a:xfrm>
          <a:prstGeom prst="rect">
            <a:avLst/>
          </a:prstGeom>
          <a:solidFill>
            <a:srgbClr val="9A75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5815583" y="3200400"/>
            <a:ext cx="20116" cy="566928"/>
          </a:xfrm>
          <a:prstGeom prst="rect">
            <a:avLst/>
          </a:prstGeom>
          <a:solidFill>
            <a:srgbClr val="9A75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ight Arrow 16"/>
          <p:cNvSpPr/>
          <p:nvPr/>
        </p:nvSpPr>
        <p:spPr>
          <a:xfrm>
            <a:off x="5870448" y="2569464"/>
            <a:ext cx="292608" cy="201168"/>
          </a:xfrm>
          <a:prstGeom prst="rightArrow">
            <a:avLst/>
          </a:prstGeom>
          <a:solidFill>
            <a:srgbClr val="9A75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ight Arrow 17"/>
          <p:cNvSpPr/>
          <p:nvPr/>
        </p:nvSpPr>
        <p:spPr>
          <a:xfrm>
            <a:off x="5870448" y="3666744"/>
            <a:ext cx="292608" cy="201168"/>
          </a:xfrm>
          <a:prstGeom prst="rightArrow">
            <a:avLst/>
          </a:prstGeom>
          <a:solidFill>
            <a:srgbClr val="9A75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6236207" y="2331720"/>
            <a:ext cx="5074920" cy="676656"/>
          </a:xfrm>
          <a:prstGeom prst="rect">
            <a:avLst/>
          </a:prstGeom>
          <a:solidFill>
            <a:srgbClr val="EFF3EE"/>
          </a:solidFill>
          <a:ln w="9525">
            <a:solidFill>
              <a:srgbClr val="B9C7B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419088" y="2432304"/>
            <a:ext cx="4709159" cy="237744"/>
          </a:xfrm>
          <a:prstGeom prst="rect">
            <a:avLst/>
          </a:prstGeom>
          <a:noFill/>
        </p:spPr>
        <p:txBody>
          <a:bodyPr wrap="square" lIns="0" tIns="0" rIns="0" bIns="0">
            <a:spAutoFit/>
          </a:bodyPr>
          <a:lstStyle/>
          <a:p>
            <a:pPr algn="l"/>
            <a:r>
              <a:rPr sz="1300" b="1" spc="90">
                <a:solidFill>
                  <a:srgbClr val="6C7A72"/>
                </a:solidFill>
                <a:latin typeface="Segoe UI"/>
              </a:rPr>
              <a:t>PREMIUM · 580 g/l  ·  CONTRACTED TO EUROPE</a:t>
            </a:r>
          </a:p>
        </p:txBody>
      </p:sp>
      <p:sp>
        <p:nvSpPr>
          <p:cNvPr id="21" name="TextBox 20"/>
          <p:cNvSpPr txBox="1"/>
          <p:nvPr/>
        </p:nvSpPr>
        <p:spPr>
          <a:xfrm>
            <a:off x="6419088" y="2697480"/>
            <a:ext cx="4709159" cy="237744"/>
          </a:xfrm>
          <a:prstGeom prst="rect">
            <a:avLst/>
          </a:prstGeom>
          <a:noFill/>
        </p:spPr>
        <p:txBody>
          <a:bodyPr wrap="square" lIns="0" tIns="0" rIns="0" bIns="0">
            <a:spAutoFit/>
          </a:bodyPr>
          <a:lstStyle/>
          <a:p>
            <a:pPr algn="l"/>
            <a:r>
              <a:rPr sz="1600" b="0">
                <a:solidFill>
                  <a:srgbClr val="3D4A43"/>
                </a:solidFill>
                <a:latin typeface="Segoe UI"/>
              </a:rPr>
              <a:t>80 to 100 tonnes for 2026</a:t>
            </a:r>
          </a:p>
        </p:txBody>
      </p:sp>
      <p:sp>
        <p:nvSpPr>
          <p:cNvPr id="22" name="Rectangle 21"/>
          <p:cNvSpPr/>
          <p:nvPr/>
        </p:nvSpPr>
        <p:spPr>
          <a:xfrm>
            <a:off x="6236207" y="3429000"/>
            <a:ext cx="5074920" cy="676656"/>
          </a:xfrm>
          <a:prstGeom prst="rect">
            <a:avLst/>
          </a:prstGeom>
          <a:solidFill>
            <a:srgbClr val="1F40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6419088" y="3529584"/>
            <a:ext cx="4709159" cy="237744"/>
          </a:xfrm>
          <a:prstGeom prst="rect">
            <a:avLst/>
          </a:prstGeom>
          <a:noFill/>
        </p:spPr>
        <p:txBody>
          <a:bodyPr wrap="square" lIns="0" tIns="0" rIns="0" bIns="0">
            <a:spAutoFit/>
          </a:bodyPr>
          <a:lstStyle/>
          <a:p>
            <a:pPr algn="l"/>
            <a:r>
              <a:rPr sz="1300" b="1" spc="90">
                <a:solidFill>
                  <a:srgbClr val="C7D8CD"/>
                </a:solidFill>
                <a:latin typeface="Segoe UI"/>
              </a:rPr>
              <a:t>STANDARD · 500 g/l  ·  AVAILABLE NOW</a:t>
            </a:r>
          </a:p>
        </p:txBody>
      </p:sp>
      <p:sp>
        <p:nvSpPr>
          <p:cNvPr id="24" name="TextBox 23"/>
          <p:cNvSpPr txBox="1"/>
          <p:nvPr/>
        </p:nvSpPr>
        <p:spPr>
          <a:xfrm>
            <a:off x="6419088" y="3794760"/>
            <a:ext cx="4709159" cy="237744"/>
          </a:xfrm>
          <a:prstGeom prst="rect">
            <a:avLst/>
          </a:prstGeom>
          <a:noFill/>
        </p:spPr>
        <p:txBody>
          <a:bodyPr wrap="square" lIns="0" tIns="0" rIns="0" bIns="0">
            <a:spAutoFit/>
          </a:bodyPr>
          <a:lstStyle/>
          <a:p>
            <a:pPr algn="l"/>
            <a:r>
              <a:rPr sz="1600" b="0">
                <a:solidFill>
                  <a:srgbClr val="FFFFFF"/>
                </a:solidFill>
                <a:latin typeface="Segoe UI"/>
              </a:rPr>
              <a:t>200 tonnes per year</a:t>
            </a:r>
          </a:p>
        </p:txBody>
      </p:sp>
      <p:sp>
        <p:nvSpPr>
          <p:cNvPr id="25" name="Rectangle 24"/>
          <p:cNvSpPr/>
          <p:nvPr/>
        </p:nvSpPr>
        <p:spPr>
          <a:xfrm>
            <a:off x="3566160" y="4224528"/>
            <a:ext cx="2331720" cy="566928"/>
          </a:xfrm>
          <a:prstGeom prst="rect">
            <a:avLst/>
          </a:prstGeom>
          <a:solidFill>
            <a:srgbClr val="F7F2E4"/>
          </a:solidFill>
          <a:ln w="9525">
            <a:solidFill>
              <a:srgbClr val="9A75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3694176" y="4352544"/>
            <a:ext cx="2075688" cy="329184"/>
          </a:xfrm>
          <a:prstGeom prst="rect">
            <a:avLst/>
          </a:prstGeom>
          <a:noFill/>
        </p:spPr>
        <p:txBody>
          <a:bodyPr wrap="square" lIns="0" tIns="0" rIns="0" bIns="0">
            <a:spAutoFit/>
          </a:bodyPr>
          <a:lstStyle/>
          <a:p>
            <a:pPr algn="ctr">
              <a:lnSpc>
                <a:spcPct val="115000"/>
              </a:lnSpc>
            </a:pPr>
            <a:r>
              <a:rPr sz="1100" b="1">
                <a:solidFill>
                  <a:srgbClr val="9A7526"/>
                </a:solidFill>
                <a:latin typeface="Segoe UI"/>
              </a:rPr>
              <a:t>Lower-grade raw material bought in directly</a:t>
            </a:r>
          </a:p>
        </p:txBody>
      </p:sp>
      <p:sp>
        <p:nvSpPr>
          <p:cNvPr id="27" name="Rectangle 26"/>
          <p:cNvSpPr/>
          <p:nvPr/>
        </p:nvSpPr>
        <p:spPr>
          <a:xfrm>
            <a:off x="5815583" y="4480560"/>
            <a:ext cx="420624" cy="20116"/>
          </a:xfrm>
          <a:prstGeom prst="rect">
            <a:avLst/>
          </a:prstGeom>
          <a:solidFill>
            <a:srgbClr val="9A75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6217920" y="4105656"/>
            <a:ext cx="20116" cy="393192"/>
          </a:xfrm>
          <a:prstGeom prst="rect">
            <a:avLst/>
          </a:prstGeom>
          <a:solidFill>
            <a:srgbClr val="9A75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658368" y="5074920"/>
            <a:ext cx="10424160" cy="914400"/>
          </a:xfrm>
          <a:prstGeom prst="rect">
            <a:avLst/>
          </a:prstGeom>
          <a:noFill/>
        </p:spPr>
        <p:txBody>
          <a:bodyPr wrap="square" lIns="0" tIns="0" rIns="0" bIns="0">
            <a:spAutoFit/>
          </a:bodyPr>
          <a:lstStyle/>
          <a:p>
            <a:pPr algn="l">
              <a:lnSpc>
                <a:spcPct val="136000"/>
              </a:lnSpc>
            </a:pPr>
            <a:r>
              <a:rPr sz="1600" b="0">
                <a:solidFill>
                  <a:srgbClr val="3D4A43"/>
                </a:solidFill>
                <a:latin typeface="Segoe UI"/>
              </a:rPr>
              <a:t>Grading to the European threshold separates out a lower-density fraction of the same harvest: sound, clean pepper that simply sits below the premium density line. Standard grade is precisely what the Bangladesh market buys for grinding and blending, so the two grades do not compete for the same buyer.</a:t>
            </a:r>
          </a:p>
        </p:txBody>
      </p:sp>
      <p:sp>
        <p:nvSpPr>
          <p:cNvPr id="30" name="TextBox 29"/>
          <p:cNvSpPr txBox="1"/>
          <p:nvPr/>
        </p:nvSpPr>
        <p:spPr>
          <a:xfrm>
            <a:off x="658368" y="6419088"/>
            <a:ext cx="6400800" cy="237744"/>
          </a:xfrm>
          <a:prstGeom prst="rect">
            <a:avLst/>
          </a:prstGeom>
          <a:noFill/>
        </p:spPr>
        <p:txBody>
          <a:bodyPr wrap="square" lIns="0" tIns="0" rIns="0" bIns="0">
            <a:spAutoFit/>
          </a:bodyPr>
          <a:lstStyle/>
          <a:p>
            <a:pPr algn="l"/>
            <a:r>
              <a:rPr sz="1100" b="0" spc="100">
                <a:solidFill>
                  <a:srgbClr val="6C7A72"/>
                </a:solidFill>
                <a:latin typeface="Segoe UI"/>
              </a:rPr>
              <a:t>PT KLUMBAYAN GOLD FARM   ·   COMPANY PROFILE   ·   BANGLADESH EDITION</a:t>
            </a:r>
          </a:p>
        </p:txBody>
      </p:sp>
      <p:sp>
        <p:nvSpPr>
          <p:cNvPr id="31" name="TextBox 30"/>
          <p:cNvSpPr txBox="1"/>
          <p:nvPr/>
        </p:nvSpPr>
        <p:spPr>
          <a:xfrm>
            <a:off x="9701784" y="6419088"/>
            <a:ext cx="1828800" cy="237744"/>
          </a:xfrm>
          <a:prstGeom prst="rect">
            <a:avLst/>
          </a:prstGeom>
          <a:noFill/>
        </p:spPr>
        <p:txBody>
          <a:bodyPr wrap="square" lIns="0" tIns="0" rIns="0" bIns="0">
            <a:spAutoFit/>
          </a:bodyPr>
          <a:lstStyle/>
          <a:p>
            <a:pPr algn="r"/>
            <a:r>
              <a:rPr sz="1100" b="0" spc="100">
                <a:solidFill>
                  <a:srgbClr val="6C7A72"/>
                </a:solidFill>
                <a:latin typeface="Segoe UI"/>
              </a:rPr>
              <a:t>07</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58368" y="566928"/>
            <a:ext cx="5486400" cy="274320"/>
          </a:xfrm>
          <a:prstGeom prst="rect">
            <a:avLst/>
          </a:prstGeom>
          <a:noFill/>
        </p:spPr>
        <p:txBody>
          <a:bodyPr wrap="square" lIns="0" tIns="0" rIns="0" bIns="0">
            <a:spAutoFit/>
          </a:bodyPr>
          <a:lstStyle/>
          <a:p>
            <a:pPr algn="l"/>
            <a:r>
              <a:rPr sz="1300" b="0" spc="140">
                <a:solidFill>
                  <a:srgbClr val="9A7526"/>
                </a:solidFill>
                <a:latin typeface="Segoe UI"/>
              </a:rPr>
              <a:t>08   CAPACITY</a:t>
            </a:r>
          </a:p>
        </p:txBody>
      </p:sp>
      <p:sp>
        <p:nvSpPr>
          <p:cNvPr id="4" name="Rectangle 3"/>
          <p:cNvSpPr/>
          <p:nvPr/>
        </p:nvSpPr>
        <p:spPr>
          <a:xfrm>
            <a:off x="658368" y="822960"/>
            <a:ext cx="10872215" cy="10972"/>
          </a:xfrm>
          <a:prstGeom prst="rect">
            <a:avLst/>
          </a:prstGeom>
          <a:solidFill>
            <a:srgbClr val="B9C7B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658368" y="818388"/>
            <a:ext cx="402336" cy="20116"/>
          </a:xfrm>
          <a:prstGeom prst="rect">
            <a:avLst/>
          </a:prstGeom>
          <a:solidFill>
            <a:srgbClr val="9A75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58368" y="1024128"/>
            <a:ext cx="10872216" cy="1188720"/>
          </a:xfrm>
          <a:prstGeom prst="rect">
            <a:avLst/>
          </a:prstGeom>
          <a:noFill/>
        </p:spPr>
        <p:txBody>
          <a:bodyPr wrap="square" lIns="0" tIns="0" rIns="0" bIns="0">
            <a:spAutoFit/>
          </a:bodyPr>
          <a:lstStyle/>
          <a:p>
            <a:pPr algn="l">
              <a:lnSpc>
                <a:spcPct val="112000"/>
              </a:lnSpc>
            </a:pPr>
            <a:r>
              <a:rPr sz="3200" b="1">
                <a:solidFill>
                  <a:srgbClr val="141D18"/>
                </a:solidFill>
                <a:latin typeface="Georgia"/>
              </a:rPr>
              <a:t>The plant is running below its limit, on purpose.</a:t>
            </a:r>
          </a:p>
        </p:txBody>
      </p:sp>
      <p:sp>
        <p:nvSpPr>
          <p:cNvPr id="7" name="TextBox 6"/>
          <p:cNvSpPr txBox="1"/>
          <p:nvPr/>
        </p:nvSpPr>
        <p:spPr>
          <a:xfrm>
            <a:off x="658368" y="2395728"/>
            <a:ext cx="10424160" cy="914400"/>
          </a:xfrm>
          <a:prstGeom prst="rect">
            <a:avLst/>
          </a:prstGeom>
          <a:noFill/>
        </p:spPr>
        <p:txBody>
          <a:bodyPr wrap="square" lIns="0" tIns="0" rIns="0" bIns="0">
            <a:spAutoFit/>
          </a:bodyPr>
          <a:lstStyle/>
          <a:p>
            <a:pPr algn="l">
              <a:lnSpc>
                <a:spcPct val="138000"/>
              </a:lnSpc>
            </a:pPr>
            <a:r>
              <a:rPr sz="1600" b="0">
                <a:solidFill>
                  <a:srgbClr val="3D4A43"/>
                </a:solidFill>
                <a:latin typeface="Segoe UI"/>
              </a:rPr>
              <a:t>We concentrated on a single European contract, so machine hours and farmer supply both have headroom. New buyer volume does not displace anything. It fills capacity that already exists.</a:t>
            </a:r>
          </a:p>
        </p:txBody>
      </p:sp>
      <p:sp>
        <p:nvSpPr>
          <p:cNvPr id="8" name="TextBox 7"/>
          <p:cNvSpPr txBox="1"/>
          <p:nvPr/>
        </p:nvSpPr>
        <p:spPr>
          <a:xfrm>
            <a:off x="658368" y="3566160"/>
            <a:ext cx="3383280" cy="566928"/>
          </a:xfrm>
          <a:prstGeom prst="rect">
            <a:avLst/>
          </a:prstGeom>
          <a:noFill/>
        </p:spPr>
        <p:txBody>
          <a:bodyPr wrap="square" lIns="0" tIns="0" rIns="0" bIns="0">
            <a:spAutoFit/>
          </a:bodyPr>
          <a:lstStyle/>
          <a:p>
            <a:pPr algn="l"/>
            <a:r>
              <a:rPr sz="3200" b="1">
                <a:solidFill>
                  <a:srgbClr val="1F4034"/>
                </a:solidFill>
                <a:latin typeface="Georgia"/>
              </a:rPr>
              <a:t>200 MT/yr</a:t>
            </a:r>
          </a:p>
        </p:txBody>
      </p:sp>
      <p:sp>
        <p:nvSpPr>
          <p:cNvPr id="9" name="TextBox 8"/>
          <p:cNvSpPr txBox="1"/>
          <p:nvPr/>
        </p:nvSpPr>
        <p:spPr>
          <a:xfrm>
            <a:off x="658368" y="4133087"/>
            <a:ext cx="3383280" cy="274320"/>
          </a:xfrm>
          <a:prstGeom prst="rect">
            <a:avLst/>
          </a:prstGeom>
          <a:noFill/>
        </p:spPr>
        <p:txBody>
          <a:bodyPr wrap="square" lIns="0" tIns="0" rIns="0" bIns="0">
            <a:spAutoFit/>
          </a:bodyPr>
          <a:lstStyle/>
          <a:p>
            <a:pPr algn="l"/>
            <a:r>
              <a:rPr sz="1100" b="0" spc="100">
                <a:solidFill>
                  <a:srgbClr val="6C7A72"/>
                </a:solidFill>
                <a:latin typeface="Segoe UI"/>
              </a:rPr>
              <a:t>STANDARD PEPPER, AVAILABLE</a:t>
            </a:r>
          </a:p>
        </p:txBody>
      </p:sp>
      <p:sp>
        <p:nvSpPr>
          <p:cNvPr id="10" name="TextBox 9"/>
          <p:cNvSpPr txBox="1"/>
          <p:nvPr/>
        </p:nvSpPr>
        <p:spPr>
          <a:xfrm>
            <a:off x="4270248" y="3566160"/>
            <a:ext cx="3383280" cy="566928"/>
          </a:xfrm>
          <a:prstGeom prst="rect">
            <a:avLst/>
          </a:prstGeom>
          <a:noFill/>
        </p:spPr>
        <p:txBody>
          <a:bodyPr wrap="square" lIns="0" tIns="0" rIns="0" bIns="0">
            <a:spAutoFit/>
          </a:bodyPr>
          <a:lstStyle/>
          <a:p>
            <a:pPr algn="l"/>
            <a:r>
              <a:rPr sz="3200" b="1">
                <a:solidFill>
                  <a:srgbClr val="1F4034"/>
                </a:solidFill>
                <a:latin typeface="Georgia"/>
              </a:rPr>
              <a:t>300 MT/mo</a:t>
            </a:r>
          </a:p>
        </p:txBody>
      </p:sp>
      <p:sp>
        <p:nvSpPr>
          <p:cNvPr id="11" name="TextBox 10"/>
          <p:cNvSpPr txBox="1"/>
          <p:nvPr/>
        </p:nvSpPr>
        <p:spPr>
          <a:xfrm>
            <a:off x="4270248" y="4133087"/>
            <a:ext cx="3383280" cy="274320"/>
          </a:xfrm>
          <a:prstGeom prst="rect">
            <a:avLst/>
          </a:prstGeom>
          <a:noFill/>
        </p:spPr>
        <p:txBody>
          <a:bodyPr wrap="square" lIns="0" tIns="0" rIns="0" bIns="0">
            <a:spAutoFit/>
          </a:bodyPr>
          <a:lstStyle/>
          <a:p>
            <a:pPr algn="l"/>
            <a:r>
              <a:rPr sz="1100" b="0" spc="100">
                <a:solidFill>
                  <a:srgbClr val="6C7A72"/>
                </a:solidFill>
                <a:latin typeface="Segoe UI"/>
              </a:rPr>
              <a:t>ROBUSTA, CEILING 720</a:t>
            </a:r>
          </a:p>
        </p:txBody>
      </p:sp>
      <p:sp>
        <p:nvSpPr>
          <p:cNvPr id="12" name="TextBox 11"/>
          <p:cNvSpPr txBox="1"/>
          <p:nvPr/>
        </p:nvSpPr>
        <p:spPr>
          <a:xfrm>
            <a:off x="7882128" y="3566160"/>
            <a:ext cx="3383280" cy="566928"/>
          </a:xfrm>
          <a:prstGeom prst="rect">
            <a:avLst/>
          </a:prstGeom>
          <a:noFill/>
        </p:spPr>
        <p:txBody>
          <a:bodyPr wrap="square" lIns="0" tIns="0" rIns="0" bIns="0">
            <a:spAutoFit/>
          </a:bodyPr>
          <a:lstStyle/>
          <a:p>
            <a:pPr algn="l"/>
            <a:r>
              <a:rPr sz="3200" b="1">
                <a:solidFill>
                  <a:srgbClr val="1F4034"/>
                </a:solidFill>
                <a:latin typeface="Georgia"/>
              </a:rPr>
              <a:t>2,000 MT</a:t>
            </a:r>
          </a:p>
        </p:txBody>
      </p:sp>
      <p:sp>
        <p:nvSpPr>
          <p:cNvPr id="13" name="TextBox 12"/>
          <p:cNvSpPr txBox="1"/>
          <p:nvPr/>
        </p:nvSpPr>
        <p:spPr>
          <a:xfrm>
            <a:off x="7882128" y="4133087"/>
            <a:ext cx="3383280" cy="274320"/>
          </a:xfrm>
          <a:prstGeom prst="rect">
            <a:avLst/>
          </a:prstGeom>
          <a:noFill/>
        </p:spPr>
        <p:txBody>
          <a:bodyPr wrap="square" lIns="0" tIns="0" rIns="0" bIns="0">
            <a:spAutoFit/>
          </a:bodyPr>
          <a:lstStyle/>
          <a:p>
            <a:pPr algn="l"/>
            <a:r>
              <a:rPr sz="1100" b="0" spc="100">
                <a:solidFill>
                  <a:srgbClr val="6C7A72"/>
                </a:solidFill>
                <a:latin typeface="Segoe UI"/>
              </a:rPr>
              <a:t>WAREHOUSE AT NATAR</a:t>
            </a:r>
          </a:p>
        </p:txBody>
      </p:sp>
      <p:sp>
        <p:nvSpPr>
          <p:cNvPr id="14" name="Rectangle 13"/>
          <p:cNvSpPr/>
          <p:nvPr/>
        </p:nvSpPr>
        <p:spPr>
          <a:xfrm>
            <a:off x="658368" y="4892040"/>
            <a:ext cx="10872216" cy="10972"/>
          </a:xfrm>
          <a:prstGeom prst="rect">
            <a:avLst/>
          </a:prstGeom>
          <a:solidFill>
            <a:srgbClr val="B9C7B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58368" y="5029200"/>
            <a:ext cx="10424160" cy="731520"/>
          </a:xfrm>
          <a:prstGeom prst="rect">
            <a:avLst/>
          </a:prstGeom>
          <a:noFill/>
        </p:spPr>
        <p:txBody>
          <a:bodyPr wrap="square" lIns="0" tIns="0" rIns="0" bIns="0">
            <a:spAutoFit/>
          </a:bodyPr>
          <a:lstStyle/>
          <a:p>
            <a:pPr algn="l">
              <a:lnSpc>
                <a:spcPct val="122000"/>
              </a:lnSpc>
            </a:pPr>
            <a:r>
              <a:rPr sz="2000" b="1">
                <a:solidFill>
                  <a:srgbClr val="1F4034"/>
                </a:solidFill>
                <a:latin typeface="Georgia"/>
              </a:rPr>
              <a:t>The limit is how far ahead an order is placed, not whether we have the plant or the farmers to fulfil it.</a:t>
            </a:r>
          </a:p>
        </p:txBody>
      </p:sp>
      <p:sp>
        <p:nvSpPr>
          <p:cNvPr id="16" name="TextBox 15"/>
          <p:cNvSpPr txBox="1"/>
          <p:nvPr/>
        </p:nvSpPr>
        <p:spPr>
          <a:xfrm>
            <a:off x="658368" y="5779008"/>
            <a:ext cx="10424160" cy="457200"/>
          </a:xfrm>
          <a:prstGeom prst="rect">
            <a:avLst/>
          </a:prstGeom>
          <a:noFill/>
        </p:spPr>
        <p:txBody>
          <a:bodyPr wrap="square" lIns="0" tIns="0" rIns="0" bIns="0">
            <a:spAutoFit/>
          </a:bodyPr>
          <a:lstStyle/>
          <a:p>
            <a:pPr algn="l">
              <a:lnSpc>
                <a:spcPct val="134000"/>
              </a:lnSpc>
            </a:pPr>
            <a:r>
              <a:rPr sz="1600" b="0">
                <a:solidFill>
                  <a:srgbClr val="3D4A43"/>
                </a:solidFill>
                <a:latin typeface="Segoe UI"/>
              </a:rPr>
              <a:t>We would still prefer to open a relationship with a trial container, so quality is judged on the product and the volume grows from a shipment that has actually landed.</a:t>
            </a:r>
          </a:p>
        </p:txBody>
      </p:sp>
      <p:sp>
        <p:nvSpPr>
          <p:cNvPr id="17" name="TextBox 16"/>
          <p:cNvSpPr txBox="1"/>
          <p:nvPr/>
        </p:nvSpPr>
        <p:spPr>
          <a:xfrm>
            <a:off x="658368" y="6419088"/>
            <a:ext cx="6400800" cy="237744"/>
          </a:xfrm>
          <a:prstGeom prst="rect">
            <a:avLst/>
          </a:prstGeom>
          <a:noFill/>
        </p:spPr>
        <p:txBody>
          <a:bodyPr wrap="square" lIns="0" tIns="0" rIns="0" bIns="0">
            <a:spAutoFit/>
          </a:bodyPr>
          <a:lstStyle/>
          <a:p>
            <a:pPr algn="l"/>
            <a:r>
              <a:rPr sz="1100" b="0" spc="100">
                <a:solidFill>
                  <a:srgbClr val="6C7A72"/>
                </a:solidFill>
                <a:latin typeface="Segoe UI"/>
              </a:rPr>
              <a:t>PT KLUMBAYAN GOLD FARM   ·   COMPANY PROFILE   ·   BANGLADESH EDITION</a:t>
            </a:r>
          </a:p>
        </p:txBody>
      </p:sp>
      <p:sp>
        <p:nvSpPr>
          <p:cNvPr id="18" name="TextBox 17"/>
          <p:cNvSpPr txBox="1"/>
          <p:nvPr/>
        </p:nvSpPr>
        <p:spPr>
          <a:xfrm>
            <a:off x="9701784" y="6419088"/>
            <a:ext cx="1828800" cy="237744"/>
          </a:xfrm>
          <a:prstGeom prst="rect">
            <a:avLst/>
          </a:prstGeom>
          <a:noFill/>
        </p:spPr>
        <p:txBody>
          <a:bodyPr wrap="square" lIns="0" tIns="0" rIns="0" bIns="0">
            <a:spAutoFit/>
          </a:bodyPr>
          <a:lstStyle/>
          <a:p>
            <a:pPr algn="r"/>
            <a:r>
              <a:rPr sz="1100" b="0" spc="100">
                <a:solidFill>
                  <a:srgbClr val="6C7A72"/>
                </a:solidFill>
                <a:latin typeface="Segoe UI"/>
              </a:rPr>
              <a:t>08</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58368" y="566928"/>
            <a:ext cx="5486400" cy="274320"/>
          </a:xfrm>
          <a:prstGeom prst="rect">
            <a:avLst/>
          </a:prstGeom>
          <a:noFill/>
        </p:spPr>
        <p:txBody>
          <a:bodyPr wrap="square" lIns="0" tIns="0" rIns="0" bIns="0">
            <a:spAutoFit/>
          </a:bodyPr>
          <a:lstStyle/>
          <a:p>
            <a:pPr algn="l"/>
            <a:r>
              <a:rPr sz="1300" b="0" spc="140">
                <a:solidFill>
                  <a:srgbClr val="9A7526"/>
                </a:solidFill>
                <a:latin typeface="Segoe UI"/>
              </a:rPr>
              <a:t>09   TRACEABILITY</a:t>
            </a:r>
          </a:p>
        </p:txBody>
      </p:sp>
      <p:sp>
        <p:nvSpPr>
          <p:cNvPr id="4" name="Rectangle 3"/>
          <p:cNvSpPr/>
          <p:nvPr/>
        </p:nvSpPr>
        <p:spPr>
          <a:xfrm>
            <a:off x="658368" y="822960"/>
            <a:ext cx="10872215" cy="10972"/>
          </a:xfrm>
          <a:prstGeom prst="rect">
            <a:avLst/>
          </a:prstGeom>
          <a:solidFill>
            <a:srgbClr val="B9C7B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658368" y="818388"/>
            <a:ext cx="402336" cy="20116"/>
          </a:xfrm>
          <a:prstGeom prst="rect">
            <a:avLst/>
          </a:prstGeom>
          <a:solidFill>
            <a:srgbClr val="9A75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58368" y="1024128"/>
            <a:ext cx="10872216" cy="1188720"/>
          </a:xfrm>
          <a:prstGeom prst="rect">
            <a:avLst/>
          </a:prstGeom>
          <a:noFill/>
        </p:spPr>
        <p:txBody>
          <a:bodyPr wrap="square" lIns="0" tIns="0" rIns="0" bIns="0">
            <a:spAutoFit/>
          </a:bodyPr>
          <a:lstStyle/>
          <a:p>
            <a:pPr algn="l">
              <a:lnSpc>
                <a:spcPct val="112000"/>
              </a:lnSpc>
            </a:pPr>
            <a:r>
              <a:rPr sz="3600" b="1">
                <a:solidFill>
                  <a:srgbClr val="141D18"/>
                </a:solidFill>
                <a:latin typeface="Georgia"/>
              </a:rPr>
              <a:t>TAPAK: every lot traced to a mapped plot.</a:t>
            </a:r>
          </a:p>
        </p:txBody>
      </p:sp>
      <p:sp>
        <p:nvSpPr>
          <p:cNvPr id="7" name="TextBox 6"/>
          <p:cNvSpPr txBox="1"/>
          <p:nvPr/>
        </p:nvSpPr>
        <p:spPr>
          <a:xfrm>
            <a:off x="658368" y="1980777"/>
            <a:ext cx="5852160" cy="329184"/>
          </a:xfrm>
          <a:prstGeom prst="rect">
            <a:avLst/>
          </a:prstGeom>
          <a:noFill/>
        </p:spPr>
        <p:txBody>
          <a:bodyPr wrap="square" lIns="0" tIns="0" rIns="0" bIns="0">
            <a:spAutoFit/>
          </a:bodyPr>
          <a:lstStyle/>
          <a:p>
            <a:pPr algn="l"/>
            <a:r>
              <a:rPr sz="1300" b="1" spc="90" dirty="0">
                <a:solidFill>
                  <a:srgbClr val="9A7526"/>
                </a:solidFill>
                <a:latin typeface="Segoe UI"/>
              </a:rPr>
              <a:t>TRACEABILITY AND ACCOUNTABILITY OF PROFESSIONAL AGRI-KGF</a:t>
            </a:r>
          </a:p>
        </p:txBody>
      </p:sp>
      <p:sp>
        <p:nvSpPr>
          <p:cNvPr id="8" name="TextBox 7"/>
          <p:cNvSpPr txBox="1"/>
          <p:nvPr/>
        </p:nvSpPr>
        <p:spPr>
          <a:xfrm>
            <a:off x="658368" y="2474553"/>
            <a:ext cx="5852160" cy="1371600"/>
          </a:xfrm>
          <a:prstGeom prst="rect">
            <a:avLst/>
          </a:prstGeom>
          <a:noFill/>
        </p:spPr>
        <p:txBody>
          <a:bodyPr wrap="square" lIns="0" tIns="0" rIns="0" bIns="0">
            <a:spAutoFit/>
          </a:bodyPr>
          <a:lstStyle/>
          <a:p>
            <a:pPr algn="l">
              <a:lnSpc>
                <a:spcPct val="138000"/>
              </a:lnSpc>
            </a:pPr>
            <a:r>
              <a:rPr sz="1600" b="0">
                <a:solidFill>
                  <a:srgbClr val="3D4A43"/>
                </a:solidFill>
                <a:latin typeface="Segoe UI"/>
              </a:rPr>
              <a:t>Live and in production use. Every purchase records farmer identity, plot polygon coordinates, volume, digital receipts and warehouse lot movement.</a:t>
            </a:r>
          </a:p>
        </p:txBody>
      </p:sp>
      <p:sp>
        <p:nvSpPr>
          <p:cNvPr id="9" name="TextBox 8"/>
          <p:cNvSpPr txBox="1"/>
          <p:nvPr/>
        </p:nvSpPr>
        <p:spPr>
          <a:xfrm>
            <a:off x="658368" y="3809577"/>
            <a:ext cx="5852160" cy="1554480"/>
          </a:xfrm>
          <a:prstGeom prst="rect">
            <a:avLst/>
          </a:prstGeom>
          <a:noFill/>
        </p:spPr>
        <p:txBody>
          <a:bodyPr wrap="square" lIns="0" tIns="0" rIns="0" bIns="0">
            <a:spAutoFit/>
          </a:bodyPr>
          <a:lstStyle/>
          <a:p>
            <a:pPr algn="l">
              <a:lnSpc>
                <a:spcPct val="138000"/>
              </a:lnSpc>
            </a:pPr>
            <a:r>
              <a:rPr sz="1600" b="0">
                <a:solidFill>
                  <a:srgbClr val="3D4A43"/>
                </a:solidFill>
                <a:latin typeface="Segoe UI"/>
              </a:rPr>
              <a:t>An importer asking which farms a container came from receives a plot-level answer, and can be granted dashboard access to verify it independently rather than taking our word for it.</a:t>
            </a:r>
          </a:p>
        </p:txBody>
      </p:sp>
      <p:sp>
        <p:nvSpPr>
          <p:cNvPr id="10" name="TextBox 9"/>
          <p:cNvSpPr txBox="1"/>
          <p:nvPr/>
        </p:nvSpPr>
        <p:spPr>
          <a:xfrm>
            <a:off x="658368" y="5306668"/>
            <a:ext cx="5852160" cy="548640"/>
          </a:xfrm>
          <a:prstGeom prst="rect">
            <a:avLst/>
          </a:prstGeom>
          <a:noFill/>
        </p:spPr>
        <p:txBody>
          <a:bodyPr wrap="square" lIns="0" tIns="0" rIns="0" bIns="0">
            <a:spAutoFit/>
          </a:bodyPr>
          <a:lstStyle/>
          <a:p>
            <a:pPr algn="l">
              <a:lnSpc>
                <a:spcPct val="130000"/>
              </a:lnSpc>
            </a:pPr>
            <a:r>
              <a:rPr sz="1600" b="1" dirty="0">
                <a:solidFill>
                  <a:srgbClr val="1F4034"/>
                </a:solidFill>
                <a:latin typeface="Segoe UI"/>
              </a:rPr>
              <a:t>The same record is what makes our deforestation-free claim survive an audit.</a:t>
            </a:r>
          </a:p>
        </p:txBody>
      </p:sp>
      <p:sp>
        <p:nvSpPr>
          <p:cNvPr id="13" name="TextBox 12"/>
          <p:cNvSpPr txBox="1"/>
          <p:nvPr/>
        </p:nvSpPr>
        <p:spPr>
          <a:xfrm>
            <a:off x="658368" y="6419088"/>
            <a:ext cx="6400800" cy="237744"/>
          </a:xfrm>
          <a:prstGeom prst="rect">
            <a:avLst/>
          </a:prstGeom>
          <a:noFill/>
        </p:spPr>
        <p:txBody>
          <a:bodyPr wrap="square" lIns="0" tIns="0" rIns="0" bIns="0">
            <a:spAutoFit/>
          </a:bodyPr>
          <a:lstStyle/>
          <a:p>
            <a:pPr algn="l"/>
            <a:r>
              <a:rPr sz="1100" b="0" spc="100">
                <a:solidFill>
                  <a:srgbClr val="6C7A72"/>
                </a:solidFill>
                <a:latin typeface="Segoe UI"/>
              </a:rPr>
              <a:t>PT KLUMBAYAN GOLD FARM   ·   COMPANY PROFILE   ·   BANGLADESH EDITION</a:t>
            </a:r>
          </a:p>
        </p:txBody>
      </p:sp>
      <p:sp>
        <p:nvSpPr>
          <p:cNvPr id="14" name="TextBox 13"/>
          <p:cNvSpPr txBox="1"/>
          <p:nvPr/>
        </p:nvSpPr>
        <p:spPr>
          <a:xfrm>
            <a:off x="9701784" y="6419088"/>
            <a:ext cx="1828800" cy="237744"/>
          </a:xfrm>
          <a:prstGeom prst="rect">
            <a:avLst/>
          </a:prstGeom>
          <a:noFill/>
        </p:spPr>
        <p:txBody>
          <a:bodyPr wrap="square" lIns="0" tIns="0" rIns="0" bIns="0">
            <a:spAutoFit/>
          </a:bodyPr>
          <a:lstStyle/>
          <a:p>
            <a:pPr algn="r"/>
            <a:r>
              <a:rPr sz="1100" b="0" spc="100">
                <a:solidFill>
                  <a:srgbClr val="6C7A72"/>
                </a:solidFill>
                <a:latin typeface="Segoe UI"/>
              </a:rPr>
              <a:t>09</a:t>
            </a:r>
          </a:p>
        </p:txBody>
      </p:sp>
      <p:pic>
        <p:nvPicPr>
          <p:cNvPr id="16" name="Picture 15">
            <a:extLst>
              <a:ext uri="{FF2B5EF4-FFF2-40B4-BE49-F238E27FC236}">
                <a16:creationId xmlns:a16="http://schemas.microsoft.com/office/drawing/2014/main" id="{E139C5C6-E1D4-D687-FE6D-FE49C6B9B57C}"/>
              </a:ext>
            </a:extLst>
          </p:cNvPr>
          <p:cNvPicPr>
            <a:picLocks noChangeAspect="1"/>
          </p:cNvPicPr>
          <p:nvPr/>
        </p:nvPicPr>
        <p:blipFill>
          <a:blip r:embed="rId2"/>
          <a:stretch>
            <a:fillRect/>
          </a:stretch>
        </p:blipFill>
        <p:spPr>
          <a:xfrm>
            <a:off x="6913179" y="2110369"/>
            <a:ext cx="5245540" cy="3336617"/>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58368" y="566928"/>
            <a:ext cx="5486400" cy="274320"/>
          </a:xfrm>
          <a:prstGeom prst="rect">
            <a:avLst/>
          </a:prstGeom>
          <a:noFill/>
        </p:spPr>
        <p:txBody>
          <a:bodyPr wrap="square" lIns="0" tIns="0" rIns="0" bIns="0">
            <a:spAutoFit/>
          </a:bodyPr>
          <a:lstStyle/>
          <a:p>
            <a:pPr algn="l"/>
            <a:r>
              <a:rPr sz="1300" b="0" spc="140">
                <a:solidFill>
                  <a:srgbClr val="9A7526"/>
                </a:solidFill>
                <a:latin typeface="Segoe UI"/>
              </a:rPr>
              <a:t>10   HALAL AND DOCUMENTATION</a:t>
            </a:r>
          </a:p>
        </p:txBody>
      </p:sp>
      <p:sp>
        <p:nvSpPr>
          <p:cNvPr id="4" name="Rectangle 3"/>
          <p:cNvSpPr/>
          <p:nvPr/>
        </p:nvSpPr>
        <p:spPr>
          <a:xfrm>
            <a:off x="658368" y="822960"/>
            <a:ext cx="10872215" cy="10972"/>
          </a:xfrm>
          <a:prstGeom prst="rect">
            <a:avLst/>
          </a:prstGeom>
          <a:solidFill>
            <a:srgbClr val="B9C7B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658368" y="818388"/>
            <a:ext cx="402336" cy="20116"/>
          </a:xfrm>
          <a:prstGeom prst="rect">
            <a:avLst/>
          </a:prstGeom>
          <a:solidFill>
            <a:srgbClr val="9A75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58368" y="1024128"/>
            <a:ext cx="10872216" cy="1188720"/>
          </a:xfrm>
          <a:prstGeom prst="rect">
            <a:avLst/>
          </a:prstGeom>
          <a:noFill/>
        </p:spPr>
        <p:txBody>
          <a:bodyPr wrap="square" lIns="0" tIns="0" rIns="0" bIns="0">
            <a:spAutoFit/>
          </a:bodyPr>
          <a:lstStyle/>
          <a:p>
            <a:pPr algn="l">
              <a:lnSpc>
                <a:spcPct val="112000"/>
              </a:lnSpc>
            </a:pPr>
            <a:r>
              <a:rPr sz="3600" b="1">
                <a:solidFill>
                  <a:srgbClr val="141D18"/>
                </a:solidFill>
                <a:latin typeface="Georgia"/>
              </a:rPr>
              <a:t>What we hold, and what we do not.</a:t>
            </a:r>
          </a:p>
        </p:txBody>
      </p:sp>
      <p:sp>
        <p:nvSpPr>
          <p:cNvPr id="7" name="Rectangle 6"/>
          <p:cNvSpPr/>
          <p:nvPr/>
        </p:nvSpPr>
        <p:spPr>
          <a:xfrm>
            <a:off x="658368" y="2267712"/>
            <a:ext cx="10872216" cy="402336"/>
          </a:xfrm>
          <a:prstGeom prst="rect">
            <a:avLst/>
          </a:prstGeom>
          <a:solidFill>
            <a:srgbClr val="EFF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59536" y="2331720"/>
            <a:ext cx="6766560" cy="292608"/>
          </a:xfrm>
          <a:prstGeom prst="rect">
            <a:avLst/>
          </a:prstGeom>
          <a:noFill/>
        </p:spPr>
        <p:txBody>
          <a:bodyPr wrap="square" lIns="0" tIns="0" rIns="0" bIns="0">
            <a:spAutoFit/>
          </a:bodyPr>
          <a:lstStyle/>
          <a:p>
            <a:pPr algn="l"/>
            <a:r>
              <a:rPr sz="1600" b="0">
                <a:solidFill>
                  <a:srgbClr val="141D18"/>
                </a:solidFill>
                <a:latin typeface="Segoe UI"/>
              </a:rPr>
              <a:t>Halal certification</a:t>
            </a:r>
          </a:p>
        </p:txBody>
      </p:sp>
      <p:sp>
        <p:nvSpPr>
          <p:cNvPr id="9" name="TextBox 8"/>
          <p:cNvSpPr txBox="1"/>
          <p:nvPr/>
        </p:nvSpPr>
        <p:spPr>
          <a:xfrm>
            <a:off x="7973568" y="2350008"/>
            <a:ext cx="3383280" cy="274320"/>
          </a:xfrm>
          <a:prstGeom prst="rect">
            <a:avLst/>
          </a:prstGeom>
          <a:noFill/>
        </p:spPr>
        <p:txBody>
          <a:bodyPr wrap="square" lIns="0" tIns="0" rIns="0" bIns="0">
            <a:spAutoFit/>
          </a:bodyPr>
          <a:lstStyle/>
          <a:p>
            <a:pPr algn="l"/>
            <a:r>
              <a:rPr sz="1300" b="1" spc="90">
                <a:solidFill>
                  <a:srgbClr val="9A7526"/>
                </a:solidFill>
                <a:latin typeface="Segoe UI"/>
              </a:rPr>
              <a:t>IN PROGRESS</a:t>
            </a:r>
          </a:p>
        </p:txBody>
      </p:sp>
      <p:sp>
        <p:nvSpPr>
          <p:cNvPr id="10" name="TextBox 9"/>
          <p:cNvSpPr txBox="1"/>
          <p:nvPr/>
        </p:nvSpPr>
        <p:spPr>
          <a:xfrm>
            <a:off x="859536" y="2747772"/>
            <a:ext cx="6766560" cy="292608"/>
          </a:xfrm>
          <a:prstGeom prst="rect">
            <a:avLst/>
          </a:prstGeom>
          <a:noFill/>
        </p:spPr>
        <p:txBody>
          <a:bodyPr wrap="square" lIns="0" tIns="0" rIns="0" bIns="0">
            <a:spAutoFit/>
          </a:bodyPr>
          <a:lstStyle/>
          <a:p>
            <a:pPr algn="l"/>
            <a:r>
              <a:rPr sz="1600" b="0">
                <a:solidFill>
                  <a:srgbClr val="141D18"/>
                </a:solidFill>
                <a:latin typeface="Segoe UI"/>
              </a:rPr>
              <a:t>Phytosanitary certificate</a:t>
            </a:r>
          </a:p>
        </p:txBody>
      </p:sp>
      <p:sp>
        <p:nvSpPr>
          <p:cNvPr id="11" name="TextBox 10"/>
          <p:cNvSpPr txBox="1"/>
          <p:nvPr/>
        </p:nvSpPr>
        <p:spPr>
          <a:xfrm>
            <a:off x="7973568" y="2766060"/>
            <a:ext cx="3383280" cy="274320"/>
          </a:xfrm>
          <a:prstGeom prst="rect">
            <a:avLst/>
          </a:prstGeom>
          <a:noFill/>
        </p:spPr>
        <p:txBody>
          <a:bodyPr wrap="square" lIns="0" tIns="0" rIns="0" bIns="0">
            <a:spAutoFit/>
          </a:bodyPr>
          <a:lstStyle/>
          <a:p>
            <a:pPr algn="l"/>
            <a:r>
              <a:rPr sz="1300" b="1" spc="90">
                <a:solidFill>
                  <a:srgbClr val="9A7526"/>
                </a:solidFill>
                <a:latin typeface="Segoe UI"/>
              </a:rPr>
              <a:t>TO CONFIRM</a:t>
            </a:r>
          </a:p>
        </p:txBody>
      </p:sp>
      <p:sp>
        <p:nvSpPr>
          <p:cNvPr id="12" name="Rectangle 11"/>
          <p:cNvSpPr/>
          <p:nvPr/>
        </p:nvSpPr>
        <p:spPr>
          <a:xfrm>
            <a:off x="658368" y="3099816"/>
            <a:ext cx="10872216" cy="402336"/>
          </a:xfrm>
          <a:prstGeom prst="rect">
            <a:avLst/>
          </a:prstGeom>
          <a:solidFill>
            <a:srgbClr val="EFF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859536" y="3163824"/>
            <a:ext cx="6766560" cy="292608"/>
          </a:xfrm>
          <a:prstGeom prst="rect">
            <a:avLst/>
          </a:prstGeom>
          <a:noFill/>
        </p:spPr>
        <p:txBody>
          <a:bodyPr wrap="square" lIns="0" tIns="0" rIns="0" bIns="0">
            <a:spAutoFit/>
          </a:bodyPr>
          <a:lstStyle/>
          <a:p>
            <a:pPr algn="l"/>
            <a:r>
              <a:rPr sz="1600" b="0">
                <a:solidFill>
                  <a:srgbClr val="141D18"/>
                </a:solidFill>
                <a:latin typeface="Segoe UI"/>
              </a:rPr>
              <a:t>Business licence and KBLI</a:t>
            </a:r>
          </a:p>
        </p:txBody>
      </p:sp>
      <p:sp>
        <p:nvSpPr>
          <p:cNvPr id="14" name="TextBox 13"/>
          <p:cNvSpPr txBox="1"/>
          <p:nvPr/>
        </p:nvSpPr>
        <p:spPr>
          <a:xfrm>
            <a:off x="7973568" y="3182112"/>
            <a:ext cx="3383280" cy="274320"/>
          </a:xfrm>
          <a:prstGeom prst="rect">
            <a:avLst/>
          </a:prstGeom>
          <a:noFill/>
        </p:spPr>
        <p:txBody>
          <a:bodyPr wrap="square" lIns="0" tIns="0" rIns="0" bIns="0">
            <a:spAutoFit/>
          </a:bodyPr>
          <a:lstStyle/>
          <a:p>
            <a:pPr algn="l"/>
            <a:r>
              <a:rPr sz="1300" b="1" spc="90">
                <a:solidFill>
                  <a:srgbClr val="9A7526"/>
                </a:solidFill>
                <a:latin typeface="Segoe UI"/>
              </a:rPr>
              <a:t>UPDATE IN PROGRESS</a:t>
            </a:r>
          </a:p>
        </p:txBody>
      </p:sp>
      <p:sp>
        <p:nvSpPr>
          <p:cNvPr id="15" name="TextBox 14"/>
          <p:cNvSpPr txBox="1"/>
          <p:nvPr/>
        </p:nvSpPr>
        <p:spPr>
          <a:xfrm>
            <a:off x="859536" y="3579876"/>
            <a:ext cx="6766560" cy="292608"/>
          </a:xfrm>
          <a:prstGeom prst="rect">
            <a:avLst/>
          </a:prstGeom>
          <a:noFill/>
        </p:spPr>
        <p:txBody>
          <a:bodyPr wrap="square" lIns="0" tIns="0" rIns="0" bIns="0">
            <a:spAutoFit/>
          </a:bodyPr>
          <a:lstStyle/>
          <a:p>
            <a:pPr algn="l"/>
            <a:r>
              <a:rPr sz="1600" b="0">
                <a:solidFill>
                  <a:srgbClr val="141D18"/>
                </a:solidFill>
                <a:latin typeface="Segoe UI"/>
              </a:rPr>
              <a:t>Plot-level traceability</a:t>
            </a:r>
          </a:p>
        </p:txBody>
      </p:sp>
      <p:sp>
        <p:nvSpPr>
          <p:cNvPr id="16" name="TextBox 15"/>
          <p:cNvSpPr txBox="1"/>
          <p:nvPr/>
        </p:nvSpPr>
        <p:spPr>
          <a:xfrm>
            <a:off x="7973568" y="3598164"/>
            <a:ext cx="3383280" cy="274320"/>
          </a:xfrm>
          <a:prstGeom prst="rect">
            <a:avLst/>
          </a:prstGeom>
          <a:noFill/>
        </p:spPr>
        <p:txBody>
          <a:bodyPr wrap="square" lIns="0" tIns="0" rIns="0" bIns="0">
            <a:spAutoFit/>
          </a:bodyPr>
          <a:lstStyle/>
          <a:p>
            <a:pPr algn="l"/>
            <a:r>
              <a:rPr sz="1300" b="1" spc="90">
                <a:solidFill>
                  <a:srgbClr val="1F4034"/>
                </a:solidFill>
                <a:latin typeface="Segoe UI"/>
              </a:rPr>
              <a:t>LIVE</a:t>
            </a:r>
          </a:p>
        </p:txBody>
      </p:sp>
      <p:sp>
        <p:nvSpPr>
          <p:cNvPr id="17" name="Rectangle 16"/>
          <p:cNvSpPr/>
          <p:nvPr/>
        </p:nvSpPr>
        <p:spPr>
          <a:xfrm>
            <a:off x="658368" y="3931920"/>
            <a:ext cx="10872216" cy="402336"/>
          </a:xfrm>
          <a:prstGeom prst="rect">
            <a:avLst/>
          </a:prstGeom>
          <a:solidFill>
            <a:srgbClr val="EFF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859536" y="3995928"/>
            <a:ext cx="6766560" cy="292608"/>
          </a:xfrm>
          <a:prstGeom prst="rect">
            <a:avLst/>
          </a:prstGeom>
          <a:noFill/>
        </p:spPr>
        <p:txBody>
          <a:bodyPr wrap="square" lIns="0" tIns="0" rIns="0" bIns="0">
            <a:spAutoFit/>
          </a:bodyPr>
          <a:lstStyle/>
          <a:p>
            <a:pPr algn="l"/>
            <a:r>
              <a:rPr sz="1600" b="0">
                <a:solidFill>
                  <a:srgbClr val="141D18"/>
                </a:solidFill>
                <a:latin typeface="Segoe UI"/>
              </a:rPr>
              <a:t>Health, safety and waste SOP, Natar</a:t>
            </a:r>
          </a:p>
        </p:txBody>
      </p:sp>
      <p:sp>
        <p:nvSpPr>
          <p:cNvPr id="19" name="TextBox 18"/>
          <p:cNvSpPr txBox="1"/>
          <p:nvPr/>
        </p:nvSpPr>
        <p:spPr>
          <a:xfrm>
            <a:off x="7973568" y="4014215"/>
            <a:ext cx="3383280" cy="274320"/>
          </a:xfrm>
          <a:prstGeom prst="rect">
            <a:avLst/>
          </a:prstGeom>
          <a:noFill/>
        </p:spPr>
        <p:txBody>
          <a:bodyPr wrap="square" lIns="0" tIns="0" rIns="0" bIns="0">
            <a:spAutoFit/>
          </a:bodyPr>
          <a:lstStyle/>
          <a:p>
            <a:pPr algn="l"/>
            <a:r>
              <a:rPr sz="1300" b="1" spc="90">
                <a:solidFill>
                  <a:srgbClr val="1F4034"/>
                </a:solidFill>
                <a:latin typeface="Segoe UI"/>
              </a:rPr>
              <a:t>IN PLACE</a:t>
            </a:r>
          </a:p>
        </p:txBody>
      </p:sp>
      <p:sp>
        <p:nvSpPr>
          <p:cNvPr id="20" name="TextBox 19"/>
          <p:cNvSpPr txBox="1"/>
          <p:nvPr/>
        </p:nvSpPr>
        <p:spPr>
          <a:xfrm>
            <a:off x="859536" y="4411980"/>
            <a:ext cx="6766560" cy="292608"/>
          </a:xfrm>
          <a:prstGeom prst="rect">
            <a:avLst/>
          </a:prstGeom>
          <a:noFill/>
        </p:spPr>
        <p:txBody>
          <a:bodyPr wrap="square" lIns="0" tIns="0" rIns="0" bIns="0">
            <a:spAutoFit/>
          </a:bodyPr>
          <a:lstStyle/>
          <a:p>
            <a:pPr algn="l"/>
            <a:r>
              <a:rPr sz="1600" b="0">
                <a:solidFill>
                  <a:srgbClr val="141D18"/>
                </a:solidFill>
                <a:latin typeface="Segoe UI"/>
              </a:rPr>
              <a:t>Social security and payroll</a:t>
            </a:r>
          </a:p>
        </p:txBody>
      </p:sp>
      <p:sp>
        <p:nvSpPr>
          <p:cNvPr id="21" name="TextBox 20"/>
          <p:cNvSpPr txBox="1"/>
          <p:nvPr/>
        </p:nvSpPr>
        <p:spPr>
          <a:xfrm>
            <a:off x="7973568" y="4430268"/>
            <a:ext cx="3383280" cy="274320"/>
          </a:xfrm>
          <a:prstGeom prst="rect">
            <a:avLst/>
          </a:prstGeom>
          <a:noFill/>
        </p:spPr>
        <p:txBody>
          <a:bodyPr wrap="square" lIns="0" tIns="0" rIns="0" bIns="0">
            <a:spAutoFit/>
          </a:bodyPr>
          <a:lstStyle/>
          <a:p>
            <a:pPr algn="l"/>
            <a:r>
              <a:rPr sz="1300" b="1" spc="90">
                <a:solidFill>
                  <a:srgbClr val="1F4034"/>
                </a:solidFill>
                <a:latin typeface="Segoe UI"/>
              </a:rPr>
              <a:t>PAID AND ACTIVE</a:t>
            </a:r>
          </a:p>
        </p:txBody>
      </p:sp>
      <p:sp>
        <p:nvSpPr>
          <p:cNvPr id="22" name="Rectangle 21"/>
          <p:cNvSpPr/>
          <p:nvPr/>
        </p:nvSpPr>
        <p:spPr>
          <a:xfrm>
            <a:off x="658368" y="4764024"/>
            <a:ext cx="10872216" cy="402336"/>
          </a:xfrm>
          <a:prstGeom prst="rect">
            <a:avLst/>
          </a:prstGeom>
          <a:solidFill>
            <a:srgbClr val="EFF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859536" y="4828032"/>
            <a:ext cx="6766560" cy="292608"/>
          </a:xfrm>
          <a:prstGeom prst="rect">
            <a:avLst/>
          </a:prstGeom>
          <a:noFill/>
        </p:spPr>
        <p:txBody>
          <a:bodyPr wrap="square" lIns="0" tIns="0" rIns="0" bIns="0">
            <a:spAutoFit/>
          </a:bodyPr>
          <a:lstStyle/>
          <a:p>
            <a:pPr algn="l"/>
            <a:r>
              <a:rPr sz="1600" b="0">
                <a:solidFill>
                  <a:srgbClr val="141D18"/>
                </a:solidFill>
                <a:latin typeface="Segoe UI"/>
              </a:rPr>
              <a:t>EU deforestation due diligence</a:t>
            </a:r>
          </a:p>
        </p:txBody>
      </p:sp>
      <p:sp>
        <p:nvSpPr>
          <p:cNvPr id="24" name="TextBox 23"/>
          <p:cNvSpPr txBox="1"/>
          <p:nvPr/>
        </p:nvSpPr>
        <p:spPr>
          <a:xfrm>
            <a:off x="7973568" y="4846320"/>
            <a:ext cx="3383280" cy="274320"/>
          </a:xfrm>
          <a:prstGeom prst="rect">
            <a:avLst/>
          </a:prstGeom>
          <a:noFill/>
        </p:spPr>
        <p:txBody>
          <a:bodyPr wrap="square" lIns="0" tIns="0" rIns="0" bIns="0">
            <a:spAutoFit/>
          </a:bodyPr>
          <a:lstStyle/>
          <a:p>
            <a:pPr algn="l"/>
            <a:r>
              <a:rPr sz="1300" b="1" spc="90">
                <a:solidFill>
                  <a:srgbClr val="9A7526"/>
                </a:solidFill>
                <a:latin typeface="Segoe UI"/>
              </a:rPr>
              <a:t>IN PREPARATION</a:t>
            </a:r>
          </a:p>
        </p:txBody>
      </p:sp>
      <p:sp>
        <p:nvSpPr>
          <p:cNvPr id="25" name="TextBox 24"/>
          <p:cNvSpPr txBox="1"/>
          <p:nvPr/>
        </p:nvSpPr>
        <p:spPr>
          <a:xfrm>
            <a:off x="859536" y="5244084"/>
            <a:ext cx="6766560" cy="292608"/>
          </a:xfrm>
          <a:prstGeom prst="rect">
            <a:avLst/>
          </a:prstGeom>
          <a:noFill/>
        </p:spPr>
        <p:txBody>
          <a:bodyPr wrap="square" lIns="0" tIns="0" rIns="0" bIns="0">
            <a:spAutoFit/>
          </a:bodyPr>
          <a:lstStyle/>
          <a:p>
            <a:pPr algn="l"/>
            <a:r>
              <a:rPr sz="1600" b="0">
                <a:solidFill>
                  <a:srgbClr val="141D18"/>
                </a:solidFill>
                <a:latin typeface="Segoe UI"/>
              </a:rPr>
              <a:t>Organic certification</a:t>
            </a:r>
          </a:p>
        </p:txBody>
      </p:sp>
      <p:sp>
        <p:nvSpPr>
          <p:cNvPr id="26" name="TextBox 25"/>
          <p:cNvSpPr txBox="1"/>
          <p:nvPr/>
        </p:nvSpPr>
        <p:spPr>
          <a:xfrm>
            <a:off x="7973568" y="5262372"/>
            <a:ext cx="3383280" cy="274320"/>
          </a:xfrm>
          <a:prstGeom prst="rect">
            <a:avLst/>
          </a:prstGeom>
          <a:noFill/>
        </p:spPr>
        <p:txBody>
          <a:bodyPr wrap="square" lIns="0" tIns="0" rIns="0" bIns="0">
            <a:spAutoFit/>
          </a:bodyPr>
          <a:lstStyle/>
          <a:p>
            <a:pPr algn="l"/>
            <a:r>
              <a:rPr sz="1300" b="1" spc="90">
                <a:solidFill>
                  <a:srgbClr val="6C7A72"/>
                </a:solidFill>
                <a:latin typeface="Segoe UI"/>
              </a:rPr>
              <a:t>NOT HELD, LAND IN TRANSITION</a:t>
            </a:r>
          </a:p>
        </p:txBody>
      </p:sp>
      <p:sp>
        <p:nvSpPr>
          <p:cNvPr id="27" name="TextBox 26"/>
          <p:cNvSpPr txBox="1"/>
          <p:nvPr/>
        </p:nvSpPr>
        <p:spPr>
          <a:xfrm>
            <a:off x="658368" y="5724144"/>
            <a:ext cx="10424160" cy="274320"/>
          </a:xfrm>
          <a:prstGeom prst="rect">
            <a:avLst/>
          </a:prstGeom>
          <a:noFill/>
        </p:spPr>
        <p:txBody>
          <a:bodyPr wrap="square" lIns="0" tIns="0" rIns="0" bIns="0">
            <a:spAutoFit/>
          </a:bodyPr>
          <a:lstStyle/>
          <a:p>
            <a:pPr algn="l"/>
            <a:r>
              <a:rPr sz="1600" b="1">
                <a:solidFill>
                  <a:srgbClr val="1F4034"/>
                </a:solidFill>
                <a:latin typeface="Segoe UI"/>
              </a:rPr>
              <a:t>We state each item at the stage it has actually reached, rather than claim what is not yet issued.</a:t>
            </a:r>
          </a:p>
        </p:txBody>
      </p:sp>
      <p:sp>
        <p:nvSpPr>
          <p:cNvPr id="28" name="Rectangle 27"/>
          <p:cNvSpPr/>
          <p:nvPr/>
        </p:nvSpPr>
        <p:spPr>
          <a:xfrm>
            <a:off x="658368" y="6035040"/>
            <a:ext cx="6583680" cy="310896"/>
          </a:xfrm>
          <a:prstGeom prst="rect">
            <a:avLst/>
          </a:prstGeom>
          <a:solidFill>
            <a:srgbClr val="FDF3D8"/>
          </a:solidFill>
          <a:ln w="9525">
            <a:solidFill>
              <a:srgbClr val="9A75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786384" y="6099048"/>
            <a:ext cx="6327648" cy="219456"/>
          </a:xfrm>
          <a:prstGeom prst="rect">
            <a:avLst/>
          </a:prstGeom>
          <a:noFill/>
        </p:spPr>
        <p:txBody>
          <a:bodyPr wrap="square" lIns="0" tIns="0" rIns="0" bIns="0">
            <a:spAutoFit/>
          </a:bodyPr>
          <a:lstStyle/>
          <a:p>
            <a:pPr algn="l"/>
            <a:r>
              <a:rPr sz="1100" b="1" spc="60">
                <a:solidFill>
                  <a:srgbClr val="9A7526"/>
                </a:solidFill>
                <a:latin typeface="Segoe UI"/>
              </a:rPr>
              <a:t>[ TO COMPLETE: halal certifying body and target issue date, phytosanitary channel ]</a:t>
            </a:r>
          </a:p>
        </p:txBody>
      </p:sp>
      <p:sp>
        <p:nvSpPr>
          <p:cNvPr id="30" name="TextBox 29"/>
          <p:cNvSpPr txBox="1"/>
          <p:nvPr/>
        </p:nvSpPr>
        <p:spPr>
          <a:xfrm>
            <a:off x="658368" y="6419088"/>
            <a:ext cx="6400800" cy="237744"/>
          </a:xfrm>
          <a:prstGeom prst="rect">
            <a:avLst/>
          </a:prstGeom>
          <a:noFill/>
        </p:spPr>
        <p:txBody>
          <a:bodyPr wrap="square" lIns="0" tIns="0" rIns="0" bIns="0">
            <a:spAutoFit/>
          </a:bodyPr>
          <a:lstStyle/>
          <a:p>
            <a:pPr algn="l"/>
            <a:r>
              <a:rPr sz="1100" b="0" spc="100">
                <a:solidFill>
                  <a:srgbClr val="6C7A72"/>
                </a:solidFill>
                <a:latin typeface="Segoe UI"/>
              </a:rPr>
              <a:t>PT KLUMBAYAN GOLD FARM   ·   COMPANY PROFILE   ·   BANGLADESH EDITION</a:t>
            </a:r>
          </a:p>
        </p:txBody>
      </p:sp>
      <p:sp>
        <p:nvSpPr>
          <p:cNvPr id="31" name="TextBox 30"/>
          <p:cNvSpPr txBox="1"/>
          <p:nvPr/>
        </p:nvSpPr>
        <p:spPr>
          <a:xfrm>
            <a:off x="9701784" y="6419088"/>
            <a:ext cx="1828800" cy="237744"/>
          </a:xfrm>
          <a:prstGeom prst="rect">
            <a:avLst/>
          </a:prstGeom>
          <a:noFill/>
        </p:spPr>
        <p:txBody>
          <a:bodyPr wrap="square" lIns="0" tIns="0" rIns="0" bIns="0">
            <a:spAutoFit/>
          </a:bodyPr>
          <a:lstStyle/>
          <a:p>
            <a:pPr algn="r"/>
            <a:r>
              <a:rPr sz="1100" b="0" spc="100">
                <a:solidFill>
                  <a:srgbClr val="6C7A72"/>
                </a:solidFill>
                <a:latin typeface="Segoe UI"/>
              </a:rPr>
              <a:t>10</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58368" y="566928"/>
            <a:ext cx="5486400" cy="274320"/>
          </a:xfrm>
          <a:prstGeom prst="rect">
            <a:avLst/>
          </a:prstGeom>
          <a:noFill/>
        </p:spPr>
        <p:txBody>
          <a:bodyPr wrap="square" lIns="0" tIns="0" rIns="0" bIns="0">
            <a:spAutoFit/>
          </a:bodyPr>
          <a:lstStyle/>
          <a:p>
            <a:pPr algn="l"/>
            <a:r>
              <a:rPr sz="1300" b="0" spc="140">
                <a:solidFill>
                  <a:srgbClr val="9A7526"/>
                </a:solidFill>
                <a:latin typeface="Segoe UI"/>
              </a:rPr>
              <a:t>11   ENGAGEMENT ALREADY UNDER WAY</a:t>
            </a:r>
          </a:p>
        </p:txBody>
      </p:sp>
      <p:sp>
        <p:nvSpPr>
          <p:cNvPr id="4" name="Rectangle 3"/>
          <p:cNvSpPr/>
          <p:nvPr/>
        </p:nvSpPr>
        <p:spPr>
          <a:xfrm>
            <a:off x="658368" y="822960"/>
            <a:ext cx="10872215" cy="10972"/>
          </a:xfrm>
          <a:prstGeom prst="rect">
            <a:avLst/>
          </a:prstGeom>
          <a:solidFill>
            <a:srgbClr val="B9C7B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658368" y="818388"/>
            <a:ext cx="402336" cy="20116"/>
          </a:xfrm>
          <a:prstGeom prst="rect">
            <a:avLst/>
          </a:prstGeom>
          <a:solidFill>
            <a:srgbClr val="9A75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58368" y="1024128"/>
            <a:ext cx="10872216" cy="1188720"/>
          </a:xfrm>
          <a:prstGeom prst="rect">
            <a:avLst/>
          </a:prstGeom>
          <a:noFill/>
        </p:spPr>
        <p:txBody>
          <a:bodyPr wrap="square" lIns="0" tIns="0" rIns="0" bIns="0">
            <a:spAutoFit/>
          </a:bodyPr>
          <a:lstStyle/>
          <a:p>
            <a:pPr algn="l">
              <a:lnSpc>
                <a:spcPct val="112000"/>
              </a:lnSpc>
            </a:pPr>
            <a:r>
              <a:rPr sz="3200" b="1">
                <a:solidFill>
                  <a:srgbClr val="141D18"/>
                </a:solidFill>
                <a:latin typeface="Georgia"/>
              </a:rPr>
              <a:t>A Bangladeshi buyer has already walked our gardens.</a:t>
            </a:r>
          </a:p>
        </p:txBody>
      </p:sp>
      <p:sp>
        <p:nvSpPr>
          <p:cNvPr id="7" name="TextBox 6"/>
          <p:cNvSpPr txBox="1"/>
          <p:nvPr/>
        </p:nvSpPr>
        <p:spPr>
          <a:xfrm>
            <a:off x="658368" y="2359152"/>
            <a:ext cx="5852160" cy="1371600"/>
          </a:xfrm>
          <a:prstGeom prst="rect">
            <a:avLst/>
          </a:prstGeom>
          <a:noFill/>
        </p:spPr>
        <p:txBody>
          <a:bodyPr wrap="square" lIns="0" tIns="0" rIns="0" bIns="0">
            <a:spAutoFit/>
          </a:bodyPr>
          <a:lstStyle/>
          <a:p>
            <a:pPr algn="l">
              <a:lnSpc>
                <a:spcPct val="138000"/>
              </a:lnSpc>
            </a:pPr>
            <a:r>
              <a:rPr sz="1600" b="0">
                <a:solidFill>
                  <a:srgbClr val="3D4A43"/>
                </a:solidFill>
                <a:latin typeface="Segoe UI"/>
              </a:rPr>
              <a:t>Following business matching at the D-8 Halal Expo Indonesia, Shondhibazar of Dhaka travelled to Lampung on 11 July 2026 and inspected the gardens, the processing line and the warehouse in person.</a:t>
            </a:r>
          </a:p>
        </p:txBody>
      </p:sp>
      <p:sp>
        <p:nvSpPr>
          <p:cNvPr id="8" name="TextBox 7"/>
          <p:cNvSpPr txBox="1"/>
          <p:nvPr/>
        </p:nvSpPr>
        <p:spPr>
          <a:xfrm>
            <a:off x="658368" y="3730752"/>
            <a:ext cx="5852160" cy="310896"/>
          </a:xfrm>
          <a:prstGeom prst="rect">
            <a:avLst/>
          </a:prstGeom>
          <a:noFill/>
        </p:spPr>
        <p:txBody>
          <a:bodyPr wrap="square" lIns="0" tIns="0" rIns="0" bIns="0">
            <a:spAutoFit/>
          </a:bodyPr>
          <a:lstStyle/>
          <a:p>
            <a:pPr algn="l"/>
            <a:r>
              <a:rPr sz="1100" b="1" spc="140">
                <a:solidFill>
                  <a:srgbClr val="9A7526"/>
                </a:solidFill>
                <a:latin typeface="Segoe UI"/>
              </a:rPr>
              <a:t>THEIR INTEREST COVERED</a:t>
            </a:r>
          </a:p>
        </p:txBody>
      </p:sp>
      <p:sp>
        <p:nvSpPr>
          <p:cNvPr id="9" name="Rectangle 8"/>
          <p:cNvSpPr/>
          <p:nvPr/>
        </p:nvSpPr>
        <p:spPr>
          <a:xfrm>
            <a:off x="658368" y="4123944"/>
            <a:ext cx="146304" cy="41148"/>
          </a:xfrm>
          <a:prstGeom prst="rect">
            <a:avLst/>
          </a:prstGeom>
          <a:solidFill>
            <a:srgbClr val="9A75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969264" y="4041648"/>
            <a:ext cx="5486400" cy="274320"/>
          </a:xfrm>
          <a:prstGeom prst="rect">
            <a:avLst/>
          </a:prstGeom>
          <a:noFill/>
        </p:spPr>
        <p:txBody>
          <a:bodyPr wrap="square" lIns="0" tIns="0" rIns="0" bIns="0">
            <a:spAutoFit/>
          </a:bodyPr>
          <a:lstStyle/>
          <a:p>
            <a:pPr algn="l"/>
            <a:r>
              <a:rPr sz="1600" b="0">
                <a:solidFill>
                  <a:srgbClr val="3D4A43"/>
                </a:solidFill>
                <a:latin typeface="Segoe UI"/>
              </a:rPr>
              <a:t>Black pepper</a:t>
            </a:r>
          </a:p>
        </p:txBody>
      </p:sp>
      <p:sp>
        <p:nvSpPr>
          <p:cNvPr id="11" name="Rectangle 10"/>
          <p:cNvSpPr/>
          <p:nvPr/>
        </p:nvSpPr>
        <p:spPr>
          <a:xfrm>
            <a:off x="658368" y="4480559"/>
            <a:ext cx="146304" cy="41148"/>
          </a:xfrm>
          <a:prstGeom prst="rect">
            <a:avLst/>
          </a:prstGeom>
          <a:solidFill>
            <a:srgbClr val="9A75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969264" y="4398264"/>
            <a:ext cx="5486400" cy="274320"/>
          </a:xfrm>
          <a:prstGeom prst="rect">
            <a:avLst/>
          </a:prstGeom>
          <a:noFill/>
        </p:spPr>
        <p:txBody>
          <a:bodyPr wrap="square" lIns="0" tIns="0" rIns="0" bIns="0">
            <a:spAutoFit/>
          </a:bodyPr>
          <a:lstStyle/>
          <a:p>
            <a:pPr algn="l"/>
            <a:r>
              <a:rPr sz="1600" b="0">
                <a:solidFill>
                  <a:srgbClr val="3D4A43"/>
                </a:solidFill>
                <a:latin typeface="Segoe UI"/>
              </a:rPr>
              <a:t>Robusta green beans</a:t>
            </a:r>
          </a:p>
        </p:txBody>
      </p:sp>
      <p:sp>
        <p:nvSpPr>
          <p:cNvPr id="13" name="Rectangle 12"/>
          <p:cNvSpPr/>
          <p:nvPr/>
        </p:nvSpPr>
        <p:spPr>
          <a:xfrm>
            <a:off x="658368" y="4837176"/>
            <a:ext cx="146304" cy="41148"/>
          </a:xfrm>
          <a:prstGeom prst="rect">
            <a:avLst/>
          </a:prstGeom>
          <a:solidFill>
            <a:srgbClr val="9A75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969264" y="4754880"/>
            <a:ext cx="5486400" cy="274320"/>
          </a:xfrm>
          <a:prstGeom prst="rect">
            <a:avLst/>
          </a:prstGeom>
          <a:noFill/>
        </p:spPr>
        <p:txBody>
          <a:bodyPr wrap="square" lIns="0" tIns="0" rIns="0" bIns="0">
            <a:spAutoFit/>
          </a:bodyPr>
          <a:lstStyle/>
          <a:p>
            <a:pPr algn="l"/>
            <a:r>
              <a:rPr sz="1600" b="0">
                <a:solidFill>
                  <a:srgbClr val="3D4A43"/>
                </a:solidFill>
                <a:latin typeface="Segoe UI"/>
              </a:rPr>
              <a:t>Cocoa beans and processed cocoa</a:t>
            </a:r>
          </a:p>
        </p:txBody>
      </p:sp>
      <p:sp>
        <p:nvSpPr>
          <p:cNvPr id="15" name="Rectangle 14"/>
          <p:cNvSpPr/>
          <p:nvPr/>
        </p:nvSpPr>
        <p:spPr>
          <a:xfrm>
            <a:off x="658368" y="5193792"/>
            <a:ext cx="146304" cy="41148"/>
          </a:xfrm>
          <a:prstGeom prst="rect">
            <a:avLst/>
          </a:prstGeom>
          <a:solidFill>
            <a:srgbClr val="9A75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969264" y="5111496"/>
            <a:ext cx="5486400" cy="274320"/>
          </a:xfrm>
          <a:prstGeom prst="rect">
            <a:avLst/>
          </a:prstGeom>
          <a:noFill/>
        </p:spPr>
        <p:txBody>
          <a:bodyPr wrap="square" lIns="0" tIns="0" rIns="0" bIns="0">
            <a:spAutoFit/>
          </a:bodyPr>
          <a:lstStyle/>
          <a:p>
            <a:pPr algn="l"/>
            <a:r>
              <a:rPr sz="1600" b="0">
                <a:solidFill>
                  <a:srgbClr val="3D4A43"/>
                </a:solidFill>
                <a:latin typeface="Segoe UI"/>
              </a:rPr>
              <a:t>Cocoa pods</a:t>
            </a:r>
          </a:p>
        </p:txBody>
      </p:sp>
      <p:sp>
        <p:nvSpPr>
          <p:cNvPr id="17" name="TextBox 16"/>
          <p:cNvSpPr txBox="1"/>
          <p:nvPr/>
        </p:nvSpPr>
        <p:spPr>
          <a:xfrm>
            <a:off x="658368" y="5468112"/>
            <a:ext cx="5852160" cy="640080"/>
          </a:xfrm>
          <a:prstGeom prst="rect">
            <a:avLst/>
          </a:prstGeom>
          <a:noFill/>
        </p:spPr>
        <p:txBody>
          <a:bodyPr wrap="square" lIns="0" tIns="0" rIns="0" bIns="0">
            <a:spAutoFit/>
          </a:bodyPr>
          <a:lstStyle/>
          <a:p>
            <a:pPr algn="l">
              <a:lnSpc>
                <a:spcPct val="132000"/>
              </a:lnSpc>
            </a:pPr>
            <a:r>
              <a:rPr sz="1600" b="1">
                <a:solidFill>
                  <a:srgbClr val="1F4034"/>
                </a:solidFill>
                <a:latin typeface="Segoe UI"/>
              </a:rPr>
              <a:t>That range tells us Bangladeshi demand for Indonesian origin is not confined to one commodity, and reaches parts of the crop conventional exporters treat as residue.</a:t>
            </a:r>
          </a:p>
        </p:txBody>
      </p:sp>
      <p:pic>
        <p:nvPicPr>
          <p:cNvPr id="18" name="Picture 17" descr="visit_garden_group.jpg"/>
          <p:cNvPicPr>
            <a:picLocks noChangeAspect="1"/>
          </p:cNvPicPr>
          <p:nvPr/>
        </p:nvPicPr>
        <p:blipFill>
          <a:blip r:embed="rId2"/>
          <a:srcRect l="931" r="931"/>
          <a:stretch>
            <a:fillRect/>
          </a:stretch>
        </p:blipFill>
        <p:spPr>
          <a:xfrm>
            <a:off x="6903720" y="2359152"/>
            <a:ext cx="2249424" cy="1719072"/>
          </a:xfrm>
          <a:prstGeom prst="rect">
            <a:avLst/>
          </a:prstGeom>
        </p:spPr>
      </p:pic>
      <p:sp>
        <p:nvSpPr>
          <p:cNvPr id="19" name="Rectangle 18"/>
          <p:cNvSpPr/>
          <p:nvPr/>
        </p:nvSpPr>
        <p:spPr>
          <a:xfrm>
            <a:off x="6903720" y="3803904"/>
            <a:ext cx="2249424" cy="274320"/>
          </a:xfrm>
          <a:prstGeom prst="rect">
            <a:avLst/>
          </a:prstGeom>
          <a:solidFill>
            <a:srgbClr val="1F40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7013448" y="3854196"/>
            <a:ext cx="2029967" cy="201168"/>
          </a:xfrm>
          <a:prstGeom prst="rect">
            <a:avLst/>
          </a:prstGeom>
          <a:noFill/>
        </p:spPr>
        <p:txBody>
          <a:bodyPr wrap="square" lIns="0" tIns="0" rIns="0" bIns="0">
            <a:spAutoFit/>
          </a:bodyPr>
          <a:lstStyle/>
          <a:p>
            <a:pPr algn="l"/>
            <a:r>
              <a:rPr sz="1100" b="1" spc="90">
                <a:solidFill>
                  <a:srgbClr val="FFFFFF"/>
                </a:solidFill>
                <a:latin typeface="Segoe UI"/>
              </a:rPr>
              <a:t>IN THE GARDENS</a:t>
            </a:r>
          </a:p>
        </p:txBody>
      </p:sp>
      <p:pic>
        <p:nvPicPr>
          <p:cNvPr id="21" name="Picture 20" descr="visit_agroforestry_plot.jpg"/>
          <p:cNvPicPr>
            <a:picLocks noChangeAspect="1"/>
          </p:cNvPicPr>
          <p:nvPr/>
        </p:nvPicPr>
        <p:blipFill>
          <a:blip r:embed="rId3"/>
          <a:srcRect l="13124" r="13124"/>
          <a:stretch>
            <a:fillRect/>
          </a:stretch>
        </p:blipFill>
        <p:spPr>
          <a:xfrm>
            <a:off x="9281160" y="2359152"/>
            <a:ext cx="2249424" cy="1719072"/>
          </a:xfrm>
          <a:prstGeom prst="rect">
            <a:avLst/>
          </a:prstGeom>
        </p:spPr>
      </p:pic>
      <p:sp>
        <p:nvSpPr>
          <p:cNvPr id="22" name="Rectangle 21"/>
          <p:cNvSpPr/>
          <p:nvPr/>
        </p:nvSpPr>
        <p:spPr>
          <a:xfrm>
            <a:off x="9281160" y="3803904"/>
            <a:ext cx="2249424" cy="274320"/>
          </a:xfrm>
          <a:prstGeom prst="rect">
            <a:avLst/>
          </a:prstGeom>
          <a:solidFill>
            <a:srgbClr val="1F40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9390888" y="3854196"/>
            <a:ext cx="2029967" cy="201168"/>
          </a:xfrm>
          <a:prstGeom prst="rect">
            <a:avLst/>
          </a:prstGeom>
          <a:noFill/>
        </p:spPr>
        <p:txBody>
          <a:bodyPr wrap="square" lIns="0" tIns="0" rIns="0" bIns="0">
            <a:spAutoFit/>
          </a:bodyPr>
          <a:lstStyle/>
          <a:p>
            <a:pPr algn="l"/>
            <a:r>
              <a:rPr sz="1100" b="1" spc="90">
                <a:solidFill>
                  <a:srgbClr val="FFFFFF"/>
                </a:solidFill>
                <a:latin typeface="Segoe UI"/>
              </a:rPr>
              <a:t>AGROFORESTRY PLOT</a:t>
            </a:r>
          </a:p>
        </p:txBody>
      </p:sp>
      <p:pic>
        <p:nvPicPr>
          <p:cNvPr id="24" name="Picture 23" descr="visit_processing_line.jpg"/>
          <p:cNvPicPr>
            <a:picLocks noChangeAspect="1"/>
          </p:cNvPicPr>
          <p:nvPr/>
        </p:nvPicPr>
        <p:blipFill>
          <a:blip r:embed="rId4"/>
          <a:srcRect l="13124" r="13124"/>
          <a:stretch>
            <a:fillRect/>
          </a:stretch>
        </p:blipFill>
        <p:spPr>
          <a:xfrm>
            <a:off x="6903720" y="4206240"/>
            <a:ext cx="2249424" cy="1719072"/>
          </a:xfrm>
          <a:prstGeom prst="rect">
            <a:avLst/>
          </a:prstGeom>
        </p:spPr>
      </p:pic>
      <p:sp>
        <p:nvSpPr>
          <p:cNvPr id="25" name="Rectangle 24"/>
          <p:cNvSpPr/>
          <p:nvPr/>
        </p:nvSpPr>
        <p:spPr>
          <a:xfrm>
            <a:off x="6903720" y="5650992"/>
            <a:ext cx="2249424" cy="274320"/>
          </a:xfrm>
          <a:prstGeom prst="rect">
            <a:avLst/>
          </a:prstGeom>
          <a:solidFill>
            <a:srgbClr val="1F40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7013448" y="5701283"/>
            <a:ext cx="2029967" cy="201168"/>
          </a:xfrm>
          <a:prstGeom prst="rect">
            <a:avLst/>
          </a:prstGeom>
          <a:noFill/>
        </p:spPr>
        <p:txBody>
          <a:bodyPr wrap="square" lIns="0" tIns="0" rIns="0" bIns="0">
            <a:spAutoFit/>
          </a:bodyPr>
          <a:lstStyle/>
          <a:p>
            <a:pPr algn="l"/>
            <a:r>
              <a:rPr sz="1100" b="1" spc="90">
                <a:solidFill>
                  <a:srgbClr val="FFFFFF"/>
                </a:solidFill>
                <a:latin typeface="Segoe UI"/>
              </a:rPr>
              <a:t>PROCESSING LINE</a:t>
            </a:r>
          </a:p>
        </p:txBody>
      </p:sp>
      <p:pic>
        <p:nvPicPr>
          <p:cNvPr id="27" name="Picture 26" descr="visit_product_inspection.jpg"/>
          <p:cNvPicPr>
            <a:picLocks noChangeAspect="1"/>
          </p:cNvPicPr>
          <p:nvPr/>
        </p:nvPicPr>
        <p:blipFill>
          <a:blip r:embed="rId5"/>
          <a:srcRect l="13124" r="13124"/>
          <a:stretch>
            <a:fillRect/>
          </a:stretch>
        </p:blipFill>
        <p:spPr>
          <a:xfrm>
            <a:off x="9281160" y="4206240"/>
            <a:ext cx="2249424" cy="1719072"/>
          </a:xfrm>
          <a:prstGeom prst="rect">
            <a:avLst/>
          </a:prstGeom>
        </p:spPr>
      </p:pic>
      <p:sp>
        <p:nvSpPr>
          <p:cNvPr id="28" name="Rectangle 27"/>
          <p:cNvSpPr/>
          <p:nvPr/>
        </p:nvSpPr>
        <p:spPr>
          <a:xfrm>
            <a:off x="9281160" y="5650992"/>
            <a:ext cx="2249424" cy="274320"/>
          </a:xfrm>
          <a:prstGeom prst="rect">
            <a:avLst/>
          </a:prstGeom>
          <a:solidFill>
            <a:srgbClr val="1F40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9390888" y="5701283"/>
            <a:ext cx="2029967" cy="201168"/>
          </a:xfrm>
          <a:prstGeom prst="rect">
            <a:avLst/>
          </a:prstGeom>
          <a:noFill/>
        </p:spPr>
        <p:txBody>
          <a:bodyPr wrap="square" lIns="0" tIns="0" rIns="0" bIns="0">
            <a:spAutoFit/>
          </a:bodyPr>
          <a:lstStyle/>
          <a:p>
            <a:pPr algn="l"/>
            <a:r>
              <a:rPr sz="1100" b="1" spc="90">
                <a:solidFill>
                  <a:srgbClr val="FFFFFF"/>
                </a:solidFill>
                <a:latin typeface="Segoe UI"/>
              </a:rPr>
              <a:t>PRODUCT INSPECTION</a:t>
            </a:r>
          </a:p>
        </p:txBody>
      </p:sp>
      <p:sp>
        <p:nvSpPr>
          <p:cNvPr id="30" name="TextBox 29"/>
          <p:cNvSpPr txBox="1"/>
          <p:nvPr/>
        </p:nvSpPr>
        <p:spPr>
          <a:xfrm>
            <a:off x="6903720" y="6053328"/>
            <a:ext cx="4626864" cy="237744"/>
          </a:xfrm>
          <a:prstGeom prst="rect">
            <a:avLst/>
          </a:prstGeom>
          <a:noFill/>
        </p:spPr>
        <p:txBody>
          <a:bodyPr wrap="square" lIns="0" tIns="0" rIns="0" bIns="0">
            <a:spAutoFit/>
          </a:bodyPr>
          <a:lstStyle/>
          <a:p>
            <a:pPr algn="l"/>
            <a:r>
              <a:rPr sz="1100" b="0" spc="120">
                <a:solidFill>
                  <a:srgbClr val="6C7A72"/>
                </a:solidFill>
                <a:latin typeface="Segoe UI"/>
              </a:rPr>
              <a:t>SHONDHIBAZAR DELEGATION  ·  LAMPUNG, 11 JULY 2026</a:t>
            </a:r>
          </a:p>
        </p:txBody>
      </p:sp>
      <p:sp>
        <p:nvSpPr>
          <p:cNvPr id="31" name="TextBox 30"/>
          <p:cNvSpPr txBox="1"/>
          <p:nvPr/>
        </p:nvSpPr>
        <p:spPr>
          <a:xfrm>
            <a:off x="658368" y="6419088"/>
            <a:ext cx="6400800" cy="237744"/>
          </a:xfrm>
          <a:prstGeom prst="rect">
            <a:avLst/>
          </a:prstGeom>
          <a:noFill/>
        </p:spPr>
        <p:txBody>
          <a:bodyPr wrap="square" lIns="0" tIns="0" rIns="0" bIns="0">
            <a:spAutoFit/>
          </a:bodyPr>
          <a:lstStyle/>
          <a:p>
            <a:pPr algn="l"/>
            <a:r>
              <a:rPr sz="1100" b="0" spc="100">
                <a:solidFill>
                  <a:srgbClr val="6C7A72"/>
                </a:solidFill>
                <a:latin typeface="Segoe UI"/>
              </a:rPr>
              <a:t>PT KLUMBAYAN GOLD FARM   ·   COMPANY PROFILE   ·   BANGLADESH EDITION</a:t>
            </a:r>
          </a:p>
        </p:txBody>
      </p:sp>
      <p:sp>
        <p:nvSpPr>
          <p:cNvPr id="32" name="TextBox 31"/>
          <p:cNvSpPr txBox="1"/>
          <p:nvPr/>
        </p:nvSpPr>
        <p:spPr>
          <a:xfrm>
            <a:off x="9701784" y="6419088"/>
            <a:ext cx="1828800" cy="237744"/>
          </a:xfrm>
          <a:prstGeom prst="rect">
            <a:avLst/>
          </a:prstGeom>
          <a:noFill/>
        </p:spPr>
        <p:txBody>
          <a:bodyPr wrap="square" lIns="0" tIns="0" rIns="0" bIns="0">
            <a:spAutoFit/>
          </a:bodyPr>
          <a:lstStyle/>
          <a:p>
            <a:pPr algn="r"/>
            <a:r>
              <a:rPr sz="1100" b="0" spc="100">
                <a:solidFill>
                  <a:srgbClr val="6C7A72"/>
                </a:solidFill>
                <a:latin typeface="Segoe UI"/>
              </a:rPr>
              <a:t>11</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58368" y="566928"/>
            <a:ext cx="5486400" cy="274320"/>
          </a:xfrm>
          <a:prstGeom prst="rect">
            <a:avLst/>
          </a:prstGeom>
          <a:noFill/>
        </p:spPr>
        <p:txBody>
          <a:bodyPr wrap="square" lIns="0" tIns="0" rIns="0" bIns="0">
            <a:spAutoFit/>
          </a:bodyPr>
          <a:lstStyle/>
          <a:p>
            <a:pPr algn="l"/>
            <a:r>
              <a:rPr sz="1300" b="0" spc="140">
                <a:solidFill>
                  <a:srgbClr val="9A7526"/>
                </a:solidFill>
                <a:latin typeface="Segoe UI"/>
              </a:rPr>
              <a:t>12   TEAM</a:t>
            </a:r>
          </a:p>
        </p:txBody>
      </p:sp>
      <p:sp>
        <p:nvSpPr>
          <p:cNvPr id="4" name="Rectangle 3"/>
          <p:cNvSpPr/>
          <p:nvPr/>
        </p:nvSpPr>
        <p:spPr>
          <a:xfrm>
            <a:off x="658368" y="822960"/>
            <a:ext cx="10872215" cy="10972"/>
          </a:xfrm>
          <a:prstGeom prst="rect">
            <a:avLst/>
          </a:prstGeom>
          <a:solidFill>
            <a:srgbClr val="B9C7B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658368" y="818388"/>
            <a:ext cx="402336" cy="20116"/>
          </a:xfrm>
          <a:prstGeom prst="rect">
            <a:avLst/>
          </a:prstGeom>
          <a:solidFill>
            <a:srgbClr val="9A75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58368" y="1024128"/>
            <a:ext cx="10872216" cy="1188720"/>
          </a:xfrm>
          <a:prstGeom prst="rect">
            <a:avLst/>
          </a:prstGeom>
          <a:noFill/>
        </p:spPr>
        <p:txBody>
          <a:bodyPr wrap="square" lIns="0" tIns="0" rIns="0" bIns="0">
            <a:spAutoFit/>
          </a:bodyPr>
          <a:lstStyle/>
          <a:p>
            <a:pPr algn="l">
              <a:lnSpc>
                <a:spcPct val="112000"/>
              </a:lnSpc>
            </a:pPr>
            <a:r>
              <a:rPr sz="3600" b="1">
                <a:solidFill>
                  <a:srgbClr val="141D18"/>
                </a:solidFill>
                <a:latin typeface="Georgia"/>
              </a:rPr>
              <a:t>The people who run it.</a:t>
            </a:r>
          </a:p>
        </p:txBody>
      </p:sp>
      <p:pic>
        <p:nvPicPr>
          <p:cNvPr id="7" name="Picture 6" descr="team_1_faizal.png"/>
          <p:cNvPicPr>
            <a:picLocks noChangeAspect="1"/>
          </p:cNvPicPr>
          <p:nvPr/>
        </p:nvPicPr>
        <p:blipFill>
          <a:blip r:embed="rId2"/>
          <a:srcRect/>
          <a:stretch>
            <a:fillRect/>
          </a:stretch>
        </p:blipFill>
        <p:spPr>
          <a:xfrm>
            <a:off x="1828799" y="2395728"/>
            <a:ext cx="1188720" cy="1188720"/>
          </a:xfrm>
          <a:prstGeom prst="rect">
            <a:avLst/>
          </a:prstGeom>
        </p:spPr>
      </p:pic>
      <p:sp>
        <p:nvSpPr>
          <p:cNvPr id="8" name="TextBox 7"/>
          <p:cNvSpPr txBox="1"/>
          <p:nvPr/>
        </p:nvSpPr>
        <p:spPr>
          <a:xfrm>
            <a:off x="658368" y="3675887"/>
            <a:ext cx="3529584" cy="256032"/>
          </a:xfrm>
          <a:prstGeom prst="rect">
            <a:avLst/>
          </a:prstGeom>
          <a:noFill/>
        </p:spPr>
        <p:txBody>
          <a:bodyPr wrap="square" lIns="0" tIns="0" rIns="0" bIns="0">
            <a:spAutoFit/>
          </a:bodyPr>
          <a:lstStyle/>
          <a:p>
            <a:pPr algn="ctr"/>
            <a:r>
              <a:rPr sz="1600" b="1">
                <a:solidFill>
                  <a:srgbClr val="141D18"/>
                </a:solidFill>
                <a:latin typeface="Segoe UI"/>
              </a:rPr>
              <a:t>Faizal Riza</a:t>
            </a:r>
          </a:p>
        </p:txBody>
      </p:sp>
      <p:sp>
        <p:nvSpPr>
          <p:cNvPr id="9" name="TextBox 8"/>
          <p:cNvSpPr txBox="1"/>
          <p:nvPr/>
        </p:nvSpPr>
        <p:spPr>
          <a:xfrm>
            <a:off x="658368" y="3931920"/>
            <a:ext cx="3529584" cy="237744"/>
          </a:xfrm>
          <a:prstGeom prst="rect">
            <a:avLst/>
          </a:prstGeom>
          <a:noFill/>
        </p:spPr>
        <p:txBody>
          <a:bodyPr wrap="square" lIns="0" tIns="0" rIns="0" bIns="0">
            <a:spAutoFit/>
          </a:bodyPr>
          <a:lstStyle/>
          <a:p>
            <a:pPr algn="ctr"/>
            <a:r>
              <a:rPr sz="1100" b="0" spc="80">
                <a:solidFill>
                  <a:srgbClr val="6C7A72"/>
                </a:solidFill>
                <a:latin typeface="Segoe UI"/>
              </a:rPr>
              <a:t>CHIEF EXECUTIVE OFFICER</a:t>
            </a:r>
          </a:p>
        </p:txBody>
      </p:sp>
      <p:pic>
        <p:nvPicPr>
          <p:cNvPr id="10" name="Picture 9" descr="team_2_arif.png"/>
          <p:cNvPicPr>
            <a:picLocks noChangeAspect="1"/>
          </p:cNvPicPr>
          <p:nvPr/>
        </p:nvPicPr>
        <p:blipFill>
          <a:blip r:embed="rId3"/>
          <a:srcRect/>
          <a:stretch>
            <a:fillRect/>
          </a:stretch>
        </p:blipFill>
        <p:spPr>
          <a:xfrm>
            <a:off x="5504688" y="2395728"/>
            <a:ext cx="1188720" cy="1188720"/>
          </a:xfrm>
          <a:prstGeom prst="rect">
            <a:avLst/>
          </a:prstGeom>
        </p:spPr>
      </p:pic>
      <p:sp>
        <p:nvSpPr>
          <p:cNvPr id="11" name="TextBox 10"/>
          <p:cNvSpPr txBox="1"/>
          <p:nvPr/>
        </p:nvSpPr>
        <p:spPr>
          <a:xfrm>
            <a:off x="4334255" y="3675887"/>
            <a:ext cx="3529584" cy="256032"/>
          </a:xfrm>
          <a:prstGeom prst="rect">
            <a:avLst/>
          </a:prstGeom>
          <a:noFill/>
        </p:spPr>
        <p:txBody>
          <a:bodyPr wrap="square" lIns="0" tIns="0" rIns="0" bIns="0">
            <a:spAutoFit/>
          </a:bodyPr>
          <a:lstStyle/>
          <a:p>
            <a:pPr algn="ctr"/>
            <a:r>
              <a:rPr sz="1600" b="1">
                <a:solidFill>
                  <a:srgbClr val="141D18"/>
                </a:solidFill>
                <a:latin typeface="Segoe UI"/>
              </a:rPr>
              <a:t>Arif Rachman</a:t>
            </a:r>
          </a:p>
        </p:txBody>
      </p:sp>
      <p:sp>
        <p:nvSpPr>
          <p:cNvPr id="12" name="TextBox 11"/>
          <p:cNvSpPr txBox="1"/>
          <p:nvPr/>
        </p:nvSpPr>
        <p:spPr>
          <a:xfrm>
            <a:off x="4334255" y="3931920"/>
            <a:ext cx="3529584" cy="237744"/>
          </a:xfrm>
          <a:prstGeom prst="rect">
            <a:avLst/>
          </a:prstGeom>
          <a:noFill/>
        </p:spPr>
        <p:txBody>
          <a:bodyPr wrap="square" lIns="0" tIns="0" rIns="0" bIns="0">
            <a:spAutoFit/>
          </a:bodyPr>
          <a:lstStyle/>
          <a:p>
            <a:pPr algn="ctr"/>
            <a:r>
              <a:rPr sz="1100" b="0" spc="80">
                <a:solidFill>
                  <a:srgbClr val="6C7A72"/>
                </a:solidFill>
                <a:latin typeface="Segoe UI"/>
              </a:rPr>
              <a:t>OPERATIONAL DIRECTOR</a:t>
            </a:r>
          </a:p>
        </p:txBody>
      </p:sp>
      <p:pic>
        <p:nvPicPr>
          <p:cNvPr id="13" name="Picture 12" descr="team_3_rafiq.png"/>
          <p:cNvPicPr>
            <a:picLocks noChangeAspect="1"/>
          </p:cNvPicPr>
          <p:nvPr/>
        </p:nvPicPr>
        <p:blipFill>
          <a:blip r:embed="rId4"/>
          <a:srcRect/>
          <a:stretch>
            <a:fillRect/>
          </a:stretch>
        </p:blipFill>
        <p:spPr>
          <a:xfrm>
            <a:off x="9180576" y="2395728"/>
            <a:ext cx="1188720" cy="1188720"/>
          </a:xfrm>
          <a:prstGeom prst="rect">
            <a:avLst/>
          </a:prstGeom>
        </p:spPr>
      </p:pic>
      <p:sp>
        <p:nvSpPr>
          <p:cNvPr id="14" name="TextBox 13"/>
          <p:cNvSpPr txBox="1"/>
          <p:nvPr/>
        </p:nvSpPr>
        <p:spPr>
          <a:xfrm>
            <a:off x="8010144" y="3675887"/>
            <a:ext cx="3529584" cy="256032"/>
          </a:xfrm>
          <a:prstGeom prst="rect">
            <a:avLst/>
          </a:prstGeom>
          <a:noFill/>
        </p:spPr>
        <p:txBody>
          <a:bodyPr wrap="square" lIns="0" tIns="0" rIns="0" bIns="0">
            <a:spAutoFit/>
          </a:bodyPr>
          <a:lstStyle/>
          <a:p>
            <a:pPr algn="ctr"/>
            <a:r>
              <a:rPr sz="1600" b="1">
                <a:solidFill>
                  <a:srgbClr val="141D18"/>
                </a:solidFill>
                <a:latin typeface="Segoe UI"/>
              </a:rPr>
              <a:t>Muhammad Rafiq</a:t>
            </a:r>
          </a:p>
        </p:txBody>
      </p:sp>
      <p:sp>
        <p:nvSpPr>
          <p:cNvPr id="15" name="TextBox 14"/>
          <p:cNvSpPr txBox="1"/>
          <p:nvPr/>
        </p:nvSpPr>
        <p:spPr>
          <a:xfrm>
            <a:off x="8010144" y="3931920"/>
            <a:ext cx="3529584" cy="237744"/>
          </a:xfrm>
          <a:prstGeom prst="rect">
            <a:avLst/>
          </a:prstGeom>
          <a:noFill/>
        </p:spPr>
        <p:txBody>
          <a:bodyPr wrap="square" lIns="0" tIns="0" rIns="0" bIns="0">
            <a:spAutoFit/>
          </a:bodyPr>
          <a:lstStyle/>
          <a:p>
            <a:pPr algn="ctr"/>
            <a:r>
              <a:rPr sz="1100" b="0" spc="80">
                <a:solidFill>
                  <a:srgbClr val="6C7A72"/>
                </a:solidFill>
                <a:latin typeface="Segoe UI"/>
              </a:rPr>
              <a:t>TECHNICAL MANAGER</a:t>
            </a:r>
          </a:p>
        </p:txBody>
      </p:sp>
      <p:pic>
        <p:nvPicPr>
          <p:cNvPr id="16" name="Picture 15" descr="team_4_heri.png"/>
          <p:cNvPicPr>
            <a:picLocks noChangeAspect="1"/>
          </p:cNvPicPr>
          <p:nvPr/>
        </p:nvPicPr>
        <p:blipFill>
          <a:blip r:embed="rId5"/>
          <a:srcRect/>
          <a:stretch>
            <a:fillRect/>
          </a:stretch>
        </p:blipFill>
        <p:spPr>
          <a:xfrm>
            <a:off x="1828799" y="4297680"/>
            <a:ext cx="1188720" cy="1188720"/>
          </a:xfrm>
          <a:prstGeom prst="rect">
            <a:avLst/>
          </a:prstGeom>
        </p:spPr>
      </p:pic>
      <p:sp>
        <p:nvSpPr>
          <p:cNvPr id="17" name="TextBox 16"/>
          <p:cNvSpPr txBox="1"/>
          <p:nvPr/>
        </p:nvSpPr>
        <p:spPr>
          <a:xfrm>
            <a:off x="658368" y="5577840"/>
            <a:ext cx="3529584" cy="256032"/>
          </a:xfrm>
          <a:prstGeom prst="rect">
            <a:avLst/>
          </a:prstGeom>
          <a:noFill/>
        </p:spPr>
        <p:txBody>
          <a:bodyPr wrap="square" lIns="0" tIns="0" rIns="0" bIns="0">
            <a:spAutoFit/>
          </a:bodyPr>
          <a:lstStyle/>
          <a:p>
            <a:pPr algn="ctr"/>
            <a:r>
              <a:rPr sz="1600" b="1">
                <a:solidFill>
                  <a:srgbClr val="141D18"/>
                </a:solidFill>
                <a:latin typeface="Segoe UI"/>
              </a:rPr>
              <a:t>Heri Adi Prasetya</a:t>
            </a:r>
          </a:p>
        </p:txBody>
      </p:sp>
      <p:sp>
        <p:nvSpPr>
          <p:cNvPr id="18" name="TextBox 17"/>
          <p:cNvSpPr txBox="1"/>
          <p:nvPr/>
        </p:nvSpPr>
        <p:spPr>
          <a:xfrm>
            <a:off x="658368" y="5833872"/>
            <a:ext cx="3529584" cy="237744"/>
          </a:xfrm>
          <a:prstGeom prst="rect">
            <a:avLst/>
          </a:prstGeom>
          <a:noFill/>
        </p:spPr>
        <p:txBody>
          <a:bodyPr wrap="square" lIns="0" tIns="0" rIns="0" bIns="0">
            <a:spAutoFit/>
          </a:bodyPr>
          <a:lstStyle/>
          <a:p>
            <a:pPr algn="ctr"/>
            <a:r>
              <a:rPr sz="1100" b="0" spc="80">
                <a:solidFill>
                  <a:srgbClr val="6C7A72"/>
                </a:solidFill>
                <a:latin typeface="Segoe UI"/>
              </a:rPr>
              <a:t>OPERATIONS MANAGER - IT DEV</a:t>
            </a:r>
          </a:p>
        </p:txBody>
      </p:sp>
      <p:pic>
        <p:nvPicPr>
          <p:cNvPr id="19" name="Picture 18" descr="team_5_nico.png"/>
          <p:cNvPicPr>
            <a:picLocks noChangeAspect="1"/>
          </p:cNvPicPr>
          <p:nvPr/>
        </p:nvPicPr>
        <p:blipFill>
          <a:blip r:embed="rId6"/>
          <a:srcRect/>
          <a:stretch>
            <a:fillRect/>
          </a:stretch>
        </p:blipFill>
        <p:spPr>
          <a:xfrm>
            <a:off x="5504688" y="4297680"/>
            <a:ext cx="1188720" cy="1188720"/>
          </a:xfrm>
          <a:prstGeom prst="rect">
            <a:avLst/>
          </a:prstGeom>
        </p:spPr>
      </p:pic>
      <p:sp>
        <p:nvSpPr>
          <p:cNvPr id="20" name="TextBox 19"/>
          <p:cNvSpPr txBox="1"/>
          <p:nvPr/>
        </p:nvSpPr>
        <p:spPr>
          <a:xfrm>
            <a:off x="4334255" y="5577840"/>
            <a:ext cx="3529584" cy="256032"/>
          </a:xfrm>
          <a:prstGeom prst="rect">
            <a:avLst/>
          </a:prstGeom>
          <a:noFill/>
        </p:spPr>
        <p:txBody>
          <a:bodyPr wrap="square" lIns="0" tIns="0" rIns="0" bIns="0">
            <a:spAutoFit/>
          </a:bodyPr>
          <a:lstStyle/>
          <a:p>
            <a:pPr algn="ctr"/>
            <a:r>
              <a:rPr sz="1600" b="1">
                <a:solidFill>
                  <a:srgbClr val="141D18"/>
                </a:solidFill>
                <a:latin typeface="Segoe UI"/>
              </a:rPr>
              <a:t>Nico Setyo Utomo</a:t>
            </a:r>
          </a:p>
        </p:txBody>
      </p:sp>
      <p:sp>
        <p:nvSpPr>
          <p:cNvPr id="21" name="TextBox 20"/>
          <p:cNvSpPr txBox="1"/>
          <p:nvPr/>
        </p:nvSpPr>
        <p:spPr>
          <a:xfrm>
            <a:off x="4334255" y="5833872"/>
            <a:ext cx="3529584" cy="237744"/>
          </a:xfrm>
          <a:prstGeom prst="rect">
            <a:avLst/>
          </a:prstGeom>
          <a:noFill/>
        </p:spPr>
        <p:txBody>
          <a:bodyPr wrap="square" lIns="0" tIns="0" rIns="0" bIns="0">
            <a:spAutoFit/>
          </a:bodyPr>
          <a:lstStyle/>
          <a:p>
            <a:pPr algn="ctr"/>
            <a:r>
              <a:rPr sz="1100" b="0" spc="80">
                <a:solidFill>
                  <a:srgbClr val="6C7A72"/>
                </a:solidFill>
                <a:latin typeface="Segoe UI"/>
              </a:rPr>
              <a:t>DATA AND MANAGEMENT</a:t>
            </a:r>
          </a:p>
        </p:txBody>
      </p:sp>
      <p:pic>
        <p:nvPicPr>
          <p:cNvPr id="22" name="Picture 21" descr="team_6_yanfa.png"/>
          <p:cNvPicPr>
            <a:picLocks noChangeAspect="1"/>
          </p:cNvPicPr>
          <p:nvPr/>
        </p:nvPicPr>
        <p:blipFill>
          <a:blip r:embed="rId7"/>
          <a:srcRect/>
          <a:stretch>
            <a:fillRect/>
          </a:stretch>
        </p:blipFill>
        <p:spPr>
          <a:xfrm>
            <a:off x="9180576" y="4297680"/>
            <a:ext cx="1188720" cy="1188720"/>
          </a:xfrm>
          <a:prstGeom prst="rect">
            <a:avLst/>
          </a:prstGeom>
        </p:spPr>
      </p:pic>
      <p:sp>
        <p:nvSpPr>
          <p:cNvPr id="23" name="TextBox 22"/>
          <p:cNvSpPr txBox="1"/>
          <p:nvPr/>
        </p:nvSpPr>
        <p:spPr>
          <a:xfrm>
            <a:off x="8010144" y="5577840"/>
            <a:ext cx="3529584" cy="256032"/>
          </a:xfrm>
          <a:prstGeom prst="rect">
            <a:avLst/>
          </a:prstGeom>
          <a:noFill/>
        </p:spPr>
        <p:txBody>
          <a:bodyPr wrap="square" lIns="0" tIns="0" rIns="0" bIns="0">
            <a:spAutoFit/>
          </a:bodyPr>
          <a:lstStyle/>
          <a:p>
            <a:pPr algn="ctr"/>
            <a:r>
              <a:rPr sz="1600" b="1">
                <a:solidFill>
                  <a:srgbClr val="141D18"/>
                </a:solidFill>
                <a:latin typeface="Segoe UI"/>
              </a:rPr>
              <a:t>Yanfa Ghiyats Ghifari</a:t>
            </a:r>
          </a:p>
        </p:txBody>
      </p:sp>
      <p:sp>
        <p:nvSpPr>
          <p:cNvPr id="24" name="TextBox 23"/>
          <p:cNvSpPr txBox="1"/>
          <p:nvPr/>
        </p:nvSpPr>
        <p:spPr>
          <a:xfrm>
            <a:off x="8010144" y="5833872"/>
            <a:ext cx="3529584" cy="237744"/>
          </a:xfrm>
          <a:prstGeom prst="rect">
            <a:avLst/>
          </a:prstGeom>
          <a:noFill/>
        </p:spPr>
        <p:txBody>
          <a:bodyPr wrap="square" lIns="0" tIns="0" rIns="0" bIns="0">
            <a:spAutoFit/>
          </a:bodyPr>
          <a:lstStyle/>
          <a:p>
            <a:pPr algn="ctr"/>
            <a:r>
              <a:rPr sz="1100" b="0" spc="80">
                <a:solidFill>
                  <a:srgbClr val="6C7A72"/>
                </a:solidFill>
                <a:latin typeface="Segoe UI"/>
              </a:rPr>
              <a:t>SENIOR FACILITATOR</a:t>
            </a:r>
          </a:p>
        </p:txBody>
      </p:sp>
      <p:sp>
        <p:nvSpPr>
          <p:cNvPr id="25" name="TextBox 24"/>
          <p:cNvSpPr txBox="1"/>
          <p:nvPr/>
        </p:nvSpPr>
        <p:spPr>
          <a:xfrm>
            <a:off x="658368" y="6126480"/>
            <a:ext cx="10424160" cy="237744"/>
          </a:xfrm>
          <a:prstGeom prst="rect">
            <a:avLst/>
          </a:prstGeom>
          <a:noFill/>
        </p:spPr>
        <p:txBody>
          <a:bodyPr wrap="square" lIns="0" tIns="0" rIns="0" bIns="0">
            <a:spAutoFit/>
          </a:bodyPr>
          <a:lstStyle/>
          <a:p>
            <a:pPr algn="l"/>
            <a:r>
              <a:rPr sz="1300" b="0">
                <a:solidFill>
                  <a:srgbClr val="6C7A72"/>
                </a:solidFill>
                <a:latin typeface="Segoe UI"/>
              </a:rPr>
              <a:t>15 internal staff, including five field facilitators working directly with farmer groups across Lampung.</a:t>
            </a:r>
          </a:p>
        </p:txBody>
      </p:sp>
      <p:sp>
        <p:nvSpPr>
          <p:cNvPr id="26" name="TextBox 25"/>
          <p:cNvSpPr txBox="1"/>
          <p:nvPr/>
        </p:nvSpPr>
        <p:spPr>
          <a:xfrm>
            <a:off x="658368" y="6419088"/>
            <a:ext cx="6400800" cy="237744"/>
          </a:xfrm>
          <a:prstGeom prst="rect">
            <a:avLst/>
          </a:prstGeom>
          <a:noFill/>
        </p:spPr>
        <p:txBody>
          <a:bodyPr wrap="square" lIns="0" tIns="0" rIns="0" bIns="0">
            <a:spAutoFit/>
          </a:bodyPr>
          <a:lstStyle/>
          <a:p>
            <a:pPr algn="l"/>
            <a:r>
              <a:rPr sz="1100" b="0" spc="100">
                <a:solidFill>
                  <a:srgbClr val="6C7A72"/>
                </a:solidFill>
                <a:latin typeface="Segoe UI"/>
              </a:rPr>
              <a:t>PT KLUMBAYAN GOLD FARM   ·   COMPANY PROFILE   ·   BANGLADESH EDITION</a:t>
            </a:r>
          </a:p>
        </p:txBody>
      </p:sp>
      <p:sp>
        <p:nvSpPr>
          <p:cNvPr id="27" name="TextBox 26"/>
          <p:cNvSpPr txBox="1"/>
          <p:nvPr/>
        </p:nvSpPr>
        <p:spPr>
          <a:xfrm>
            <a:off x="9701784" y="6419088"/>
            <a:ext cx="1828800" cy="237744"/>
          </a:xfrm>
          <a:prstGeom prst="rect">
            <a:avLst/>
          </a:prstGeom>
          <a:noFill/>
        </p:spPr>
        <p:txBody>
          <a:bodyPr wrap="square" lIns="0" tIns="0" rIns="0" bIns="0">
            <a:spAutoFit/>
          </a:bodyPr>
          <a:lstStyle/>
          <a:p>
            <a:pPr algn="r"/>
            <a:r>
              <a:rPr sz="1100" b="0" spc="100">
                <a:solidFill>
                  <a:srgbClr val="6C7A72"/>
                </a:solidFill>
                <a:latin typeface="Segoe UI"/>
              </a:rPr>
              <a:t>12</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58368" y="566928"/>
            <a:ext cx="5486400" cy="274320"/>
          </a:xfrm>
          <a:prstGeom prst="rect">
            <a:avLst/>
          </a:prstGeom>
          <a:noFill/>
        </p:spPr>
        <p:txBody>
          <a:bodyPr wrap="square" lIns="0" tIns="0" rIns="0" bIns="0">
            <a:spAutoFit/>
          </a:bodyPr>
          <a:lstStyle/>
          <a:p>
            <a:pPr algn="l"/>
            <a:r>
              <a:rPr sz="1300" b="0" spc="140">
                <a:solidFill>
                  <a:srgbClr val="9A7526"/>
                </a:solidFill>
                <a:latin typeface="Segoe UI"/>
              </a:rPr>
              <a:t>13   PARTNERS</a:t>
            </a:r>
          </a:p>
        </p:txBody>
      </p:sp>
      <p:sp>
        <p:nvSpPr>
          <p:cNvPr id="4" name="Rectangle 3"/>
          <p:cNvSpPr/>
          <p:nvPr/>
        </p:nvSpPr>
        <p:spPr>
          <a:xfrm>
            <a:off x="658368" y="822960"/>
            <a:ext cx="10872215" cy="10972"/>
          </a:xfrm>
          <a:prstGeom prst="rect">
            <a:avLst/>
          </a:prstGeom>
          <a:solidFill>
            <a:srgbClr val="B9C7B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658368" y="818388"/>
            <a:ext cx="402336" cy="20116"/>
          </a:xfrm>
          <a:prstGeom prst="rect">
            <a:avLst/>
          </a:prstGeom>
          <a:solidFill>
            <a:srgbClr val="9A75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58368" y="1024128"/>
            <a:ext cx="10872216" cy="1188720"/>
          </a:xfrm>
          <a:prstGeom prst="rect">
            <a:avLst/>
          </a:prstGeom>
          <a:noFill/>
        </p:spPr>
        <p:txBody>
          <a:bodyPr wrap="square" lIns="0" tIns="0" rIns="0" bIns="0">
            <a:spAutoFit/>
          </a:bodyPr>
          <a:lstStyle/>
          <a:p>
            <a:pPr algn="l">
              <a:lnSpc>
                <a:spcPct val="112000"/>
              </a:lnSpc>
            </a:pPr>
            <a:r>
              <a:rPr sz="3600" b="1">
                <a:solidFill>
                  <a:srgbClr val="141D18"/>
                </a:solidFill>
                <a:latin typeface="Georgia"/>
              </a:rPr>
              <a:t>We do not do this alone.</a:t>
            </a:r>
          </a:p>
        </p:txBody>
      </p:sp>
      <p:sp>
        <p:nvSpPr>
          <p:cNvPr id="7" name="Rectangle 6"/>
          <p:cNvSpPr/>
          <p:nvPr/>
        </p:nvSpPr>
        <p:spPr>
          <a:xfrm>
            <a:off x="658368" y="2395728"/>
            <a:ext cx="2526030" cy="41148"/>
          </a:xfrm>
          <a:prstGeom prst="rect">
            <a:avLst/>
          </a:prstGeom>
          <a:solidFill>
            <a:srgbClr val="9A75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58368" y="2542032"/>
            <a:ext cx="2526030" cy="347472"/>
          </a:xfrm>
          <a:prstGeom prst="rect">
            <a:avLst/>
          </a:prstGeom>
          <a:noFill/>
        </p:spPr>
        <p:txBody>
          <a:bodyPr wrap="square" lIns="0" tIns="0" rIns="0" bIns="0">
            <a:spAutoFit/>
          </a:bodyPr>
          <a:lstStyle/>
          <a:p>
            <a:pPr algn="l"/>
            <a:r>
              <a:rPr sz="2000" b="1" spc="100">
                <a:solidFill>
                  <a:srgbClr val="141D18"/>
                </a:solidFill>
                <a:latin typeface="Segoe UI"/>
              </a:rPr>
              <a:t>MARKET</a:t>
            </a:r>
          </a:p>
        </p:txBody>
      </p:sp>
      <p:sp>
        <p:nvSpPr>
          <p:cNvPr id="9" name="TextBox 8"/>
          <p:cNvSpPr txBox="1"/>
          <p:nvPr/>
        </p:nvSpPr>
        <p:spPr>
          <a:xfrm>
            <a:off x="658368" y="2907792"/>
            <a:ext cx="2526030" cy="365760"/>
          </a:xfrm>
          <a:prstGeom prst="rect">
            <a:avLst/>
          </a:prstGeom>
          <a:noFill/>
        </p:spPr>
        <p:txBody>
          <a:bodyPr wrap="square" lIns="0" tIns="0" rIns="0" bIns="0">
            <a:spAutoFit/>
          </a:bodyPr>
          <a:lstStyle/>
          <a:p>
            <a:pPr algn="l"/>
            <a:r>
              <a:rPr sz="1100" b="0">
                <a:solidFill>
                  <a:srgbClr val="6C7A72"/>
                </a:solidFill>
                <a:latin typeface="Segoe UI"/>
              </a:rPr>
              <a:t>Buyer and national supply</a:t>
            </a:r>
          </a:p>
        </p:txBody>
      </p:sp>
      <p:sp>
        <p:nvSpPr>
          <p:cNvPr id="10" name="Rectangle 9"/>
          <p:cNvSpPr/>
          <p:nvPr/>
        </p:nvSpPr>
        <p:spPr>
          <a:xfrm>
            <a:off x="658368" y="3218688"/>
            <a:ext cx="2526030" cy="1572768"/>
          </a:xfrm>
          <a:prstGeom prst="rect">
            <a:avLst/>
          </a:prstGeom>
          <a:solidFill>
            <a:srgbClr val="EFF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1" name="Picture 10" descr="logo_verstegen.png"/>
          <p:cNvPicPr>
            <a:picLocks noChangeAspect="1"/>
          </p:cNvPicPr>
          <p:nvPr/>
        </p:nvPicPr>
        <p:blipFill>
          <a:blip r:embed="rId2"/>
          <a:stretch>
            <a:fillRect/>
          </a:stretch>
        </p:blipFill>
        <p:spPr>
          <a:xfrm>
            <a:off x="1673246" y="3328416"/>
            <a:ext cx="496273" cy="402336"/>
          </a:xfrm>
          <a:prstGeom prst="rect">
            <a:avLst/>
          </a:prstGeom>
        </p:spPr>
      </p:pic>
      <p:sp>
        <p:nvSpPr>
          <p:cNvPr id="12" name="TextBox 11"/>
          <p:cNvSpPr txBox="1"/>
          <p:nvPr/>
        </p:nvSpPr>
        <p:spPr>
          <a:xfrm>
            <a:off x="859536" y="3895344"/>
            <a:ext cx="2123694" cy="237744"/>
          </a:xfrm>
          <a:prstGeom prst="rect">
            <a:avLst/>
          </a:prstGeom>
          <a:noFill/>
        </p:spPr>
        <p:txBody>
          <a:bodyPr wrap="square" lIns="0" tIns="0" rIns="0" bIns="0">
            <a:spAutoFit/>
          </a:bodyPr>
          <a:lstStyle/>
          <a:p>
            <a:pPr algn="ctr"/>
            <a:r>
              <a:rPr sz="1600" b="1">
                <a:solidFill>
                  <a:srgbClr val="6C7A72"/>
                </a:solidFill>
                <a:latin typeface="Segoe UI"/>
              </a:rPr>
              <a:t>PT CAN</a:t>
            </a:r>
          </a:p>
        </p:txBody>
      </p:sp>
      <p:sp>
        <p:nvSpPr>
          <p:cNvPr id="13" name="TextBox 12"/>
          <p:cNvSpPr txBox="1"/>
          <p:nvPr/>
        </p:nvSpPr>
        <p:spPr>
          <a:xfrm>
            <a:off x="658368" y="4956048"/>
            <a:ext cx="2526030" cy="1097280"/>
          </a:xfrm>
          <a:prstGeom prst="rect">
            <a:avLst/>
          </a:prstGeom>
          <a:noFill/>
        </p:spPr>
        <p:txBody>
          <a:bodyPr wrap="square" lIns="0" tIns="0" rIns="0" bIns="0">
            <a:spAutoFit/>
          </a:bodyPr>
          <a:lstStyle/>
          <a:p>
            <a:pPr algn="l">
              <a:lnSpc>
                <a:spcPct val="142000"/>
              </a:lnSpc>
            </a:pPr>
            <a:r>
              <a:rPr sz="1600" b="0">
                <a:solidFill>
                  <a:srgbClr val="3D4A43"/>
                </a:solidFill>
                <a:latin typeface="Segoe UI"/>
              </a:rPr>
              <a:t>Verstegen</a:t>
            </a:r>
          </a:p>
          <a:p>
            <a:pPr algn="l">
              <a:lnSpc>
                <a:spcPct val="142000"/>
              </a:lnSpc>
            </a:pPr>
            <a:r>
              <a:rPr sz="1600" b="0">
                <a:solidFill>
                  <a:srgbClr val="3D4A43"/>
                </a:solidFill>
                <a:latin typeface="Segoe UI"/>
              </a:rPr>
              <a:t>PT CAN</a:t>
            </a:r>
          </a:p>
        </p:txBody>
      </p:sp>
      <p:sp>
        <p:nvSpPr>
          <p:cNvPr id="14" name="Rectangle 13"/>
          <p:cNvSpPr/>
          <p:nvPr/>
        </p:nvSpPr>
        <p:spPr>
          <a:xfrm>
            <a:off x="3440430" y="2395728"/>
            <a:ext cx="2526030" cy="41148"/>
          </a:xfrm>
          <a:prstGeom prst="rect">
            <a:avLst/>
          </a:prstGeom>
          <a:solidFill>
            <a:srgbClr val="9A75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3440430" y="2542032"/>
            <a:ext cx="2526030" cy="347472"/>
          </a:xfrm>
          <a:prstGeom prst="rect">
            <a:avLst/>
          </a:prstGeom>
          <a:noFill/>
        </p:spPr>
        <p:txBody>
          <a:bodyPr wrap="square" lIns="0" tIns="0" rIns="0" bIns="0">
            <a:spAutoFit/>
          </a:bodyPr>
          <a:lstStyle/>
          <a:p>
            <a:pPr algn="l"/>
            <a:r>
              <a:rPr sz="2000" b="1" spc="100">
                <a:solidFill>
                  <a:srgbClr val="141D18"/>
                </a:solidFill>
                <a:latin typeface="Segoe UI"/>
              </a:rPr>
              <a:t>PROGRAMME</a:t>
            </a:r>
          </a:p>
        </p:txBody>
      </p:sp>
      <p:sp>
        <p:nvSpPr>
          <p:cNvPr id="16" name="TextBox 15"/>
          <p:cNvSpPr txBox="1"/>
          <p:nvPr/>
        </p:nvSpPr>
        <p:spPr>
          <a:xfrm>
            <a:off x="3440430" y="2907792"/>
            <a:ext cx="2526030" cy="365760"/>
          </a:xfrm>
          <a:prstGeom prst="rect">
            <a:avLst/>
          </a:prstGeom>
          <a:noFill/>
        </p:spPr>
        <p:txBody>
          <a:bodyPr wrap="square" lIns="0" tIns="0" rIns="0" bIns="0">
            <a:spAutoFit/>
          </a:bodyPr>
          <a:lstStyle/>
          <a:p>
            <a:pPr algn="l"/>
            <a:r>
              <a:rPr sz="1100" b="0">
                <a:solidFill>
                  <a:srgbClr val="6C7A72"/>
                </a:solidFill>
                <a:latin typeface="Segoe UI"/>
              </a:rPr>
              <a:t>Funders and platforms</a:t>
            </a:r>
          </a:p>
        </p:txBody>
      </p:sp>
      <p:sp>
        <p:nvSpPr>
          <p:cNvPr id="17" name="Rectangle 16"/>
          <p:cNvSpPr/>
          <p:nvPr/>
        </p:nvSpPr>
        <p:spPr>
          <a:xfrm>
            <a:off x="3440430" y="3218688"/>
            <a:ext cx="2526030" cy="1572768"/>
          </a:xfrm>
          <a:prstGeom prst="rect">
            <a:avLst/>
          </a:prstGeom>
          <a:solidFill>
            <a:srgbClr val="EFF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8" name="Picture 17" descr="logo_giz.png"/>
          <p:cNvPicPr>
            <a:picLocks noChangeAspect="1"/>
          </p:cNvPicPr>
          <p:nvPr/>
        </p:nvPicPr>
        <p:blipFill>
          <a:blip r:embed="rId3"/>
          <a:stretch>
            <a:fillRect/>
          </a:stretch>
        </p:blipFill>
        <p:spPr>
          <a:xfrm>
            <a:off x="4053270" y="3328416"/>
            <a:ext cx="1300349" cy="402336"/>
          </a:xfrm>
          <a:prstGeom prst="rect">
            <a:avLst/>
          </a:prstGeom>
        </p:spPr>
      </p:pic>
      <p:pic>
        <p:nvPicPr>
          <p:cNvPr id="19" name="Picture 18" descr="logo_ssii.png"/>
          <p:cNvPicPr>
            <a:picLocks noChangeAspect="1"/>
          </p:cNvPicPr>
          <p:nvPr/>
        </p:nvPicPr>
        <p:blipFill>
          <a:blip r:embed="rId4"/>
          <a:stretch>
            <a:fillRect/>
          </a:stretch>
        </p:blipFill>
        <p:spPr>
          <a:xfrm>
            <a:off x="4312285" y="3803904"/>
            <a:ext cx="782320" cy="402336"/>
          </a:xfrm>
          <a:prstGeom prst="rect">
            <a:avLst/>
          </a:prstGeom>
        </p:spPr>
      </p:pic>
      <p:sp>
        <p:nvSpPr>
          <p:cNvPr id="20" name="TextBox 19"/>
          <p:cNvSpPr txBox="1"/>
          <p:nvPr/>
        </p:nvSpPr>
        <p:spPr>
          <a:xfrm>
            <a:off x="3641598" y="4370831"/>
            <a:ext cx="2123694" cy="237744"/>
          </a:xfrm>
          <a:prstGeom prst="rect">
            <a:avLst/>
          </a:prstGeom>
          <a:noFill/>
        </p:spPr>
        <p:txBody>
          <a:bodyPr wrap="square" lIns="0" tIns="0" rIns="0" bIns="0">
            <a:spAutoFit/>
          </a:bodyPr>
          <a:lstStyle/>
          <a:p>
            <a:pPr algn="ctr"/>
            <a:r>
              <a:rPr sz="1600" b="1">
                <a:solidFill>
                  <a:srgbClr val="6C7A72"/>
                </a:solidFill>
                <a:latin typeface="Segoe UI"/>
              </a:rPr>
              <a:t>Solidaridad</a:t>
            </a:r>
          </a:p>
        </p:txBody>
      </p:sp>
      <p:sp>
        <p:nvSpPr>
          <p:cNvPr id="21" name="TextBox 20"/>
          <p:cNvSpPr txBox="1"/>
          <p:nvPr/>
        </p:nvSpPr>
        <p:spPr>
          <a:xfrm>
            <a:off x="3440430" y="4956048"/>
            <a:ext cx="2526030" cy="1097280"/>
          </a:xfrm>
          <a:prstGeom prst="rect">
            <a:avLst/>
          </a:prstGeom>
          <a:noFill/>
        </p:spPr>
        <p:txBody>
          <a:bodyPr wrap="square" lIns="0" tIns="0" rIns="0" bIns="0">
            <a:spAutoFit/>
          </a:bodyPr>
          <a:lstStyle/>
          <a:p>
            <a:pPr algn="l">
              <a:lnSpc>
                <a:spcPct val="142000"/>
              </a:lnSpc>
            </a:pPr>
            <a:r>
              <a:rPr sz="1600" b="0">
                <a:solidFill>
                  <a:srgbClr val="3D4A43"/>
                </a:solidFill>
                <a:latin typeface="Segoe UI"/>
              </a:rPr>
              <a:t>GIZ</a:t>
            </a:r>
          </a:p>
          <a:p>
            <a:pPr algn="l">
              <a:lnSpc>
                <a:spcPct val="142000"/>
              </a:lnSpc>
            </a:pPr>
            <a:r>
              <a:rPr sz="1600" b="0">
                <a:solidFill>
                  <a:srgbClr val="3D4A43"/>
                </a:solidFill>
                <a:latin typeface="Segoe UI"/>
              </a:rPr>
              <a:t>SSI-I</a:t>
            </a:r>
          </a:p>
          <a:p>
            <a:pPr algn="l">
              <a:lnSpc>
                <a:spcPct val="142000"/>
              </a:lnSpc>
            </a:pPr>
            <a:r>
              <a:rPr sz="1600" b="0">
                <a:solidFill>
                  <a:srgbClr val="3D4A43"/>
                </a:solidFill>
                <a:latin typeface="Segoe UI"/>
              </a:rPr>
              <a:t>Solidaridad</a:t>
            </a:r>
          </a:p>
        </p:txBody>
      </p:sp>
      <p:sp>
        <p:nvSpPr>
          <p:cNvPr id="22" name="Rectangle 21"/>
          <p:cNvSpPr/>
          <p:nvPr/>
        </p:nvSpPr>
        <p:spPr>
          <a:xfrm>
            <a:off x="6222492" y="2395728"/>
            <a:ext cx="2526030" cy="41148"/>
          </a:xfrm>
          <a:prstGeom prst="rect">
            <a:avLst/>
          </a:prstGeom>
          <a:solidFill>
            <a:srgbClr val="9A75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6222492" y="2542032"/>
            <a:ext cx="2526030" cy="347472"/>
          </a:xfrm>
          <a:prstGeom prst="rect">
            <a:avLst/>
          </a:prstGeom>
          <a:noFill/>
        </p:spPr>
        <p:txBody>
          <a:bodyPr wrap="square" lIns="0" tIns="0" rIns="0" bIns="0">
            <a:spAutoFit/>
          </a:bodyPr>
          <a:lstStyle/>
          <a:p>
            <a:pPr algn="l"/>
            <a:r>
              <a:rPr sz="2000" b="1" spc="100">
                <a:solidFill>
                  <a:srgbClr val="141D18"/>
                </a:solidFill>
                <a:latin typeface="Segoe UI"/>
              </a:rPr>
              <a:t>RESEARCH</a:t>
            </a:r>
          </a:p>
        </p:txBody>
      </p:sp>
      <p:sp>
        <p:nvSpPr>
          <p:cNvPr id="24" name="TextBox 23"/>
          <p:cNvSpPr txBox="1"/>
          <p:nvPr/>
        </p:nvSpPr>
        <p:spPr>
          <a:xfrm>
            <a:off x="6222492" y="2907792"/>
            <a:ext cx="2526030" cy="365760"/>
          </a:xfrm>
          <a:prstGeom prst="rect">
            <a:avLst/>
          </a:prstGeom>
          <a:noFill/>
        </p:spPr>
        <p:txBody>
          <a:bodyPr wrap="square" lIns="0" tIns="0" rIns="0" bIns="0">
            <a:spAutoFit/>
          </a:bodyPr>
          <a:lstStyle/>
          <a:p>
            <a:pPr algn="l"/>
            <a:r>
              <a:rPr sz="1100" b="0">
                <a:solidFill>
                  <a:srgbClr val="6C7A72"/>
                </a:solidFill>
                <a:latin typeface="Segoe UI"/>
              </a:rPr>
              <a:t>Applied science partners</a:t>
            </a:r>
          </a:p>
        </p:txBody>
      </p:sp>
      <p:sp>
        <p:nvSpPr>
          <p:cNvPr id="25" name="Rectangle 24"/>
          <p:cNvSpPr/>
          <p:nvPr/>
        </p:nvSpPr>
        <p:spPr>
          <a:xfrm>
            <a:off x="6222492" y="3218688"/>
            <a:ext cx="2526030" cy="1572768"/>
          </a:xfrm>
          <a:prstGeom prst="rect">
            <a:avLst/>
          </a:prstGeom>
          <a:solidFill>
            <a:srgbClr val="EFF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6" name="Picture 25" descr="logo_brin.png"/>
          <p:cNvPicPr>
            <a:picLocks noChangeAspect="1"/>
          </p:cNvPicPr>
          <p:nvPr/>
        </p:nvPicPr>
        <p:blipFill>
          <a:blip r:embed="rId5"/>
          <a:stretch>
            <a:fillRect/>
          </a:stretch>
        </p:blipFill>
        <p:spPr>
          <a:xfrm>
            <a:off x="7048246" y="3328416"/>
            <a:ext cx="874522" cy="402336"/>
          </a:xfrm>
          <a:prstGeom prst="rect">
            <a:avLst/>
          </a:prstGeom>
        </p:spPr>
      </p:pic>
      <p:pic>
        <p:nvPicPr>
          <p:cNvPr id="27" name="Picture 26" descr="logo_sith_itb.png"/>
          <p:cNvPicPr>
            <a:picLocks noChangeAspect="1"/>
          </p:cNvPicPr>
          <p:nvPr/>
        </p:nvPicPr>
        <p:blipFill>
          <a:blip r:embed="rId6"/>
          <a:stretch>
            <a:fillRect/>
          </a:stretch>
        </p:blipFill>
        <p:spPr>
          <a:xfrm>
            <a:off x="7284339" y="3803904"/>
            <a:ext cx="402336" cy="402336"/>
          </a:xfrm>
          <a:prstGeom prst="rect">
            <a:avLst/>
          </a:prstGeom>
        </p:spPr>
      </p:pic>
      <p:sp>
        <p:nvSpPr>
          <p:cNvPr id="28" name="TextBox 27"/>
          <p:cNvSpPr txBox="1"/>
          <p:nvPr/>
        </p:nvSpPr>
        <p:spPr>
          <a:xfrm>
            <a:off x="6222492" y="4956048"/>
            <a:ext cx="2526030" cy="1097280"/>
          </a:xfrm>
          <a:prstGeom prst="rect">
            <a:avLst/>
          </a:prstGeom>
          <a:noFill/>
        </p:spPr>
        <p:txBody>
          <a:bodyPr wrap="square" lIns="0" tIns="0" rIns="0" bIns="0">
            <a:spAutoFit/>
          </a:bodyPr>
          <a:lstStyle/>
          <a:p>
            <a:pPr algn="l">
              <a:lnSpc>
                <a:spcPct val="142000"/>
              </a:lnSpc>
            </a:pPr>
            <a:r>
              <a:rPr sz="1600" b="0">
                <a:solidFill>
                  <a:srgbClr val="3D4A43"/>
                </a:solidFill>
                <a:latin typeface="Segoe UI"/>
              </a:rPr>
              <a:t>BRIN</a:t>
            </a:r>
          </a:p>
          <a:p>
            <a:pPr algn="l">
              <a:lnSpc>
                <a:spcPct val="142000"/>
              </a:lnSpc>
            </a:pPr>
            <a:r>
              <a:rPr sz="1600" b="0">
                <a:solidFill>
                  <a:srgbClr val="3D4A43"/>
                </a:solidFill>
                <a:latin typeface="Segoe UI"/>
              </a:rPr>
              <a:t>SITH ITB</a:t>
            </a:r>
          </a:p>
        </p:txBody>
      </p:sp>
      <p:sp>
        <p:nvSpPr>
          <p:cNvPr id="29" name="Rectangle 28"/>
          <p:cNvSpPr/>
          <p:nvPr/>
        </p:nvSpPr>
        <p:spPr>
          <a:xfrm>
            <a:off x="9004554" y="2395728"/>
            <a:ext cx="2526030" cy="41148"/>
          </a:xfrm>
          <a:prstGeom prst="rect">
            <a:avLst/>
          </a:prstGeom>
          <a:solidFill>
            <a:srgbClr val="9A75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9004554" y="2542032"/>
            <a:ext cx="2526030" cy="347472"/>
          </a:xfrm>
          <a:prstGeom prst="rect">
            <a:avLst/>
          </a:prstGeom>
          <a:noFill/>
        </p:spPr>
        <p:txBody>
          <a:bodyPr wrap="square" lIns="0" tIns="0" rIns="0" bIns="0">
            <a:spAutoFit/>
          </a:bodyPr>
          <a:lstStyle/>
          <a:p>
            <a:pPr algn="l"/>
            <a:r>
              <a:rPr sz="2000" b="1" spc="100">
                <a:solidFill>
                  <a:srgbClr val="141D18"/>
                </a:solidFill>
                <a:latin typeface="Segoe UI"/>
              </a:rPr>
              <a:t>INSTITUTIONAL</a:t>
            </a:r>
          </a:p>
        </p:txBody>
      </p:sp>
      <p:sp>
        <p:nvSpPr>
          <p:cNvPr id="31" name="TextBox 30"/>
          <p:cNvSpPr txBox="1"/>
          <p:nvPr/>
        </p:nvSpPr>
        <p:spPr>
          <a:xfrm>
            <a:off x="9004554" y="2907792"/>
            <a:ext cx="2526030" cy="365760"/>
          </a:xfrm>
          <a:prstGeom prst="rect">
            <a:avLst/>
          </a:prstGeom>
          <a:noFill/>
        </p:spPr>
        <p:txBody>
          <a:bodyPr wrap="square" lIns="0" tIns="0" rIns="0" bIns="0">
            <a:spAutoFit/>
          </a:bodyPr>
          <a:lstStyle/>
          <a:p>
            <a:pPr algn="l"/>
            <a:r>
              <a:rPr sz="1100" b="0">
                <a:solidFill>
                  <a:srgbClr val="6C7A72"/>
                </a:solidFill>
                <a:latin typeface="Segoe UI"/>
              </a:rPr>
              <a:t>Government and national</a:t>
            </a:r>
          </a:p>
        </p:txBody>
      </p:sp>
      <p:sp>
        <p:nvSpPr>
          <p:cNvPr id="32" name="Rectangle 31"/>
          <p:cNvSpPr/>
          <p:nvPr/>
        </p:nvSpPr>
        <p:spPr>
          <a:xfrm>
            <a:off x="9004554" y="3218688"/>
            <a:ext cx="2526030" cy="1572768"/>
          </a:xfrm>
          <a:prstGeom prst="rect">
            <a:avLst/>
          </a:prstGeom>
          <a:solidFill>
            <a:srgbClr val="EFF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3" name="Picture 32" descr="logo_kemenperin.png"/>
          <p:cNvPicPr>
            <a:picLocks noChangeAspect="1"/>
          </p:cNvPicPr>
          <p:nvPr/>
        </p:nvPicPr>
        <p:blipFill>
          <a:blip r:embed="rId7"/>
          <a:stretch>
            <a:fillRect/>
          </a:stretch>
        </p:blipFill>
        <p:spPr>
          <a:xfrm>
            <a:off x="9965817" y="3328416"/>
            <a:ext cx="603504" cy="402336"/>
          </a:xfrm>
          <a:prstGeom prst="rect">
            <a:avLst/>
          </a:prstGeom>
        </p:spPr>
      </p:pic>
      <p:sp>
        <p:nvSpPr>
          <p:cNvPr id="34" name="TextBox 33"/>
          <p:cNvSpPr txBox="1"/>
          <p:nvPr/>
        </p:nvSpPr>
        <p:spPr>
          <a:xfrm>
            <a:off x="9205722" y="3895344"/>
            <a:ext cx="2123694" cy="237744"/>
          </a:xfrm>
          <a:prstGeom prst="rect">
            <a:avLst/>
          </a:prstGeom>
          <a:noFill/>
        </p:spPr>
        <p:txBody>
          <a:bodyPr wrap="square" lIns="0" tIns="0" rIns="0" bIns="0">
            <a:spAutoFit/>
          </a:bodyPr>
          <a:lstStyle/>
          <a:p>
            <a:pPr algn="ctr"/>
            <a:r>
              <a:rPr sz="1600" b="1">
                <a:solidFill>
                  <a:srgbClr val="6C7A72"/>
                </a:solidFill>
                <a:latin typeface="Segoe UI"/>
              </a:rPr>
              <a:t>Bank Indonesia</a:t>
            </a:r>
          </a:p>
        </p:txBody>
      </p:sp>
      <p:sp>
        <p:nvSpPr>
          <p:cNvPr id="35" name="TextBox 34"/>
          <p:cNvSpPr txBox="1"/>
          <p:nvPr/>
        </p:nvSpPr>
        <p:spPr>
          <a:xfrm>
            <a:off x="9205722" y="4370831"/>
            <a:ext cx="2123694" cy="237744"/>
          </a:xfrm>
          <a:prstGeom prst="rect">
            <a:avLst/>
          </a:prstGeom>
          <a:noFill/>
        </p:spPr>
        <p:txBody>
          <a:bodyPr wrap="square" lIns="0" tIns="0" rIns="0" bIns="0">
            <a:spAutoFit/>
          </a:bodyPr>
          <a:lstStyle/>
          <a:p>
            <a:pPr algn="ctr"/>
            <a:r>
              <a:rPr sz="1600" b="1">
                <a:solidFill>
                  <a:srgbClr val="6C7A72"/>
                </a:solidFill>
                <a:latin typeface="Segoe UI"/>
              </a:rPr>
              <a:t>ASTRA</a:t>
            </a:r>
          </a:p>
        </p:txBody>
      </p:sp>
      <p:sp>
        <p:nvSpPr>
          <p:cNvPr id="36" name="TextBox 35"/>
          <p:cNvSpPr txBox="1"/>
          <p:nvPr/>
        </p:nvSpPr>
        <p:spPr>
          <a:xfrm>
            <a:off x="9004554" y="4956048"/>
            <a:ext cx="2526030" cy="1097280"/>
          </a:xfrm>
          <a:prstGeom prst="rect">
            <a:avLst/>
          </a:prstGeom>
          <a:noFill/>
        </p:spPr>
        <p:txBody>
          <a:bodyPr wrap="square" lIns="0" tIns="0" rIns="0" bIns="0">
            <a:spAutoFit/>
          </a:bodyPr>
          <a:lstStyle/>
          <a:p>
            <a:pPr algn="l">
              <a:lnSpc>
                <a:spcPct val="142000"/>
              </a:lnSpc>
            </a:pPr>
            <a:r>
              <a:rPr sz="1600" b="0">
                <a:solidFill>
                  <a:srgbClr val="3D4A43"/>
                </a:solidFill>
                <a:latin typeface="Segoe UI"/>
              </a:rPr>
              <a:t>Kemenperin</a:t>
            </a:r>
          </a:p>
          <a:p>
            <a:pPr algn="l">
              <a:lnSpc>
                <a:spcPct val="142000"/>
              </a:lnSpc>
            </a:pPr>
            <a:r>
              <a:rPr sz="1600" b="0">
                <a:solidFill>
                  <a:srgbClr val="3D4A43"/>
                </a:solidFill>
                <a:latin typeface="Segoe UI"/>
              </a:rPr>
              <a:t>Bank Indonesia</a:t>
            </a:r>
          </a:p>
          <a:p>
            <a:pPr algn="l">
              <a:lnSpc>
                <a:spcPct val="142000"/>
              </a:lnSpc>
            </a:pPr>
            <a:r>
              <a:rPr sz="1600" b="0">
                <a:solidFill>
                  <a:srgbClr val="3D4A43"/>
                </a:solidFill>
                <a:latin typeface="Segoe UI"/>
              </a:rPr>
              <a:t>ASTRA</a:t>
            </a:r>
          </a:p>
        </p:txBody>
      </p:sp>
      <p:sp>
        <p:nvSpPr>
          <p:cNvPr id="37" name="TextBox 36"/>
          <p:cNvSpPr txBox="1"/>
          <p:nvPr/>
        </p:nvSpPr>
        <p:spPr>
          <a:xfrm>
            <a:off x="658368" y="6144768"/>
            <a:ext cx="10424160" cy="256032"/>
          </a:xfrm>
          <a:prstGeom prst="rect">
            <a:avLst/>
          </a:prstGeom>
          <a:noFill/>
        </p:spPr>
        <p:txBody>
          <a:bodyPr wrap="square" lIns="0" tIns="0" rIns="0" bIns="0">
            <a:spAutoFit/>
          </a:bodyPr>
          <a:lstStyle/>
          <a:p>
            <a:pPr algn="l"/>
            <a:r>
              <a:rPr sz="1300" b="0">
                <a:solidFill>
                  <a:srgbClr val="6C7A72"/>
                </a:solidFill>
                <a:latin typeface="Segoe UI"/>
              </a:rPr>
              <a:t>KGF is the field implementer and off-taker inside the aGROWforests consortium, funded by GIZ.</a:t>
            </a:r>
          </a:p>
        </p:txBody>
      </p:sp>
      <p:sp>
        <p:nvSpPr>
          <p:cNvPr id="38" name="TextBox 37"/>
          <p:cNvSpPr txBox="1"/>
          <p:nvPr/>
        </p:nvSpPr>
        <p:spPr>
          <a:xfrm>
            <a:off x="658368" y="6419088"/>
            <a:ext cx="6400800" cy="237744"/>
          </a:xfrm>
          <a:prstGeom prst="rect">
            <a:avLst/>
          </a:prstGeom>
          <a:noFill/>
        </p:spPr>
        <p:txBody>
          <a:bodyPr wrap="square" lIns="0" tIns="0" rIns="0" bIns="0">
            <a:spAutoFit/>
          </a:bodyPr>
          <a:lstStyle/>
          <a:p>
            <a:pPr algn="l"/>
            <a:r>
              <a:rPr sz="1100" b="0" spc="100">
                <a:solidFill>
                  <a:srgbClr val="6C7A72"/>
                </a:solidFill>
                <a:latin typeface="Segoe UI"/>
              </a:rPr>
              <a:t>PT KLUMBAYAN GOLD FARM   ·   COMPANY PROFILE   ·   BANGLADESH EDITION</a:t>
            </a:r>
          </a:p>
        </p:txBody>
      </p:sp>
      <p:sp>
        <p:nvSpPr>
          <p:cNvPr id="39" name="TextBox 38"/>
          <p:cNvSpPr txBox="1"/>
          <p:nvPr/>
        </p:nvSpPr>
        <p:spPr>
          <a:xfrm>
            <a:off x="9701784" y="6419088"/>
            <a:ext cx="1828800" cy="237744"/>
          </a:xfrm>
          <a:prstGeom prst="rect">
            <a:avLst/>
          </a:prstGeom>
          <a:noFill/>
        </p:spPr>
        <p:txBody>
          <a:bodyPr wrap="square" lIns="0" tIns="0" rIns="0" bIns="0">
            <a:spAutoFit/>
          </a:bodyPr>
          <a:lstStyle/>
          <a:p>
            <a:pPr algn="r"/>
            <a:r>
              <a:rPr sz="1100" b="0" spc="100">
                <a:solidFill>
                  <a:srgbClr val="6C7A72"/>
                </a:solidFill>
                <a:latin typeface="Segoe UI"/>
              </a:rPr>
              <a:t>13</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58368" y="566928"/>
            <a:ext cx="5486400" cy="274320"/>
          </a:xfrm>
          <a:prstGeom prst="rect">
            <a:avLst/>
          </a:prstGeom>
          <a:noFill/>
        </p:spPr>
        <p:txBody>
          <a:bodyPr wrap="square" lIns="0" tIns="0" rIns="0" bIns="0">
            <a:spAutoFit/>
          </a:bodyPr>
          <a:lstStyle/>
          <a:p>
            <a:pPr algn="l"/>
            <a:r>
              <a:rPr sz="1300" b="0" spc="140">
                <a:solidFill>
                  <a:srgbClr val="9A7526"/>
                </a:solidFill>
                <a:latin typeface="Segoe UI"/>
              </a:rPr>
              <a:t>14   WHAT WE ASK</a:t>
            </a:r>
          </a:p>
        </p:txBody>
      </p:sp>
      <p:sp>
        <p:nvSpPr>
          <p:cNvPr id="4" name="Rectangle 3"/>
          <p:cNvSpPr/>
          <p:nvPr/>
        </p:nvSpPr>
        <p:spPr>
          <a:xfrm>
            <a:off x="658368" y="822960"/>
            <a:ext cx="10872215" cy="10972"/>
          </a:xfrm>
          <a:prstGeom prst="rect">
            <a:avLst/>
          </a:prstGeom>
          <a:solidFill>
            <a:srgbClr val="B9C7B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658368" y="818388"/>
            <a:ext cx="402336" cy="20116"/>
          </a:xfrm>
          <a:prstGeom prst="rect">
            <a:avLst/>
          </a:prstGeom>
          <a:solidFill>
            <a:srgbClr val="9A75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58368" y="1024128"/>
            <a:ext cx="10872216" cy="1188720"/>
          </a:xfrm>
          <a:prstGeom prst="rect">
            <a:avLst/>
          </a:prstGeom>
          <a:noFill/>
        </p:spPr>
        <p:txBody>
          <a:bodyPr wrap="square" lIns="0" tIns="0" rIns="0" bIns="0">
            <a:spAutoFit/>
          </a:bodyPr>
          <a:lstStyle/>
          <a:p>
            <a:pPr algn="l">
              <a:lnSpc>
                <a:spcPct val="112000"/>
              </a:lnSpc>
            </a:pPr>
            <a:r>
              <a:rPr sz="3600" b="1">
                <a:solidFill>
                  <a:srgbClr val="141D18"/>
                </a:solidFill>
                <a:latin typeface="Georgia"/>
              </a:rPr>
              <a:t>What we ask of the Embassy.</a:t>
            </a:r>
          </a:p>
        </p:txBody>
      </p:sp>
      <p:sp>
        <p:nvSpPr>
          <p:cNvPr id="7" name="Oval 6"/>
          <p:cNvSpPr/>
          <p:nvPr/>
        </p:nvSpPr>
        <p:spPr>
          <a:xfrm>
            <a:off x="658368" y="2359152"/>
            <a:ext cx="384048" cy="384048"/>
          </a:xfrm>
          <a:prstGeom prst="ellipse">
            <a:avLst/>
          </a:prstGeom>
          <a:solidFill>
            <a:srgbClr val="1F4034"/>
          </a:solidFill>
          <a:ln>
            <a:noFill/>
          </a:ln>
          <a:effectLst/>
        </p:spPr>
        <p:style>
          <a:lnRef idx="1">
            <a:schemeClr val="accent1"/>
          </a:lnRef>
          <a:fillRef idx="3">
            <a:schemeClr val="accent1"/>
          </a:fillRef>
          <a:effectRef idx="2">
            <a:schemeClr val="accent1"/>
          </a:effectRef>
          <a:fontRef idx="minor">
            <a:schemeClr val="lt1"/>
          </a:fontRef>
        </p:style>
        <p:txBody>
          <a:bodyPr wrap="none" rtlCol="0" anchor="ctr"/>
          <a:lstStyle/>
          <a:p>
            <a:pPr algn="ctr"/>
            <a:r>
              <a:rPr sz="1300" b="1">
                <a:solidFill>
                  <a:srgbClr val="FFFFFF"/>
                </a:solidFill>
                <a:latin typeface="Segoe UI"/>
              </a:rPr>
              <a:t>1</a:t>
            </a:r>
          </a:p>
        </p:txBody>
      </p:sp>
      <p:sp>
        <p:nvSpPr>
          <p:cNvPr id="8" name="TextBox 7"/>
          <p:cNvSpPr txBox="1"/>
          <p:nvPr/>
        </p:nvSpPr>
        <p:spPr>
          <a:xfrm>
            <a:off x="1280160" y="2377440"/>
            <a:ext cx="3108960" cy="310896"/>
          </a:xfrm>
          <a:prstGeom prst="rect">
            <a:avLst/>
          </a:prstGeom>
          <a:noFill/>
        </p:spPr>
        <p:txBody>
          <a:bodyPr wrap="square" lIns="0" tIns="0" rIns="0" bIns="0">
            <a:spAutoFit/>
          </a:bodyPr>
          <a:lstStyle/>
          <a:p>
            <a:pPr algn="l"/>
            <a:r>
              <a:rPr sz="1600" b="1">
                <a:solidFill>
                  <a:srgbClr val="141D18"/>
                </a:solidFill>
                <a:latin typeface="Segoe UI"/>
              </a:rPr>
              <a:t>Introductions to importers</a:t>
            </a:r>
          </a:p>
        </p:txBody>
      </p:sp>
      <p:sp>
        <p:nvSpPr>
          <p:cNvPr id="9" name="TextBox 8"/>
          <p:cNvSpPr txBox="1"/>
          <p:nvPr/>
        </p:nvSpPr>
        <p:spPr>
          <a:xfrm>
            <a:off x="4498848" y="2377440"/>
            <a:ext cx="6766560" cy="786384"/>
          </a:xfrm>
          <a:prstGeom prst="rect">
            <a:avLst/>
          </a:prstGeom>
          <a:noFill/>
        </p:spPr>
        <p:txBody>
          <a:bodyPr wrap="square" lIns="0" tIns="0" rIns="0" bIns="0">
            <a:spAutoFit/>
          </a:bodyPr>
          <a:lstStyle/>
          <a:p>
            <a:pPr algn="l">
              <a:lnSpc>
                <a:spcPct val="130000"/>
              </a:lnSpc>
            </a:pPr>
            <a:r>
              <a:rPr sz="1600" b="0">
                <a:solidFill>
                  <a:srgbClr val="3D4A43"/>
                </a:solidFill>
                <a:latin typeface="Segoe UI"/>
              </a:rPr>
              <a:t>Importers in Dhaka and Chattogram whose requirements match our portfolio.</a:t>
            </a:r>
          </a:p>
        </p:txBody>
      </p:sp>
      <p:sp>
        <p:nvSpPr>
          <p:cNvPr id="10" name="Oval 9"/>
          <p:cNvSpPr/>
          <p:nvPr/>
        </p:nvSpPr>
        <p:spPr>
          <a:xfrm>
            <a:off x="658368" y="3273552"/>
            <a:ext cx="384048" cy="384048"/>
          </a:xfrm>
          <a:prstGeom prst="ellipse">
            <a:avLst/>
          </a:prstGeom>
          <a:solidFill>
            <a:srgbClr val="1F4034"/>
          </a:solidFill>
          <a:ln>
            <a:noFill/>
          </a:ln>
          <a:effectLst/>
        </p:spPr>
        <p:style>
          <a:lnRef idx="1">
            <a:schemeClr val="accent1"/>
          </a:lnRef>
          <a:fillRef idx="3">
            <a:schemeClr val="accent1"/>
          </a:fillRef>
          <a:effectRef idx="2">
            <a:schemeClr val="accent1"/>
          </a:effectRef>
          <a:fontRef idx="minor">
            <a:schemeClr val="lt1"/>
          </a:fontRef>
        </p:style>
        <p:txBody>
          <a:bodyPr wrap="none" rtlCol="0" anchor="ctr"/>
          <a:lstStyle/>
          <a:p>
            <a:pPr algn="ctr"/>
            <a:r>
              <a:rPr sz="1300" b="1">
                <a:solidFill>
                  <a:srgbClr val="FFFFFF"/>
                </a:solidFill>
                <a:latin typeface="Segoe UI"/>
              </a:rPr>
              <a:t>2</a:t>
            </a:r>
          </a:p>
        </p:txBody>
      </p:sp>
      <p:sp>
        <p:nvSpPr>
          <p:cNvPr id="11" name="TextBox 10"/>
          <p:cNvSpPr txBox="1"/>
          <p:nvPr/>
        </p:nvSpPr>
        <p:spPr>
          <a:xfrm>
            <a:off x="1280160" y="3291840"/>
            <a:ext cx="3108960" cy="310896"/>
          </a:xfrm>
          <a:prstGeom prst="rect">
            <a:avLst/>
          </a:prstGeom>
          <a:noFill/>
        </p:spPr>
        <p:txBody>
          <a:bodyPr wrap="square" lIns="0" tIns="0" rIns="0" bIns="0">
            <a:spAutoFit/>
          </a:bodyPr>
          <a:lstStyle/>
          <a:p>
            <a:pPr algn="l"/>
            <a:r>
              <a:rPr sz="1600" b="1">
                <a:solidFill>
                  <a:srgbClr val="141D18"/>
                </a:solidFill>
                <a:latin typeface="Segoe UI"/>
              </a:rPr>
              <a:t>Guidance on documentation</a:t>
            </a:r>
          </a:p>
        </p:txBody>
      </p:sp>
      <p:sp>
        <p:nvSpPr>
          <p:cNvPr id="12" name="TextBox 11"/>
          <p:cNvSpPr txBox="1"/>
          <p:nvPr/>
        </p:nvSpPr>
        <p:spPr>
          <a:xfrm>
            <a:off x="4498848" y="3291840"/>
            <a:ext cx="6766560" cy="786384"/>
          </a:xfrm>
          <a:prstGeom prst="rect">
            <a:avLst/>
          </a:prstGeom>
          <a:noFill/>
        </p:spPr>
        <p:txBody>
          <a:bodyPr wrap="square" lIns="0" tIns="0" rIns="0" bIns="0">
            <a:spAutoFit/>
          </a:bodyPr>
          <a:lstStyle/>
          <a:p>
            <a:pPr algn="l">
              <a:lnSpc>
                <a:spcPct val="130000"/>
              </a:lnSpc>
            </a:pPr>
            <a:r>
              <a:rPr sz="1600" b="0">
                <a:solidFill>
                  <a:srgbClr val="3D4A43"/>
                </a:solidFill>
                <a:latin typeface="Segoe UI"/>
              </a:rPr>
              <a:t>Bangladeshi import requirements, halal recognition and phytosanitary channels.</a:t>
            </a:r>
          </a:p>
        </p:txBody>
      </p:sp>
      <p:sp>
        <p:nvSpPr>
          <p:cNvPr id="13" name="Oval 12"/>
          <p:cNvSpPr/>
          <p:nvPr/>
        </p:nvSpPr>
        <p:spPr>
          <a:xfrm>
            <a:off x="658368" y="4187952"/>
            <a:ext cx="384048" cy="384048"/>
          </a:xfrm>
          <a:prstGeom prst="ellipse">
            <a:avLst/>
          </a:prstGeom>
          <a:solidFill>
            <a:srgbClr val="1F4034"/>
          </a:solidFill>
          <a:ln>
            <a:noFill/>
          </a:ln>
          <a:effectLst/>
        </p:spPr>
        <p:style>
          <a:lnRef idx="1">
            <a:schemeClr val="accent1"/>
          </a:lnRef>
          <a:fillRef idx="3">
            <a:schemeClr val="accent1"/>
          </a:fillRef>
          <a:effectRef idx="2">
            <a:schemeClr val="accent1"/>
          </a:effectRef>
          <a:fontRef idx="minor">
            <a:schemeClr val="lt1"/>
          </a:fontRef>
        </p:style>
        <p:txBody>
          <a:bodyPr wrap="none" rtlCol="0" anchor="ctr"/>
          <a:lstStyle/>
          <a:p>
            <a:pPr algn="ctr"/>
            <a:r>
              <a:rPr sz="1300" b="1">
                <a:solidFill>
                  <a:srgbClr val="FFFFFF"/>
                </a:solidFill>
                <a:latin typeface="Segoe UI"/>
              </a:rPr>
              <a:t>3</a:t>
            </a:r>
          </a:p>
        </p:txBody>
      </p:sp>
      <p:sp>
        <p:nvSpPr>
          <p:cNvPr id="14" name="TextBox 13"/>
          <p:cNvSpPr txBox="1"/>
          <p:nvPr/>
        </p:nvSpPr>
        <p:spPr>
          <a:xfrm>
            <a:off x="1280160" y="4206240"/>
            <a:ext cx="3108960" cy="310896"/>
          </a:xfrm>
          <a:prstGeom prst="rect">
            <a:avLst/>
          </a:prstGeom>
          <a:noFill/>
        </p:spPr>
        <p:txBody>
          <a:bodyPr wrap="square" lIns="0" tIns="0" rIns="0" bIns="0">
            <a:spAutoFit/>
          </a:bodyPr>
          <a:lstStyle/>
          <a:p>
            <a:pPr algn="l"/>
            <a:r>
              <a:rPr sz="1600" b="1">
                <a:solidFill>
                  <a:srgbClr val="141D18"/>
                </a:solidFill>
                <a:latin typeface="Segoe UI"/>
              </a:rPr>
              <a:t>A trial shipment</a:t>
            </a:r>
          </a:p>
        </p:txBody>
      </p:sp>
      <p:sp>
        <p:nvSpPr>
          <p:cNvPr id="15" name="TextBox 14"/>
          <p:cNvSpPr txBox="1"/>
          <p:nvPr/>
        </p:nvSpPr>
        <p:spPr>
          <a:xfrm>
            <a:off x="4498848" y="4206240"/>
            <a:ext cx="6766560" cy="786384"/>
          </a:xfrm>
          <a:prstGeom prst="rect">
            <a:avLst/>
          </a:prstGeom>
          <a:noFill/>
        </p:spPr>
        <p:txBody>
          <a:bodyPr wrap="square" lIns="0" tIns="0" rIns="0" bIns="0">
            <a:spAutoFit/>
          </a:bodyPr>
          <a:lstStyle/>
          <a:p>
            <a:pPr algn="l">
              <a:lnSpc>
                <a:spcPct val="130000"/>
              </a:lnSpc>
            </a:pPr>
            <a:r>
              <a:rPr sz="1600" b="0">
                <a:solidFill>
                  <a:srgbClr val="3D4A43"/>
                </a:solidFill>
                <a:latin typeface="Segoe UI"/>
              </a:rPr>
              <a:t>One container of standard-grade black pepper, so quality is assessed on the product rather than on paper. Robusta can follow the same route.</a:t>
            </a:r>
          </a:p>
        </p:txBody>
      </p:sp>
      <p:sp>
        <p:nvSpPr>
          <p:cNvPr id="16" name="Oval 15"/>
          <p:cNvSpPr/>
          <p:nvPr/>
        </p:nvSpPr>
        <p:spPr>
          <a:xfrm>
            <a:off x="658368" y="5102352"/>
            <a:ext cx="384048" cy="384048"/>
          </a:xfrm>
          <a:prstGeom prst="ellipse">
            <a:avLst/>
          </a:prstGeom>
          <a:solidFill>
            <a:srgbClr val="1F4034"/>
          </a:solidFill>
          <a:ln>
            <a:noFill/>
          </a:ln>
          <a:effectLst/>
        </p:spPr>
        <p:style>
          <a:lnRef idx="1">
            <a:schemeClr val="accent1"/>
          </a:lnRef>
          <a:fillRef idx="3">
            <a:schemeClr val="accent1"/>
          </a:fillRef>
          <a:effectRef idx="2">
            <a:schemeClr val="accent1"/>
          </a:effectRef>
          <a:fontRef idx="minor">
            <a:schemeClr val="lt1"/>
          </a:fontRef>
        </p:style>
        <p:txBody>
          <a:bodyPr wrap="none" rtlCol="0" anchor="ctr"/>
          <a:lstStyle/>
          <a:p>
            <a:pPr algn="ctr"/>
            <a:r>
              <a:rPr sz="1300" b="1">
                <a:solidFill>
                  <a:srgbClr val="FFFFFF"/>
                </a:solidFill>
                <a:latin typeface="Segoe UI"/>
              </a:rPr>
              <a:t>4</a:t>
            </a:r>
          </a:p>
        </p:txBody>
      </p:sp>
      <p:sp>
        <p:nvSpPr>
          <p:cNvPr id="17" name="TextBox 16"/>
          <p:cNvSpPr txBox="1"/>
          <p:nvPr/>
        </p:nvSpPr>
        <p:spPr>
          <a:xfrm>
            <a:off x="1280160" y="5120640"/>
            <a:ext cx="3108960" cy="310896"/>
          </a:xfrm>
          <a:prstGeom prst="rect">
            <a:avLst/>
          </a:prstGeom>
          <a:noFill/>
        </p:spPr>
        <p:txBody>
          <a:bodyPr wrap="square" lIns="0" tIns="0" rIns="0" bIns="0">
            <a:spAutoFit/>
          </a:bodyPr>
          <a:lstStyle/>
          <a:p>
            <a:pPr algn="l"/>
            <a:r>
              <a:rPr sz="1600" b="1">
                <a:solidFill>
                  <a:srgbClr val="141D18"/>
                </a:solidFill>
                <a:latin typeface="Segoe UI"/>
              </a:rPr>
              <a:t>A standing seasonal relationship</a:t>
            </a:r>
          </a:p>
        </p:txBody>
      </p:sp>
      <p:sp>
        <p:nvSpPr>
          <p:cNvPr id="18" name="TextBox 17"/>
          <p:cNvSpPr txBox="1"/>
          <p:nvPr/>
        </p:nvSpPr>
        <p:spPr>
          <a:xfrm>
            <a:off x="4498848" y="5120640"/>
            <a:ext cx="6766560" cy="786384"/>
          </a:xfrm>
          <a:prstGeom prst="rect">
            <a:avLst/>
          </a:prstGeom>
          <a:noFill/>
        </p:spPr>
        <p:txBody>
          <a:bodyPr wrap="square" lIns="0" tIns="0" rIns="0" bIns="0">
            <a:spAutoFit/>
          </a:bodyPr>
          <a:lstStyle/>
          <a:p>
            <a:pPr algn="l">
              <a:lnSpc>
                <a:spcPct val="130000"/>
              </a:lnSpc>
            </a:pPr>
            <a:r>
              <a:rPr sz="1600" b="0">
                <a:solidFill>
                  <a:srgbClr val="3D4A43"/>
                </a:solidFill>
                <a:latin typeface="Segoe UI"/>
              </a:rPr>
              <a:t>Standard grade is produced every harvest, so supply is annual rather than one-off. A forward commitment lets us register farmers for the 2027 crop.</a:t>
            </a:r>
          </a:p>
        </p:txBody>
      </p:sp>
      <p:sp>
        <p:nvSpPr>
          <p:cNvPr id="19" name="Rectangle 18"/>
          <p:cNvSpPr/>
          <p:nvPr/>
        </p:nvSpPr>
        <p:spPr>
          <a:xfrm>
            <a:off x="658368" y="5925312"/>
            <a:ext cx="10872216" cy="10972"/>
          </a:xfrm>
          <a:prstGeom prst="rect">
            <a:avLst/>
          </a:prstGeom>
          <a:solidFill>
            <a:srgbClr val="B9C7B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58368" y="6089904"/>
            <a:ext cx="10424160" cy="310896"/>
          </a:xfrm>
          <a:prstGeom prst="rect">
            <a:avLst/>
          </a:prstGeom>
          <a:noFill/>
        </p:spPr>
        <p:txBody>
          <a:bodyPr wrap="square" lIns="0" tIns="0" rIns="0" bIns="0">
            <a:spAutoFit/>
          </a:bodyPr>
          <a:lstStyle/>
          <a:p>
            <a:pPr algn="l"/>
            <a:r>
              <a:rPr sz="2000" b="1">
                <a:solidFill>
                  <a:srgbClr val="1F4034"/>
                </a:solidFill>
                <a:latin typeface="Georgia"/>
              </a:rPr>
              <a:t>We host buyer inspections of our farms and facility at any time.</a:t>
            </a:r>
          </a:p>
        </p:txBody>
      </p:sp>
      <p:sp>
        <p:nvSpPr>
          <p:cNvPr id="21" name="TextBox 20"/>
          <p:cNvSpPr txBox="1"/>
          <p:nvPr/>
        </p:nvSpPr>
        <p:spPr>
          <a:xfrm>
            <a:off x="658368" y="6419088"/>
            <a:ext cx="6400800" cy="237744"/>
          </a:xfrm>
          <a:prstGeom prst="rect">
            <a:avLst/>
          </a:prstGeom>
          <a:noFill/>
        </p:spPr>
        <p:txBody>
          <a:bodyPr wrap="square" lIns="0" tIns="0" rIns="0" bIns="0">
            <a:spAutoFit/>
          </a:bodyPr>
          <a:lstStyle/>
          <a:p>
            <a:pPr algn="l"/>
            <a:r>
              <a:rPr sz="1100" b="0" spc="100">
                <a:solidFill>
                  <a:srgbClr val="6C7A72"/>
                </a:solidFill>
                <a:latin typeface="Segoe UI"/>
              </a:rPr>
              <a:t>PT KLUMBAYAN GOLD FARM   ·   COMPANY PROFILE   ·   BANGLADESH EDITION</a:t>
            </a:r>
          </a:p>
        </p:txBody>
      </p:sp>
      <p:sp>
        <p:nvSpPr>
          <p:cNvPr id="22" name="TextBox 21"/>
          <p:cNvSpPr txBox="1"/>
          <p:nvPr/>
        </p:nvSpPr>
        <p:spPr>
          <a:xfrm>
            <a:off x="9701784" y="6419088"/>
            <a:ext cx="1828800" cy="237744"/>
          </a:xfrm>
          <a:prstGeom prst="rect">
            <a:avLst/>
          </a:prstGeom>
          <a:noFill/>
        </p:spPr>
        <p:txBody>
          <a:bodyPr wrap="square" lIns="0" tIns="0" rIns="0" bIns="0">
            <a:spAutoFit/>
          </a:bodyPr>
          <a:lstStyle/>
          <a:p>
            <a:pPr algn="r"/>
            <a:r>
              <a:rPr sz="1100" b="0" spc="100">
                <a:solidFill>
                  <a:srgbClr val="6C7A72"/>
                </a:solidFill>
                <a:latin typeface="Segoe UI"/>
              </a:rPr>
              <a:t>14</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6858000"/>
          </a:xfrm>
          <a:prstGeom prst="rect">
            <a:avLst/>
          </a:prstGeom>
          <a:solidFill>
            <a:srgbClr val="1F40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closing_bg.jpg"/>
          <p:cNvPicPr>
            <a:picLocks noChangeAspect="1"/>
          </p:cNvPicPr>
          <p:nvPr/>
        </p:nvPicPr>
        <p:blipFill>
          <a:blip r:embed="rId2"/>
          <a:srcRect t="9596" b="9596"/>
          <a:stretch>
            <a:fillRect/>
          </a:stretch>
        </p:blipFill>
        <p:spPr>
          <a:xfrm>
            <a:off x="5852160" y="0"/>
            <a:ext cx="6336792" cy="6858000"/>
          </a:xfrm>
          <a:prstGeom prst="rect">
            <a:avLst/>
          </a:prstGeom>
        </p:spPr>
      </p:pic>
      <p:pic>
        <p:nvPicPr>
          <p:cNvPr id="5" name="Picture 4" descr="logo_small.png"/>
          <p:cNvPicPr>
            <a:picLocks noChangeAspect="1"/>
          </p:cNvPicPr>
          <p:nvPr/>
        </p:nvPicPr>
        <p:blipFill>
          <a:blip r:embed="rId3"/>
          <a:srcRect/>
          <a:stretch>
            <a:fillRect/>
          </a:stretch>
        </p:blipFill>
        <p:spPr>
          <a:xfrm>
            <a:off x="374904" y="274320"/>
            <a:ext cx="694944" cy="694944"/>
          </a:xfrm>
          <a:prstGeom prst="rect">
            <a:avLst/>
          </a:prstGeom>
        </p:spPr>
      </p:pic>
      <p:sp>
        <p:nvSpPr>
          <p:cNvPr id="6" name="TextBox 5"/>
          <p:cNvSpPr txBox="1"/>
          <p:nvPr/>
        </p:nvSpPr>
        <p:spPr>
          <a:xfrm>
            <a:off x="658368" y="1874519"/>
            <a:ext cx="4754880" cy="1325880"/>
          </a:xfrm>
          <a:prstGeom prst="rect">
            <a:avLst/>
          </a:prstGeom>
          <a:noFill/>
        </p:spPr>
        <p:txBody>
          <a:bodyPr wrap="square" lIns="0" tIns="0" rIns="0" bIns="0">
            <a:spAutoFit/>
          </a:bodyPr>
          <a:lstStyle/>
          <a:p>
            <a:pPr algn="l">
              <a:lnSpc>
                <a:spcPct val="110000"/>
              </a:lnSpc>
            </a:pPr>
            <a:r>
              <a:rPr sz="3600" b="1">
                <a:solidFill>
                  <a:srgbClr val="FFFFFF"/>
                </a:solidFill>
                <a:latin typeface="Georgia"/>
              </a:rPr>
              <a:t>Come and see the plots.</a:t>
            </a:r>
          </a:p>
        </p:txBody>
      </p:sp>
      <p:sp>
        <p:nvSpPr>
          <p:cNvPr id="7" name="TextBox 6"/>
          <p:cNvSpPr txBox="1"/>
          <p:nvPr/>
        </p:nvSpPr>
        <p:spPr>
          <a:xfrm>
            <a:off x="658368" y="3310128"/>
            <a:ext cx="4572000" cy="384048"/>
          </a:xfrm>
          <a:prstGeom prst="rect">
            <a:avLst/>
          </a:prstGeom>
          <a:noFill/>
        </p:spPr>
        <p:txBody>
          <a:bodyPr wrap="square" lIns="0" tIns="0" rIns="0" bIns="0">
            <a:spAutoFit/>
          </a:bodyPr>
          <a:lstStyle/>
          <a:p>
            <a:pPr algn="l"/>
            <a:r>
              <a:rPr sz="2000" b="1">
                <a:solidFill>
                  <a:srgbClr val="C7D8CD"/>
                </a:solidFill>
                <a:latin typeface="Segoe UI"/>
              </a:rPr>
              <a:t>PT Klumbayan Gold Farm</a:t>
            </a:r>
          </a:p>
        </p:txBody>
      </p:sp>
      <p:sp>
        <p:nvSpPr>
          <p:cNvPr id="8" name="Rectangle 7"/>
          <p:cNvSpPr/>
          <p:nvPr/>
        </p:nvSpPr>
        <p:spPr>
          <a:xfrm>
            <a:off x="658368" y="3840480"/>
            <a:ext cx="4572000" cy="10972"/>
          </a:xfrm>
          <a:prstGeom prst="rect">
            <a:avLst/>
          </a:prstGeom>
          <a:solidFill>
            <a:srgbClr val="4A6B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58368" y="4069080"/>
            <a:ext cx="4754880" cy="1051560"/>
          </a:xfrm>
          <a:prstGeom prst="rect">
            <a:avLst/>
          </a:prstGeom>
          <a:noFill/>
        </p:spPr>
        <p:txBody>
          <a:bodyPr wrap="square" lIns="0" tIns="0" rIns="0" bIns="0">
            <a:spAutoFit/>
          </a:bodyPr>
          <a:lstStyle/>
          <a:p>
            <a:pPr algn="l">
              <a:lnSpc>
                <a:spcPct val="140000"/>
              </a:lnSpc>
            </a:pPr>
            <a:r>
              <a:rPr sz="1600" b="0">
                <a:solidFill>
                  <a:srgbClr val="D9E1DA"/>
                </a:solidFill>
                <a:latin typeface="Segoe UI"/>
              </a:rPr>
              <a:t>Jln. Wolter Monginsidi No. 159</a:t>
            </a:r>
          </a:p>
          <a:p>
            <a:pPr algn="l">
              <a:lnSpc>
                <a:spcPct val="140000"/>
              </a:lnSpc>
            </a:pPr>
            <a:r>
              <a:rPr sz="1600" b="0">
                <a:solidFill>
                  <a:srgbClr val="D9E1DA"/>
                </a:solidFill>
                <a:latin typeface="Segoe UI"/>
              </a:rPr>
              <a:t>Bandar Lampung, Lampung, Indonesia</a:t>
            </a:r>
          </a:p>
          <a:p>
            <a:pPr algn="l">
              <a:lnSpc>
                <a:spcPct val="140000"/>
              </a:lnSpc>
            </a:pPr>
            <a:r>
              <a:rPr sz="1600" b="0">
                <a:solidFill>
                  <a:srgbClr val="D9E1DA"/>
                </a:solidFill>
                <a:latin typeface="Segoe UI"/>
              </a:rPr>
              <a:t>Warehouse: Gudang Natar, Lampung Selatan</a:t>
            </a:r>
          </a:p>
        </p:txBody>
      </p:sp>
      <p:sp>
        <p:nvSpPr>
          <p:cNvPr id="10" name="TextBox 9"/>
          <p:cNvSpPr txBox="1"/>
          <p:nvPr/>
        </p:nvSpPr>
        <p:spPr>
          <a:xfrm>
            <a:off x="658368" y="5285232"/>
            <a:ext cx="4754880" cy="960120"/>
          </a:xfrm>
          <a:prstGeom prst="rect">
            <a:avLst/>
          </a:prstGeom>
          <a:noFill/>
        </p:spPr>
        <p:txBody>
          <a:bodyPr wrap="square" lIns="0" tIns="0" rIns="0" bIns="0">
            <a:spAutoFit/>
          </a:bodyPr>
          <a:lstStyle/>
          <a:p>
            <a:pPr algn="l">
              <a:lnSpc>
                <a:spcPct val="140000"/>
              </a:lnSpc>
            </a:pPr>
            <a:r>
              <a:rPr sz="1600" b="0">
                <a:solidFill>
                  <a:srgbClr val="FFFFFF"/>
                </a:solidFill>
                <a:latin typeface="Segoe UI"/>
              </a:rPr>
              <a:t>Arif Rachman, Operational Director</a:t>
            </a:r>
          </a:p>
          <a:p>
            <a:pPr algn="l">
              <a:lnSpc>
                <a:spcPct val="140000"/>
              </a:lnSpc>
            </a:pPr>
            <a:r>
              <a:rPr sz="1600" b="0">
                <a:solidFill>
                  <a:srgbClr val="FFFFFF"/>
                </a:solidFill>
                <a:latin typeface="Segoe UI"/>
              </a:rPr>
              <a:t>arif@klumbayanfarm.com</a:t>
            </a:r>
          </a:p>
          <a:p>
            <a:pPr algn="l">
              <a:lnSpc>
                <a:spcPct val="140000"/>
              </a:lnSpc>
            </a:pPr>
            <a:r>
              <a:rPr sz="1600" b="0">
                <a:solidFill>
                  <a:srgbClr val="FFFFFF"/>
                </a:solidFill>
                <a:latin typeface="Segoe UI"/>
              </a:rPr>
              <a:t>+62 853 7887 0007</a:t>
            </a:r>
          </a:p>
        </p:txBody>
      </p:sp>
      <p:sp>
        <p:nvSpPr>
          <p:cNvPr id="11" name="TextBox 10"/>
          <p:cNvSpPr txBox="1"/>
          <p:nvPr/>
        </p:nvSpPr>
        <p:spPr>
          <a:xfrm>
            <a:off x="658368" y="6382512"/>
            <a:ext cx="4754880" cy="274320"/>
          </a:xfrm>
          <a:prstGeom prst="rect">
            <a:avLst/>
          </a:prstGeom>
          <a:noFill/>
        </p:spPr>
        <p:txBody>
          <a:bodyPr wrap="square" lIns="0" tIns="0" rIns="0" bIns="0">
            <a:spAutoFit/>
          </a:bodyPr>
          <a:lstStyle/>
          <a:p>
            <a:pPr algn="l"/>
            <a:r>
              <a:rPr sz="1300" b="1" spc="160">
                <a:solidFill>
                  <a:srgbClr val="9A7526"/>
                </a:solidFill>
                <a:latin typeface="Segoe UI"/>
              </a:rPr>
              <a:t>KLUMBAYANFARM.COM</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5</TotalTime>
  <Words>1658</Words>
  <Application>Microsoft Office PowerPoint</Application>
  <PresentationFormat>Custom</PresentationFormat>
  <Paragraphs>254</Paragraphs>
  <Slides>16</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16</vt:i4>
      </vt:variant>
    </vt:vector>
  </HeadingPairs>
  <TitlesOfParts>
    <vt:vector size="21" baseType="lpstr">
      <vt:lpstr>Arial</vt:lpstr>
      <vt:lpstr>Calibri</vt:lpstr>
      <vt:lpstr>Georgia</vt:lpstr>
      <vt:lpstr>Segoe UI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Arif Rachman</dc:creator>
  <cp:keywords/>
  <dc:description>generated using python-pptx</dc:description>
  <cp:lastModifiedBy>kgfteam</cp:lastModifiedBy>
  <cp:revision>2</cp:revision>
  <dcterms:created xsi:type="dcterms:W3CDTF">2013-01-27T09:14:16Z</dcterms:created>
  <dcterms:modified xsi:type="dcterms:W3CDTF">2026-08-20T02:32:24Z</dcterms:modified>
  <cp:category/>
</cp:coreProperties>
</file>