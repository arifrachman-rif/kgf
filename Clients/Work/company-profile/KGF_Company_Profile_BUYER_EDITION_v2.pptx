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88" y="2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image" Target="../media/image8.jpg"/><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2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ver_bg.jpg"/>
          <p:cNvPicPr>
            <a:picLocks noChangeAspect="1"/>
          </p:cNvPicPr>
          <p:nvPr/>
        </p:nvPicPr>
        <p:blipFill>
          <a:blip r:embed="rId2"/>
          <a:srcRect l="12" r="12"/>
          <a:stretch>
            <a:fillRect/>
          </a:stretch>
        </p:blipFill>
        <p:spPr>
          <a:xfrm>
            <a:off x="0" y="0"/>
            <a:ext cx="12188952" cy="6858000"/>
          </a:xfrm>
          <a:prstGeom prst="rect">
            <a:avLst/>
          </a:prstGeom>
        </p:spPr>
      </p:pic>
      <p:sp>
        <p:nvSpPr>
          <p:cNvPr id="4" name="Rectangle 3"/>
          <p:cNvSpPr/>
          <p:nvPr/>
        </p:nvSpPr>
        <p:spPr>
          <a:xfrm>
            <a:off x="0" y="0"/>
            <a:ext cx="8778240" cy="6858000"/>
          </a:xfrm>
          <a:prstGeom prst="rect">
            <a:avLst/>
          </a:prstGeom>
          <a:gradFill rotWithShape="1">
            <a:gsLst>
              <a:gs pos="0">
                <a:srgbClr val="1F4034">
                  <a:alpha val="100000"/>
                </a:srgbClr>
              </a:gs>
              <a:gs pos="42000">
                <a:srgbClr val="1F4034">
                  <a:alpha val="92000"/>
                </a:srgbClr>
              </a:gs>
              <a:gs pos="72000">
                <a:srgbClr val="1F4034">
                  <a:alpha val="55000"/>
                </a:srgbClr>
              </a:gs>
              <a:gs pos="100000">
                <a:srgbClr val="1F4034">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go_small.png"/>
          <p:cNvPicPr>
            <a:picLocks noChangeAspect="1"/>
          </p:cNvPicPr>
          <p:nvPr/>
        </p:nvPicPr>
        <p:blipFill>
          <a:blip r:embed="rId3"/>
          <a:stretch>
            <a:fillRect/>
          </a:stretch>
        </p:blipFill>
        <p:spPr>
          <a:xfrm>
            <a:off x="374904" y="219456"/>
            <a:ext cx="694944" cy="694944"/>
          </a:xfrm>
          <a:prstGeom prst="rect">
            <a:avLst/>
          </a:prstGeom>
        </p:spPr>
      </p:pic>
      <p:sp>
        <p:nvSpPr>
          <p:cNvPr id="6" name="TextBox 5"/>
          <p:cNvSpPr txBox="1"/>
          <p:nvPr/>
        </p:nvSpPr>
        <p:spPr>
          <a:xfrm>
            <a:off x="1188720" y="292608"/>
            <a:ext cx="4023360" cy="310896"/>
          </a:xfrm>
          <a:prstGeom prst="rect">
            <a:avLst/>
          </a:prstGeom>
          <a:noFill/>
        </p:spPr>
        <p:txBody>
          <a:bodyPr wrap="square" lIns="0" tIns="0" rIns="0" bIns="0">
            <a:spAutoFit/>
          </a:bodyPr>
          <a:lstStyle/>
          <a:p>
            <a:pPr algn="l"/>
            <a:r>
              <a:rPr sz="2000" b="1">
                <a:solidFill>
                  <a:srgbClr val="FFFFFF"/>
                </a:solidFill>
                <a:latin typeface="Segoe UI"/>
              </a:rPr>
              <a:t>PT Klumbayan Gold Farm</a:t>
            </a:r>
          </a:p>
        </p:txBody>
      </p:sp>
      <p:sp>
        <p:nvSpPr>
          <p:cNvPr id="7" name="TextBox 6"/>
          <p:cNvSpPr txBox="1"/>
          <p:nvPr/>
        </p:nvSpPr>
        <p:spPr>
          <a:xfrm>
            <a:off x="1188720" y="621792"/>
            <a:ext cx="4023360" cy="256032"/>
          </a:xfrm>
          <a:prstGeom prst="rect">
            <a:avLst/>
          </a:prstGeom>
          <a:noFill/>
        </p:spPr>
        <p:txBody>
          <a:bodyPr wrap="square" lIns="0" tIns="0" rIns="0" bIns="0">
            <a:spAutoFit/>
          </a:bodyPr>
          <a:lstStyle/>
          <a:p>
            <a:pPr algn="l"/>
            <a:r>
              <a:rPr sz="1100" b="0" spc="160">
                <a:solidFill>
                  <a:srgbClr val="C7D8CD"/>
                </a:solidFill>
                <a:latin typeface="Segoe UI"/>
              </a:rPr>
              <a:t>LAMPUNG · INDONESIA · EST. 2022</a:t>
            </a:r>
          </a:p>
        </p:txBody>
      </p:sp>
      <p:sp>
        <p:nvSpPr>
          <p:cNvPr id="8" name="TextBox 7"/>
          <p:cNvSpPr txBox="1"/>
          <p:nvPr/>
        </p:nvSpPr>
        <p:spPr>
          <a:xfrm>
            <a:off x="658368" y="1920240"/>
            <a:ext cx="5120640" cy="1691640"/>
          </a:xfrm>
          <a:prstGeom prst="rect">
            <a:avLst/>
          </a:prstGeom>
          <a:noFill/>
        </p:spPr>
        <p:txBody>
          <a:bodyPr wrap="square" lIns="0" tIns="0" rIns="0" bIns="0">
            <a:spAutoFit/>
          </a:bodyPr>
          <a:lstStyle/>
          <a:p>
            <a:pPr algn="l">
              <a:lnSpc>
                <a:spcPct val="108000"/>
              </a:lnSpc>
            </a:pPr>
            <a:r>
              <a:rPr sz="3600" b="1">
                <a:solidFill>
                  <a:srgbClr val="FFFFFF"/>
                </a:solidFill>
                <a:latin typeface="Georgia"/>
              </a:rPr>
              <a:t>Graded for Europe.</a:t>
            </a:r>
          </a:p>
          <a:p>
            <a:pPr algn="l">
              <a:lnSpc>
                <a:spcPct val="108000"/>
              </a:lnSpc>
            </a:pPr>
            <a:r>
              <a:rPr sz="3600" b="1">
                <a:solidFill>
                  <a:srgbClr val="FFFFFF"/>
                </a:solidFill>
                <a:latin typeface="Georgia"/>
              </a:rPr>
              <a:t>Available to you.</a:t>
            </a:r>
          </a:p>
        </p:txBody>
      </p:sp>
      <p:sp>
        <p:nvSpPr>
          <p:cNvPr id="9" name="TextBox 8"/>
          <p:cNvSpPr txBox="1"/>
          <p:nvPr/>
        </p:nvSpPr>
        <p:spPr>
          <a:xfrm>
            <a:off x="658368" y="3886200"/>
            <a:ext cx="4754880" cy="1005840"/>
          </a:xfrm>
          <a:prstGeom prst="rect">
            <a:avLst/>
          </a:prstGeom>
          <a:noFill/>
        </p:spPr>
        <p:txBody>
          <a:bodyPr wrap="square" lIns="0" tIns="0" rIns="0" bIns="0">
            <a:spAutoFit/>
          </a:bodyPr>
          <a:lstStyle/>
          <a:p>
            <a:pPr algn="l">
              <a:lnSpc>
                <a:spcPct val="136000"/>
              </a:lnSpc>
            </a:pPr>
            <a:r>
              <a:rPr sz="1600" b="0">
                <a:solidFill>
                  <a:srgbClr val="D9E1DA"/>
                </a:solidFill>
                <a:latin typeface="Segoe UI"/>
              </a:rPr>
              <a:t>A tech-enabled agroforestry off-taker in Lampung supplying black pepper, robusta coffee and cocoa with plot-level traceability.</a:t>
            </a:r>
          </a:p>
        </p:txBody>
      </p:sp>
      <p:sp>
        <p:nvSpPr>
          <p:cNvPr id="10" name="TextBox 9"/>
          <p:cNvSpPr txBox="1"/>
          <p:nvPr/>
        </p:nvSpPr>
        <p:spPr>
          <a:xfrm>
            <a:off x="658368" y="5047488"/>
            <a:ext cx="3657600" cy="237744"/>
          </a:xfrm>
          <a:prstGeom prst="rect">
            <a:avLst/>
          </a:prstGeom>
          <a:noFill/>
        </p:spPr>
        <p:txBody>
          <a:bodyPr wrap="square" lIns="0" tIns="0" rIns="0" bIns="0">
            <a:spAutoFit/>
          </a:bodyPr>
          <a:lstStyle/>
          <a:p>
            <a:pPr algn="l"/>
            <a:r>
              <a:rPr sz="1100" b="1" spc="160">
                <a:solidFill>
                  <a:srgbClr val="9A7526"/>
                </a:solidFill>
                <a:latin typeface="Segoe UI"/>
              </a:rPr>
              <a:t>MEMBER OF</a:t>
            </a:r>
          </a:p>
        </p:txBody>
      </p:sp>
      <p:sp>
        <p:nvSpPr>
          <p:cNvPr id="11" name="Rectangle 10"/>
          <p:cNvSpPr/>
          <p:nvPr/>
        </p:nvSpPr>
        <p:spPr>
          <a:xfrm>
            <a:off x="658368" y="5303520"/>
            <a:ext cx="3141122"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logo_ssii.png"/>
          <p:cNvPicPr>
            <a:picLocks noChangeAspect="1"/>
          </p:cNvPicPr>
          <p:nvPr/>
        </p:nvPicPr>
        <p:blipFill>
          <a:blip r:embed="rId4"/>
          <a:stretch>
            <a:fillRect/>
          </a:stretch>
        </p:blipFill>
        <p:spPr>
          <a:xfrm>
            <a:off x="778515" y="5376672"/>
            <a:ext cx="817880" cy="420624"/>
          </a:xfrm>
          <a:prstGeom prst="rect">
            <a:avLst/>
          </a:prstGeom>
        </p:spPr>
      </p:pic>
      <p:pic>
        <p:nvPicPr>
          <p:cNvPr id="13" name="Picture 12" descr="logo_agrowforests.png"/>
          <p:cNvPicPr>
            <a:picLocks noChangeAspect="1"/>
          </p:cNvPicPr>
          <p:nvPr/>
        </p:nvPicPr>
        <p:blipFill>
          <a:blip r:embed="rId5"/>
          <a:srcRect b="11335"/>
          <a:stretch>
            <a:fillRect/>
          </a:stretch>
        </p:blipFill>
        <p:spPr>
          <a:xfrm>
            <a:off x="1772352" y="5308564"/>
            <a:ext cx="592468" cy="525308"/>
          </a:xfrm>
          <a:prstGeom prst="rect">
            <a:avLst/>
          </a:prstGeom>
        </p:spPr>
      </p:pic>
      <p:sp>
        <p:nvSpPr>
          <p:cNvPr id="16" name="Rectangle 15"/>
          <p:cNvSpPr/>
          <p:nvPr/>
        </p:nvSpPr>
        <p:spPr>
          <a:xfrm>
            <a:off x="658368" y="6035040"/>
            <a:ext cx="4572000" cy="10972"/>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6172200"/>
            <a:ext cx="4937760" cy="237744"/>
          </a:xfrm>
          <a:prstGeom prst="rect">
            <a:avLst/>
          </a:prstGeom>
          <a:noFill/>
        </p:spPr>
        <p:txBody>
          <a:bodyPr wrap="square" lIns="0" tIns="0" rIns="0" bIns="0">
            <a:spAutoFit/>
          </a:bodyPr>
          <a:lstStyle/>
          <a:p>
            <a:pPr algn="l"/>
            <a:r>
              <a:rPr sz="1100" b="0" spc="120">
                <a:solidFill>
                  <a:srgbClr val="9A7526"/>
                </a:solidFill>
                <a:latin typeface="Segoe UI"/>
              </a:rPr>
              <a:t>COMPANY PROFILE · BUYER EDITION · AUGUST 2026</a:t>
            </a:r>
          </a:p>
        </p:txBody>
      </p:sp>
      <p:sp>
        <p:nvSpPr>
          <p:cNvPr id="18" name="TextBox 17"/>
          <p:cNvSpPr txBox="1"/>
          <p:nvPr/>
        </p:nvSpPr>
        <p:spPr>
          <a:xfrm>
            <a:off x="658368" y="6419088"/>
            <a:ext cx="5486400" cy="237744"/>
          </a:xfrm>
          <a:prstGeom prst="rect">
            <a:avLst/>
          </a:prstGeom>
          <a:noFill/>
        </p:spPr>
        <p:txBody>
          <a:bodyPr wrap="square" lIns="0" tIns="0" rIns="0" bIns="0">
            <a:spAutoFit/>
          </a:bodyPr>
          <a:lstStyle/>
          <a:p>
            <a:pPr algn="l"/>
            <a:r>
              <a:rPr sz="1100" b="0">
                <a:solidFill>
                  <a:srgbClr val="B9C7BE"/>
                </a:solidFill>
                <a:latin typeface="Segoe UI"/>
              </a:rPr>
              <a:t>klumbayanfarm.com    arif@klumbayanfarm.com    +62 853 7887 0007</a:t>
            </a:r>
          </a:p>
        </p:txBody>
      </p:sp>
      <p:pic>
        <p:nvPicPr>
          <p:cNvPr id="19" name="Picture 18" descr="Tentang Kami | Koalisi Ekonomi Membumi">
            <a:extLst>
              <a:ext uri="{FF2B5EF4-FFF2-40B4-BE49-F238E27FC236}">
                <a16:creationId xmlns:a16="http://schemas.microsoft.com/office/drawing/2014/main" id="{A35EB4B6-DECA-6F54-99DC-B8CB500CEE59}"/>
              </a:ext>
            </a:extLst>
          </p:cNvPr>
          <p:cNvPicPr>
            <a:picLocks noChangeAspect="1"/>
          </p:cNvPicPr>
          <p:nvPr/>
        </p:nvPicPr>
        <p:blipFill>
          <a:blip r:embed="rId6"/>
          <a:stretch>
            <a:fillRect/>
          </a:stretch>
        </p:blipFill>
        <p:spPr>
          <a:xfrm>
            <a:off x="2436088" y="5308564"/>
            <a:ext cx="519946" cy="536489"/>
          </a:xfrm>
          <a:prstGeom prst="rect">
            <a:avLst/>
          </a:prstGeom>
        </p:spPr>
      </p:pic>
      <p:pic>
        <p:nvPicPr>
          <p:cNvPr id="20" name="Picture 19" descr="logo starfindo | Jasa Foto Udara, LiDAR, Survey, GIS dan WebGIS Professional">
            <a:extLst>
              <a:ext uri="{FF2B5EF4-FFF2-40B4-BE49-F238E27FC236}">
                <a16:creationId xmlns:a16="http://schemas.microsoft.com/office/drawing/2014/main" id="{5F83CB0B-CB5B-B1BC-C7D9-38227CE358D3}"/>
              </a:ext>
            </a:extLst>
          </p:cNvPr>
          <p:cNvPicPr>
            <a:picLocks noChangeAspect="1"/>
          </p:cNvPicPr>
          <p:nvPr/>
        </p:nvPicPr>
        <p:blipFill>
          <a:blip r:embed="rId7"/>
          <a:stretch>
            <a:fillRect/>
          </a:stretch>
        </p:blipFill>
        <p:spPr>
          <a:xfrm>
            <a:off x="3007348" y="5341503"/>
            <a:ext cx="626601" cy="4971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01   ORIGIN</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200" b="1">
                <a:solidFill>
                  <a:srgbClr val="141D18"/>
                </a:solidFill>
                <a:latin typeface="Georgia"/>
              </a:rPr>
              <a:t>We started by repairing land, not by trading it.</a:t>
            </a:r>
          </a:p>
        </p:txBody>
      </p:sp>
      <p:sp>
        <p:nvSpPr>
          <p:cNvPr id="7" name="TextBox 6"/>
          <p:cNvSpPr txBox="1"/>
          <p:nvPr/>
        </p:nvSpPr>
        <p:spPr>
          <a:xfrm>
            <a:off x="658368" y="2359152"/>
            <a:ext cx="5760720" cy="1371600"/>
          </a:xfrm>
          <a:prstGeom prst="rect">
            <a:avLst/>
          </a:prstGeom>
          <a:noFill/>
        </p:spPr>
        <p:txBody>
          <a:bodyPr wrap="square" lIns="0" tIns="0" rIns="0" bIns="0">
            <a:spAutoFit/>
          </a:bodyPr>
          <a:lstStyle/>
          <a:p>
            <a:pPr algn="l">
              <a:lnSpc>
                <a:spcPct val="138000"/>
              </a:lnSpc>
            </a:pPr>
            <a:r>
              <a:rPr sz="1600" b="0">
                <a:solidFill>
                  <a:srgbClr val="3D4A43"/>
                </a:solidFill>
                <a:latin typeface="Segoe UI"/>
              </a:rPr>
              <a:t>PT Klumbayan Gold Farm was founded in 2022 in Pesawaran to restore land degraded by former gold mining, and to bring villagers back into professional farming through regenerative agribusiness. The company name records where the work began.</a:t>
            </a:r>
          </a:p>
        </p:txBody>
      </p:sp>
      <p:sp>
        <p:nvSpPr>
          <p:cNvPr id="8" name="TextBox 7"/>
          <p:cNvSpPr txBox="1"/>
          <p:nvPr/>
        </p:nvSpPr>
        <p:spPr>
          <a:xfrm>
            <a:off x="658368" y="3913632"/>
            <a:ext cx="5760720" cy="1005840"/>
          </a:xfrm>
          <a:prstGeom prst="rect">
            <a:avLst/>
          </a:prstGeom>
          <a:noFill/>
        </p:spPr>
        <p:txBody>
          <a:bodyPr wrap="square" lIns="0" tIns="0" rIns="0" bIns="0">
            <a:spAutoFit/>
          </a:bodyPr>
          <a:lstStyle/>
          <a:p>
            <a:pPr algn="l">
              <a:lnSpc>
                <a:spcPct val="124000"/>
              </a:lnSpc>
            </a:pPr>
            <a:r>
              <a:rPr sz="2000" b="1">
                <a:solidFill>
                  <a:srgbClr val="1F4034"/>
                </a:solidFill>
                <a:latin typeface="Georgia"/>
              </a:rPr>
              <a:t>We did not add sustainability to a trading business. We added a trading business to a restoration project.</a:t>
            </a:r>
          </a:p>
        </p:txBody>
      </p:sp>
      <p:sp>
        <p:nvSpPr>
          <p:cNvPr id="9" name="TextBox 8"/>
          <p:cNvSpPr txBox="1"/>
          <p:nvPr/>
        </p:nvSpPr>
        <p:spPr>
          <a:xfrm>
            <a:off x="658368" y="4983480"/>
            <a:ext cx="1737360" cy="566928"/>
          </a:xfrm>
          <a:prstGeom prst="rect">
            <a:avLst/>
          </a:prstGeom>
          <a:noFill/>
        </p:spPr>
        <p:txBody>
          <a:bodyPr wrap="square" lIns="0" tIns="0" rIns="0" bIns="0">
            <a:spAutoFit/>
          </a:bodyPr>
          <a:lstStyle/>
          <a:p>
            <a:pPr algn="l"/>
            <a:r>
              <a:rPr sz="3200" b="1">
                <a:solidFill>
                  <a:srgbClr val="1F4034"/>
                </a:solidFill>
                <a:latin typeface="Georgia"/>
              </a:rPr>
              <a:t>2022</a:t>
            </a:r>
          </a:p>
        </p:txBody>
      </p:sp>
      <p:sp>
        <p:nvSpPr>
          <p:cNvPr id="10" name="TextBox 9"/>
          <p:cNvSpPr txBox="1"/>
          <p:nvPr/>
        </p:nvSpPr>
        <p:spPr>
          <a:xfrm>
            <a:off x="658368" y="5550408"/>
            <a:ext cx="1737360" cy="274320"/>
          </a:xfrm>
          <a:prstGeom prst="rect">
            <a:avLst/>
          </a:prstGeom>
          <a:noFill/>
        </p:spPr>
        <p:txBody>
          <a:bodyPr wrap="square" lIns="0" tIns="0" rIns="0" bIns="0">
            <a:spAutoFit/>
          </a:bodyPr>
          <a:lstStyle/>
          <a:p>
            <a:pPr algn="l"/>
            <a:r>
              <a:rPr sz="1100" b="0" spc="100">
                <a:solidFill>
                  <a:srgbClr val="6C7A72"/>
                </a:solidFill>
                <a:latin typeface="Segoe UI"/>
              </a:rPr>
              <a:t>FOUNDED</a:t>
            </a:r>
          </a:p>
        </p:txBody>
      </p:sp>
      <p:sp>
        <p:nvSpPr>
          <p:cNvPr id="11" name="TextBox 10"/>
          <p:cNvSpPr txBox="1"/>
          <p:nvPr/>
        </p:nvSpPr>
        <p:spPr>
          <a:xfrm>
            <a:off x="2578608" y="4983480"/>
            <a:ext cx="1737360" cy="566928"/>
          </a:xfrm>
          <a:prstGeom prst="rect">
            <a:avLst/>
          </a:prstGeom>
          <a:noFill/>
        </p:spPr>
        <p:txBody>
          <a:bodyPr wrap="square" lIns="0" tIns="0" rIns="0" bIns="0">
            <a:spAutoFit/>
          </a:bodyPr>
          <a:lstStyle/>
          <a:p>
            <a:pPr algn="l"/>
            <a:r>
              <a:rPr sz="3200" b="1">
                <a:solidFill>
                  <a:srgbClr val="1F4034"/>
                </a:solidFill>
                <a:latin typeface="Georgia"/>
              </a:rPr>
              <a:t>1,250</a:t>
            </a:r>
          </a:p>
        </p:txBody>
      </p:sp>
      <p:sp>
        <p:nvSpPr>
          <p:cNvPr id="12" name="TextBox 11"/>
          <p:cNvSpPr txBox="1"/>
          <p:nvPr/>
        </p:nvSpPr>
        <p:spPr>
          <a:xfrm>
            <a:off x="2578608" y="5550408"/>
            <a:ext cx="1737360" cy="274320"/>
          </a:xfrm>
          <a:prstGeom prst="rect">
            <a:avLst/>
          </a:prstGeom>
          <a:noFill/>
        </p:spPr>
        <p:txBody>
          <a:bodyPr wrap="square" lIns="0" tIns="0" rIns="0" bIns="0">
            <a:spAutoFit/>
          </a:bodyPr>
          <a:lstStyle/>
          <a:p>
            <a:pPr algn="l"/>
            <a:r>
              <a:rPr sz="1100" b="0" spc="100">
                <a:solidFill>
                  <a:srgbClr val="6C7A72"/>
                </a:solidFill>
                <a:latin typeface="Segoe UI"/>
              </a:rPr>
              <a:t>FARMERS</a:t>
            </a:r>
          </a:p>
        </p:txBody>
      </p:sp>
      <p:sp>
        <p:nvSpPr>
          <p:cNvPr id="13" name="TextBox 12"/>
          <p:cNvSpPr txBox="1"/>
          <p:nvPr/>
        </p:nvSpPr>
        <p:spPr>
          <a:xfrm>
            <a:off x="4498848" y="4983480"/>
            <a:ext cx="1828800" cy="566928"/>
          </a:xfrm>
          <a:prstGeom prst="rect">
            <a:avLst/>
          </a:prstGeom>
          <a:noFill/>
        </p:spPr>
        <p:txBody>
          <a:bodyPr wrap="square" lIns="0" tIns="0" rIns="0" bIns="0">
            <a:spAutoFit/>
          </a:bodyPr>
          <a:lstStyle/>
          <a:p>
            <a:pPr algn="l"/>
            <a:r>
              <a:rPr sz="3200" b="1">
                <a:solidFill>
                  <a:srgbClr val="1F4034"/>
                </a:solidFill>
                <a:latin typeface="Georgia"/>
              </a:rPr>
              <a:t>17</a:t>
            </a:r>
          </a:p>
        </p:txBody>
      </p:sp>
      <p:sp>
        <p:nvSpPr>
          <p:cNvPr id="14" name="TextBox 13"/>
          <p:cNvSpPr txBox="1"/>
          <p:nvPr/>
        </p:nvSpPr>
        <p:spPr>
          <a:xfrm>
            <a:off x="4498848" y="5550408"/>
            <a:ext cx="1828800" cy="274320"/>
          </a:xfrm>
          <a:prstGeom prst="rect">
            <a:avLst/>
          </a:prstGeom>
          <a:noFill/>
        </p:spPr>
        <p:txBody>
          <a:bodyPr wrap="square" lIns="0" tIns="0" rIns="0" bIns="0">
            <a:spAutoFit/>
          </a:bodyPr>
          <a:lstStyle/>
          <a:p>
            <a:pPr algn="l"/>
            <a:r>
              <a:rPr sz="1100" b="0" spc="100">
                <a:solidFill>
                  <a:srgbClr val="6C7A72"/>
                </a:solidFill>
                <a:latin typeface="Segoe UI"/>
              </a:rPr>
              <a:t>BUYING STATIONS</a:t>
            </a:r>
          </a:p>
        </p:txBody>
      </p:sp>
      <p:pic>
        <p:nvPicPr>
          <p:cNvPr id="15" name="Picture 14" descr="ops_farmer_training.jpg"/>
          <p:cNvPicPr>
            <a:picLocks noChangeAspect="1"/>
          </p:cNvPicPr>
          <p:nvPr/>
        </p:nvPicPr>
        <p:blipFill>
          <a:blip r:embed="rId2"/>
          <a:srcRect t="18900" b="18900"/>
          <a:stretch>
            <a:fillRect/>
          </a:stretch>
        </p:blipFill>
        <p:spPr>
          <a:xfrm>
            <a:off x="6903720" y="2359152"/>
            <a:ext cx="4626864" cy="3566160"/>
          </a:xfrm>
          <a:prstGeom prst="rect">
            <a:avLst/>
          </a:prstGeom>
        </p:spPr>
      </p:pic>
      <p:sp>
        <p:nvSpPr>
          <p:cNvPr id="16" name="Rectangle 15"/>
          <p:cNvSpPr/>
          <p:nvPr/>
        </p:nvSpPr>
        <p:spPr>
          <a:xfrm>
            <a:off x="6903720" y="5650992"/>
            <a:ext cx="462686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13448" y="5701284"/>
            <a:ext cx="4407407" cy="201168"/>
          </a:xfrm>
          <a:prstGeom prst="rect">
            <a:avLst/>
          </a:prstGeom>
          <a:noFill/>
        </p:spPr>
        <p:txBody>
          <a:bodyPr wrap="square" lIns="0" tIns="0" rIns="0" bIns="0">
            <a:spAutoFit/>
          </a:bodyPr>
          <a:lstStyle/>
          <a:p>
            <a:pPr algn="l"/>
            <a:r>
              <a:rPr sz="1100" b="1" spc="90">
                <a:solidFill>
                  <a:srgbClr val="FFFFFF"/>
                </a:solidFill>
                <a:latin typeface="Segoe UI"/>
              </a:rPr>
              <a:t>FARMER TRAINING, LAMPUNG</a:t>
            </a:r>
          </a:p>
        </p:txBody>
      </p:sp>
      <p:sp>
        <p:nvSpPr>
          <p:cNvPr id="18" name="TextBox 17"/>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19" name="TextBox 18"/>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02   THE PROBLEM</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A buyer cannot see past the collector.</a:t>
            </a:r>
          </a:p>
        </p:txBody>
      </p:sp>
      <p:sp>
        <p:nvSpPr>
          <p:cNvPr id="7" name="Rectangle 6"/>
          <p:cNvSpPr/>
          <p:nvPr/>
        </p:nvSpPr>
        <p:spPr>
          <a:xfrm>
            <a:off x="658368" y="2395728"/>
            <a:ext cx="27432" cy="260604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 y="239572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Origin becomes an estimate</a:t>
            </a:r>
          </a:p>
        </p:txBody>
      </p:sp>
      <p:sp>
        <p:nvSpPr>
          <p:cNvPr id="9" name="TextBox 8"/>
          <p:cNvSpPr txBox="1"/>
          <p:nvPr/>
        </p:nvSpPr>
        <p:spPr>
          <a:xfrm>
            <a:off x="877824" y="3163824"/>
            <a:ext cx="3090672" cy="1837944"/>
          </a:xfrm>
          <a:prstGeom prst="rect">
            <a:avLst/>
          </a:prstGeom>
          <a:noFill/>
        </p:spPr>
        <p:txBody>
          <a:bodyPr wrap="square" lIns="0" tIns="0" rIns="0" bIns="0">
            <a:spAutoFit/>
          </a:bodyPr>
          <a:lstStyle/>
          <a:p>
            <a:pPr algn="l">
              <a:lnSpc>
                <a:spcPct val="132000"/>
              </a:lnSpc>
            </a:pPr>
            <a:r>
              <a:rPr sz="1600" b="0">
                <a:solidFill>
                  <a:srgbClr val="3D4A43"/>
                </a:solidFill>
                <a:latin typeface="Segoe UI"/>
              </a:rPr>
              <a:t>Indonesian spice normally passes through several layers of collectors. By the time it reaches an exporter, the farm it came from is no longer knowable, only assertable.</a:t>
            </a:r>
          </a:p>
        </p:txBody>
      </p:sp>
      <p:sp>
        <p:nvSpPr>
          <p:cNvPr id="10" name="Rectangle 9"/>
          <p:cNvSpPr/>
          <p:nvPr/>
        </p:nvSpPr>
        <p:spPr>
          <a:xfrm>
            <a:off x="4270248" y="2395728"/>
            <a:ext cx="27432" cy="260604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239572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Quality becomes an average</a:t>
            </a:r>
          </a:p>
        </p:txBody>
      </p:sp>
      <p:sp>
        <p:nvSpPr>
          <p:cNvPr id="12" name="TextBox 11"/>
          <p:cNvSpPr txBox="1"/>
          <p:nvPr/>
        </p:nvSpPr>
        <p:spPr>
          <a:xfrm>
            <a:off x="4489704" y="3163824"/>
            <a:ext cx="3090672" cy="1837944"/>
          </a:xfrm>
          <a:prstGeom prst="rect">
            <a:avLst/>
          </a:prstGeom>
          <a:noFill/>
        </p:spPr>
        <p:txBody>
          <a:bodyPr wrap="square" lIns="0" tIns="0" rIns="0" bIns="0">
            <a:spAutoFit/>
          </a:bodyPr>
          <a:lstStyle/>
          <a:p>
            <a:pPr algn="l">
              <a:lnSpc>
                <a:spcPct val="132000"/>
              </a:lnSpc>
            </a:pPr>
            <a:r>
              <a:rPr sz="1600" b="0">
                <a:solidFill>
                  <a:srgbClr val="3D4A43"/>
                </a:solidFill>
                <a:latin typeface="Segoe UI"/>
              </a:rPr>
              <a:t>Mixed lots from unknown plots mean specification is managed by blending after the fact, rather than by control at source.</a:t>
            </a:r>
          </a:p>
        </p:txBody>
      </p:sp>
      <p:sp>
        <p:nvSpPr>
          <p:cNvPr id="13" name="Rectangle 12"/>
          <p:cNvSpPr/>
          <p:nvPr/>
        </p:nvSpPr>
        <p:spPr>
          <a:xfrm>
            <a:off x="7882128" y="2395728"/>
            <a:ext cx="27432" cy="260604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1584" y="239572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Compliance becomes a risk</a:t>
            </a:r>
          </a:p>
        </p:txBody>
      </p:sp>
      <p:sp>
        <p:nvSpPr>
          <p:cNvPr id="15" name="TextBox 14"/>
          <p:cNvSpPr txBox="1"/>
          <p:nvPr/>
        </p:nvSpPr>
        <p:spPr>
          <a:xfrm>
            <a:off x="8101584" y="3163824"/>
            <a:ext cx="3090672" cy="1837944"/>
          </a:xfrm>
          <a:prstGeom prst="rect">
            <a:avLst/>
          </a:prstGeom>
          <a:noFill/>
        </p:spPr>
        <p:txBody>
          <a:bodyPr wrap="square" lIns="0" tIns="0" rIns="0" bIns="0">
            <a:spAutoFit/>
          </a:bodyPr>
          <a:lstStyle/>
          <a:p>
            <a:pPr algn="l">
              <a:lnSpc>
                <a:spcPct val="132000"/>
              </a:lnSpc>
            </a:pPr>
            <a:r>
              <a:rPr sz="1600" b="0">
                <a:solidFill>
                  <a:srgbClr val="3D4A43"/>
                </a:solidFill>
                <a:latin typeface="Segoe UI"/>
              </a:rPr>
              <a:t>Once EU deforestation rules apply, an unverifiable origin is not a documentation gap. It is a market access failure.</a:t>
            </a:r>
          </a:p>
        </p:txBody>
      </p:sp>
      <p:sp>
        <p:nvSpPr>
          <p:cNvPr id="16" name="TextBox 15"/>
          <p:cNvSpPr txBox="1"/>
          <p:nvPr/>
        </p:nvSpPr>
        <p:spPr>
          <a:xfrm>
            <a:off x="658368" y="5349240"/>
            <a:ext cx="10058400" cy="457200"/>
          </a:xfrm>
          <a:prstGeom prst="rect">
            <a:avLst/>
          </a:prstGeom>
          <a:noFill/>
        </p:spPr>
        <p:txBody>
          <a:bodyPr wrap="square" lIns="0" tIns="0" rIns="0" bIns="0">
            <a:spAutoFit/>
          </a:bodyPr>
          <a:lstStyle/>
          <a:p>
            <a:pPr algn="l"/>
            <a:r>
              <a:rPr sz="2000" b="1">
                <a:solidFill>
                  <a:srgbClr val="1F4034"/>
                </a:solidFill>
                <a:latin typeface="Georgia"/>
              </a:rPr>
              <a:t>Every one of these is a sourcing problem before it is a paperwork problem.</a:t>
            </a:r>
          </a:p>
        </p:txBody>
      </p:sp>
      <p:sp>
        <p:nvSpPr>
          <p:cNvPr id="17" name="TextBox 16"/>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18" name="TextBox 17"/>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03   THE MODEL</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One company from the plot to the container.</a:t>
            </a:r>
          </a:p>
        </p:txBody>
      </p:sp>
      <p:sp>
        <p:nvSpPr>
          <p:cNvPr id="7" name="Rectangle 6"/>
          <p:cNvSpPr/>
          <p:nvPr/>
        </p:nvSpPr>
        <p:spPr>
          <a:xfrm>
            <a:off x="658368" y="2359152"/>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2478024"/>
            <a:ext cx="2103120" cy="256032"/>
          </a:xfrm>
          <a:prstGeom prst="rect">
            <a:avLst/>
          </a:prstGeom>
          <a:noFill/>
        </p:spPr>
        <p:txBody>
          <a:bodyPr wrap="square" lIns="0" tIns="0" rIns="0" bIns="0">
            <a:spAutoFit/>
          </a:bodyPr>
          <a:lstStyle/>
          <a:p>
            <a:pPr algn="ctr"/>
            <a:r>
              <a:rPr sz="1300" b="1" spc="90">
                <a:solidFill>
                  <a:srgbClr val="141D18"/>
                </a:solidFill>
                <a:latin typeface="Segoe UI"/>
              </a:rPr>
              <a:t>FARMERS</a:t>
            </a:r>
          </a:p>
        </p:txBody>
      </p:sp>
      <p:sp>
        <p:nvSpPr>
          <p:cNvPr id="9" name="TextBox 8"/>
          <p:cNvSpPr txBox="1"/>
          <p:nvPr/>
        </p:nvSpPr>
        <p:spPr>
          <a:xfrm>
            <a:off x="804672" y="2788920"/>
            <a:ext cx="2103120" cy="310896"/>
          </a:xfrm>
          <a:prstGeom prst="rect">
            <a:avLst/>
          </a:prstGeom>
          <a:noFill/>
        </p:spPr>
        <p:txBody>
          <a:bodyPr wrap="square" lIns="0" tIns="0" rIns="0" bIns="0">
            <a:spAutoFit/>
          </a:bodyPr>
          <a:lstStyle/>
          <a:p>
            <a:pPr algn="ctr"/>
            <a:r>
              <a:rPr sz="1300" b="0">
                <a:solidFill>
                  <a:srgbClr val="3D4A43"/>
                </a:solidFill>
                <a:latin typeface="Segoe UI"/>
              </a:rPr>
              <a:t>1,250 registered</a:t>
            </a:r>
          </a:p>
        </p:txBody>
      </p:sp>
      <p:sp>
        <p:nvSpPr>
          <p:cNvPr id="10" name="Right Arrow 9"/>
          <p:cNvSpPr/>
          <p:nvPr/>
        </p:nvSpPr>
        <p:spPr>
          <a:xfrm>
            <a:off x="3136391" y="2679192"/>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83863" y="2359152"/>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30168" y="2478024"/>
            <a:ext cx="2103120" cy="256032"/>
          </a:xfrm>
          <a:prstGeom prst="rect">
            <a:avLst/>
          </a:prstGeom>
          <a:noFill/>
        </p:spPr>
        <p:txBody>
          <a:bodyPr wrap="square" lIns="0" tIns="0" rIns="0" bIns="0">
            <a:spAutoFit/>
          </a:bodyPr>
          <a:lstStyle/>
          <a:p>
            <a:pPr algn="ctr"/>
            <a:r>
              <a:rPr sz="1300" b="1" spc="90">
                <a:solidFill>
                  <a:srgbClr val="141D18"/>
                </a:solidFill>
                <a:latin typeface="Segoe UI"/>
              </a:rPr>
              <a:t>BUYING STATIONS</a:t>
            </a:r>
          </a:p>
        </p:txBody>
      </p:sp>
      <p:sp>
        <p:nvSpPr>
          <p:cNvPr id="13" name="TextBox 12"/>
          <p:cNvSpPr txBox="1"/>
          <p:nvPr/>
        </p:nvSpPr>
        <p:spPr>
          <a:xfrm>
            <a:off x="3630168" y="2788920"/>
            <a:ext cx="2103120" cy="310896"/>
          </a:xfrm>
          <a:prstGeom prst="rect">
            <a:avLst/>
          </a:prstGeom>
          <a:noFill/>
        </p:spPr>
        <p:txBody>
          <a:bodyPr wrap="square" lIns="0" tIns="0" rIns="0" bIns="0">
            <a:spAutoFit/>
          </a:bodyPr>
          <a:lstStyle/>
          <a:p>
            <a:pPr algn="ctr"/>
            <a:r>
              <a:rPr sz="1300" b="0">
                <a:solidFill>
                  <a:srgbClr val="3D4A43"/>
                </a:solidFill>
                <a:latin typeface="Segoe UI"/>
              </a:rPr>
              <a:t>17 verified</a:t>
            </a:r>
          </a:p>
        </p:txBody>
      </p:sp>
      <p:sp>
        <p:nvSpPr>
          <p:cNvPr id="14" name="Right Arrow 13"/>
          <p:cNvSpPr/>
          <p:nvPr/>
        </p:nvSpPr>
        <p:spPr>
          <a:xfrm>
            <a:off x="5961888" y="2679192"/>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59" y="2359152"/>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2478024"/>
            <a:ext cx="2103120" cy="256032"/>
          </a:xfrm>
          <a:prstGeom prst="rect">
            <a:avLst/>
          </a:prstGeom>
          <a:noFill/>
        </p:spPr>
        <p:txBody>
          <a:bodyPr wrap="square" lIns="0" tIns="0" rIns="0" bIns="0">
            <a:spAutoFit/>
          </a:bodyPr>
          <a:lstStyle/>
          <a:p>
            <a:pPr algn="ctr"/>
            <a:r>
              <a:rPr sz="1300" b="1" spc="90">
                <a:solidFill>
                  <a:srgbClr val="141D18"/>
                </a:solidFill>
                <a:latin typeface="Segoe UI"/>
              </a:rPr>
              <a:t>GUDANG NATAR</a:t>
            </a:r>
          </a:p>
        </p:txBody>
      </p:sp>
      <p:sp>
        <p:nvSpPr>
          <p:cNvPr id="17" name="TextBox 16"/>
          <p:cNvSpPr txBox="1"/>
          <p:nvPr/>
        </p:nvSpPr>
        <p:spPr>
          <a:xfrm>
            <a:off x="6455664" y="2788920"/>
            <a:ext cx="2103120" cy="310896"/>
          </a:xfrm>
          <a:prstGeom prst="rect">
            <a:avLst/>
          </a:prstGeom>
          <a:noFill/>
        </p:spPr>
        <p:txBody>
          <a:bodyPr wrap="square" lIns="0" tIns="0" rIns="0" bIns="0">
            <a:spAutoFit/>
          </a:bodyPr>
          <a:lstStyle/>
          <a:p>
            <a:pPr algn="ctr"/>
            <a:r>
              <a:rPr sz="1300" b="0">
                <a:solidFill>
                  <a:srgbClr val="3D4A43"/>
                </a:solidFill>
                <a:latin typeface="Segoe UI"/>
              </a:rPr>
              <a:t>2,000 tonnes</a:t>
            </a:r>
          </a:p>
        </p:txBody>
      </p:sp>
      <p:sp>
        <p:nvSpPr>
          <p:cNvPr id="18" name="Right Arrow 17"/>
          <p:cNvSpPr/>
          <p:nvPr/>
        </p:nvSpPr>
        <p:spPr>
          <a:xfrm>
            <a:off x="8787384" y="2679192"/>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34856" y="2359152"/>
            <a:ext cx="2395728" cy="841248"/>
          </a:xfrm>
          <a:prstGeom prst="rect">
            <a:avLst/>
          </a:prstGeom>
          <a:solidFill>
            <a:srgbClr val="1F4034"/>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81160" y="2478024"/>
            <a:ext cx="2103120" cy="256032"/>
          </a:xfrm>
          <a:prstGeom prst="rect">
            <a:avLst/>
          </a:prstGeom>
          <a:noFill/>
        </p:spPr>
        <p:txBody>
          <a:bodyPr wrap="square" lIns="0" tIns="0" rIns="0" bIns="0">
            <a:spAutoFit/>
          </a:bodyPr>
          <a:lstStyle/>
          <a:p>
            <a:pPr algn="ctr"/>
            <a:r>
              <a:rPr sz="1300" b="1" spc="90">
                <a:solidFill>
                  <a:srgbClr val="FFFFFF"/>
                </a:solidFill>
                <a:latin typeface="Segoe UI"/>
              </a:rPr>
              <a:t>EXPORT CONTAINER</a:t>
            </a:r>
          </a:p>
        </p:txBody>
      </p:sp>
      <p:sp>
        <p:nvSpPr>
          <p:cNvPr id="21" name="TextBox 20"/>
          <p:cNvSpPr txBox="1"/>
          <p:nvPr/>
        </p:nvSpPr>
        <p:spPr>
          <a:xfrm>
            <a:off x="9281160" y="2788920"/>
            <a:ext cx="2103120" cy="310896"/>
          </a:xfrm>
          <a:prstGeom prst="rect">
            <a:avLst/>
          </a:prstGeom>
          <a:noFill/>
        </p:spPr>
        <p:txBody>
          <a:bodyPr wrap="square" lIns="0" tIns="0" rIns="0" bIns="0">
            <a:spAutoFit/>
          </a:bodyPr>
          <a:lstStyle/>
          <a:p>
            <a:pPr algn="ctr"/>
            <a:r>
              <a:rPr sz="1300" b="0">
                <a:solidFill>
                  <a:srgbClr val="C7D8CD"/>
                </a:solidFill>
                <a:latin typeface="Segoe UI"/>
              </a:rPr>
              <a:t>Lot-level record</a:t>
            </a:r>
          </a:p>
        </p:txBody>
      </p:sp>
      <p:sp>
        <p:nvSpPr>
          <p:cNvPr id="22" name="Rectangle 21"/>
          <p:cNvSpPr/>
          <p:nvPr/>
        </p:nvSpPr>
        <p:spPr>
          <a:xfrm>
            <a:off x="658368" y="3401568"/>
            <a:ext cx="10872216" cy="25603"/>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58368" y="3401568"/>
            <a:ext cx="10872216" cy="384048"/>
          </a:xfrm>
          <a:prstGeom prst="rect">
            <a:avLst/>
          </a:prstGeom>
          <a:solidFill>
            <a:srgbClr val="F7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 y="3493008"/>
            <a:ext cx="10515600" cy="237744"/>
          </a:xfrm>
          <a:prstGeom prst="rect">
            <a:avLst/>
          </a:prstGeom>
          <a:noFill/>
        </p:spPr>
        <p:txBody>
          <a:bodyPr wrap="square" lIns="0" tIns="0" rIns="0" bIns="0">
            <a:spAutoFit/>
          </a:bodyPr>
          <a:lstStyle/>
          <a:p>
            <a:pPr algn="ctr"/>
            <a:r>
              <a:rPr sz="1300" b="1" spc="60">
                <a:solidFill>
                  <a:srgbClr val="9A7526"/>
                </a:solidFill>
                <a:latin typeface="Segoe UI"/>
              </a:rPr>
              <a:t>TAPAK records farmer identity, plot coordinates, volume and receipts at every step</a:t>
            </a:r>
          </a:p>
        </p:txBody>
      </p:sp>
      <p:sp>
        <p:nvSpPr>
          <p:cNvPr id="25" name="Rectangle 24"/>
          <p:cNvSpPr/>
          <p:nvPr/>
        </p:nvSpPr>
        <p:spPr>
          <a:xfrm>
            <a:off x="658368" y="4041648"/>
            <a:ext cx="27432" cy="21031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7824" y="404164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We organise the farmers</a:t>
            </a:r>
          </a:p>
        </p:txBody>
      </p:sp>
      <p:sp>
        <p:nvSpPr>
          <p:cNvPr id="27" name="TextBox 26"/>
          <p:cNvSpPr txBox="1"/>
          <p:nvPr/>
        </p:nvSpPr>
        <p:spPr>
          <a:xfrm>
            <a:off x="877824" y="4809744"/>
            <a:ext cx="3090672" cy="1335024"/>
          </a:xfrm>
          <a:prstGeom prst="rect">
            <a:avLst/>
          </a:prstGeom>
          <a:noFill/>
        </p:spPr>
        <p:txBody>
          <a:bodyPr wrap="square" lIns="0" tIns="0" rIns="0" bIns="0">
            <a:spAutoFit/>
          </a:bodyPr>
          <a:lstStyle/>
          <a:p>
            <a:pPr algn="l">
              <a:lnSpc>
                <a:spcPct val="132000"/>
              </a:lnSpc>
            </a:pPr>
            <a:r>
              <a:rPr sz="1600" b="0">
                <a:solidFill>
                  <a:srgbClr val="3D4A43"/>
                </a:solidFill>
                <a:latin typeface="Segoe UI"/>
              </a:rPr>
              <a:t>1,250 registered, trained and bought from directly.</a:t>
            </a:r>
          </a:p>
        </p:txBody>
      </p:sp>
      <p:sp>
        <p:nvSpPr>
          <p:cNvPr id="28" name="Rectangle 27"/>
          <p:cNvSpPr/>
          <p:nvPr/>
        </p:nvSpPr>
        <p:spPr>
          <a:xfrm>
            <a:off x="4270248" y="4041648"/>
            <a:ext cx="27432" cy="21031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89704" y="404164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We own the middle</a:t>
            </a:r>
          </a:p>
        </p:txBody>
      </p:sp>
      <p:sp>
        <p:nvSpPr>
          <p:cNvPr id="30" name="TextBox 29"/>
          <p:cNvSpPr txBox="1"/>
          <p:nvPr/>
        </p:nvSpPr>
        <p:spPr>
          <a:xfrm>
            <a:off x="4489704" y="4809744"/>
            <a:ext cx="3090672" cy="1335024"/>
          </a:xfrm>
          <a:prstGeom prst="rect">
            <a:avLst/>
          </a:prstGeom>
          <a:noFill/>
        </p:spPr>
        <p:txBody>
          <a:bodyPr wrap="square" lIns="0" tIns="0" rIns="0" bIns="0">
            <a:spAutoFit/>
          </a:bodyPr>
          <a:lstStyle/>
          <a:p>
            <a:pPr algn="l">
              <a:lnSpc>
                <a:spcPct val="132000"/>
              </a:lnSpc>
            </a:pPr>
            <a:r>
              <a:rPr sz="1600" b="0" dirty="0">
                <a:solidFill>
                  <a:srgbClr val="3D4A43"/>
                </a:solidFill>
                <a:latin typeface="Segoe UI"/>
              </a:rPr>
              <a:t>17 verified buying stations and our own 2,000-tonne facility, so consolidation and quality control are not outsourced.</a:t>
            </a:r>
          </a:p>
        </p:txBody>
      </p:sp>
      <p:sp>
        <p:nvSpPr>
          <p:cNvPr id="31" name="Rectangle 30"/>
          <p:cNvSpPr/>
          <p:nvPr/>
        </p:nvSpPr>
        <p:spPr>
          <a:xfrm>
            <a:off x="7882128" y="4041648"/>
            <a:ext cx="27432" cy="21031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01584" y="404164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We record as we go</a:t>
            </a:r>
          </a:p>
        </p:txBody>
      </p:sp>
      <p:sp>
        <p:nvSpPr>
          <p:cNvPr id="33" name="TextBox 32"/>
          <p:cNvSpPr txBox="1"/>
          <p:nvPr/>
        </p:nvSpPr>
        <p:spPr>
          <a:xfrm>
            <a:off x="8101584" y="4809744"/>
            <a:ext cx="3090672" cy="1335024"/>
          </a:xfrm>
          <a:prstGeom prst="rect">
            <a:avLst/>
          </a:prstGeom>
          <a:noFill/>
        </p:spPr>
        <p:txBody>
          <a:bodyPr wrap="square" lIns="0" tIns="0" rIns="0" bIns="0">
            <a:spAutoFit/>
          </a:bodyPr>
          <a:lstStyle/>
          <a:p>
            <a:pPr algn="l">
              <a:lnSpc>
                <a:spcPct val="132000"/>
              </a:lnSpc>
            </a:pPr>
            <a:r>
              <a:rPr sz="1600" b="0">
                <a:solidFill>
                  <a:srgbClr val="3D4A43"/>
                </a:solidFill>
                <a:latin typeface="Segoe UI"/>
              </a:rPr>
              <a:t>Captured at the moment of purchase, not reconstructed afterwards.</a:t>
            </a:r>
          </a:p>
        </p:txBody>
      </p:sp>
      <p:sp>
        <p:nvSpPr>
          <p:cNvPr id="34" name="TextBox 33"/>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35" name="TextBox 34"/>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04   OPERATIONS</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200" b="1">
                <a:solidFill>
                  <a:srgbClr val="141D18"/>
                </a:solidFill>
                <a:latin typeface="Georgia"/>
              </a:rPr>
              <a:t>Built and running, not proposed.</a:t>
            </a:r>
          </a:p>
        </p:txBody>
      </p:sp>
      <p:pic>
        <p:nvPicPr>
          <p:cNvPr id="7" name="Picture 6" descr="ops_natar_warehouse.jpg"/>
          <p:cNvPicPr>
            <a:picLocks noChangeAspect="1"/>
          </p:cNvPicPr>
          <p:nvPr/>
        </p:nvPicPr>
        <p:blipFill>
          <a:blip r:embed="rId2"/>
          <a:srcRect l="8754" r="8754"/>
          <a:stretch>
            <a:fillRect/>
          </a:stretch>
        </p:blipFill>
        <p:spPr>
          <a:xfrm>
            <a:off x="658368" y="2359152"/>
            <a:ext cx="3529584" cy="1700784"/>
          </a:xfrm>
          <a:prstGeom prst="rect">
            <a:avLst/>
          </a:prstGeom>
        </p:spPr>
      </p:pic>
      <p:sp>
        <p:nvSpPr>
          <p:cNvPr id="8" name="Rectangle 7"/>
          <p:cNvSpPr/>
          <p:nvPr/>
        </p:nvSpPr>
        <p:spPr>
          <a:xfrm>
            <a:off x="658368"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3835908"/>
            <a:ext cx="3310128" cy="201168"/>
          </a:xfrm>
          <a:prstGeom prst="rect">
            <a:avLst/>
          </a:prstGeom>
          <a:noFill/>
        </p:spPr>
        <p:txBody>
          <a:bodyPr wrap="square" lIns="0" tIns="0" rIns="0" bIns="0">
            <a:spAutoFit/>
          </a:bodyPr>
          <a:lstStyle/>
          <a:p>
            <a:pPr algn="l"/>
            <a:r>
              <a:rPr sz="1100" b="1" spc="90">
                <a:solidFill>
                  <a:srgbClr val="FFFFFF"/>
                </a:solidFill>
                <a:latin typeface="Segoe UI"/>
              </a:rPr>
              <a:t>NATAR WAREHOUSE</a:t>
            </a:r>
          </a:p>
        </p:txBody>
      </p:sp>
      <p:pic>
        <p:nvPicPr>
          <p:cNvPr id="10" name="Picture 9" descr="ops_cleaning_grading.jpg"/>
          <p:cNvPicPr>
            <a:picLocks noChangeAspect="1"/>
          </p:cNvPicPr>
          <p:nvPr/>
        </p:nvPicPr>
        <p:blipFill>
          <a:blip r:embed="rId3"/>
          <a:srcRect t="6392" b="6392"/>
          <a:stretch>
            <a:fillRect/>
          </a:stretch>
        </p:blipFill>
        <p:spPr>
          <a:xfrm>
            <a:off x="4334255" y="2359152"/>
            <a:ext cx="3529584" cy="1700784"/>
          </a:xfrm>
          <a:prstGeom prst="rect">
            <a:avLst/>
          </a:prstGeom>
        </p:spPr>
      </p:pic>
      <p:sp>
        <p:nvSpPr>
          <p:cNvPr id="11" name="Rectangle 10"/>
          <p:cNvSpPr/>
          <p:nvPr/>
        </p:nvSpPr>
        <p:spPr>
          <a:xfrm>
            <a:off x="4334255"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3983" y="3835908"/>
            <a:ext cx="3310128" cy="201168"/>
          </a:xfrm>
          <a:prstGeom prst="rect">
            <a:avLst/>
          </a:prstGeom>
          <a:noFill/>
        </p:spPr>
        <p:txBody>
          <a:bodyPr wrap="square" lIns="0" tIns="0" rIns="0" bIns="0">
            <a:spAutoFit/>
          </a:bodyPr>
          <a:lstStyle/>
          <a:p>
            <a:pPr algn="l"/>
            <a:r>
              <a:rPr sz="1100" b="1" spc="90">
                <a:solidFill>
                  <a:srgbClr val="FFFFFF"/>
                </a:solidFill>
                <a:latin typeface="Segoe UI"/>
              </a:rPr>
              <a:t>CLEANING AND GRADING LINE</a:t>
            </a:r>
          </a:p>
        </p:txBody>
      </p:sp>
      <p:pic>
        <p:nvPicPr>
          <p:cNvPr id="13" name="Picture 12" descr="ops_quality_control.jpg"/>
          <p:cNvPicPr>
            <a:picLocks noChangeAspect="1"/>
          </p:cNvPicPr>
          <p:nvPr/>
        </p:nvPicPr>
        <p:blipFill>
          <a:blip r:embed="rId4"/>
          <a:srcRect t="30557" b="30557"/>
          <a:stretch>
            <a:fillRect/>
          </a:stretch>
        </p:blipFill>
        <p:spPr>
          <a:xfrm>
            <a:off x="8010144" y="2359152"/>
            <a:ext cx="3529584" cy="1700784"/>
          </a:xfrm>
          <a:prstGeom prst="rect">
            <a:avLst/>
          </a:prstGeom>
        </p:spPr>
      </p:pic>
      <p:sp>
        <p:nvSpPr>
          <p:cNvPr id="14" name="Rectangle 13"/>
          <p:cNvSpPr/>
          <p:nvPr/>
        </p:nvSpPr>
        <p:spPr>
          <a:xfrm>
            <a:off x="8010144"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19871" y="3835908"/>
            <a:ext cx="3310128" cy="201168"/>
          </a:xfrm>
          <a:prstGeom prst="rect">
            <a:avLst/>
          </a:prstGeom>
          <a:noFill/>
        </p:spPr>
        <p:txBody>
          <a:bodyPr wrap="square" lIns="0" tIns="0" rIns="0" bIns="0">
            <a:spAutoFit/>
          </a:bodyPr>
          <a:lstStyle/>
          <a:p>
            <a:pPr algn="l"/>
            <a:r>
              <a:rPr sz="1100" b="1" spc="90">
                <a:solidFill>
                  <a:srgbClr val="FFFFFF"/>
                </a:solidFill>
                <a:latin typeface="Segoe UI"/>
              </a:rPr>
              <a:t>QUALITY CONTROL</a:t>
            </a:r>
          </a:p>
        </p:txBody>
      </p:sp>
      <p:pic>
        <p:nvPicPr>
          <p:cNvPr id="16" name="Picture 15" descr="ops_cacao_roasting.jpg"/>
          <p:cNvPicPr>
            <a:picLocks noChangeAspect="1"/>
          </p:cNvPicPr>
          <p:nvPr/>
        </p:nvPicPr>
        <p:blipFill>
          <a:blip r:embed="rId5"/>
          <a:srcRect t="30557" b="30557"/>
          <a:stretch>
            <a:fillRect/>
          </a:stretch>
        </p:blipFill>
        <p:spPr>
          <a:xfrm>
            <a:off x="658368" y="4206240"/>
            <a:ext cx="3529584" cy="1700784"/>
          </a:xfrm>
          <a:prstGeom prst="rect">
            <a:avLst/>
          </a:prstGeom>
        </p:spPr>
      </p:pic>
      <p:sp>
        <p:nvSpPr>
          <p:cNvPr id="17" name="Rectangle 16"/>
          <p:cNvSpPr/>
          <p:nvPr/>
        </p:nvSpPr>
        <p:spPr>
          <a:xfrm>
            <a:off x="658368"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5682996"/>
            <a:ext cx="3310128" cy="201168"/>
          </a:xfrm>
          <a:prstGeom prst="rect">
            <a:avLst/>
          </a:prstGeom>
          <a:noFill/>
        </p:spPr>
        <p:txBody>
          <a:bodyPr wrap="square" lIns="0" tIns="0" rIns="0" bIns="0">
            <a:spAutoFit/>
          </a:bodyPr>
          <a:lstStyle/>
          <a:p>
            <a:pPr algn="l"/>
            <a:r>
              <a:rPr sz="1100" b="1" spc="90">
                <a:solidFill>
                  <a:srgbClr val="FFFFFF"/>
                </a:solidFill>
                <a:latin typeface="Segoe UI"/>
              </a:rPr>
              <a:t>CACAO ROASTING</a:t>
            </a:r>
          </a:p>
        </p:txBody>
      </p:sp>
      <p:pic>
        <p:nvPicPr>
          <p:cNvPr id="19" name="Picture 18" descr="ops_cacao_winnowing.jpg"/>
          <p:cNvPicPr>
            <a:picLocks noChangeAspect="1"/>
          </p:cNvPicPr>
          <p:nvPr/>
        </p:nvPicPr>
        <p:blipFill>
          <a:blip r:embed="rId6"/>
          <a:srcRect t="6392" b="6392"/>
          <a:stretch>
            <a:fillRect/>
          </a:stretch>
        </p:blipFill>
        <p:spPr>
          <a:xfrm>
            <a:off x="4334255" y="4206240"/>
            <a:ext cx="3529584" cy="1700784"/>
          </a:xfrm>
          <a:prstGeom prst="rect">
            <a:avLst/>
          </a:prstGeom>
        </p:spPr>
      </p:pic>
      <p:sp>
        <p:nvSpPr>
          <p:cNvPr id="20" name="Rectangle 19"/>
          <p:cNvSpPr/>
          <p:nvPr/>
        </p:nvSpPr>
        <p:spPr>
          <a:xfrm>
            <a:off x="4334255"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43983" y="5682996"/>
            <a:ext cx="3310128" cy="201168"/>
          </a:xfrm>
          <a:prstGeom prst="rect">
            <a:avLst/>
          </a:prstGeom>
          <a:noFill/>
        </p:spPr>
        <p:txBody>
          <a:bodyPr wrap="square" lIns="0" tIns="0" rIns="0" bIns="0">
            <a:spAutoFit/>
          </a:bodyPr>
          <a:lstStyle/>
          <a:p>
            <a:pPr algn="l"/>
            <a:r>
              <a:rPr sz="1100" b="1" spc="90">
                <a:solidFill>
                  <a:srgbClr val="FFFFFF"/>
                </a:solidFill>
                <a:latin typeface="Segoe UI"/>
              </a:rPr>
              <a:t>CACAO WINNOWING</a:t>
            </a:r>
          </a:p>
        </p:txBody>
      </p:sp>
      <p:pic>
        <p:nvPicPr>
          <p:cNvPr id="22" name="Picture 21" descr="ops_field_school.jpg"/>
          <p:cNvPicPr>
            <a:picLocks noChangeAspect="1"/>
          </p:cNvPicPr>
          <p:nvPr/>
        </p:nvPicPr>
        <p:blipFill>
          <a:blip r:embed="rId7"/>
          <a:srcRect t="6392" b="6392"/>
          <a:stretch>
            <a:fillRect/>
          </a:stretch>
        </p:blipFill>
        <p:spPr>
          <a:xfrm>
            <a:off x="8010144" y="4206240"/>
            <a:ext cx="3529584" cy="1700784"/>
          </a:xfrm>
          <a:prstGeom prst="rect">
            <a:avLst/>
          </a:prstGeom>
        </p:spPr>
      </p:pic>
      <p:sp>
        <p:nvSpPr>
          <p:cNvPr id="23" name="Rectangle 22"/>
          <p:cNvSpPr/>
          <p:nvPr/>
        </p:nvSpPr>
        <p:spPr>
          <a:xfrm>
            <a:off x="8010144"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19871" y="5682996"/>
            <a:ext cx="3310128" cy="201168"/>
          </a:xfrm>
          <a:prstGeom prst="rect">
            <a:avLst/>
          </a:prstGeom>
          <a:noFill/>
        </p:spPr>
        <p:txBody>
          <a:bodyPr wrap="square" lIns="0" tIns="0" rIns="0" bIns="0">
            <a:spAutoFit/>
          </a:bodyPr>
          <a:lstStyle/>
          <a:p>
            <a:pPr algn="l"/>
            <a:r>
              <a:rPr sz="1100" b="1" spc="90">
                <a:solidFill>
                  <a:srgbClr val="FFFFFF"/>
                </a:solidFill>
                <a:latin typeface="Segoe UI"/>
              </a:rPr>
              <a:t>FIELD SCHOOL</a:t>
            </a:r>
          </a:p>
        </p:txBody>
      </p:sp>
      <p:sp>
        <p:nvSpPr>
          <p:cNvPr id="25" name="TextBox 24"/>
          <p:cNvSpPr txBox="1"/>
          <p:nvPr/>
        </p:nvSpPr>
        <p:spPr>
          <a:xfrm>
            <a:off x="658368" y="6053328"/>
            <a:ext cx="10424160" cy="365760"/>
          </a:xfrm>
          <a:prstGeom prst="rect">
            <a:avLst/>
          </a:prstGeom>
          <a:noFill/>
        </p:spPr>
        <p:txBody>
          <a:bodyPr wrap="square" lIns="0" tIns="0" rIns="0" bIns="0">
            <a:spAutoFit/>
          </a:bodyPr>
          <a:lstStyle/>
          <a:p>
            <a:pPr algn="l"/>
            <a:r>
              <a:rPr sz="1300" b="0" spc="60">
                <a:solidFill>
                  <a:srgbClr val="6C7A72"/>
                </a:solidFill>
                <a:latin typeface="Segoe UI"/>
              </a:rPr>
              <a:t>Gudang Natar: 2,000 tonnes  ·  green house  ·  sifting machine  ·  Suton machine  ·  oven</a:t>
            </a:r>
          </a:p>
        </p:txBody>
      </p:sp>
      <p:sp>
        <p:nvSpPr>
          <p:cNvPr id="26" name="TextBox 25"/>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27" name="TextBox 26"/>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05   PRODUCT CATALOGUE</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200" b="1">
                <a:solidFill>
                  <a:srgbClr val="141D18"/>
                </a:solidFill>
                <a:latin typeface="Georgia"/>
              </a:rPr>
              <a:t>Six commodities from one supply base.</a:t>
            </a:r>
          </a:p>
        </p:txBody>
      </p:sp>
      <p:sp>
        <p:nvSpPr>
          <p:cNvPr id="7" name="Rectangle 6"/>
          <p:cNvSpPr/>
          <p:nvPr/>
        </p:nvSpPr>
        <p:spPr>
          <a:xfrm>
            <a:off x="658368" y="2395728"/>
            <a:ext cx="10872216" cy="36576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2487168"/>
            <a:ext cx="3675887" cy="219456"/>
          </a:xfrm>
          <a:prstGeom prst="rect">
            <a:avLst/>
          </a:prstGeom>
          <a:noFill/>
        </p:spPr>
        <p:txBody>
          <a:bodyPr wrap="square" lIns="0" tIns="0" rIns="0" bIns="0">
            <a:spAutoFit/>
          </a:bodyPr>
          <a:lstStyle/>
          <a:p>
            <a:pPr algn="l"/>
            <a:r>
              <a:rPr sz="1100" b="1" spc="120">
                <a:solidFill>
                  <a:srgbClr val="FFFFFF"/>
                </a:solidFill>
                <a:latin typeface="Segoe UI"/>
              </a:rPr>
              <a:t>PRODUCT</a:t>
            </a:r>
          </a:p>
        </p:txBody>
      </p:sp>
      <p:sp>
        <p:nvSpPr>
          <p:cNvPr id="9" name="TextBox 8"/>
          <p:cNvSpPr txBox="1"/>
          <p:nvPr/>
        </p:nvSpPr>
        <p:spPr>
          <a:xfrm>
            <a:off x="4590288" y="2487168"/>
            <a:ext cx="4160520" cy="219456"/>
          </a:xfrm>
          <a:prstGeom prst="rect">
            <a:avLst/>
          </a:prstGeom>
          <a:noFill/>
        </p:spPr>
        <p:txBody>
          <a:bodyPr wrap="square" lIns="0" tIns="0" rIns="0" bIns="0">
            <a:spAutoFit/>
          </a:bodyPr>
          <a:lstStyle/>
          <a:p>
            <a:pPr algn="l"/>
            <a:r>
              <a:rPr sz="1100" b="1" spc="120">
                <a:solidFill>
                  <a:srgbClr val="FFFFFF"/>
                </a:solidFill>
                <a:latin typeface="Segoe UI"/>
              </a:rPr>
              <a:t>GRADE AND SPECIFICATION</a:t>
            </a:r>
          </a:p>
        </p:txBody>
      </p:sp>
      <p:sp>
        <p:nvSpPr>
          <p:cNvPr id="10" name="TextBox 9"/>
          <p:cNvSpPr txBox="1"/>
          <p:nvPr/>
        </p:nvSpPr>
        <p:spPr>
          <a:xfrm>
            <a:off x="8750808" y="2487168"/>
            <a:ext cx="2779776" cy="219456"/>
          </a:xfrm>
          <a:prstGeom prst="rect">
            <a:avLst/>
          </a:prstGeom>
          <a:noFill/>
        </p:spPr>
        <p:txBody>
          <a:bodyPr wrap="square" lIns="0" tIns="0" rIns="0" bIns="0">
            <a:spAutoFit/>
          </a:bodyPr>
          <a:lstStyle/>
          <a:p>
            <a:pPr algn="l"/>
            <a:r>
              <a:rPr sz="1100" b="1" spc="120">
                <a:solidFill>
                  <a:srgbClr val="FFFFFF"/>
                </a:solidFill>
                <a:latin typeface="Segoe UI"/>
              </a:rPr>
              <a:t>AVAILABILITY</a:t>
            </a:r>
          </a:p>
        </p:txBody>
      </p:sp>
      <p:sp>
        <p:nvSpPr>
          <p:cNvPr id="11" name="Rectangle 10"/>
          <p:cNvSpPr/>
          <p:nvPr/>
        </p:nvSpPr>
        <p:spPr>
          <a:xfrm>
            <a:off x="658368" y="2770632"/>
            <a:ext cx="10872216" cy="548640"/>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834640"/>
            <a:ext cx="3657600" cy="256032"/>
          </a:xfrm>
          <a:prstGeom prst="rect">
            <a:avLst/>
          </a:prstGeom>
          <a:noFill/>
        </p:spPr>
        <p:txBody>
          <a:bodyPr wrap="square" lIns="0" tIns="0" rIns="0" bIns="0">
            <a:spAutoFit/>
          </a:bodyPr>
          <a:lstStyle/>
          <a:p>
            <a:pPr algn="l"/>
            <a:r>
              <a:rPr sz="1600" b="1">
                <a:solidFill>
                  <a:srgbClr val="141D18"/>
                </a:solidFill>
                <a:latin typeface="Segoe UI"/>
              </a:rPr>
              <a:t>Black pepper, standard</a:t>
            </a:r>
          </a:p>
        </p:txBody>
      </p:sp>
      <p:sp>
        <p:nvSpPr>
          <p:cNvPr id="13" name="TextBox 12"/>
          <p:cNvSpPr txBox="1"/>
          <p:nvPr/>
        </p:nvSpPr>
        <p:spPr>
          <a:xfrm>
            <a:off x="4590288" y="2852928"/>
            <a:ext cx="3886200" cy="237744"/>
          </a:xfrm>
          <a:prstGeom prst="rect">
            <a:avLst/>
          </a:prstGeom>
          <a:noFill/>
        </p:spPr>
        <p:txBody>
          <a:bodyPr wrap="square" lIns="0" tIns="0" rIns="0" bIns="0">
            <a:spAutoFit/>
          </a:bodyPr>
          <a:lstStyle/>
          <a:p>
            <a:pPr algn="l"/>
            <a:r>
              <a:rPr sz="1600" b="0">
                <a:solidFill>
                  <a:srgbClr val="3D4A43"/>
                </a:solidFill>
                <a:latin typeface="Segoe UI"/>
              </a:rPr>
              <a:t>Bulk density 500 g/l</a:t>
            </a:r>
          </a:p>
        </p:txBody>
      </p:sp>
      <p:sp>
        <p:nvSpPr>
          <p:cNvPr id="14" name="TextBox 13"/>
          <p:cNvSpPr txBox="1"/>
          <p:nvPr/>
        </p:nvSpPr>
        <p:spPr>
          <a:xfrm>
            <a:off x="8750808" y="2816352"/>
            <a:ext cx="2779776" cy="219456"/>
          </a:xfrm>
          <a:prstGeom prst="rect">
            <a:avLst/>
          </a:prstGeom>
          <a:noFill/>
        </p:spPr>
        <p:txBody>
          <a:bodyPr wrap="square" lIns="0" tIns="0" rIns="0" bIns="0">
            <a:spAutoFit/>
          </a:bodyPr>
          <a:lstStyle/>
          <a:p>
            <a:pPr algn="l"/>
            <a:r>
              <a:rPr sz="1100" b="1" spc="100">
                <a:solidFill>
                  <a:srgbClr val="1F4034"/>
                </a:solidFill>
                <a:latin typeface="Segoe UI"/>
              </a:rPr>
              <a:t>AVAILABLE NOW</a:t>
            </a:r>
          </a:p>
        </p:txBody>
      </p:sp>
      <p:sp>
        <p:nvSpPr>
          <p:cNvPr id="15" name="TextBox 14"/>
          <p:cNvSpPr txBox="1"/>
          <p:nvPr/>
        </p:nvSpPr>
        <p:spPr>
          <a:xfrm>
            <a:off x="8750808" y="3035808"/>
            <a:ext cx="2779776" cy="219456"/>
          </a:xfrm>
          <a:prstGeom prst="rect">
            <a:avLst/>
          </a:prstGeom>
          <a:noFill/>
        </p:spPr>
        <p:txBody>
          <a:bodyPr wrap="square" lIns="0" tIns="0" rIns="0" bIns="0">
            <a:spAutoFit/>
          </a:bodyPr>
          <a:lstStyle/>
          <a:p>
            <a:pPr algn="l"/>
            <a:r>
              <a:rPr sz="1100" b="0">
                <a:solidFill>
                  <a:srgbClr val="6C7A72"/>
                </a:solidFill>
                <a:latin typeface="Segoe UI"/>
              </a:rPr>
              <a:t>200 MT / year</a:t>
            </a:r>
          </a:p>
        </p:txBody>
      </p:sp>
      <p:sp>
        <p:nvSpPr>
          <p:cNvPr id="16" name="TextBox 15"/>
          <p:cNvSpPr txBox="1"/>
          <p:nvPr/>
        </p:nvSpPr>
        <p:spPr>
          <a:xfrm>
            <a:off x="859536" y="3383280"/>
            <a:ext cx="3657600" cy="256032"/>
          </a:xfrm>
          <a:prstGeom prst="rect">
            <a:avLst/>
          </a:prstGeom>
          <a:noFill/>
        </p:spPr>
        <p:txBody>
          <a:bodyPr wrap="square" lIns="0" tIns="0" rIns="0" bIns="0">
            <a:spAutoFit/>
          </a:bodyPr>
          <a:lstStyle/>
          <a:p>
            <a:pPr algn="l"/>
            <a:r>
              <a:rPr sz="1600" b="1">
                <a:solidFill>
                  <a:srgbClr val="141D18"/>
                </a:solidFill>
                <a:latin typeface="Segoe UI"/>
              </a:rPr>
              <a:t>Black pepper, premium</a:t>
            </a:r>
          </a:p>
        </p:txBody>
      </p:sp>
      <p:sp>
        <p:nvSpPr>
          <p:cNvPr id="17" name="TextBox 16"/>
          <p:cNvSpPr txBox="1"/>
          <p:nvPr/>
        </p:nvSpPr>
        <p:spPr>
          <a:xfrm>
            <a:off x="4590288" y="3401568"/>
            <a:ext cx="3886200" cy="237744"/>
          </a:xfrm>
          <a:prstGeom prst="rect">
            <a:avLst/>
          </a:prstGeom>
          <a:noFill/>
        </p:spPr>
        <p:txBody>
          <a:bodyPr wrap="square" lIns="0" tIns="0" rIns="0" bIns="0">
            <a:spAutoFit/>
          </a:bodyPr>
          <a:lstStyle/>
          <a:p>
            <a:pPr algn="l"/>
            <a:r>
              <a:rPr sz="1600" b="0">
                <a:solidFill>
                  <a:srgbClr val="3D4A43"/>
                </a:solidFill>
                <a:latin typeface="Segoe UI"/>
              </a:rPr>
              <a:t>Premium FAQ, min. 580 g/l</a:t>
            </a:r>
          </a:p>
        </p:txBody>
      </p:sp>
      <p:sp>
        <p:nvSpPr>
          <p:cNvPr id="18" name="TextBox 17"/>
          <p:cNvSpPr txBox="1"/>
          <p:nvPr/>
        </p:nvSpPr>
        <p:spPr>
          <a:xfrm>
            <a:off x="8750808" y="3364992"/>
            <a:ext cx="2779776" cy="219456"/>
          </a:xfrm>
          <a:prstGeom prst="rect">
            <a:avLst/>
          </a:prstGeom>
          <a:noFill/>
        </p:spPr>
        <p:txBody>
          <a:bodyPr wrap="square" lIns="0" tIns="0" rIns="0" bIns="0">
            <a:spAutoFit/>
          </a:bodyPr>
          <a:lstStyle/>
          <a:p>
            <a:pPr algn="l"/>
            <a:r>
              <a:rPr sz="1100" b="1" spc="100">
                <a:solidFill>
                  <a:srgbClr val="9A7526"/>
                </a:solidFill>
                <a:latin typeface="Segoe UI"/>
              </a:rPr>
              <a:t>CONTRACTED 2026</a:t>
            </a:r>
          </a:p>
        </p:txBody>
      </p:sp>
      <p:sp>
        <p:nvSpPr>
          <p:cNvPr id="19" name="TextBox 18"/>
          <p:cNvSpPr txBox="1"/>
          <p:nvPr/>
        </p:nvSpPr>
        <p:spPr>
          <a:xfrm>
            <a:off x="8750808" y="3584448"/>
            <a:ext cx="2779776" cy="219456"/>
          </a:xfrm>
          <a:prstGeom prst="rect">
            <a:avLst/>
          </a:prstGeom>
          <a:noFill/>
        </p:spPr>
        <p:txBody>
          <a:bodyPr wrap="square" lIns="0" tIns="0" rIns="0" bIns="0">
            <a:spAutoFit/>
          </a:bodyPr>
          <a:lstStyle/>
          <a:p>
            <a:pPr algn="l"/>
            <a:r>
              <a:rPr sz="1100" b="0">
                <a:solidFill>
                  <a:srgbClr val="6C7A72"/>
                </a:solidFill>
                <a:latin typeface="Segoe UI"/>
              </a:rPr>
              <a:t>80 to 100 MT, Europe</a:t>
            </a:r>
          </a:p>
        </p:txBody>
      </p:sp>
      <p:sp>
        <p:nvSpPr>
          <p:cNvPr id="20" name="Rectangle 19"/>
          <p:cNvSpPr/>
          <p:nvPr/>
        </p:nvSpPr>
        <p:spPr>
          <a:xfrm>
            <a:off x="658368" y="3867912"/>
            <a:ext cx="10872216" cy="548640"/>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3931920"/>
            <a:ext cx="3657600" cy="256032"/>
          </a:xfrm>
          <a:prstGeom prst="rect">
            <a:avLst/>
          </a:prstGeom>
          <a:noFill/>
        </p:spPr>
        <p:txBody>
          <a:bodyPr wrap="square" lIns="0" tIns="0" rIns="0" bIns="0">
            <a:spAutoFit/>
          </a:bodyPr>
          <a:lstStyle/>
          <a:p>
            <a:pPr algn="l"/>
            <a:r>
              <a:rPr sz="1600" b="1">
                <a:solidFill>
                  <a:srgbClr val="141D18"/>
                </a:solidFill>
                <a:latin typeface="Segoe UI"/>
              </a:rPr>
              <a:t>Robusta coffee, green</a:t>
            </a:r>
          </a:p>
        </p:txBody>
      </p:sp>
      <p:sp>
        <p:nvSpPr>
          <p:cNvPr id="22" name="TextBox 21"/>
          <p:cNvSpPr txBox="1"/>
          <p:nvPr/>
        </p:nvSpPr>
        <p:spPr>
          <a:xfrm>
            <a:off x="4590288" y="3950208"/>
            <a:ext cx="3886200" cy="237744"/>
          </a:xfrm>
          <a:prstGeom prst="rect">
            <a:avLst/>
          </a:prstGeom>
          <a:noFill/>
        </p:spPr>
        <p:txBody>
          <a:bodyPr wrap="square" lIns="0" tIns="0" rIns="0" bIns="0">
            <a:spAutoFit/>
          </a:bodyPr>
          <a:lstStyle/>
          <a:p>
            <a:pPr algn="l"/>
            <a:r>
              <a:rPr sz="1600" b="0">
                <a:solidFill>
                  <a:srgbClr val="3D4A43"/>
                </a:solidFill>
                <a:latin typeface="Segoe UI"/>
              </a:rPr>
              <a:t>Dry natural, defect 80 / 120</a:t>
            </a:r>
          </a:p>
        </p:txBody>
      </p:sp>
      <p:sp>
        <p:nvSpPr>
          <p:cNvPr id="23" name="TextBox 22"/>
          <p:cNvSpPr txBox="1"/>
          <p:nvPr/>
        </p:nvSpPr>
        <p:spPr>
          <a:xfrm>
            <a:off x="8750808" y="3913632"/>
            <a:ext cx="2779776" cy="219456"/>
          </a:xfrm>
          <a:prstGeom prst="rect">
            <a:avLst/>
          </a:prstGeom>
          <a:noFill/>
        </p:spPr>
        <p:txBody>
          <a:bodyPr wrap="square" lIns="0" tIns="0" rIns="0" bIns="0">
            <a:spAutoFit/>
          </a:bodyPr>
          <a:lstStyle/>
          <a:p>
            <a:pPr algn="l"/>
            <a:r>
              <a:rPr sz="1100" b="1" spc="100">
                <a:solidFill>
                  <a:srgbClr val="1F4034"/>
                </a:solidFill>
                <a:latin typeface="Segoe UI"/>
              </a:rPr>
              <a:t>AVAILABLE NOW</a:t>
            </a:r>
          </a:p>
        </p:txBody>
      </p:sp>
      <p:sp>
        <p:nvSpPr>
          <p:cNvPr id="24" name="TextBox 23"/>
          <p:cNvSpPr txBox="1"/>
          <p:nvPr/>
        </p:nvSpPr>
        <p:spPr>
          <a:xfrm>
            <a:off x="8750808" y="4133088"/>
            <a:ext cx="2779776" cy="219456"/>
          </a:xfrm>
          <a:prstGeom prst="rect">
            <a:avLst/>
          </a:prstGeom>
          <a:noFill/>
        </p:spPr>
        <p:txBody>
          <a:bodyPr wrap="square" lIns="0" tIns="0" rIns="0" bIns="0">
            <a:spAutoFit/>
          </a:bodyPr>
          <a:lstStyle/>
          <a:p>
            <a:pPr algn="l"/>
            <a:r>
              <a:rPr sz="1100" b="0">
                <a:solidFill>
                  <a:srgbClr val="6C7A72"/>
                </a:solidFill>
                <a:latin typeface="Segoe UI"/>
              </a:rPr>
              <a:t>300 MT / month</a:t>
            </a:r>
          </a:p>
        </p:txBody>
      </p:sp>
      <p:sp>
        <p:nvSpPr>
          <p:cNvPr id="25" name="TextBox 24"/>
          <p:cNvSpPr txBox="1"/>
          <p:nvPr/>
        </p:nvSpPr>
        <p:spPr>
          <a:xfrm>
            <a:off x="859536" y="4480559"/>
            <a:ext cx="3657600" cy="256032"/>
          </a:xfrm>
          <a:prstGeom prst="rect">
            <a:avLst/>
          </a:prstGeom>
          <a:noFill/>
        </p:spPr>
        <p:txBody>
          <a:bodyPr wrap="square" lIns="0" tIns="0" rIns="0" bIns="0">
            <a:spAutoFit/>
          </a:bodyPr>
          <a:lstStyle/>
          <a:p>
            <a:pPr algn="l"/>
            <a:r>
              <a:rPr sz="1600" b="1">
                <a:solidFill>
                  <a:srgbClr val="141D18"/>
                </a:solidFill>
                <a:latin typeface="Segoe UI"/>
              </a:rPr>
              <a:t>Cocoa</a:t>
            </a:r>
          </a:p>
        </p:txBody>
      </p:sp>
      <p:sp>
        <p:nvSpPr>
          <p:cNvPr id="26" name="TextBox 25"/>
          <p:cNvSpPr txBox="1"/>
          <p:nvPr/>
        </p:nvSpPr>
        <p:spPr>
          <a:xfrm>
            <a:off x="4590288" y="4498848"/>
            <a:ext cx="3886200" cy="237744"/>
          </a:xfrm>
          <a:prstGeom prst="rect">
            <a:avLst/>
          </a:prstGeom>
          <a:noFill/>
        </p:spPr>
        <p:txBody>
          <a:bodyPr wrap="square" lIns="0" tIns="0" rIns="0" bIns="0">
            <a:spAutoFit/>
          </a:bodyPr>
          <a:lstStyle/>
          <a:p>
            <a:pPr algn="l"/>
            <a:r>
              <a:rPr sz="1600" b="0">
                <a:solidFill>
                  <a:srgbClr val="3D4A43"/>
                </a:solidFill>
                <a:latin typeface="Segoe UI"/>
              </a:rPr>
              <a:t>Beans, powder and nibs</a:t>
            </a:r>
          </a:p>
        </p:txBody>
      </p:sp>
      <p:sp>
        <p:nvSpPr>
          <p:cNvPr id="27" name="TextBox 26"/>
          <p:cNvSpPr txBox="1"/>
          <p:nvPr/>
        </p:nvSpPr>
        <p:spPr>
          <a:xfrm>
            <a:off x="8750808" y="4462272"/>
            <a:ext cx="2779776" cy="219456"/>
          </a:xfrm>
          <a:prstGeom prst="rect">
            <a:avLst/>
          </a:prstGeom>
          <a:noFill/>
        </p:spPr>
        <p:txBody>
          <a:bodyPr wrap="square" lIns="0" tIns="0" rIns="0" bIns="0">
            <a:spAutoFit/>
          </a:bodyPr>
          <a:lstStyle/>
          <a:p>
            <a:pPr algn="l"/>
            <a:r>
              <a:rPr sz="1100" b="1" spc="100">
                <a:solidFill>
                  <a:srgbClr val="1F4034"/>
                </a:solidFill>
                <a:latin typeface="Segoe UI"/>
              </a:rPr>
              <a:t>AVAILABLE</a:t>
            </a:r>
          </a:p>
        </p:txBody>
      </p:sp>
      <p:sp>
        <p:nvSpPr>
          <p:cNvPr id="28" name="TextBox 27"/>
          <p:cNvSpPr txBox="1"/>
          <p:nvPr/>
        </p:nvSpPr>
        <p:spPr>
          <a:xfrm>
            <a:off x="8750808" y="4681728"/>
            <a:ext cx="2779776" cy="219456"/>
          </a:xfrm>
          <a:prstGeom prst="rect">
            <a:avLst/>
          </a:prstGeom>
          <a:noFill/>
        </p:spPr>
        <p:txBody>
          <a:bodyPr wrap="square" lIns="0" tIns="0" rIns="0" bIns="0">
            <a:spAutoFit/>
          </a:bodyPr>
          <a:lstStyle/>
          <a:p>
            <a:pPr algn="l"/>
            <a:r>
              <a:rPr sz="1100" b="0">
                <a:solidFill>
                  <a:srgbClr val="6C7A72"/>
                </a:solidFill>
                <a:latin typeface="Segoe UI"/>
              </a:rPr>
              <a:t>Processed in-house</a:t>
            </a:r>
          </a:p>
        </p:txBody>
      </p:sp>
      <p:sp>
        <p:nvSpPr>
          <p:cNvPr id="29" name="Rectangle 28"/>
          <p:cNvSpPr/>
          <p:nvPr/>
        </p:nvSpPr>
        <p:spPr>
          <a:xfrm>
            <a:off x="658368" y="4965192"/>
            <a:ext cx="10872216" cy="548640"/>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9536" y="5029199"/>
            <a:ext cx="3657600" cy="256032"/>
          </a:xfrm>
          <a:prstGeom prst="rect">
            <a:avLst/>
          </a:prstGeom>
          <a:noFill/>
        </p:spPr>
        <p:txBody>
          <a:bodyPr wrap="square" lIns="0" tIns="0" rIns="0" bIns="0">
            <a:spAutoFit/>
          </a:bodyPr>
          <a:lstStyle/>
          <a:p>
            <a:pPr algn="l"/>
            <a:r>
              <a:rPr sz="1600" b="1">
                <a:solidFill>
                  <a:srgbClr val="141D18"/>
                </a:solidFill>
                <a:latin typeface="Segoe UI"/>
              </a:rPr>
              <a:t>Cloves</a:t>
            </a:r>
          </a:p>
        </p:txBody>
      </p:sp>
      <p:sp>
        <p:nvSpPr>
          <p:cNvPr id="31" name="TextBox 30"/>
          <p:cNvSpPr txBox="1"/>
          <p:nvPr/>
        </p:nvSpPr>
        <p:spPr>
          <a:xfrm>
            <a:off x="4590288" y="5047488"/>
            <a:ext cx="3886200" cy="237744"/>
          </a:xfrm>
          <a:prstGeom prst="rect">
            <a:avLst/>
          </a:prstGeom>
          <a:noFill/>
        </p:spPr>
        <p:txBody>
          <a:bodyPr wrap="square" lIns="0" tIns="0" rIns="0" bIns="0">
            <a:spAutoFit/>
          </a:bodyPr>
          <a:lstStyle/>
          <a:p>
            <a:pPr algn="l"/>
            <a:r>
              <a:rPr sz="1600" b="0">
                <a:solidFill>
                  <a:srgbClr val="3D4A43"/>
                </a:solidFill>
                <a:latin typeface="Segoe UI"/>
              </a:rPr>
              <a:t>Whole dried</a:t>
            </a:r>
          </a:p>
        </p:txBody>
      </p:sp>
      <p:sp>
        <p:nvSpPr>
          <p:cNvPr id="32" name="TextBox 31"/>
          <p:cNvSpPr txBox="1"/>
          <p:nvPr/>
        </p:nvSpPr>
        <p:spPr>
          <a:xfrm>
            <a:off x="8750808" y="5010912"/>
            <a:ext cx="2779776" cy="219456"/>
          </a:xfrm>
          <a:prstGeom prst="rect">
            <a:avLst/>
          </a:prstGeom>
          <a:noFill/>
        </p:spPr>
        <p:txBody>
          <a:bodyPr wrap="square" lIns="0" tIns="0" rIns="0" bIns="0">
            <a:spAutoFit/>
          </a:bodyPr>
          <a:lstStyle/>
          <a:p>
            <a:pPr algn="l"/>
            <a:r>
              <a:rPr sz="1100" b="1" spc="100">
                <a:solidFill>
                  <a:srgbClr val="6C7A72"/>
                </a:solidFill>
                <a:latin typeface="Segoe UI"/>
              </a:rPr>
              <a:t>TO ORDER</a:t>
            </a:r>
          </a:p>
        </p:txBody>
      </p:sp>
      <p:sp>
        <p:nvSpPr>
          <p:cNvPr id="33" name="TextBox 32"/>
          <p:cNvSpPr txBox="1"/>
          <p:nvPr/>
        </p:nvSpPr>
        <p:spPr>
          <a:xfrm>
            <a:off x="8750808" y="5230368"/>
            <a:ext cx="2779776" cy="219456"/>
          </a:xfrm>
          <a:prstGeom prst="rect">
            <a:avLst/>
          </a:prstGeom>
          <a:noFill/>
        </p:spPr>
        <p:txBody>
          <a:bodyPr wrap="square" lIns="0" tIns="0" rIns="0" bIns="0">
            <a:spAutoFit/>
          </a:bodyPr>
          <a:lstStyle/>
          <a:p>
            <a:pPr algn="l"/>
            <a:r>
              <a:rPr sz="1100" b="0">
                <a:solidFill>
                  <a:srgbClr val="6C7A72"/>
                </a:solidFill>
                <a:latin typeface="Segoe UI"/>
              </a:rPr>
              <a:t>Volume on enquiry</a:t>
            </a:r>
          </a:p>
        </p:txBody>
      </p:sp>
      <p:sp>
        <p:nvSpPr>
          <p:cNvPr id="34" name="TextBox 33"/>
          <p:cNvSpPr txBox="1"/>
          <p:nvPr/>
        </p:nvSpPr>
        <p:spPr>
          <a:xfrm>
            <a:off x="859536" y="5577839"/>
            <a:ext cx="3657600" cy="256032"/>
          </a:xfrm>
          <a:prstGeom prst="rect">
            <a:avLst/>
          </a:prstGeom>
          <a:noFill/>
        </p:spPr>
        <p:txBody>
          <a:bodyPr wrap="square" lIns="0" tIns="0" rIns="0" bIns="0">
            <a:spAutoFit/>
          </a:bodyPr>
          <a:lstStyle/>
          <a:p>
            <a:pPr algn="l"/>
            <a:r>
              <a:rPr sz="1600" b="1">
                <a:solidFill>
                  <a:srgbClr val="141D18"/>
                </a:solidFill>
                <a:latin typeface="Segoe UI"/>
              </a:rPr>
              <a:t>Java long pepper, cubeb</a:t>
            </a:r>
          </a:p>
        </p:txBody>
      </p:sp>
      <p:sp>
        <p:nvSpPr>
          <p:cNvPr id="35" name="TextBox 34"/>
          <p:cNvSpPr txBox="1"/>
          <p:nvPr/>
        </p:nvSpPr>
        <p:spPr>
          <a:xfrm>
            <a:off x="4590288" y="5596127"/>
            <a:ext cx="3886200" cy="237744"/>
          </a:xfrm>
          <a:prstGeom prst="rect">
            <a:avLst/>
          </a:prstGeom>
          <a:noFill/>
        </p:spPr>
        <p:txBody>
          <a:bodyPr wrap="square" lIns="0" tIns="0" rIns="0" bIns="0">
            <a:spAutoFit/>
          </a:bodyPr>
          <a:lstStyle/>
          <a:p>
            <a:pPr algn="l"/>
            <a:r>
              <a:rPr sz="1600" b="0">
                <a:solidFill>
                  <a:srgbClr val="3D4A43"/>
                </a:solidFill>
                <a:latin typeface="Segoe UI"/>
              </a:rPr>
              <a:t>Whole dried, specialty</a:t>
            </a:r>
          </a:p>
        </p:txBody>
      </p:sp>
      <p:sp>
        <p:nvSpPr>
          <p:cNvPr id="36" name="TextBox 35"/>
          <p:cNvSpPr txBox="1"/>
          <p:nvPr/>
        </p:nvSpPr>
        <p:spPr>
          <a:xfrm>
            <a:off x="8750808" y="5559551"/>
            <a:ext cx="2779776" cy="219456"/>
          </a:xfrm>
          <a:prstGeom prst="rect">
            <a:avLst/>
          </a:prstGeom>
          <a:noFill/>
        </p:spPr>
        <p:txBody>
          <a:bodyPr wrap="square" lIns="0" tIns="0" rIns="0" bIns="0">
            <a:spAutoFit/>
          </a:bodyPr>
          <a:lstStyle/>
          <a:p>
            <a:pPr algn="l"/>
            <a:r>
              <a:rPr sz="1100" b="1" spc="100">
                <a:solidFill>
                  <a:srgbClr val="6C7A72"/>
                </a:solidFill>
                <a:latin typeface="Segoe UI"/>
              </a:rPr>
              <a:t>TO ORDER</a:t>
            </a:r>
          </a:p>
        </p:txBody>
      </p:sp>
      <p:sp>
        <p:nvSpPr>
          <p:cNvPr id="37" name="TextBox 36"/>
          <p:cNvSpPr txBox="1"/>
          <p:nvPr/>
        </p:nvSpPr>
        <p:spPr>
          <a:xfrm>
            <a:off x="8750808" y="5779007"/>
            <a:ext cx="2779776" cy="219456"/>
          </a:xfrm>
          <a:prstGeom prst="rect">
            <a:avLst/>
          </a:prstGeom>
          <a:noFill/>
        </p:spPr>
        <p:txBody>
          <a:bodyPr wrap="square" lIns="0" tIns="0" rIns="0" bIns="0">
            <a:spAutoFit/>
          </a:bodyPr>
          <a:lstStyle/>
          <a:p>
            <a:pPr algn="l"/>
            <a:r>
              <a:rPr sz="1100" b="0">
                <a:solidFill>
                  <a:srgbClr val="6C7A72"/>
                </a:solidFill>
                <a:latin typeface="Segoe UI"/>
              </a:rPr>
              <a:t>Volume on enquiry</a:t>
            </a:r>
          </a:p>
        </p:txBody>
      </p:sp>
      <p:sp>
        <p:nvSpPr>
          <p:cNvPr id="38" name="TextBox 37"/>
          <p:cNvSpPr txBox="1"/>
          <p:nvPr/>
        </p:nvSpPr>
        <p:spPr>
          <a:xfrm>
            <a:off x="658368" y="6126480"/>
            <a:ext cx="10424160" cy="274320"/>
          </a:xfrm>
          <a:prstGeom prst="rect">
            <a:avLst/>
          </a:prstGeom>
          <a:noFill/>
        </p:spPr>
        <p:txBody>
          <a:bodyPr wrap="square" lIns="0" tIns="0" rIns="0" bIns="0">
            <a:spAutoFit/>
          </a:bodyPr>
          <a:lstStyle/>
          <a:p>
            <a:pPr algn="l"/>
            <a:r>
              <a:rPr sz="1300" b="0">
                <a:solidFill>
                  <a:srgbClr val="6C7A72"/>
                </a:solidFill>
                <a:latin typeface="Segoe UI"/>
              </a:rPr>
              <a:t>Full parameters for every product are set out in our Product Specification Sheet.</a:t>
            </a:r>
          </a:p>
        </p:txBody>
      </p:sp>
      <p:sp>
        <p:nvSpPr>
          <p:cNvPr id="39" name="TextBox 38"/>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40" name="TextBox 39"/>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06   THE GRADE SPLIT</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One harvest, two grades. One is available.</a:t>
            </a:r>
          </a:p>
        </p:txBody>
      </p:sp>
      <p:sp>
        <p:nvSpPr>
          <p:cNvPr id="7" name="Rectangle 6"/>
          <p:cNvSpPr/>
          <p:nvPr/>
        </p:nvSpPr>
        <p:spPr>
          <a:xfrm>
            <a:off x="658368" y="2788920"/>
            <a:ext cx="2331720"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2907791"/>
            <a:ext cx="2039112" cy="256032"/>
          </a:xfrm>
          <a:prstGeom prst="rect">
            <a:avLst/>
          </a:prstGeom>
          <a:noFill/>
        </p:spPr>
        <p:txBody>
          <a:bodyPr wrap="square" lIns="0" tIns="0" rIns="0" bIns="0">
            <a:spAutoFit/>
          </a:bodyPr>
          <a:lstStyle/>
          <a:p>
            <a:pPr algn="ctr"/>
            <a:r>
              <a:rPr sz="1300" b="1" spc="90">
                <a:solidFill>
                  <a:srgbClr val="141D18"/>
                </a:solidFill>
                <a:latin typeface="Segoe UI"/>
              </a:rPr>
              <a:t>ONE HARVEST</a:t>
            </a:r>
          </a:p>
        </p:txBody>
      </p:sp>
      <p:sp>
        <p:nvSpPr>
          <p:cNvPr id="9" name="TextBox 8"/>
          <p:cNvSpPr txBox="1"/>
          <p:nvPr/>
        </p:nvSpPr>
        <p:spPr>
          <a:xfrm>
            <a:off x="804672" y="3218687"/>
            <a:ext cx="2039112" cy="310896"/>
          </a:xfrm>
          <a:prstGeom prst="rect">
            <a:avLst/>
          </a:prstGeom>
          <a:noFill/>
        </p:spPr>
        <p:txBody>
          <a:bodyPr wrap="square" lIns="0" tIns="0" rIns="0" bIns="0">
            <a:spAutoFit/>
          </a:bodyPr>
          <a:lstStyle/>
          <a:p>
            <a:pPr algn="ctr"/>
            <a:r>
              <a:rPr sz="1300" b="0">
                <a:solidFill>
                  <a:srgbClr val="3D4A43"/>
                </a:solidFill>
                <a:latin typeface="Segoe UI"/>
              </a:rPr>
              <a:t>Lampung black pepper</a:t>
            </a:r>
          </a:p>
        </p:txBody>
      </p:sp>
      <p:sp>
        <p:nvSpPr>
          <p:cNvPr id="10" name="Right Arrow 9"/>
          <p:cNvSpPr/>
          <p:nvPr/>
        </p:nvSpPr>
        <p:spPr>
          <a:xfrm>
            <a:off x="3090672" y="3108960"/>
            <a:ext cx="365760"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66160" y="2788920"/>
            <a:ext cx="2331720"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12464" y="2907791"/>
            <a:ext cx="2039112" cy="256032"/>
          </a:xfrm>
          <a:prstGeom prst="rect">
            <a:avLst/>
          </a:prstGeom>
          <a:noFill/>
        </p:spPr>
        <p:txBody>
          <a:bodyPr wrap="square" lIns="0" tIns="0" rIns="0" bIns="0">
            <a:spAutoFit/>
          </a:bodyPr>
          <a:lstStyle/>
          <a:p>
            <a:pPr algn="ctr"/>
            <a:r>
              <a:rPr sz="1300" b="1" spc="90">
                <a:solidFill>
                  <a:srgbClr val="141D18"/>
                </a:solidFill>
                <a:latin typeface="Segoe UI"/>
              </a:rPr>
              <a:t>GRADE TO 580 G/L</a:t>
            </a:r>
          </a:p>
        </p:txBody>
      </p:sp>
      <p:sp>
        <p:nvSpPr>
          <p:cNvPr id="13" name="TextBox 12"/>
          <p:cNvSpPr txBox="1"/>
          <p:nvPr/>
        </p:nvSpPr>
        <p:spPr>
          <a:xfrm>
            <a:off x="3712464" y="3218687"/>
            <a:ext cx="2039112" cy="310896"/>
          </a:xfrm>
          <a:prstGeom prst="rect">
            <a:avLst/>
          </a:prstGeom>
          <a:noFill/>
        </p:spPr>
        <p:txBody>
          <a:bodyPr wrap="square" lIns="0" tIns="0" rIns="0" bIns="0">
            <a:spAutoFit/>
          </a:bodyPr>
          <a:lstStyle/>
          <a:p>
            <a:pPr algn="ctr"/>
            <a:r>
              <a:rPr sz="1300" b="0">
                <a:solidFill>
                  <a:srgbClr val="3D4A43"/>
                </a:solidFill>
                <a:latin typeface="Segoe UI"/>
              </a:rPr>
              <a:t>European spec</a:t>
            </a:r>
          </a:p>
        </p:txBody>
      </p:sp>
      <p:sp>
        <p:nvSpPr>
          <p:cNvPr id="14" name="Rectangle 13"/>
          <p:cNvSpPr/>
          <p:nvPr/>
        </p:nvSpPr>
        <p:spPr>
          <a:xfrm>
            <a:off x="5559552" y="3200400"/>
            <a:ext cx="274320"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815583" y="2670048"/>
            <a:ext cx="20116" cy="54864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15583" y="3200400"/>
            <a:ext cx="20116" cy="56692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5870448" y="2569464"/>
            <a:ext cx="292608"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ight Arrow 17"/>
          <p:cNvSpPr/>
          <p:nvPr/>
        </p:nvSpPr>
        <p:spPr>
          <a:xfrm>
            <a:off x="5870448" y="3666744"/>
            <a:ext cx="292608"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36207" y="2331720"/>
            <a:ext cx="5074920" cy="676656"/>
          </a:xfrm>
          <a:prstGeom prst="rect">
            <a:avLst/>
          </a:prstGeom>
          <a:solidFill>
            <a:srgbClr val="EFF3EE"/>
          </a:solidFill>
          <a:ln w="9525">
            <a:solidFill>
              <a:srgbClr val="B9C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2432304"/>
            <a:ext cx="4709159" cy="237744"/>
          </a:xfrm>
          <a:prstGeom prst="rect">
            <a:avLst/>
          </a:prstGeom>
          <a:noFill/>
        </p:spPr>
        <p:txBody>
          <a:bodyPr wrap="square" lIns="0" tIns="0" rIns="0" bIns="0">
            <a:spAutoFit/>
          </a:bodyPr>
          <a:lstStyle/>
          <a:p>
            <a:pPr algn="l"/>
            <a:r>
              <a:rPr sz="1300" b="1" spc="90">
                <a:solidFill>
                  <a:srgbClr val="6C7A72"/>
                </a:solidFill>
                <a:latin typeface="Segoe UI"/>
              </a:rPr>
              <a:t>PREMIUM · 580 g/l  ·  CONTRACTED TO EUROPE</a:t>
            </a:r>
          </a:p>
        </p:txBody>
      </p:sp>
      <p:sp>
        <p:nvSpPr>
          <p:cNvPr id="21" name="TextBox 20"/>
          <p:cNvSpPr txBox="1"/>
          <p:nvPr/>
        </p:nvSpPr>
        <p:spPr>
          <a:xfrm>
            <a:off x="6419088" y="2697480"/>
            <a:ext cx="4709159" cy="237744"/>
          </a:xfrm>
          <a:prstGeom prst="rect">
            <a:avLst/>
          </a:prstGeom>
          <a:noFill/>
        </p:spPr>
        <p:txBody>
          <a:bodyPr wrap="square" lIns="0" tIns="0" rIns="0" bIns="0">
            <a:spAutoFit/>
          </a:bodyPr>
          <a:lstStyle/>
          <a:p>
            <a:pPr algn="l"/>
            <a:r>
              <a:rPr sz="1600" b="0">
                <a:solidFill>
                  <a:srgbClr val="3D4A43"/>
                </a:solidFill>
                <a:latin typeface="Segoe UI"/>
              </a:rPr>
              <a:t>80 to 100 tonnes for 2026</a:t>
            </a:r>
          </a:p>
        </p:txBody>
      </p:sp>
      <p:sp>
        <p:nvSpPr>
          <p:cNvPr id="22" name="Rectangle 21"/>
          <p:cNvSpPr/>
          <p:nvPr/>
        </p:nvSpPr>
        <p:spPr>
          <a:xfrm>
            <a:off x="6236207" y="3429000"/>
            <a:ext cx="5074920" cy="676656"/>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19088" y="3529584"/>
            <a:ext cx="4709159" cy="237744"/>
          </a:xfrm>
          <a:prstGeom prst="rect">
            <a:avLst/>
          </a:prstGeom>
          <a:noFill/>
        </p:spPr>
        <p:txBody>
          <a:bodyPr wrap="square" lIns="0" tIns="0" rIns="0" bIns="0">
            <a:spAutoFit/>
          </a:bodyPr>
          <a:lstStyle/>
          <a:p>
            <a:pPr algn="l"/>
            <a:r>
              <a:rPr sz="1300" b="1" spc="90">
                <a:solidFill>
                  <a:srgbClr val="C7D8CD"/>
                </a:solidFill>
                <a:latin typeface="Segoe UI"/>
              </a:rPr>
              <a:t>STANDARD · 500 g/l  ·  AVAILABLE NOW</a:t>
            </a:r>
          </a:p>
        </p:txBody>
      </p:sp>
      <p:sp>
        <p:nvSpPr>
          <p:cNvPr id="24" name="TextBox 23"/>
          <p:cNvSpPr txBox="1"/>
          <p:nvPr/>
        </p:nvSpPr>
        <p:spPr>
          <a:xfrm>
            <a:off x="6419088" y="3794760"/>
            <a:ext cx="4709159" cy="237744"/>
          </a:xfrm>
          <a:prstGeom prst="rect">
            <a:avLst/>
          </a:prstGeom>
          <a:noFill/>
        </p:spPr>
        <p:txBody>
          <a:bodyPr wrap="square" lIns="0" tIns="0" rIns="0" bIns="0">
            <a:spAutoFit/>
          </a:bodyPr>
          <a:lstStyle/>
          <a:p>
            <a:pPr algn="l"/>
            <a:r>
              <a:rPr sz="1600" b="0">
                <a:solidFill>
                  <a:srgbClr val="FFFFFF"/>
                </a:solidFill>
                <a:latin typeface="Segoe UI"/>
              </a:rPr>
              <a:t>200 tonnes per year</a:t>
            </a:r>
          </a:p>
        </p:txBody>
      </p:sp>
      <p:sp>
        <p:nvSpPr>
          <p:cNvPr id="25" name="Rectangle 24"/>
          <p:cNvSpPr/>
          <p:nvPr/>
        </p:nvSpPr>
        <p:spPr>
          <a:xfrm>
            <a:off x="3566160" y="4224528"/>
            <a:ext cx="2331720" cy="566928"/>
          </a:xfrm>
          <a:prstGeom prst="rect">
            <a:avLst/>
          </a:prstGeom>
          <a:solidFill>
            <a:srgbClr val="F7F2E4"/>
          </a:solidFill>
          <a:ln w="9525">
            <a:solidFill>
              <a:srgbClr val="9A7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94176" y="4352544"/>
            <a:ext cx="2075688" cy="329184"/>
          </a:xfrm>
          <a:prstGeom prst="rect">
            <a:avLst/>
          </a:prstGeom>
          <a:noFill/>
        </p:spPr>
        <p:txBody>
          <a:bodyPr wrap="square" lIns="0" tIns="0" rIns="0" bIns="0">
            <a:spAutoFit/>
          </a:bodyPr>
          <a:lstStyle/>
          <a:p>
            <a:pPr algn="ctr">
              <a:lnSpc>
                <a:spcPct val="115000"/>
              </a:lnSpc>
            </a:pPr>
            <a:r>
              <a:rPr sz="1100" b="1">
                <a:solidFill>
                  <a:srgbClr val="9A7526"/>
                </a:solidFill>
                <a:latin typeface="Segoe UI"/>
              </a:rPr>
              <a:t>Lower-grade raw material bought in directly</a:t>
            </a:r>
          </a:p>
        </p:txBody>
      </p:sp>
      <p:sp>
        <p:nvSpPr>
          <p:cNvPr id="27" name="Rectangle 26"/>
          <p:cNvSpPr/>
          <p:nvPr/>
        </p:nvSpPr>
        <p:spPr>
          <a:xfrm>
            <a:off x="5815583" y="4480560"/>
            <a:ext cx="420624"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17920" y="4105656"/>
            <a:ext cx="20116" cy="393192"/>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5074920"/>
            <a:ext cx="10424160" cy="731520"/>
          </a:xfrm>
          <a:prstGeom prst="rect">
            <a:avLst/>
          </a:prstGeom>
          <a:noFill/>
        </p:spPr>
        <p:txBody>
          <a:bodyPr wrap="square" lIns="0" tIns="0" rIns="0" bIns="0">
            <a:spAutoFit/>
          </a:bodyPr>
          <a:lstStyle/>
          <a:p>
            <a:pPr algn="l">
              <a:lnSpc>
                <a:spcPct val="136000"/>
              </a:lnSpc>
            </a:pPr>
            <a:r>
              <a:rPr sz="1600" b="0">
                <a:solidFill>
                  <a:srgbClr val="3D4A43"/>
                </a:solidFill>
                <a:latin typeface="Segoe UI"/>
              </a:rPr>
              <a:t>The two do not compete. A buyer serving the grinding and blending market gets available volume at a standard price, rather than paying a premium for specification they do not need.</a:t>
            </a:r>
          </a:p>
        </p:txBody>
      </p:sp>
      <p:sp>
        <p:nvSpPr>
          <p:cNvPr id="30" name="TextBox 29"/>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31" name="TextBox 30"/>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07   CAPACITY</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200" b="1">
                <a:solidFill>
                  <a:srgbClr val="141D18"/>
                </a:solidFill>
                <a:latin typeface="Georgia"/>
              </a:rPr>
              <a:t>The plant is running below its limit, on purpose.</a:t>
            </a:r>
          </a:p>
        </p:txBody>
      </p:sp>
      <p:sp>
        <p:nvSpPr>
          <p:cNvPr id="7" name="TextBox 6"/>
          <p:cNvSpPr txBox="1"/>
          <p:nvPr/>
        </p:nvSpPr>
        <p:spPr>
          <a:xfrm>
            <a:off x="658368" y="2395728"/>
            <a:ext cx="10424160" cy="914400"/>
          </a:xfrm>
          <a:prstGeom prst="rect">
            <a:avLst/>
          </a:prstGeom>
          <a:noFill/>
        </p:spPr>
        <p:txBody>
          <a:bodyPr wrap="square" lIns="0" tIns="0" rIns="0" bIns="0">
            <a:spAutoFit/>
          </a:bodyPr>
          <a:lstStyle/>
          <a:p>
            <a:pPr algn="l">
              <a:lnSpc>
                <a:spcPct val="138000"/>
              </a:lnSpc>
            </a:pPr>
            <a:r>
              <a:rPr sz="1600" b="0">
                <a:solidFill>
                  <a:srgbClr val="3D4A43"/>
                </a:solidFill>
                <a:latin typeface="Segoe UI"/>
              </a:rPr>
              <a:t>We concentrated on a single European contract, so machine hours and farmer supply both have headroom. New buyer volume does not displace anything. It fills capacity that already exists.</a:t>
            </a:r>
          </a:p>
        </p:txBody>
      </p:sp>
      <p:sp>
        <p:nvSpPr>
          <p:cNvPr id="8" name="TextBox 7"/>
          <p:cNvSpPr txBox="1"/>
          <p:nvPr/>
        </p:nvSpPr>
        <p:spPr>
          <a:xfrm>
            <a:off x="658368" y="3566160"/>
            <a:ext cx="3383280" cy="566928"/>
          </a:xfrm>
          <a:prstGeom prst="rect">
            <a:avLst/>
          </a:prstGeom>
          <a:noFill/>
        </p:spPr>
        <p:txBody>
          <a:bodyPr wrap="square" lIns="0" tIns="0" rIns="0" bIns="0">
            <a:spAutoFit/>
          </a:bodyPr>
          <a:lstStyle/>
          <a:p>
            <a:pPr algn="l"/>
            <a:r>
              <a:rPr sz="3200" b="1">
                <a:solidFill>
                  <a:srgbClr val="1F4034"/>
                </a:solidFill>
                <a:latin typeface="Georgia"/>
              </a:rPr>
              <a:t>200 MT/yr</a:t>
            </a:r>
          </a:p>
        </p:txBody>
      </p:sp>
      <p:sp>
        <p:nvSpPr>
          <p:cNvPr id="9" name="TextBox 8"/>
          <p:cNvSpPr txBox="1"/>
          <p:nvPr/>
        </p:nvSpPr>
        <p:spPr>
          <a:xfrm>
            <a:off x="658368" y="4133087"/>
            <a:ext cx="3383280" cy="274320"/>
          </a:xfrm>
          <a:prstGeom prst="rect">
            <a:avLst/>
          </a:prstGeom>
          <a:noFill/>
        </p:spPr>
        <p:txBody>
          <a:bodyPr wrap="square" lIns="0" tIns="0" rIns="0" bIns="0">
            <a:spAutoFit/>
          </a:bodyPr>
          <a:lstStyle/>
          <a:p>
            <a:pPr algn="l"/>
            <a:r>
              <a:rPr sz="1100" b="0" spc="100">
                <a:solidFill>
                  <a:srgbClr val="6C7A72"/>
                </a:solidFill>
                <a:latin typeface="Segoe UI"/>
              </a:rPr>
              <a:t>STANDARD PEPPER, AVAILABLE</a:t>
            </a:r>
          </a:p>
        </p:txBody>
      </p:sp>
      <p:sp>
        <p:nvSpPr>
          <p:cNvPr id="10" name="TextBox 9"/>
          <p:cNvSpPr txBox="1"/>
          <p:nvPr/>
        </p:nvSpPr>
        <p:spPr>
          <a:xfrm>
            <a:off x="4270248" y="3566160"/>
            <a:ext cx="3383280" cy="566928"/>
          </a:xfrm>
          <a:prstGeom prst="rect">
            <a:avLst/>
          </a:prstGeom>
          <a:noFill/>
        </p:spPr>
        <p:txBody>
          <a:bodyPr wrap="square" lIns="0" tIns="0" rIns="0" bIns="0">
            <a:spAutoFit/>
          </a:bodyPr>
          <a:lstStyle/>
          <a:p>
            <a:pPr algn="l"/>
            <a:r>
              <a:rPr sz="3200" b="1">
                <a:solidFill>
                  <a:srgbClr val="1F4034"/>
                </a:solidFill>
                <a:latin typeface="Georgia"/>
              </a:rPr>
              <a:t>300 MT/mo</a:t>
            </a:r>
          </a:p>
        </p:txBody>
      </p:sp>
      <p:sp>
        <p:nvSpPr>
          <p:cNvPr id="11" name="TextBox 10"/>
          <p:cNvSpPr txBox="1"/>
          <p:nvPr/>
        </p:nvSpPr>
        <p:spPr>
          <a:xfrm>
            <a:off x="4270248" y="4133087"/>
            <a:ext cx="3383280" cy="274320"/>
          </a:xfrm>
          <a:prstGeom prst="rect">
            <a:avLst/>
          </a:prstGeom>
          <a:noFill/>
        </p:spPr>
        <p:txBody>
          <a:bodyPr wrap="square" lIns="0" tIns="0" rIns="0" bIns="0">
            <a:spAutoFit/>
          </a:bodyPr>
          <a:lstStyle/>
          <a:p>
            <a:pPr algn="l"/>
            <a:r>
              <a:rPr sz="1100" b="0" spc="100">
                <a:solidFill>
                  <a:srgbClr val="6C7A72"/>
                </a:solidFill>
                <a:latin typeface="Segoe UI"/>
              </a:rPr>
              <a:t>ROBUSTA, CEILING 720</a:t>
            </a:r>
          </a:p>
        </p:txBody>
      </p:sp>
      <p:sp>
        <p:nvSpPr>
          <p:cNvPr id="12" name="TextBox 11"/>
          <p:cNvSpPr txBox="1"/>
          <p:nvPr/>
        </p:nvSpPr>
        <p:spPr>
          <a:xfrm>
            <a:off x="7882128" y="3566160"/>
            <a:ext cx="3383280" cy="566928"/>
          </a:xfrm>
          <a:prstGeom prst="rect">
            <a:avLst/>
          </a:prstGeom>
          <a:noFill/>
        </p:spPr>
        <p:txBody>
          <a:bodyPr wrap="square" lIns="0" tIns="0" rIns="0" bIns="0">
            <a:spAutoFit/>
          </a:bodyPr>
          <a:lstStyle/>
          <a:p>
            <a:pPr algn="l"/>
            <a:r>
              <a:rPr sz="3200" b="1">
                <a:solidFill>
                  <a:srgbClr val="1F4034"/>
                </a:solidFill>
                <a:latin typeface="Georgia"/>
              </a:rPr>
              <a:t>2,000 MT</a:t>
            </a:r>
          </a:p>
        </p:txBody>
      </p:sp>
      <p:sp>
        <p:nvSpPr>
          <p:cNvPr id="13" name="TextBox 12"/>
          <p:cNvSpPr txBox="1"/>
          <p:nvPr/>
        </p:nvSpPr>
        <p:spPr>
          <a:xfrm>
            <a:off x="7882128" y="4133087"/>
            <a:ext cx="3383280" cy="274320"/>
          </a:xfrm>
          <a:prstGeom prst="rect">
            <a:avLst/>
          </a:prstGeom>
          <a:noFill/>
        </p:spPr>
        <p:txBody>
          <a:bodyPr wrap="square" lIns="0" tIns="0" rIns="0" bIns="0">
            <a:spAutoFit/>
          </a:bodyPr>
          <a:lstStyle/>
          <a:p>
            <a:pPr algn="l"/>
            <a:r>
              <a:rPr sz="1100" b="0" spc="100">
                <a:solidFill>
                  <a:srgbClr val="6C7A72"/>
                </a:solidFill>
                <a:latin typeface="Segoe UI"/>
              </a:rPr>
              <a:t>WAREHOUSE AT NATAR</a:t>
            </a:r>
          </a:p>
        </p:txBody>
      </p:sp>
      <p:sp>
        <p:nvSpPr>
          <p:cNvPr id="14" name="Rectangle 13"/>
          <p:cNvSpPr/>
          <p:nvPr/>
        </p:nvSpPr>
        <p:spPr>
          <a:xfrm>
            <a:off x="658368" y="4892040"/>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 y="5120640"/>
            <a:ext cx="10424160" cy="731520"/>
          </a:xfrm>
          <a:prstGeom prst="rect">
            <a:avLst/>
          </a:prstGeom>
          <a:noFill/>
        </p:spPr>
        <p:txBody>
          <a:bodyPr wrap="square" lIns="0" tIns="0" rIns="0" bIns="0">
            <a:spAutoFit/>
          </a:bodyPr>
          <a:lstStyle/>
          <a:p>
            <a:pPr algn="l">
              <a:lnSpc>
                <a:spcPct val="122000"/>
              </a:lnSpc>
            </a:pPr>
            <a:r>
              <a:rPr sz="2000" b="1">
                <a:solidFill>
                  <a:srgbClr val="1F4034"/>
                </a:solidFill>
                <a:latin typeface="Georgia"/>
              </a:rPr>
              <a:t>The limit is how far ahead an order is placed, not whether we have the plant or the farmers to fulfil it.</a:t>
            </a:r>
          </a:p>
        </p:txBody>
      </p:sp>
      <p:sp>
        <p:nvSpPr>
          <p:cNvPr id="16" name="TextBox 15"/>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17" name="TextBox 16"/>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08   TECHNOLOGY</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TAPAK: every lot traced to a mapped plot.</a:t>
            </a:r>
          </a:p>
        </p:txBody>
      </p:sp>
      <p:sp>
        <p:nvSpPr>
          <p:cNvPr id="7" name="TextBox 6"/>
          <p:cNvSpPr txBox="1"/>
          <p:nvPr/>
        </p:nvSpPr>
        <p:spPr>
          <a:xfrm>
            <a:off x="658368" y="2359152"/>
            <a:ext cx="5852160" cy="329184"/>
          </a:xfrm>
          <a:prstGeom prst="rect">
            <a:avLst/>
          </a:prstGeom>
          <a:noFill/>
        </p:spPr>
        <p:txBody>
          <a:bodyPr wrap="square" lIns="0" tIns="0" rIns="0" bIns="0">
            <a:spAutoFit/>
          </a:bodyPr>
          <a:lstStyle/>
          <a:p>
            <a:pPr algn="l"/>
            <a:r>
              <a:rPr sz="1300" b="1" spc="90">
                <a:solidFill>
                  <a:srgbClr val="9A7526"/>
                </a:solidFill>
                <a:latin typeface="Segoe UI"/>
              </a:rPr>
              <a:t>TRACEABILITY AND ACCOUNTABILITY OF PROFESSIONAL AGRI-KGF</a:t>
            </a:r>
          </a:p>
        </p:txBody>
      </p:sp>
      <p:sp>
        <p:nvSpPr>
          <p:cNvPr id="8" name="TextBox 7"/>
          <p:cNvSpPr txBox="1"/>
          <p:nvPr/>
        </p:nvSpPr>
        <p:spPr>
          <a:xfrm>
            <a:off x="658368" y="2761488"/>
            <a:ext cx="5852160" cy="1371600"/>
          </a:xfrm>
          <a:prstGeom prst="rect">
            <a:avLst/>
          </a:prstGeom>
          <a:noFill/>
        </p:spPr>
        <p:txBody>
          <a:bodyPr wrap="square" lIns="0" tIns="0" rIns="0" bIns="0">
            <a:spAutoFit/>
          </a:bodyPr>
          <a:lstStyle/>
          <a:p>
            <a:pPr algn="l">
              <a:lnSpc>
                <a:spcPct val="138000"/>
              </a:lnSpc>
            </a:pPr>
            <a:r>
              <a:rPr sz="1600" b="0">
                <a:solidFill>
                  <a:srgbClr val="3D4A43"/>
                </a:solidFill>
                <a:latin typeface="Segoe UI"/>
              </a:rPr>
              <a:t>Live and in production use. Every purchase records farmer identity, plot polygon coordinates, volume, digital receipts and warehouse lot movement.</a:t>
            </a:r>
          </a:p>
        </p:txBody>
      </p:sp>
      <p:sp>
        <p:nvSpPr>
          <p:cNvPr id="9" name="TextBox 8"/>
          <p:cNvSpPr txBox="1"/>
          <p:nvPr/>
        </p:nvSpPr>
        <p:spPr>
          <a:xfrm>
            <a:off x="658368" y="4160520"/>
            <a:ext cx="5852160" cy="1554480"/>
          </a:xfrm>
          <a:prstGeom prst="rect">
            <a:avLst/>
          </a:prstGeom>
          <a:noFill/>
        </p:spPr>
        <p:txBody>
          <a:bodyPr wrap="square" lIns="0" tIns="0" rIns="0" bIns="0">
            <a:spAutoFit/>
          </a:bodyPr>
          <a:lstStyle/>
          <a:p>
            <a:pPr algn="l">
              <a:lnSpc>
                <a:spcPct val="138000"/>
              </a:lnSpc>
            </a:pPr>
            <a:r>
              <a:rPr sz="1600" b="0">
                <a:solidFill>
                  <a:srgbClr val="3D4A43"/>
                </a:solidFill>
                <a:latin typeface="Segoe UI"/>
              </a:rPr>
              <a:t>A buyer asking which farms a container came from receives a plot-level answer, and can be granted dashboard access to verify it independently rather than taking our word for it.</a:t>
            </a:r>
          </a:p>
        </p:txBody>
      </p:sp>
      <p:sp>
        <p:nvSpPr>
          <p:cNvPr id="10" name="Rectangle 9"/>
          <p:cNvSpPr/>
          <p:nvPr/>
        </p:nvSpPr>
        <p:spPr>
          <a:xfrm>
            <a:off x="6903720" y="2359152"/>
            <a:ext cx="4626864" cy="3566160"/>
          </a:xfrm>
          <a:prstGeom prst="rect">
            <a:avLst/>
          </a:prstGeom>
          <a:solidFill>
            <a:srgbClr val="E7E0CE"/>
          </a:solidFill>
          <a:ln w="9525">
            <a:solidFill>
              <a:srgbClr val="B9C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68312" y="3886200"/>
            <a:ext cx="4297679" cy="512064"/>
          </a:xfrm>
          <a:prstGeom prst="rect">
            <a:avLst/>
          </a:prstGeom>
          <a:noFill/>
        </p:spPr>
        <p:txBody>
          <a:bodyPr wrap="square" lIns="0" tIns="0" rIns="0" bIns="0">
            <a:spAutoFit/>
          </a:bodyPr>
          <a:lstStyle/>
          <a:p>
            <a:pPr algn="ctr"/>
            <a:r>
              <a:rPr sz="1100" b="0" spc="80">
                <a:solidFill>
                  <a:srgbClr val="9A7526"/>
                </a:solidFill>
                <a:latin typeface="Segoe UI"/>
              </a:rPr>
              <a:t>TAPAK PLOT MAP, PERSONAL DATA MASKED</a:t>
            </a:r>
          </a:p>
        </p:txBody>
      </p:sp>
      <p:sp>
        <p:nvSpPr>
          <p:cNvPr id="12" name="TextBox 11"/>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13" name="TextBox 12"/>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09   QUALITY AND COMPLIANCE</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What we hold, and what we do not.</a:t>
            </a:r>
          </a:p>
        </p:txBody>
      </p:sp>
      <p:sp>
        <p:nvSpPr>
          <p:cNvPr id="7" name="Rectangle 6"/>
          <p:cNvSpPr/>
          <p:nvPr/>
        </p:nvSpPr>
        <p:spPr>
          <a:xfrm>
            <a:off x="658368" y="2295144"/>
            <a:ext cx="10872216" cy="42062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2368296"/>
            <a:ext cx="6766560" cy="292608"/>
          </a:xfrm>
          <a:prstGeom prst="rect">
            <a:avLst/>
          </a:prstGeom>
          <a:noFill/>
        </p:spPr>
        <p:txBody>
          <a:bodyPr wrap="square" lIns="0" tIns="0" rIns="0" bIns="0">
            <a:spAutoFit/>
          </a:bodyPr>
          <a:lstStyle/>
          <a:p>
            <a:pPr algn="l"/>
            <a:r>
              <a:rPr sz="1600" b="0">
                <a:solidFill>
                  <a:srgbClr val="141D18"/>
                </a:solidFill>
                <a:latin typeface="Segoe UI"/>
              </a:rPr>
              <a:t>Plot-level traceability</a:t>
            </a:r>
          </a:p>
        </p:txBody>
      </p:sp>
      <p:sp>
        <p:nvSpPr>
          <p:cNvPr id="9" name="TextBox 8"/>
          <p:cNvSpPr txBox="1"/>
          <p:nvPr/>
        </p:nvSpPr>
        <p:spPr>
          <a:xfrm>
            <a:off x="7973568" y="2386584"/>
            <a:ext cx="3200400" cy="274320"/>
          </a:xfrm>
          <a:prstGeom prst="rect">
            <a:avLst/>
          </a:prstGeom>
          <a:noFill/>
        </p:spPr>
        <p:txBody>
          <a:bodyPr wrap="square" lIns="0" tIns="0" rIns="0" bIns="0">
            <a:spAutoFit/>
          </a:bodyPr>
          <a:lstStyle/>
          <a:p>
            <a:pPr algn="l"/>
            <a:r>
              <a:rPr sz="1300" b="1" spc="90">
                <a:solidFill>
                  <a:srgbClr val="1F4034"/>
                </a:solidFill>
                <a:latin typeface="Segoe UI"/>
              </a:rPr>
              <a:t>LIVE</a:t>
            </a:r>
          </a:p>
        </p:txBody>
      </p:sp>
      <p:sp>
        <p:nvSpPr>
          <p:cNvPr id="10" name="TextBox 9"/>
          <p:cNvSpPr txBox="1"/>
          <p:nvPr/>
        </p:nvSpPr>
        <p:spPr>
          <a:xfrm>
            <a:off x="859536" y="2816352"/>
            <a:ext cx="6766560" cy="292608"/>
          </a:xfrm>
          <a:prstGeom prst="rect">
            <a:avLst/>
          </a:prstGeom>
          <a:noFill/>
        </p:spPr>
        <p:txBody>
          <a:bodyPr wrap="square" lIns="0" tIns="0" rIns="0" bIns="0">
            <a:spAutoFit/>
          </a:bodyPr>
          <a:lstStyle/>
          <a:p>
            <a:pPr algn="l"/>
            <a:r>
              <a:rPr sz="1600" b="0">
                <a:solidFill>
                  <a:srgbClr val="141D18"/>
                </a:solidFill>
                <a:latin typeface="Segoe UI"/>
              </a:rPr>
              <a:t>Health, safety and waste SOP, Natar</a:t>
            </a:r>
          </a:p>
        </p:txBody>
      </p:sp>
      <p:sp>
        <p:nvSpPr>
          <p:cNvPr id="11" name="TextBox 10"/>
          <p:cNvSpPr txBox="1"/>
          <p:nvPr/>
        </p:nvSpPr>
        <p:spPr>
          <a:xfrm>
            <a:off x="7973568" y="2834640"/>
            <a:ext cx="3200400" cy="274320"/>
          </a:xfrm>
          <a:prstGeom prst="rect">
            <a:avLst/>
          </a:prstGeom>
          <a:noFill/>
        </p:spPr>
        <p:txBody>
          <a:bodyPr wrap="square" lIns="0" tIns="0" rIns="0" bIns="0">
            <a:spAutoFit/>
          </a:bodyPr>
          <a:lstStyle/>
          <a:p>
            <a:pPr algn="l"/>
            <a:r>
              <a:rPr sz="1300" b="1" spc="90">
                <a:solidFill>
                  <a:srgbClr val="1F4034"/>
                </a:solidFill>
                <a:latin typeface="Segoe UI"/>
              </a:rPr>
              <a:t>IN PLACE</a:t>
            </a:r>
          </a:p>
        </p:txBody>
      </p:sp>
      <p:sp>
        <p:nvSpPr>
          <p:cNvPr id="12" name="Rectangle 11"/>
          <p:cNvSpPr/>
          <p:nvPr/>
        </p:nvSpPr>
        <p:spPr>
          <a:xfrm>
            <a:off x="658368" y="3191256"/>
            <a:ext cx="10872216" cy="42062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3264408"/>
            <a:ext cx="6766560" cy="292608"/>
          </a:xfrm>
          <a:prstGeom prst="rect">
            <a:avLst/>
          </a:prstGeom>
          <a:noFill/>
        </p:spPr>
        <p:txBody>
          <a:bodyPr wrap="square" lIns="0" tIns="0" rIns="0" bIns="0">
            <a:spAutoFit/>
          </a:bodyPr>
          <a:lstStyle/>
          <a:p>
            <a:pPr algn="l"/>
            <a:r>
              <a:rPr sz="1600" b="0">
                <a:solidFill>
                  <a:srgbClr val="141D18"/>
                </a:solidFill>
                <a:latin typeface="Segoe UI"/>
              </a:rPr>
              <a:t>Social security and payroll</a:t>
            </a:r>
          </a:p>
        </p:txBody>
      </p:sp>
      <p:sp>
        <p:nvSpPr>
          <p:cNvPr id="14" name="TextBox 13"/>
          <p:cNvSpPr txBox="1"/>
          <p:nvPr/>
        </p:nvSpPr>
        <p:spPr>
          <a:xfrm>
            <a:off x="7973568" y="3282696"/>
            <a:ext cx="3200400" cy="274320"/>
          </a:xfrm>
          <a:prstGeom prst="rect">
            <a:avLst/>
          </a:prstGeom>
          <a:noFill/>
        </p:spPr>
        <p:txBody>
          <a:bodyPr wrap="square" lIns="0" tIns="0" rIns="0" bIns="0">
            <a:spAutoFit/>
          </a:bodyPr>
          <a:lstStyle/>
          <a:p>
            <a:pPr algn="l"/>
            <a:r>
              <a:rPr sz="1300" b="1" spc="90">
                <a:solidFill>
                  <a:srgbClr val="1F4034"/>
                </a:solidFill>
                <a:latin typeface="Segoe UI"/>
              </a:rPr>
              <a:t>PAID AND ACTIVE</a:t>
            </a:r>
          </a:p>
        </p:txBody>
      </p:sp>
      <p:sp>
        <p:nvSpPr>
          <p:cNvPr id="15" name="TextBox 14"/>
          <p:cNvSpPr txBox="1"/>
          <p:nvPr/>
        </p:nvSpPr>
        <p:spPr>
          <a:xfrm>
            <a:off x="859536" y="3712464"/>
            <a:ext cx="6766560" cy="292608"/>
          </a:xfrm>
          <a:prstGeom prst="rect">
            <a:avLst/>
          </a:prstGeom>
          <a:noFill/>
        </p:spPr>
        <p:txBody>
          <a:bodyPr wrap="square" lIns="0" tIns="0" rIns="0" bIns="0">
            <a:spAutoFit/>
          </a:bodyPr>
          <a:lstStyle/>
          <a:p>
            <a:pPr algn="l"/>
            <a:r>
              <a:rPr sz="1600" b="0">
                <a:solidFill>
                  <a:srgbClr val="141D18"/>
                </a:solidFill>
                <a:latin typeface="Segoe UI"/>
              </a:rPr>
              <a:t>EU deforestation due diligence</a:t>
            </a:r>
          </a:p>
        </p:txBody>
      </p:sp>
      <p:sp>
        <p:nvSpPr>
          <p:cNvPr id="16" name="TextBox 15"/>
          <p:cNvSpPr txBox="1"/>
          <p:nvPr/>
        </p:nvSpPr>
        <p:spPr>
          <a:xfrm>
            <a:off x="7973568" y="3730752"/>
            <a:ext cx="3200400" cy="274320"/>
          </a:xfrm>
          <a:prstGeom prst="rect">
            <a:avLst/>
          </a:prstGeom>
          <a:noFill/>
        </p:spPr>
        <p:txBody>
          <a:bodyPr wrap="square" lIns="0" tIns="0" rIns="0" bIns="0">
            <a:spAutoFit/>
          </a:bodyPr>
          <a:lstStyle/>
          <a:p>
            <a:pPr algn="l"/>
            <a:r>
              <a:rPr sz="1300" b="1" spc="90">
                <a:solidFill>
                  <a:srgbClr val="9A7526"/>
                </a:solidFill>
                <a:latin typeface="Segoe UI"/>
              </a:rPr>
              <a:t>IN PREPARATION</a:t>
            </a:r>
          </a:p>
        </p:txBody>
      </p:sp>
      <p:sp>
        <p:nvSpPr>
          <p:cNvPr id="17" name="Rectangle 16"/>
          <p:cNvSpPr/>
          <p:nvPr/>
        </p:nvSpPr>
        <p:spPr>
          <a:xfrm>
            <a:off x="658368" y="4087368"/>
            <a:ext cx="10872216" cy="42062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160520"/>
            <a:ext cx="6766560" cy="292608"/>
          </a:xfrm>
          <a:prstGeom prst="rect">
            <a:avLst/>
          </a:prstGeom>
          <a:noFill/>
        </p:spPr>
        <p:txBody>
          <a:bodyPr wrap="square" lIns="0" tIns="0" rIns="0" bIns="0">
            <a:spAutoFit/>
          </a:bodyPr>
          <a:lstStyle/>
          <a:p>
            <a:pPr algn="l"/>
            <a:r>
              <a:rPr sz="1600" b="0">
                <a:solidFill>
                  <a:srgbClr val="141D18"/>
                </a:solidFill>
                <a:latin typeface="Segoe UI"/>
              </a:rPr>
              <a:t>Business licence and KBLI</a:t>
            </a:r>
          </a:p>
        </p:txBody>
      </p:sp>
      <p:sp>
        <p:nvSpPr>
          <p:cNvPr id="19" name="TextBox 18"/>
          <p:cNvSpPr txBox="1"/>
          <p:nvPr/>
        </p:nvSpPr>
        <p:spPr>
          <a:xfrm>
            <a:off x="7973568" y="4178808"/>
            <a:ext cx="3200400" cy="274320"/>
          </a:xfrm>
          <a:prstGeom prst="rect">
            <a:avLst/>
          </a:prstGeom>
          <a:noFill/>
        </p:spPr>
        <p:txBody>
          <a:bodyPr wrap="square" lIns="0" tIns="0" rIns="0" bIns="0">
            <a:spAutoFit/>
          </a:bodyPr>
          <a:lstStyle/>
          <a:p>
            <a:pPr algn="l"/>
            <a:r>
              <a:rPr sz="1300" b="1" spc="90">
                <a:solidFill>
                  <a:srgbClr val="9A7526"/>
                </a:solidFill>
                <a:latin typeface="Segoe UI"/>
              </a:rPr>
              <a:t>UPDATE IN PROGRESS</a:t>
            </a:r>
          </a:p>
        </p:txBody>
      </p:sp>
      <p:sp>
        <p:nvSpPr>
          <p:cNvPr id="20" name="TextBox 19"/>
          <p:cNvSpPr txBox="1"/>
          <p:nvPr/>
        </p:nvSpPr>
        <p:spPr>
          <a:xfrm>
            <a:off x="859536" y="4608576"/>
            <a:ext cx="6766560" cy="292608"/>
          </a:xfrm>
          <a:prstGeom prst="rect">
            <a:avLst/>
          </a:prstGeom>
          <a:noFill/>
        </p:spPr>
        <p:txBody>
          <a:bodyPr wrap="square" lIns="0" tIns="0" rIns="0" bIns="0">
            <a:spAutoFit/>
          </a:bodyPr>
          <a:lstStyle/>
          <a:p>
            <a:pPr algn="l"/>
            <a:r>
              <a:rPr sz="1600" b="0">
                <a:solidFill>
                  <a:srgbClr val="141D18"/>
                </a:solidFill>
                <a:latin typeface="Segoe UI"/>
              </a:rPr>
              <a:t>Phytosanitary certificate</a:t>
            </a:r>
          </a:p>
        </p:txBody>
      </p:sp>
      <p:sp>
        <p:nvSpPr>
          <p:cNvPr id="21" name="TextBox 20"/>
          <p:cNvSpPr txBox="1"/>
          <p:nvPr/>
        </p:nvSpPr>
        <p:spPr>
          <a:xfrm>
            <a:off x="7973568" y="4626864"/>
            <a:ext cx="3200400" cy="274320"/>
          </a:xfrm>
          <a:prstGeom prst="rect">
            <a:avLst/>
          </a:prstGeom>
          <a:noFill/>
        </p:spPr>
        <p:txBody>
          <a:bodyPr wrap="square" lIns="0" tIns="0" rIns="0" bIns="0">
            <a:spAutoFit/>
          </a:bodyPr>
          <a:lstStyle/>
          <a:p>
            <a:pPr algn="l"/>
            <a:r>
              <a:rPr sz="1300" b="1" spc="90">
                <a:solidFill>
                  <a:srgbClr val="9A7526"/>
                </a:solidFill>
                <a:latin typeface="Segoe UI"/>
              </a:rPr>
              <a:t>TO CONFIRM</a:t>
            </a:r>
          </a:p>
        </p:txBody>
      </p:sp>
      <p:sp>
        <p:nvSpPr>
          <p:cNvPr id="22" name="Rectangle 21"/>
          <p:cNvSpPr/>
          <p:nvPr/>
        </p:nvSpPr>
        <p:spPr>
          <a:xfrm>
            <a:off x="658368" y="4983480"/>
            <a:ext cx="10872216" cy="42062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9536" y="5056632"/>
            <a:ext cx="6766560" cy="292608"/>
          </a:xfrm>
          <a:prstGeom prst="rect">
            <a:avLst/>
          </a:prstGeom>
          <a:noFill/>
        </p:spPr>
        <p:txBody>
          <a:bodyPr wrap="square" lIns="0" tIns="0" rIns="0" bIns="0">
            <a:spAutoFit/>
          </a:bodyPr>
          <a:lstStyle/>
          <a:p>
            <a:pPr algn="l"/>
            <a:r>
              <a:rPr sz="1600" b="0">
                <a:solidFill>
                  <a:srgbClr val="141D18"/>
                </a:solidFill>
                <a:latin typeface="Segoe UI"/>
              </a:rPr>
              <a:t>Halal certification</a:t>
            </a:r>
          </a:p>
        </p:txBody>
      </p:sp>
      <p:sp>
        <p:nvSpPr>
          <p:cNvPr id="24" name="TextBox 23"/>
          <p:cNvSpPr txBox="1"/>
          <p:nvPr/>
        </p:nvSpPr>
        <p:spPr>
          <a:xfrm>
            <a:off x="7973568" y="5074920"/>
            <a:ext cx="3200400" cy="274320"/>
          </a:xfrm>
          <a:prstGeom prst="rect">
            <a:avLst/>
          </a:prstGeom>
          <a:noFill/>
        </p:spPr>
        <p:txBody>
          <a:bodyPr wrap="square" lIns="0" tIns="0" rIns="0" bIns="0">
            <a:spAutoFit/>
          </a:bodyPr>
          <a:lstStyle/>
          <a:p>
            <a:pPr algn="l"/>
            <a:r>
              <a:rPr sz="1300" b="1" spc="90">
                <a:solidFill>
                  <a:srgbClr val="9A7526"/>
                </a:solidFill>
                <a:latin typeface="Segoe UI"/>
              </a:rPr>
              <a:t>IN PROGRESS</a:t>
            </a:r>
          </a:p>
        </p:txBody>
      </p:sp>
      <p:sp>
        <p:nvSpPr>
          <p:cNvPr id="25" name="TextBox 24"/>
          <p:cNvSpPr txBox="1"/>
          <p:nvPr/>
        </p:nvSpPr>
        <p:spPr>
          <a:xfrm>
            <a:off x="859536" y="5504688"/>
            <a:ext cx="6766560" cy="292608"/>
          </a:xfrm>
          <a:prstGeom prst="rect">
            <a:avLst/>
          </a:prstGeom>
          <a:noFill/>
        </p:spPr>
        <p:txBody>
          <a:bodyPr wrap="square" lIns="0" tIns="0" rIns="0" bIns="0">
            <a:spAutoFit/>
          </a:bodyPr>
          <a:lstStyle/>
          <a:p>
            <a:pPr algn="l"/>
            <a:r>
              <a:rPr sz="1600" b="0">
                <a:solidFill>
                  <a:srgbClr val="141D18"/>
                </a:solidFill>
                <a:latin typeface="Segoe UI"/>
              </a:rPr>
              <a:t>Organic certification</a:t>
            </a:r>
          </a:p>
        </p:txBody>
      </p:sp>
      <p:sp>
        <p:nvSpPr>
          <p:cNvPr id="26" name="TextBox 25"/>
          <p:cNvSpPr txBox="1"/>
          <p:nvPr/>
        </p:nvSpPr>
        <p:spPr>
          <a:xfrm>
            <a:off x="7973568" y="5522976"/>
            <a:ext cx="3200400" cy="274320"/>
          </a:xfrm>
          <a:prstGeom prst="rect">
            <a:avLst/>
          </a:prstGeom>
          <a:noFill/>
        </p:spPr>
        <p:txBody>
          <a:bodyPr wrap="square" lIns="0" tIns="0" rIns="0" bIns="0">
            <a:spAutoFit/>
          </a:bodyPr>
          <a:lstStyle/>
          <a:p>
            <a:pPr algn="l"/>
            <a:r>
              <a:rPr sz="1300" b="1" spc="90">
                <a:solidFill>
                  <a:srgbClr val="9A7526"/>
                </a:solidFill>
                <a:latin typeface="Segoe UI"/>
              </a:rPr>
              <a:t>IN PROGRESS</a:t>
            </a:r>
          </a:p>
        </p:txBody>
      </p:sp>
      <p:sp>
        <p:nvSpPr>
          <p:cNvPr id="27" name="TextBox 26"/>
          <p:cNvSpPr txBox="1"/>
          <p:nvPr/>
        </p:nvSpPr>
        <p:spPr>
          <a:xfrm>
            <a:off x="658368" y="5870448"/>
            <a:ext cx="10424160" cy="512064"/>
          </a:xfrm>
          <a:prstGeom prst="rect">
            <a:avLst/>
          </a:prstGeom>
          <a:noFill/>
        </p:spPr>
        <p:txBody>
          <a:bodyPr wrap="square" lIns="0" tIns="0" rIns="0" bIns="0">
            <a:spAutoFit/>
          </a:bodyPr>
          <a:lstStyle/>
          <a:p>
            <a:pPr algn="l"/>
            <a:r>
              <a:rPr sz="1600" b="1">
                <a:solidFill>
                  <a:srgbClr val="1F4034"/>
                </a:solidFill>
                <a:latin typeface="Segoe UI"/>
              </a:rPr>
              <a:t>We state each item at the stage it has actually reached, rather than claim what is not yet issued.</a:t>
            </a:r>
          </a:p>
        </p:txBody>
      </p:sp>
      <p:sp>
        <p:nvSpPr>
          <p:cNvPr id="28" name="TextBox 27"/>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29" name="TextBox 28"/>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10   PROOF</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Buyers have already inspected the operation.</a:t>
            </a:r>
          </a:p>
        </p:txBody>
      </p:sp>
      <p:sp>
        <p:nvSpPr>
          <p:cNvPr id="7" name="TextBox 6"/>
          <p:cNvSpPr txBox="1"/>
          <p:nvPr/>
        </p:nvSpPr>
        <p:spPr>
          <a:xfrm>
            <a:off x="658368" y="2359152"/>
            <a:ext cx="5852160" cy="1280160"/>
          </a:xfrm>
          <a:prstGeom prst="rect">
            <a:avLst/>
          </a:prstGeom>
          <a:noFill/>
        </p:spPr>
        <p:txBody>
          <a:bodyPr wrap="square" lIns="0" tIns="0" rIns="0" bIns="0">
            <a:spAutoFit/>
          </a:bodyPr>
          <a:lstStyle/>
          <a:p>
            <a:pPr algn="l">
              <a:lnSpc>
                <a:spcPct val="138000"/>
              </a:lnSpc>
            </a:pPr>
            <a:r>
              <a:rPr sz="1600" b="0">
                <a:solidFill>
                  <a:srgbClr val="3D4A43"/>
                </a:solidFill>
                <a:latin typeface="Segoe UI"/>
              </a:rPr>
              <a:t>A foreign buyer travelled to Lampung and inspected our gardens, processing line and warehouse in person. Their interest covered black pepper, robusta green beans, cocoa beans and processed cocoa, and cocoa pods.</a:t>
            </a:r>
          </a:p>
        </p:txBody>
      </p:sp>
      <p:sp>
        <p:nvSpPr>
          <p:cNvPr id="8" name="Rectangle 7"/>
          <p:cNvSpPr/>
          <p:nvPr/>
        </p:nvSpPr>
        <p:spPr>
          <a:xfrm>
            <a:off x="658368" y="3794760"/>
            <a:ext cx="27432" cy="603504"/>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794760"/>
            <a:ext cx="1828800" cy="274320"/>
          </a:xfrm>
          <a:prstGeom prst="rect">
            <a:avLst/>
          </a:prstGeom>
          <a:noFill/>
        </p:spPr>
        <p:txBody>
          <a:bodyPr wrap="square" lIns="0" tIns="0" rIns="0" bIns="0">
            <a:spAutoFit/>
          </a:bodyPr>
          <a:lstStyle/>
          <a:p>
            <a:pPr algn="l"/>
            <a:r>
              <a:rPr sz="1600" b="1">
                <a:solidFill>
                  <a:srgbClr val="141D18"/>
                </a:solidFill>
                <a:latin typeface="Segoe UI"/>
              </a:rPr>
              <a:t>Verstegen</a:t>
            </a:r>
          </a:p>
        </p:txBody>
      </p:sp>
      <p:sp>
        <p:nvSpPr>
          <p:cNvPr id="10" name="TextBox 9"/>
          <p:cNvSpPr txBox="1"/>
          <p:nvPr/>
        </p:nvSpPr>
        <p:spPr>
          <a:xfrm>
            <a:off x="2761487" y="3794760"/>
            <a:ext cx="3749039" cy="603504"/>
          </a:xfrm>
          <a:prstGeom prst="rect">
            <a:avLst/>
          </a:prstGeom>
          <a:noFill/>
        </p:spPr>
        <p:txBody>
          <a:bodyPr wrap="square" lIns="0" tIns="0" rIns="0" bIns="0">
            <a:spAutoFit/>
          </a:bodyPr>
          <a:lstStyle/>
          <a:p>
            <a:pPr algn="l">
              <a:lnSpc>
                <a:spcPct val="130000"/>
              </a:lnSpc>
            </a:pPr>
            <a:r>
              <a:rPr sz="1600" b="0">
                <a:solidFill>
                  <a:srgbClr val="3D4A43"/>
                </a:solidFill>
                <a:latin typeface="Segoe UI"/>
              </a:rPr>
              <a:t>Contracts against European quality standards and audits our facility.</a:t>
            </a:r>
          </a:p>
        </p:txBody>
      </p:sp>
      <p:sp>
        <p:nvSpPr>
          <p:cNvPr id="11" name="Rectangle 10"/>
          <p:cNvSpPr/>
          <p:nvPr/>
        </p:nvSpPr>
        <p:spPr>
          <a:xfrm>
            <a:off x="658368" y="4581144"/>
            <a:ext cx="27432" cy="603504"/>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581144"/>
            <a:ext cx="1828800" cy="274320"/>
          </a:xfrm>
          <a:prstGeom prst="rect">
            <a:avLst/>
          </a:prstGeom>
          <a:noFill/>
        </p:spPr>
        <p:txBody>
          <a:bodyPr wrap="square" lIns="0" tIns="0" rIns="0" bIns="0">
            <a:spAutoFit/>
          </a:bodyPr>
          <a:lstStyle/>
          <a:p>
            <a:pPr algn="l"/>
            <a:r>
              <a:rPr sz="1600" b="1">
                <a:solidFill>
                  <a:srgbClr val="141D18"/>
                </a:solidFill>
                <a:latin typeface="Segoe UI"/>
              </a:rPr>
              <a:t>GIZ</a:t>
            </a:r>
          </a:p>
        </p:txBody>
      </p:sp>
      <p:sp>
        <p:nvSpPr>
          <p:cNvPr id="13" name="TextBox 12"/>
          <p:cNvSpPr txBox="1"/>
          <p:nvPr/>
        </p:nvSpPr>
        <p:spPr>
          <a:xfrm>
            <a:off x="2761487" y="4581144"/>
            <a:ext cx="3749039" cy="603504"/>
          </a:xfrm>
          <a:prstGeom prst="rect">
            <a:avLst/>
          </a:prstGeom>
          <a:noFill/>
        </p:spPr>
        <p:txBody>
          <a:bodyPr wrap="square" lIns="0" tIns="0" rIns="0" bIns="0">
            <a:spAutoFit/>
          </a:bodyPr>
          <a:lstStyle/>
          <a:p>
            <a:pPr algn="l">
              <a:lnSpc>
                <a:spcPct val="130000"/>
              </a:lnSpc>
            </a:pPr>
            <a:r>
              <a:rPr sz="1600" b="0">
                <a:solidFill>
                  <a:srgbClr val="3D4A43"/>
                </a:solidFill>
                <a:latin typeface="Segoe UI"/>
              </a:rPr>
              <a:t>Funds and audits the aGROWforests consortium we lead locally.</a:t>
            </a:r>
          </a:p>
        </p:txBody>
      </p:sp>
      <p:sp>
        <p:nvSpPr>
          <p:cNvPr id="14" name="Rectangle 13"/>
          <p:cNvSpPr/>
          <p:nvPr/>
        </p:nvSpPr>
        <p:spPr>
          <a:xfrm>
            <a:off x="658368" y="5367528"/>
            <a:ext cx="27432" cy="603504"/>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5367528"/>
            <a:ext cx="1828800" cy="274320"/>
          </a:xfrm>
          <a:prstGeom prst="rect">
            <a:avLst/>
          </a:prstGeom>
          <a:noFill/>
        </p:spPr>
        <p:txBody>
          <a:bodyPr wrap="square" lIns="0" tIns="0" rIns="0" bIns="0">
            <a:spAutoFit/>
          </a:bodyPr>
          <a:lstStyle/>
          <a:p>
            <a:pPr algn="l"/>
            <a:r>
              <a:rPr sz="1600" b="1">
                <a:solidFill>
                  <a:srgbClr val="141D18"/>
                </a:solidFill>
                <a:latin typeface="Segoe UI"/>
              </a:rPr>
              <a:t>Netherlands</a:t>
            </a:r>
          </a:p>
        </p:txBody>
      </p:sp>
      <p:sp>
        <p:nvSpPr>
          <p:cNvPr id="16" name="TextBox 15"/>
          <p:cNvSpPr txBox="1"/>
          <p:nvPr/>
        </p:nvSpPr>
        <p:spPr>
          <a:xfrm>
            <a:off x="2761487" y="5367528"/>
            <a:ext cx="3749039" cy="603504"/>
          </a:xfrm>
          <a:prstGeom prst="rect">
            <a:avLst/>
          </a:prstGeom>
          <a:noFill/>
        </p:spPr>
        <p:txBody>
          <a:bodyPr wrap="square" lIns="0" tIns="0" rIns="0" bIns="0">
            <a:spAutoFit/>
          </a:bodyPr>
          <a:lstStyle/>
          <a:p>
            <a:pPr algn="l">
              <a:lnSpc>
                <a:spcPct val="130000"/>
              </a:lnSpc>
            </a:pPr>
            <a:r>
              <a:rPr sz="1600" b="0">
                <a:solidFill>
                  <a:srgbClr val="3D4A43"/>
                </a:solidFill>
                <a:latin typeface="Segoe UI"/>
              </a:rPr>
              <a:t>Our current export market.</a:t>
            </a:r>
          </a:p>
        </p:txBody>
      </p:sp>
      <p:pic>
        <p:nvPicPr>
          <p:cNvPr id="17" name="Picture 16" descr="impact_photo.jpg"/>
          <p:cNvPicPr>
            <a:picLocks noChangeAspect="1"/>
          </p:cNvPicPr>
          <p:nvPr/>
        </p:nvPicPr>
        <p:blipFill>
          <a:blip r:embed="rId2"/>
          <a:srcRect l="22837" r="22837"/>
          <a:stretch>
            <a:fillRect/>
          </a:stretch>
        </p:blipFill>
        <p:spPr>
          <a:xfrm>
            <a:off x="6903720" y="2359152"/>
            <a:ext cx="4626864" cy="3931920"/>
          </a:xfrm>
          <a:prstGeom prst="rect">
            <a:avLst/>
          </a:prstGeom>
        </p:spPr>
      </p:pic>
      <p:sp>
        <p:nvSpPr>
          <p:cNvPr id="18" name="Rectangle 17"/>
          <p:cNvSpPr/>
          <p:nvPr/>
        </p:nvSpPr>
        <p:spPr>
          <a:xfrm>
            <a:off x="6903720" y="6016752"/>
            <a:ext cx="462686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13448" y="6067044"/>
            <a:ext cx="4407407" cy="201168"/>
          </a:xfrm>
          <a:prstGeom prst="rect">
            <a:avLst/>
          </a:prstGeom>
          <a:noFill/>
        </p:spPr>
        <p:txBody>
          <a:bodyPr wrap="square" lIns="0" tIns="0" rIns="0" bIns="0">
            <a:spAutoFit/>
          </a:bodyPr>
          <a:lstStyle/>
          <a:p>
            <a:pPr algn="l"/>
            <a:r>
              <a:rPr sz="1100" b="1" spc="90">
                <a:solidFill>
                  <a:srgbClr val="FFFFFF"/>
                </a:solidFill>
                <a:latin typeface="Segoe UI"/>
              </a:rPr>
              <a:t>BUYER VISIT TO THE GARDENS</a:t>
            </a:r>
          </a:p>
        </p:txBody>
      </p:sp>
      <p:sp>
        <p:nvSpPr>
          <p:cNvPr id="20" name="TextBox 19"/>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21" name="TextBox 20"/>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11   TEAM</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The people who run it.</a:t>
            </a:r>
          </a:p>
        </p:txBody>
      </p:sp>
      <p:pic>
        <p:nvPicPr>
          <p:cNvPr id="7" name="Picture 6" descr="team_1_faizal.png"/>
          <p:cNvPicPr>
            <a:picLocks noChangeAspect="1"/>
          </p:cNvPicPr>
          <p:nvPr/>
        </p:nvPicPr>
        <p:blipFill>
          <a:blip r:embed="rId2"/>
          <a:srcRect/>
          <a:stretch>
            <a:fillRect/>
          </a:stretch>
        </p:blipFill>
        <p:spPr>
          <a:xfrm>
            <a:off x="1828799" y="2395728"/>
            <a:ext cx="1188720" cy="1188720"/>
          </a:xfrm>
          <a:prstGeom prst="rect">
            <a:avLst/>
          </a:prstGeom>
        </p:spPr>
      </p:pic>
      <p:sp>
        <p:nvSpPr>
          <p:cNvPr id="8" name="TextBox 7"/>
          <p:cNvSpPr txBox="1"/>
          <p:nvPr/>
        </p:nvSpPr>
        <p:spPr>
          <a:xfrm>
            <a:off x="658368" y="3675887"/>
            <a:ext cx="3529584" cy="256032"/>
          </a:xfrm>
          <a:prstGeom prst="rect">
            <a:avLst/>
          </a:prstGeom>
          <a:noFill/>
        </p:spPr>
        <p:txBody>
          <a:bodyPr wrap="square" lIns="0" tIns="0" rIns="0" bIns="0">
            <a:spAutoFit/>
          </a:bodyPr>
          <a:lstStyle/>
          <a:p>
            <a:pPr algn="ctr"/>
            <a:r>
              <a:rPr sz="1600" b="1">
                <a:solidFill>
                  <a:srgbClr val="141D18"/>
                </a:solidFill>
                <a:latin typeface="Segoe UI"/>
              </a:rPr>
              <a:t>Faizal Riza</a:t>
            </a:r>
          </a:p>
        </p:txBody>
      </p:sp>
      <p:sp>
        <p:nvSpPr>
          <p:cNvPr id="9" name="TextBox 8"/>
          <p:cNvSpPr txBox="1"/>
          <p:nvPr/>
        </p:nvSpPr>
        <p:spPr>
          <a:xfrm>
            <a:off x="658368" y="3931920"/>
            <a:ext cx="3529584" cy="237744"/>
          </a:xfrm>
          <a:prstGeom prst="rect">
            <a:avLst/>
          </a:prstGeom>
          <a:noFill/>
        </p:spPr>
        <p:txBody>
          <a:bodyPr wrap="square" lIns="0" tIns="0" rIns="0" bIns="0">
            <a:spAutoFit/>
          </a:bodyPr>
          <a:lstStyle/>
          <a:p>
            <a:pPr algn="ctr"/>
            <a:r>
              <a:rPr sz="1100" b="0" spc="80">
                <a:solidFill>
                  <a:srgbClr val="6C7A72"/>
                </a:solidFill>
                <a:latin typeface="Segoe UI"/>
              </a:rPr>
              <a:t>CHIEF EXECUTIVE OFFICER</a:t>
            </a:r>
          </a:p>
        </p:txBody>
      </p:sp>
      <p:pic>
        <p:nvPicPr>
          <p:cNvPr id="10" name="Picture 9" descr="team_2_arif.png"/>
          <p:cNvPicPr>
            <a:picLocks noChangeAspect="1"/>
          </p:cNvPicPr>
          <p:nvPr/>
        </p:nvPicPr>
        <p:blipFill>
          <a:blip r:embed="rId3"/>
          <a:srcRect/>
          <a:stretch>
            <a:fillRect/>
          </a:stretch>
        </p:blipFill>
        <p:spPr>
          <a:xfrm>
            <a:off x="5504688" y="2395728"/>
            <a:ext cx="1188720" cy="1188720"/>
          </a:xfrm>
          <a:prstGeom prst="rect">
            <a:avLst/>
          </a:prstGeom>
        </p:spPr>
      </p:pic>
      <p:sp>
        <p:nvSpPr>
          <p:cNvPr id="11" name="TextBox 10"/>
          <p:cNvSpPr txBox="1"/>
          <p:nvPr/>
        </p:nvSpPr>
        <p:spPr>
          <a:xfrm>
            <a:off x="4334255" y="3675887"/>
            <a:ext cx="3529584" cy="256032"/>
          </a:xfrm>
          <a:prstGeom prst="rect">
            <a:avLst/>
          </a:prstGeom>
          <a:noFill/>
        </p:spPr>
        <p:txBody>
          <a:bodyPr wrap="square" lIns="0" tIns="0" rIns="0" bIns="0">
            <a:spAutoFit/>
          </a:bodyPr>
          <a:lstStyle/>
          <a:p>
            <a:pPr algn="ctr"/>
            <a:r>
              <a:rPr sz="1600" b="1">
                <a:solidFill>
                  <a:srgbClr val="141D18"/>
                </a:solidFill>
                <a:latin typeface="Segoe UI"/>
              </a:rPr>
              <a:t>Arif Rachman</a:t>
            </a:r>
          </a:p>
        </p:txBody>
      </p:sp>
      <p:sp>
        <p:nvSpPr>
          <p:cNvPr id="12" name="TextBox 11"/>
          <p:cNvSpPr txBox="1"/>
          <p:nvPr/>
        </p:nvSpPr>
        <p:spPr>
          <a:xfrm>
            <a:off x="4334255" y="3931920"/>
            <a:ext cx="3529584" cy="237744"/>
          </a:xfrm>
          <a:prstGeom prst="rect">
            <a:avLst/>
          </a:prstGeom>
          <a:noFill/>
        </p:spPr>
        <p:txBody>
          <a:bodyPr wrap="square" lIns="0" tIns="0" rIns="0" bIns="0">
            <a:spAutoFit/>
          </a:bodyPr>
          <a:lstStyle/>
          <a:p>
            <a:pPr algn="ctr"/>
            <a:r>
              <a:rPr sz="1100" b="0" spc="80">
                <a:solidFill>
                  <a:srgbClr val="6C7A72"/>
                </a:solidFill>
                <a:latin typeface="Segoe UI"/>
              </a:rPr>
              <a:t>COO / PROJECT DIRECTOR</a:t>
            </a:r>
          </a:p>
        </p:txBody>
      </p:sp>
      <p:pic>
        <p:nvPicPr>
          <p:cNvPr id="13" name="Picture 12" descr="team_3_rafiq.png"/>
          <p:cNvPicPr>
            <a:picLocks noChangeAspect="1"/>
          </p:cNvPicPr>
          <p:nvPr/>
        </p:nvPicPr>
        <p:blipFill>
          <a:blip r:embed="rId4"/>
          <a:srcRect/>
          <a:stretch>
            <a:fillRect/>
          </a:stretch>
        </p:blipFill>
        <p:spPr>
          <a:xfrm>
            <a:off x="9180576" y="2395728"/>
            <a:ext cx="1188720" cy="1188720"/>
          </a:xfrm>
          <a:prstGeom prst="rect">
            <a:avLst/>
          </a:prstGeom>
        </p:spPr>
      </p:pic>
      <p:sp>
        <p:nvSpPr>
          <p:cNvPr id="14" name="TextBox 13"/>
          <p:cNvSpPr txBox="1"/>
          <p:nvPr/>
        </p:nvSpPr>
        <p:spPr>
          <a:xfrm>
            <a:off x="8010144" y="3675887"/>
            <a:ext cx="3529584" cy="256032"/>
          </a:xfrm>
          <a:prstGeom prst="rect">
            <a:avLst/>
          </a:prstGeom>
          <a:noFill/>
        </p:spPr>
        <p:txBody>
          <a:bodyPr wrap="square" lIns="0" tIns="0" rIns="0" bIns="0">
            <a:spAutoFit/>
          </a:bodyPr>
          <a:lstStyle/>
          <a:p>
            <a:pPr algn="ctr"/>
            <a:r>
              <a:rPr sz="1600" b="1">
                <a:solidFill>
                  <a:srgbClr val="141D18"/>
                </a:solidFill>
                <a:latin typeface="Segoe UI"/>
              </a:rPr>
              <a:t>Muhammad Rafiq</a:t>
            </a:r>
          </a:p>
        </p:txBody>
      </p:sp>
      <p:sp>
        <p:nvSpPr>
          <p:cNvPr id="15" name="TextBox 14"/>
          <p:cNvSpPr txBox="1"/>
          <p:nvPr/>
        </p:nvSpPr>
        <p:spPr>
          <a:xfrm>
            <a:off x="8010144" y="3931920"/>
            <a:ext cx="3529584" cy="237744"/>
          </a:xfrm>
          <a:prstGeom prst="rect">
            <a:avLst/>
          </a:prstGeom>
          <a:noFill/>
        </p:spPr>
        <p:txBody>
          <a:bodyPr wrap="square" lIns="0" tIns="0" rIns="0" bIns="0">
            <a:spAutoFit/>
          </a:bodyPr>
          <a:lstStyle/>
          <a:p>
            <a:pPr algn="ctr"/>
            <a:r>
              <a:rPr sz="1100" b="0" spc="80">
                <a:solidFill>
                  <a:srgbClr val="6C7A72"/>
                </a:solidFill>
                <a:latin typeface="Segoe UI"/>
              </a:rPr>
              <a:t>TECHNICAL MANAGER</a:t>
            </a:r>
          </a:p>
        </p:txBody>
      </p:sp>
      <p:pic>
        <p:nvPicPr>
          <p:cNvPr id="16" name="Picture 15" descr="team_4_heri.png"/>
          <p:cNvPicPr>
            <a:picLocks noChangeAspect="1"/>
          </p:cNvPicPr>
          <p:nvPr/>
        </p:nvPicPr>
        <p:blipFill>
          <a:blip r:embed="rId5"/>
          <a:srcRect/>
          <a:stretch>
            <a:fillRect/>
          </a:stretch>
        </p:blipFill>
        <p:spPr>
          <a:xfrm>
            <a:off x="1828799" y="4297680"/>
            <a:ext cx="1188720" cy="1188720"/>
          </a:xfrm>
          <a:prstGeom prst="rect">
            <a:avLst/>
          </a:prstGeom>
        </p:spPr>
      </p:pic>
      <p:sp>
        <p:nvSpPr>
          <p:cNvPr id="17" name="TextBox 16"/>
          <p:cNvSpPr txBox="1"/>
          <p:nvPr/>
        </p:nvSpPr>
        <p:spPr>
          <a:xfrm>
            <a:off x="658368" y="5577840"/>
            <a:ext cx="3529584" cy="256032"/>
          </a:xfrm>
          <a:prstGeom prst="rect">
            <a:avLst/>
          </a:prstGeom>
          <a:noFill/>
        </p:spPr>
        <p:txBody>
          <a:bodyPr wrap="square" lIns="0" tIns="0" rIns="0" bIns="0">
            <a:spAutoFit/>
          </a:bodyPr>
          <a:lstStyle/>
          <a:p>
            <a:pPr algn="ctr"/>
            <a:r>
              <a:rPr sz="1600" b="1">
                <a:solidFill>
                  <a:srgbClr val="141D18"/>
                </a:solidFill>
                <a:latin typeface="Segoe UI"/>
              </a:rPr>
              <a:t>Heri Adi Prasetya</a:t>
            </a:r>
          </a:p>
        </p:txBody>
      </p:sp>
      <p:sp>
        <p:nvSpPr>
          <p:cNvPr id="18" name="TextBox 17"/>
          <p:cNvSpPr txBox="1"/>
          <p:nvPr/>
        </p:nvSpPr>
        <p:spPr>
          <a:xfrm>
            <a:off x="658368" y="5833872"/>
            <a:ext cx="3529584" cy="237744"/>
          </a:xfrm>
          <a:prstGeom prst="rect">
            <a:avLst/>
          </a:prstGeom>
          <a:noFill/>
        </p:spPr>
        <p:txBody>
          <a:bodyPr wrap="square" lIns="0" tIns="0" rIns="0" bIns="0">
            <a:spAutoFit/>
          </a:bodyPr>
          <a:lstStyle/>
          <a:p>
            <a:pPr algn="ctr"/>
            <a:r>
              <a:rPr sz="1100" b="0" spc="80">
                <a:solidFill>
                  <a:srgbClr val="6C7A72"/>
                </a:solidFill>
                <a:latin typeface="Segoe UI"/>
              </a:rPr>
              <a:t>OPERATIONS MANAGER - IT DEV</a:t>
            </a:r>
          </a:p>
        </p:txBody>
      </p:sp>
      <p:pic>
        <p:nvPicPr>
          <p:cNvPr id="19" name="Picture 18" descr="team_5_nico.png"/>
          <p:cNvPicPr>
            <a:picLocks noChangeAspect="1"/>
          </p:cNvPicPr>
          <p:nvPr/>
        </p:nvPicPr>
        <p:blipFill>
          <a:blip r:embed="rId6"/>
          <a:srcRect/>
          <a:stretch>
            <a:fillRect/>
          </a:stretch>
        </p:blipFill>
        <p:spPr>
          <a:xfrm>
            <a:off x="5504688" y="4297680"/>
            <a:ext cx="1188720" cy="1188720"/>
          </a:xfrm>
          <a:prstGeom prst="rect">
            <a:avLst/>
          </a:prstGeom>
        </p:spPr>
      </p:pic>
      <p:sp>
        <p:nvSpPr>
          <p:cNvPr id="20" name="TextBox 19"/>
          <p:cNvSpPr txBox="1"/>
          <p:nvPr/>
        </p:nvSpPr>
        <p:spPr>
          <a:xfrm>
            <a:off x="4334255" y="5577840"/>
            <a:ext cx="3529584" cy="256032"/>
          </a:xfrm>
          <a:prstGeom prst="rect">
            <a:avLst/>
          </a:prstGeom>
          <a:noFill/>
        </p:spPr>
        <p:txBody>
          <a:bodyPr wrap="square" lIns="0" tIns="0" rIns="0" bIns="0">
            <a:spAutoFit/>
          </a:bodyPr>
          <a:lstStyle/>
          <a:p>
            <a:pPr algn="ctr"/>
            <a:r>
              <a:rPr sz="1600" b="1">
                <a:solidFill>
                  <a:srgbClr val="141D18"/>
                </a:solidFill>
                <a:latin typeface="Segoe UI"/>
              </a:rPr>
              <a:t>Nico Setyo Utomo</a:t>
            </a:r>
          </a:p>
        </p:txBody>
      </p:sp>
      <p:sp>
        <p:nvSpPr>
          <p:cNvPr id="21" name="TextBox 20"/>
          <p:cNvSpPr txBox="1"/>
          <p:nvPr/>
        </p:nvSpPr>
        <p:spPr>
          <a:xfrm>
            <a:off x="4334255" y="5833872"/>
            <a:ext cx="3529584" cy="237744"/>
          </a:xfrm>
          <a:prstGeom prst="rect">
            <a:avLst/>
          </a:prstGeom>
          <a:noFill/>
        </p:spPr>
        <p:txBody>
          <a:bodyPr wrap="square" lIns="0" tIns="0" rIns="0" bIns="0">
            <a:spAutoFit/>
          </a:bodyPr>
          <a:lstStyle/>
          <a:p>
            <a:pPr algn="ctr"/>
            <a:r>
              <a:rPr sz="1100" b="0" spc="80">
                <a:solidFill>
                  <a:srgbClr val="6C7A72"/>
                </a:solidFill>
                <a:latin typeface="Segoe UI"/>
              </a:rPr>
              <a:t>DATA AND MANAGEMENT</a:t>
            </a:r>
          </a:p>
        </p:txBody>
      </p:sp>
      <p:pic>
        <p:nvPicPr>
          <p:cNvPr id="22" name="Picture 21" descr="team_6_yanfa.png"/>
          <p:cNvPicPr>
            <a:picLocks noChangeAspect="1"/>
          </p:cNvPicPr>
          <p:nvPr/>
        </p:nvPicPr>
        <p:blipFill>
          <a:blip r:embed="rId7"/>
          <a:srcRect/>
          <a:stretch>
            <a:fillRect/>
          </a:stretch>
        </p:blipFill>
        <p:spPr>
          <a:xfrm>
            <a:off x="9180576" y="4297680"/>
            <a:ext cx="1188720" cy="1188720"/>
          </a:xfrm>
          <a:prstGeom prst="rect">
            <a:avLst/>
          </a:prstGeom>
        </p:spPr>
      </p:pic>
      <p:sp>
        <p:nvSpPr>
          <p:cNvPr id="23" name="TextBox 22"/>
          <p:cNvSpPr txBox="1"/>
          <p:nvPr/>
        </p:nvSpPr>
        <p:spPr>
          <a:xfrm>
            <a:off x="8010144" y="5577840"/>
            <a:ext cx="3529584" cy="256032"/>
          </a:xfrm>
          <a:prstGeom prst="rect">
            <a:avLst/>
          </a:prstGeom>
          <a:noFill/>
        </p:spPr>
        <p:txBody>
          <a:bodyPr wrap="square" lIns="0" tIns="0" rIns="0" bIns="0">
            <a:spAutoFit/>
          </a:bodyPr>
          <a:lstStyle/>
          <a:p>
            <a:pPr algn="ctr"/>
            <a:r>
              <a:rPr sz="1600" b="1">
                <a:solidFill>
                  <a:srgbClr val="141D18"/>
                </a:solidFill>
                <a:latin typeface="Segoe UI"/>
              </a:rPr>
              <a:t>Yanfa Ghiyats Ghifari</a:t>
            </a:r>
          </a:p>
        </p:txBody>
      </p:sp>
      <p:sp>
        <p:nvSpPr>
          <p:cNvPr id="24" name="TextBox 23"/>
          <p:cNvSpPr txBox="1"/>
          <p:nvPr/>
        </p:nvSpPr>
        <p:spPr>
          <a:xfrm>
            <a:off x="8010144" y="5833872"/>
            <a:ext cx="3529584" cy="237744"/>
          </a:xfrm>
          <a:prstGeom prst="rect">
            <a:avLst/>
          </a:prstGeom>
          <a:noFill/>
        </p:spPr>
        <p:txBody>
          <a:bodyPr wrap="square" lIns="0" tIns="0" rIns="0" bIns="0">
            <a:spAutoFit/>
          </a:bodyPr>
          <a:lstStyle/>
          <a:p>
            <a:pPr algn="ctr"/>
            <a:r>
              <a:rPr sz="1100" b="0" spc="80">
                <a:solidFill>
                  <a:srgbClr val="6C7A72"/>
                </a:solidFill>
                <a:latin typeface="Segoe UI"/>
              </a:rPr>
              <a:t>SENIOR FACILITATOR</a:t>
            </a:r>
          </a:p>
        </p:txBody>
      </p:sp>
      <p:sp>
        <p:nvSpPr>
          <p:cNvPr id="25" name="TextBox 24"/>
          <p:cNvSpPr txBox="1"/>
          <p:nvPr/>
        </p:nvSpPr>
        <p:spPr>
          <a:xfrm>
            <a:off x="658368" y="6126480"/>
            <a:ext cx="10424160" cy="237744"/>
          </a:xfrm>
          <a:prstGeom prst="rect">
            <a:avLst/>
          </a:prstGeom>
          <a:noFill/>
        </p:spPr>
        <p:txBody>
          <a:bodyPr wrap="square" lIns="0" tIns="0" rIns="0" bIns="0">
            <a:spAutoFit/>
          </a:bodyPr>
          <a:lstStyle/>
          <a:p>
            <a:pPr algn="l"/>
            <a:r>
              <a:rPr sz="1300" b="0">
                <a:solidFill>
                  <a:srgbClr val="6C7A72"/>
                </a:solidFill>
                <a:latin typeface="Segoe UI"/>
              </a:rPr>
              <a:t>15 internal staff, including five field facilitators working directly with farmer groups across Lampung.</a:t>
            </a:r>
          </a:p>
        </p:txBody>
      </p:sp>
      <p:sp>
        <p:nvSpPr>
          <p:cNvPr id="26" name="TextBox 25"/>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27" name="TextBox 26"/>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12   PARTNERS</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We do not do this alone.</a:t>
            </a:r>
          </a:p>
        </p:txBody>
      </p:sp>
      <p:sp>
        <p:nvSpPr>
          <p:cNvPr id="7" name="Rectangle 6"/>
          <p:cNvSpPr/>
          <p:nvPr/>
        </p:nvSpPr>
        <p:spPr>
          <a:xfrm>
            <a:off x="658368"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542032"/>
            <a:ext cx="2526030" cy="347472"/>
          </a:xfrm>
          <a:prstGeom prst="rect">
            <a:avLst/>
          </a:prstGeom>
          <a:noFill/>
        </p:spPr>
        <p:txBody>
          <a:bodyPr wrap="square" lIns="0" tIns="0" rIns="0" bIns="0">
            <a:spAutoFit/>
          </a:bodyPr>
          <a:lstStyle/>
          <a:p>
            <a:pPr algn="l"/>
            <a:r>
              <a:rPr sz="2000" b="1" spc="100">
                <a:solidFill>
                  <a:srgbClr val="141D18"/>
                </a:solidFill>
                <a:latin typeface="Segoe UI"/>
              </a:rPr>
              <a:t>MARKET</a:t>
            </a:r>
          </a:p>
        </p:txBody>
      </p:sp>
      <p:sp>
        <p:nvSpPr>
          <p:cNvPr id="9" name="TextBox 8"/>
          <p:cNvSpPr txBox="1"/>
          <p:nvPr/>
        </p:nvSpPr>
        <p:spPr>
          <a:xfrm>
            <a:off x="658368" y="2907792"/>
            <a:ext cx="2526030" cy="365760"/>
          </a:xfrm>
          <a:prstGeom prst="rect">
            <a:avLst/>
          </a:prstGeom>
          <a:noFill/>
        </p:spPr>
        <p:txBody>
          <a:bodyPr wrap="square" lIns="0" tIns="0" rIns="0" bIns="0">
            <a:spAutoFit/>
          </a:bodyPr>
          <a:lstStyle/>
          <a:p>
            <a:pPr algn="l"/>
            <a:r>
              <a:rPr sz="1100" b="0">
                <a:solidFill>
                  <a:srgbClr val="6C7A72"/>
                </a:solidFill>
                <a:latin typeface="Segoe UI"/>
              </a:rPr>
              <a:t>Buyer and national supply</a:t>
            </a:r>
          </a:p>
        </p:txBody>
      </p:sp>
      <p:sp>
        <p:nvSpPr>
          <p:cNvPr id="10" name="Rectangle 9"/>
          <p:cNvSpPr/>
          <p:nvPr/>
        </p:nvSpPr>
        <p:spPr>
          <a:xfrm>
            <a:off x="658368"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ogo_verstegen.png"/>
          <p:cNvPicPr>
            <a:picLocks noChangeAspect="1"/>
          </p:cNvPicPr>
          <p:nvPr/>
        </p:nvPicPr>
        <p:blipFill>
          <a:blip r:embed="rId2"/>
          <a:stretch>
            <a:fillRect/>
          </a:stretch>
        </p:blipFill>
        <p:spPr>
          <a:xfrm>
            <a:off x="855548" y="3608461"/>
            <a:ext cx="957486" cy="776248"/>
          </a:xfrm>
          <a:prstGeom prst="rect">
            <a:avLst/>
          </a:prstGeom>
        </p:spPr>
      </p:pic>
      <p:sp>
        <p:nvSpPr>
          <p:cNvPr id="13" name="TextBox 12"/>
          <p:cNvSpPr txBox="1"/>
          <p:nvPr/>
        </p:nvSpPr>
        <p:spPr>
          <a:xfrm>
            <a:off x="658368" y="4956048"/>
            <a:ext cx="2526030" cy="1097280"/>
          </a:xfrm>
          <a:prstGeom prst="rect">
            <a:avLst/>
          </a:prstGeom>
          <a:noFill/>
        </p:spPr>
        <p:txBody>
          <a:bodyPr wrap="square" lIns="0" tIns="0" rIns="0" bIns="0">
            <a:spAutoFit/>
          </a:bodyPr>
          <a:lstStyle/>
          <a:p>
            <a:pPr algn="l">
              <a:lnSpc>
                <a:spcPct val="142000"/>
              </a:lnSpc>
            </a:pPr>
            <a:r>
              <a:rPr sz="1600" b="0">
                <a:solidFill>
                  <a:srgbClr val="3D4A43"/>
                </a:solidFill>
                <a:latin typeface="Segoe UI"/>
              </a:rPr>
              <a:t>Verstegen</a:t>
            </a:r>
          </a:p>
          <a:p>
            <a:pPr algn="l">
              <a:lnSpc>
                <a:spcPct val="142000"/>
              </a:lnSpc>
            </a:pPr>
            <a:r>
              <a:rPr sz="1600" b="0">
                <a:solidFill>
                  <a:srgbClr val="3D4A43"/>
                </a:solidFill>
                <a:latin typeface="Segoe UI"/>
              </a:rPr>
              <a:t>PT CAN</a:t>
            </a:r>
          </a:p>
        </p:txBody>
      </p:sp>
      <p:sp>
        <p:nvSpPr>
          <p:cNvPr id="14" name="Rectangle 13"/>
          <p:cNvSpPr/>
          <p:nvPr/>
        </p:nvSpPr>
        <p:spPr>
          <a:xfrm>
            <a:off x="3440430"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40430" y="2542032"/>
            <a:ext cx="2526030" cy="347472"/>
          </a:xfrm>
          <a:prstGeom prst="rect">
            <a:avLst/>
          </a:prstGeom>
          <a:noFill/>
        </p:spPr>
        <p:txBody>
          <a:bodyPr wrap="square" lIns="0" tIns="0" rIns="0" bIns="0">
            <a:spAutoFit/>
          </a:bodyPr>
          <a:lstStyle/>
          <a:p>
            <a:pPr algn="l"/>
            <a:r>
              <a:rPr sz="2000" b="1" spc="100">
                <a:solidFill>
                  <a:srgbClr val="141D18"/>
                </a:solidFill>
                <a:latin typeface="Segoe UI"/>
              </a:rPr>
              <a:t>PROGRAMME</a:t>
            </a:r>
          </a:p>
        </p:txBody>
      </p:sp>
      <p:sp>
        <p:nvSpPr>
          <p:cNvPr id="16" name="TextBox 15"/>
          <p:cNvSpPr txBox="1"/>
          <p:nvPr/>
        </p:nvSpPr>
        <p:spPr>
          <a:xfrm>
            <a:off x="3440430" y="2907792"/>
            <a:ext cx="2526030" cy="365760"/>
          </a:xfrm>
          <a:prstGeom prst="rect">
            <a:avLst/>
          </a:prstGeom>
          <a:noFill/>
        </p:spPr>
        <p:txBody>
          <a:bodyPr wrap="square" lIns="0" tIns="0" rIns="0" bIns="0">
            <a:spAutoFit/>
          </a:bodyPr>
          <a:lstStyle/>
          <a:p>
            <a:pPr algn="l"/>
            <a:r>
              <a:rPr sz="1100" b="0">
                <a:solidFill>
                  <a:srgbClr val="6C7A72"/>
                </a:solidFill>
                <a:latin typeface="Segoe UI"/>
              </a:rPr>
              <a:t>Funders and platforms</a:t>
            </a:r>
          </a:p>
        </p:txBody>
      </p:sp>
      <p:sp>
        <p:nvSpPr>
          <p:cNvPr id="17" name="Rectangle 16"/>
          <p:cNvSpPr/>
          <p:nvPr/>
        </p:nvSpPr>
        <p:spPr>
          <a:xfrm>
            <a:off x="3440430"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logo_giz.png"/>
          <p:cNvPicPr>
            <a:picLocks noChangeAspect="1"/>
          </p:cNvPicPr>
          <p:nvPr/>
        </p:nvPicPr>
        <p:blipFill>
          <a:blip r:embed="rId3"/>
          <a:stretch>
            <a:fillRect/>
          </a:stretch>
        </p:blipFill>
        <p:spPr>
          <a:xfrm>
            <a:off x="4053270" y="3312650"/>
            <a:ext cx="1300349" cy="402336"/>
          </a:xfrm>
          <a:prstGeom prst="rect">
            <a:avLst/>
          </a:prstGeom>
        </p:spPr>
      </p:pic>
      <p:pic>
        <p:nvPicPr>
          <p:cNvPr id="19" name="Picture 18" descr="logo_ssii.png"/>
          <p:cNvPicPr>
            <a:picLocks noChangeAspect="1"/>
          </p:cNvPicPr>
          <p:nvPr/>
        </p:nvPicPr>
        <p:blipFill>
          <a:blip r:embed="rId4"/>
          <a:stretch>
            <a:fillRect/>
          </a:stretch>
        </p:blipFill>
        <p:spPr>
          <a:xfrm>
            <a:off x="4312285" y="3772372"/>
            <a:ext cx="782320" cy="402336"/>
          </a:xfrm>
          <a:prstGeom prst="rect">
            <a:avLst/>
          </a:prstGeom>
        </p:spPr>
      </p:pic>
      <p:sp>
        <p:nvSpPr>
          <p:cNvPr id="21" name="TextBox 20"/>
          <p:cNvSpPr txBox="1"/>
          <p:nvPr/>
        </p:nvSpPr>
        <p:spPr>
          <a:xfrm>
            <a:off x="3440430" y="4956048"/>
            <a:ext cx="2526030" cy="1097280"/>
          </a:xfrm>
          <a:prstGeom prst="rect">
            <a:avLst/>
          </a:prstGeom>
          <a:noFill/>
        </p:spPr>
        <p:txBody>
          <a:bodyPr wrap="square" lIns="0" tIns="0" rIns="0" bIns="0">
            <a:spAutoFit/>
          </a:bodyPr>
          <a:lstStyle/>
          <a:p>
            <a:pPr algn="l">
              <a:lnSpc>
                <a:spcPct val="142000"/>
              </a:lnSpc>
            </a:pPr>
            <a:r>
              <a:rPr sz="1600" b="0">
                <a:solidFill>
                  <a:srgbClr val="3D4A43"/>
                </a:solidFill>
                <a:latin typeface="Segoe UI"/>
              </a:rPr>
              <a:t>GIZ</a:t>
            </a:r>
          </a:p>
          <a:p>
            <a:pPr algn="l">
              <a:lnSpc>
                <a:spcPct val="142000"/>
              </a:lnSpc>
            </a:pPr>
            <a:r>
              <a:rPr sz="1600" b="0">
                <a:solidFill>
                  <a:srgbClr val="3D4A43"/>
                </a:solidFill>
                <a:latin typeface="Segoe UI"/>
              </a:rPr>
              <a:t>SSI-I</a:t>
            </a:r>
          </a:p>
          <a:p>
            <a:pPr algn="l">
              <a:lnSpc>
                <a:spcPct val="142000"/>
              </a:lnSpc>
            </a:pPr>
            <a:r>
              <a:rPr sz="1600" b="0">
                <a:solidFill>
                  <a:srgbClr val="3D4A43"/>
                </a:solidFill>
                <a:latin typeface="Segoe UI"/>
              </a:rPr>
              <a:t>Solidaridad</a:t>
            </a:r>
          </a:p>
        </p:txBody>
      </p:sp>
      <p:sp>
        <p:nvSpPr>
          <p:cNvPr id="22" name="Rectangle 21"/>
          <p:cNvSpPr/>
          <p:nvPr/>
        </p:nvSpPr>
        <p:spPr>
          <a:xfrm>
            <a:off x="6222492"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22492" y="2542032"/>
            <a:ext cx="2526030" cy="347472"/>
          </a:xfrm>
          <a:prstGeom prst="rect">
            <a:avLst/>
          </a:prstGeom>
          <a:noFill/>
        </p:spPr>
        <p:txBody>
          <a:bodyPr wrap="square" lIns="0" tIns="0" rIns="0" bIns="0">
            <a:spAutoFit/>
          </a:bodyPr>
          <a:lstStyle/>
          <a:p>
            <a:pPr algn="l"/>
            <a:r>
              <a:rPr sz="2000" b="1" spc="100">
                <a:solidFill>
                  <a:srgbClr val="141D18"/>
                </a:solidFill>
                <a:latin typeface="Segoe UI"/>
              </a:rPr>
              <a:t>RESEARCH</a:t>
            </a:r>
          </a:p>
        </p:txBody>
      </p:sp>
      <p:sp>
        <p:nvSpPr>
          <p:cNvPr id="24" name="TextBox 23"/>
          <p:cNvSpPr txBox="1"/>
          <p:nvPr/>
        </p:nvSpPr>
        <p:spPr>
          <a:xfrm>
            <a:off x="6222492" y="2907792"/>
            <a:ext cx="2526030" cy="365760"/>
          </a:xfrm>
          <a:prstGeom prst="rect">
            <a:avLst/>
          </a:prstGeom>
          <a:noFill/>
        </p:spPr>
        <p:txBody>
          <a:bodyPr wrap="square" lIns="0" tIns="0" rIns="0" bIns="0">
            <a:spAutoFit/>
          </a:bodyPr>
          <a:lstStyle/>
          <a:p>
            <a:pPr algn="l"/>
            <a:r>
              <a:rPr sz="1100" b="0">
                <a:solidFill>
                  <a:srgbClr val="6C7A72"/>
                </a:solidFill>
                <a:latin typeface="Segoe UI"/>
              </a:rPr>
              <a:t>Applied science partners</a:t>
            </a:r>
          </a:p>
        </p:txBody>
      </p:sp>
      <p:sp>
        <p:nvSpPr>
          <p:cNvPr id="25" name="Rectangle 24"/>
          <p:cNvSpPr/>
          <p:nvPr/>
        </p:nvSpPr>
        <p:spPr>
          <a:xfrm>
            <a:off x="6222492"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logo_brin.png"/>
          <p:cNvPicPr>
            <a:picLocks noChangeAspect="1"/>
          </p:cNvPicPr>
          <p:nvPr/>
        </p:nvPicPr>
        <p:blipFill>
          <a:blip r:embed="rId5"/>
          <a:stretch>
            <a:fillRect/>
          </a:stretch>
        </p:blipFill>
        <p:spPr>
          <a:xfrm>
            <a:off x="6401053" y="3772372"/>
            <a:ext cx="1221317" cy="561884"/>
          </a:xfrm>
          <a:prstGeom prst="rect">
            <a:avLst/>
          </a:prstGeom>
        </p:spPr>
      </p:pic>
      <p:pic>
        <p:nvPicPr>
          <p:cNvPr id="27" name="Picture 26" descr="logo_sith_itb.png"/>
          <p:cNvPicPr>
            <a:picLocks noChangeAspect="1"/>
          </p:cNvPicPr>
          <p:nvPr/>
        </p:nvPicPr>
        <p:blipFill>
          <a:blip r:embed="rId6"/>
          <a:stretch>
            <a:fillRect/>
          </a:stretch>
        </p:blipFill>
        <p:spPr>
          <a:xfrm>
            <a:off x="7741539" y="3637621"/>
            <a:ext cx="874521" cy="874521"/>
          </a:xfrm>
          <a:prstGeom prst="rect">
            <a:avLst/>
          </a:prstGeom>
        </p:spPr>
      </p:pic>
      <p:sp>
        <p:nvSpPr>
          <p:cNvPr id="28" name="TextBox 27"/>
          <p:cNvSpPr txBox="1"/>
          <p:nvPr/>
        </p:nvSpPr>
        <p:spPr>
          <a:xfrm>
            <a:off x="6222492" y="4956048"/>
            <a:ext cx="2526030" cy="1097280"/>
          </a:xfrm>
          <a:prstGeom prst="rect">
            <a:avLst/>
          </a:prstGeom>
          <a:noFill/>
        </p:spPr>
        <p:txBody>
          <a:bodyPr wrap="square" lIns="0" tIns="0" rIns="0" bIns="0">
            <a:spAutoFit/>
          </a:bodyPr>
          <a:lstStyle/>
          <a:p>
            <a:pPr algn="l">
              <a:lnSpc>
                <a:spcPct val="142000"/>
              </a:lnSpc>
            </a:pPr>
            <a:r>
              <a:rPr sz="1600" b="0">
                <a:solidFill>
                  <a:srgbClr val="3D4A43"/>
                </a:solidFill>
                <a:latin typeface="Segoe UI"/>
              </a:rPr>
              <a:t>BRIN</a:t>
            </a:r>
          </a:p>
          <a:p>
            <a:pPr algn="l">
              <a:lnSpc>
                <a:spcPct val="142000"/>
              </a:lnSpc>
            </a:pPr>
            <a:r>
              <a:rPr sz="1600" b="0">
                <a:solidFill>
                  <a:srgbClr val="3D4A43"/>
                </a:solidFill>
                <a:latin typeface="Segoe UI"/>
              </a:rPr>
              <a:t>SITH ITB</a:t>
            </a:r>
          </a:p>
        </p:txBody>
      </p:sp>
      <p:sp>
        <p:nvSpPr>
          <p:cNvPr id="29" name="Rectangle 28"/>
          <p:cNvSpPr/>
          <p:nvPr/>
        </p:nvSpPr>
        <p:spPr>
          <a:xfrm>
            <a:off x="9004554"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04554" y="2542032"/>
            <a:ext cx="2526030" cy="347472"/>
          </a:xfrm>
          <a:prstGeom prst="rect">
            <a:avLst/>
          </a:prstGeom>
          <a:noFill/>
        </p:spPr>
        <p:txBody>
          <a:bodyPr wrap="square" lIns="0" tIns="0" rIns="0" bIns="0">
            <a:spAutoFit/>
          </a:bodyPr>
          <a:lstStyle/>
          <a:p>
            <a:pPr algn="l"/>
            <a:r>
              <a:rPr sz="2000" b="1" spc="100">
                <a:solidFill>
                  <a:srgbClr val="141D18"/>
                </a:solidFill>
                <a:latin typeface="Segoe UI"/>
              </a:rPr>
              <a:t>INSTITUTIONAL</a:t>
            </a:r>
          </a:p>
        </p:txBody>
      </p:sp>
      <p:sp>
        <p:nvSpPr>
          <p:cNvPr id="31" name="TextBox 30"/>
          <p:cNvSpPr txBox="1"/>
          <p:nvPr/>
        </p:nvSpPr>
        <p:spPr>
          <a:xfrm>
            <a:off x="9004554" y="2907792"/>
            <a:ext cx="2526030" cy="365760"/>
          </a:xfrm>
          <a:prstGeom prst="rect">
            <a:avLst/>
          </a:prstGeom>
          <a:noFill/>
        </p:spPr>
        <p:txBody>
          <a:bodyPr wrap="square" lIns="0" tIns="0" rIns="0" bIns="0">
            <a:spAutoFit/>
          </a:bodyPr>
          <a:lstStyle/>
          <a:p>
            <a:pPr algn="l"/>
            <a:r>
              <a:rPr sz="1100" b="0">
                <a:solidFill>
                  <a:srgbClr val="6C7A72"/>
                </a:solidFill>
                <a:latin typeface="Segoe UI"/>
              </a:rPr>
              <a:t>Government and national</a:t>
            </a:r>
          </a:p>
        </p:txBody>
      </p:sp>
      <p:sp>
        <p:nvSpPr>
          <p:cNvPr id="32" name="Rectangle 31"/>
          <p:cNvSpPr/>
          <p:nvPr/>
        </p:nvSpPr>
        <p:spPr>
          <a:xfrm>
            <a:off x="9004554"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logo_kemenperin.png"/>
          <p:cNvPicPr>
            <a:picLocks noChangeAspect="1"/>
          </p:cNvPicPr>
          <p:nvPr/>
        </p:nvPicPr>
        <p:blipFill>
          <a:blip r:embed="rId7"/>
          <a:stretch>
            <a:fillRect/>
          </a:stretch>
        </p:blipFill>
        <p:spPr>
          <a:xfrm>
            <a:off x="9965817" y="3328416"/>
            <a:ext cx="603504" cy="402336"/>
          </a:xfrm>
          <a:prstGeom prst="rect">
            <a:avLst/>
          </a:prstGeom>
        </p:spPr>
      </p:pic>
      <p:sp>
        <p:nvSpPr>
          <p:cNvPr id="34" name="TextBox 33"/>
          <p:cNvSpPr txBox="1"/>
          <p:nvPr/>
        </p:nvSpPr>
        <p:spPr>
          <a:xfrm>
            <a:off x="9205722" y="3895344"/>
            <a:ext cx="2123694" cy="237744"/>
          </a:xfrm>
          <a:prstGeom prst="rect">
            <a:avLst/>
          </a:prstGeom>
          <a:noFill/>
        </p:spPr>
        <p:txBody>
          <a:bodyPr wrap="square" lIns="0" tIns="0" rIns="0" bIns="0">
            <a:spAutoFit/>
          </a:bodyPr>
          <a:lstStyle/>
          <a:p>
            <a:pPr algn="ctr"/>
            <a:r>
              <a:rPr sz="1600" b="1">
                <a:solidFill>
                  <a:srgbClr val="6C7A72"/>
                </a:solidFill>
                <a:latin typeface="Segoe UI"/>
              </a:rPr>
              <a:t>Bank Indonesia</a:t>
            </a:r>
          </a:p>
        </p:txBody>
      </p:sp>
      <p:sp>
        <p:nvSpPr>
          <p:cNvPr id="35" name="TextBox 34"/>
          <p:cNvSpPr txBox="1"/>
          <p:nvPr/>
        </p:nvSpPr>
        <p:spPr>
          <a:xfrm>
            <a:off x="9205722" y="4370831"/>
            <a:ext cx="2123694" cy="237744"/>
          </a:xfrm>
          <a:prstGeom prst="rect">
            <a:avLst/>
          </a:prstGeom>
          <a:noFill/>
        </p:spPr>
        <p:txBody>
          <a:bodyPr wrap="square" lIns="0" tIns="0" rIns="0" bIns="0">
            <a:spAutoFit/>
          </a:bodyPr>
          <a:lstStyle/>
          <a:p>
            <a:pPr algn="ctr"/>
            <a:r>
              <a:rPr sz="1600" b="1">
                <a:solidFill>
                  <a:srgbClr val="6C7A72"/>
                </a:solidFill>
                <a:latin typeface="Segoe UI"/>
              </a:rPr>
              <a:t>ASTRA</a:t>
            </a:r>
          </a:p>
        </p:txBody>
      </p:sp>
      <p:sp>
        <p:nvSpPr>
          <p:cNvPr id="36" name="TextBox 35"/>
          <p:cNvSpPr txBox="1"/>
          <p:nvPr/>
        </p:nvSpPr>
        <p:spPr>
          <a:xfrm>
            <a:off x="9004554" y="4956048"/>
            <a:ext cx="2526030" cy="1097280"/>
          </a:xfrm>
          <a:prstGeom prst="rect">
            <a:avLst/>
          </a:prstGeom>
          <a:noFill/>
        </p:spPr>
        <p:txBody>
          <a:bodyPr wrap="square" lIns="0" tIns="0" rIns="0" bIns="0">
            <a:spAutoFit/>
          </a:bodyPr>
          <a:lstStyle/>
          <a:p>
            <a:pPr algn="l">
              <a:lnSpc>
                <a:spcPct val="142000"/>
              </a:lnSpc>
            </a:pPr>
            <a:r>
              <a:rPr sz="1600" b="0">
                <a:solidFill>
                  <a:srgbClr val="3D4A43"/>
                </a:solidFill>
                <a:latin typeface="Segoe UI"/>
              </a:rPr>
              <a:t>Kemenperin</a:t>
            </a:r>
          </a:p>
          <a:p>
            <a:pPr algn="l">
              <a:lnSpc>
                <a:spcPct val="142000"/>
              </a:lnSpc>
            </a:pPr>
            <a:r>
              <a:rPr sz="1600" b="0">
                <a:solidFill>
                  <a:srgbClr val="3D4A43"/>
                </a:solidFill>
                <a:latin typeface="Segoe UI"/>
              </a:rPr>
              <a:t>Bank Indonesia</a:t>
            </a:r>
          </a:p>
          <a:p>
            <a:pPr algn="l">
              <a:lnSpc>
                <a:spcPct val="142000"/>
              </a:lnSpc>
            </a:pPr>
            <a:r>
              <a:rPr sz="1600" b="0">
                <a:solidFill>
                  <a:srgbClr val="3D4A43"/>
                </a:solidFill>
                <a:latin typeface="Segoe UI"/>
              </a:rPr>
              <a:t>ASTRA</a:t>
            </a:r>
          </a:p>
        </p:txBody>
      </p:sp>
      <p:sp>
        <p:nvSpPr>
          <p:cNvPr id="37" name="TextBox 36"/>
          <p:cNvSpPr txBox="1"/>
          <p:nvPr/>
        </p:nvSpPr>
        <p:spPr>
          <a:xfrm>
            <a:off x="658368" y="6144768"/>
            <a:ext cx="10424160" cy="256032"/>
          </a:xfrm>
          <a:prstGeom prst="rect">
            <a:avLst/>
          </a:prstGeom>
          <a:noFill/>
        </p:spPr>
        <p:txBody>
          <a:bodyPr wrap="square" lIns="0" tIns="0" rIns="0" bIns="0">
            <a:spAutoFit/>
          </a:bodyPr>
          <a:lstStyle/>
          <a:p>
            <a:pPr algn="l"/>
            <a:r>
              <a:rPr sz="1300" b="0">
                <a:solidFill>
                  <a:srgbClr val="6C7A72"/>
                </a:solidFill>
                <a:latin typeface="Segoe UI"/>
              </a:rPr>
              <a:t>KGF is the field implementer and off-taker inside the aGROWforests consortium.</a:t>
            </a:r>
          </a:p>
        </p:txBody>
      </p:sp>
      <p:sp>
        <p:nvSpPr>
          <p:cNvPr id="38" name="TextBox 37"/>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39" name="TextBox 38"/>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12</a:t>
            </a:r>
          </a:p>
        </p:txBody>
      </p:sp>
      <p:pic>
        <p:nvPicPr>
          <p:cNvPr id="40" name="Picture 39" descr="Cinquer Agro Nusantara | Regenerative Spices from Indonesia">
            <a:extLst>
              <a:ext uri="{FF2B5EF4-FFF2-40B4-BE49-F238E27FC236}">
                <a16:creationId xmlns:a16="http://schemas.microsoft.com/office/drawing/2014/main" id="{6C6D9C7B-F747-366F-14D9-4115DF8E9524}"/>
              </a:ext>
            </a:extLst>
          </p:cNvPr>
          <p:cNvPicPr>
            <a:picLocks noChangeAspect="1"/>
          </p:cNvPicPr>
          <p:nvPr/>
        </p:nvPicPr>
        <p:blipFill>
          <a:blip r:embed="rId8"/>
          <a:stretch>
            <a:fillRect/>
          </a:stretch>
        </p:blipFill>
        <p:spPr>
          <a:xfrm>
            <a:off x="2158860" y="3517916"/>
            <a:ext cx="806848" cy="902576"/>
          </a:xfrm>
          <a:prstGeom prst="rect">
            <a:avLst/>
          </a:prstGeom>
        </p:spPr>
      </p:pic>
      <p:pic>
        <p:nvPicPr>
          <p:cNvPr id="42" name="Picture 41" descr="Solidaridad Network - Indonesia - Roundtable on Sustainable Palm Oil (RSPO)">
            <a:extLst>
              <a:ext uri="{FF2B5EF4-FFF2-40B4-BE49-F238E27FC236}">
                <a16:creationId xmlns:a16="http://schemas.microsoft.com/office/drawing/2014/main" id="{E5777621-82ED-CE58-4A1E-ED5375E3B44B}"/>
              </a:ext>
            </a:extLst>
          </p:cNvPr>
          <p:cNvPicPr>
            <a:picLocks noChangeAspect="1"/>
          </p:cNvPicPr>
          <p:nvPr/>
        </p:nvPicPr>
        <p:blipFill>
          <a:blip r:embed="rId9"/>
          <a:srcRect t="34267" b="32489"/>
          <a:stretch>
            <a:fillRect/>
          </a:stretch>
        </p:blipFill>
        <p:spPr>
          <a:xfrm>
            <a:off x="3948721" y="4227008"/>
            <a:ext cx="1561329" cy="5181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13   HOW TO BUY</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What we propose, in the order we propose it.</a:t>
            </a:r>
          </a:p>
        </p:txBody>
      </p:sp>
      <p:sp>
        <p:nvSpPr>
          <p:cNvPr id="7" name="Oval 6"/>
          <p:cNvSpPr/>
          <p:nvPr/>
        </p:nvSpPr>
        <p:spPr>
          <a:xfrm>
            <a:off x="658368" y="2395728"/>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1</a:t>
            </a:r>
          </a:p>
        </p:txBody>
      </p:sp>
      <p:sp>
        <p:nvSpPr>
          <p:cNvPr id="8" name="TextBox 7"/>
          <p:cNvSpPr txBox="1"/>
          <p:nvPr/>
        </p:nvSpPr>
        <p:spPr>
          <a:xfrm>
            <a:off x="1280160" y="2414016"/>
            <a:ext cx="3017520" cy="310896"/>
          </a:xfrm>
          <a:prstGeom prst="rect">
            <a:avLst/>
          </a:prstGeom>
          <a:noFill/>
        </p:spPr>
        <p:txBody>
          <a:bodyPr wrap="square" lIns="0" tIns="0" rIns="0" bIns="0">
            <a:spAutoFit/>
          </a:bodyPr>
          <a:lstStyle/>
          <a:p>
            <a:pPr algn="l"/>
            <a:r>
              <a:rPr sz="1600" b="1">
                <a:solidFill>
                  <a:srgbClr val="141D18"/>
                </a:solidFill>
                <a:latin typeface="Segoe UI"/>
              </a:rPr>
              <a:t>Send an enquiry</a:t>
            </a:r>
          </a:p>
        </p:txBody>
      </p:sp>
      <p:sp>
        <p:nvSpPr>
          <p:cNvPr id="9" name="TextBox 8"/>
          <p:cNvSpPr txBox="1"/>
          <p:nvPr/>
        </p:nvSpPr>
        <p:spPr>
          <a:xfrm>
            <a:off x="4407407" y="2414016"/>
            <a:ext cx="6858000" cy="566928"/>
          </a:xfrm>
          <a:prstGeom prst="rect">
            <a:avLst/>
          </a:prstGeom>
          <a:noFill/>
        </p:spPr>
        <p:txBody>
          <a:bodyPr wrap="square" lIns="0" tIns="0" rIns="0" bIns="0">
            <a:spAutoFit/>
          </a:bodyPr>
          <a:lstStyle/>
          <a:p>
            <a:pPr algn="l">
              <a:lnSpc>
                <a:spcPct val="130000"/>
              </a:lnSpc>
            </a:pPr>
            <a:r>
              <a:rPr sz="1600" b="0">
                <a:solidFill>
                  <a:srgbClr val="3D4A43"/>
                </a:solidFill>
                <a:latin typeface="Segoe UI"/>
              </a:rPr>
              <a:t>Product, grade, quantity and delivery period.</a:t>
            </a:r>
          </a:p>
        </p:txBody>
      </p:sp>
      <p:sp>
        <p:nvSpPr>
          <p:cNvPr id="10" name="Oval 9"/>
          <p:cNvSpPr/>
          <p:nvPr/>
        </p:nvSpPr>
        <p:spPr>
          <a:xfrm>
            <a:off x="658368" y="3090672"/>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2</a:t>
            </a:r>
          </a:p>
        </p:txBody>
      </p:sp>
      <p:sp>
        <p:nvSpPr>
          <p:cNvPr id="11" name="TextBox 10"/>
          <p:cNvSpPr txBox="1"/>
          <p:nvPr/>
        </p:nvSpPr>
        <p:spPr>
          <a:xfrm>
            <a:off x="1280160" y="3108960"/>
            <a:ext cx="3017520" cy="310896"/>
          </a:xfrm>
          <a:prstGeom prst="rect">
            <a:avLst/>
          </a:prstGeom>
          <a:noFill/>
        </p:spPr>
        <p:txBody>
          <a:bodyPr wrap="square" lIns="0" tIns="0" rIns="0" bIns="0">
            <a:spAutoFit/>
          </a:bodyPr>
          <a:lstStyle/>
          <a:p>
            <a:pPr algn="l"/>
            <a:r>
              <a:rPr sz="1600" b="1">
                <a:solidFill>
                  <a:srgbClr val="141D18"/>
                </a:solidFill>
                <a:latin typeface="Segoe UI"/>
              </a:rPr>
              <a:t>We quote</a:t>
            </a:r>
          </a:p>
        </p:txBody>
      </p:sp>
      <p:sp>
        <p:nvSpPr>
          <p:cNvPr id="12" name="TextBox 11"/>
          <p:cNvSpPr txBox="1"/>
          <p:nvPr/>
        </p:nvSpPr>
        <p:spPr>
          <a:xfrm>
            <a:off x="4407407" y="3108960"/>
            <a:ext cx="6858000" cy="566928"/>
          </a:xfrm>
          <a:prstGeom prst="rect">
            <a:avLst/>
          </a:prstGeom>
          <a:noFill/>
        </p:spPr>
        <p:txBody>
          <a:bodyPr wrap="square" lIns="0" tIns="0" rIns="0" bIns="0">
            <a:spAutoFit/>
          </a:bodyPr>
          <a:lstStyle/>
          <a:p>
            <a:pPr algn="l">
              <a:lnSpc>
                <a:spcPct val="130000"/>
              </a:lnSpc>
            </a:pPr>
            <a:r>
              <a:rPr sz="1600" b="0">
                <a:solidFill>
                  <a:srgbClr val="3D4A43"/>
                </a:solidFill>
                <a:latin typeface="Segoe UI"/>
              </a:rPr>
              <a:t>Full specification, with availability confirmed.</a:t>
            </a:r>
          </a:p>
        </p:txBody>
      </p:sp>
      <p:sp>
        <p:nvSpPr>
          <p:cNvPr id="13" name="Oval 12"/>
          <p:cNvSpPr/>
          <p:nvPr/>
        </p:nvSpPr>
        <p:spPr>
          <a:xfrm>
            <a:off x="658368" y="3785615"/>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3</a:t>
            </a:r>
          </a:p>
        </p:txBody>
      </p:sp>
      <p:sp>
        <p:nvSpPr>
          <p:cNvPr id="14" name="TextBox 13"/>
          <p:cNvSpPr txBox="1"/>
          <p:nvPr/>
        </p:nvSpPr>
        <p:spPr>
          <a:xfrm>
            <a:off x="1280160" y="3803903"/>
            <a:ext cx="3017520" cy="310896"/>
          </a:xfrm>
          <a:prstGeom prst="rect">
            <a:avLst/>
          </a:prstGeom>
          <a:noFill/>
        </p:spPr>
        <p:txBody>
          <a:bodyPr wrap="square" lIns="0" tIns="0" rIns="0" bIns="0">
            <a:spAutoFit/>
          </a:bodyPr>
          <a:lstStyle/>
          <a:p>
            <a:pPr algn="l"/>
            <a:r>
              <a:rPr sz="1600" b="1">
                <a:solidFill>
                  <a:srgbClr val="141D18"/>
                </a:solidFill>
                <a:latin typeface="Segoe UI"/>
              </a:rPr>
              <a:t>Samples</a:t>
            </a:r>
          </a:p>
        </p:txBody>
      </p:sp>
      <p:sp>
        <p:nvSpPr>
          <p:cNvPr id="15" name="TextBox 14"/>
          <p:cNvSpPr txBox="1"/>
          <p:nvPr/>
        </p:nvSpPr>
        <p:spPr>
          <a:xfrm>
            <a:off x="4407407" y="3803903"/>
            <a:ext cx="6858000" cy="566928"/>
          </a:xfrm>
          <a:prstGeom prst="rect">
            <a:avLst/>
          </a:prstGeom>
          <a:noFill/>
        </p:spPr>
        <p:txBody>
          <a:bodyPr wrap="square" lIns="0" tIns="0" rIns="0" bIns="0">
            <a:spAutoFit/>
          </a:bodyPr>
          <a:lstStyle/>
          <a:p>
            <a:pPr algn="l">
              <a:lnSpc>
                <a:spcPct val="130000"/>
              </a:lnSpc>
            </a:pPr>
            <a:r>
              <a:rPr sz="1600" b="0">
                <a:solidFill>
                  <a:srgbClr val="3D4A43"/>
                </a:solidFill>
                <a:latin typeface="Segoe UI"/>
              </a:rPr>
              <a:t>Despatched for approval before any commitment.</a:t>
            </a:r>
          </a:p>
        </p:txBody>
      </p:sp>
      <p:sp>
        <p:nvSpPr>
          <p:cNvPr id="16" name="Oval 15"/>
          <p:cNvSpPr/>
          <p:nvPr/>
        </p:nvSpPr>
        <p:spPr>
          <a:xfrm>
            <a:off x="658368" y="4480559"/>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4</a:t>
            </a:r>
          </a:p>
        </p:txBody>
      </p:sp>
      <p:sp>
        <p:nvSpPr>
          <p:cNvPr id="17" name="TextBox 16"/>
          <p:cNvSpPr txBox="1"/>
          <p:nvPr/>
        </p:nvSpPr>
        <p:spPr>
          <a:xfrm>
            <a:off x="1280160" y="4498847"/>
            <a:ext cx="3017520" cy="310896"/>
          </a:xfrm>
          <a:prstGeom prst="rect">
            <a:avLst/>
          </a:prstGeom>
          <a:noFill/>
        </p:spPr>
        <p:txBody>
          <a:bodyPr wrap="square" lIns="0" tIns="0" rIns="0" bIns="0">
            <a:spAutoFit/>
          </a:bodyPr>
          <a:lstStyle/>
          <a:p>
            <a:pPr algn="l"/>
            <a:r>
              <a:rPr sz="1600" b="1">
                <a:solidFill>
                  <a:srgbClr val="141D18"/>
                </a:solidFill>
                <a:latin typeface="Segoe UI"/>
              </a:rPr>
              <a:t>A trial container</a:t>
            </a:r>
          </a:p>
        </p:txBody>
      </p:sp>
      <p:sp>
        <p:nvSpPr>
          <p:cNvPr id="18" name="TextBox 17"/>
          <p:cNvSpPr txBox="1"/>
          <p:nvPr/>
        </p:nvSpPr>
        <p:spPr>
          <a:xfrm>
            <a:off x="4407407" y="4498847"/>
            <a:ext cx="6858000" cy="566928"/>
          </a:xfrm>
          <a:prstGeom prst="rect">
            <a:avLst/>
          </a:prstGeom>
          <a:noFill/>
        </p:spPr>
        <p:txBody>
          <a:bodyPr wrap="square" lIns="0" tIns="0" rIns="0" bIns="0">
            <a:spAutoFit/>
          </a:bodyPr>
          <a:lstStyle/>
          <a:p>
            <a:pPr algn="l">
              <a:lnSpc>
                <a:spcPct val="130000"/>
              </a:lnSpc>
            </a:pPr>
            <a:r>
              <a:rPr sz="1600" b="0">
                <a:solidFill>
                  <a:srgbClr val="3D4A43"/>
                </a:solidFill>
                <a:latin typeface="Segoe UI"/>
              </a:rPr>
              <a:t>So quality is judged on the product, not on paper.</a:t>
            </a:r>
          </a:p>
        </p:txBody>
      </p:sp>
      <p:sp>
        <p:nvSpPr>
          <p:cNvPr id="19" name="Oval 18"/>
          <p:cNvSpPr/>
          <p:nvPr/>
        </p:nvSpPr>
        <p:spPr>
          <a:xfrm>
            <a:off x="658368" y="5175503"/>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5</a:t>
            </a:r>
          </a:p>
        </p:txBody>
      </p:sp>
      <p:sp>
        <p:nvSpPr>
          <p:cNvPr id="20" name="TextBox 19"/>
          <p:cNvSpPr txBox="1"/>
          <p:nvPr/>
        </p:nvSpPr>
        <p:spPr>
          <a:xfrm>
            <a:off x="1280160" y="5193791"/>
            <a:ext cx="3017520" cy="310896"/>
          </a:xfrm>
          <a:prstGeom prst="rect">
            <a:avLst/>
          </a:prstGeom>
          <a:noFill/>
        </p:spPr>
        <p:txBody>
          <a:bodyPr wrap="square" lIns="0" tIns="0" rIns="0" bIns="0">
            <a:spAutoFit/>
          </a:bodyPr>
          <a:lstStyle/>
          <a:p>
            <a:pPr algn="l"/>
            <a:r>
              <a:rPr sz="1600" b="1">
                <a:solidFill>
                  <a:srgbClr val="141D18"/>
                </a:solidFill>
                <a:latin typeface="Segoe UI"/>
              </a:rPr>
              <a:t>A standing relationship</a:t>
            </a:r>
          </a:p>
        </p:txBody>
      </p:sp>
      <p:sp>
        <p:nvSpPr>
          <p:cNvPr id="21" name="TextBox 20"/>
          <p:cNvSpPr txBox="1"/>
          <p:nvPr/>
        </p:nvSpPr>
        <p:spPr>
          <a:xfrm>
            <a:off x="4407407" y="5193791"/>
            <a:ext cx="6858000" cy="566928"/>
          </a:xfrm>
          <a:prstGeom prst="rect">
            <a:avLst/>
          </a:prstGeom>
          <a:noFill/>
        </p:spPr>
        <p:txBody>
          <a:bodyPr wrap="square" lIns="0" tIns="0" rIns="0" bIns="0">
            <a:spAutoFit/>
          </a:bodyPr>
          <a:lstStyle/>
          <a:p>
            <a:pPr algn="l">
              <a:lnSpc>
                <a:spcPct val="130000"/>
              </a:lnSpc>
            </a:pPr>
            <a:r>
              <a:rPr sz="1600" b="0">
                <a:solidFill>
                  <a:srgbClr val="3D4A43"/>
                </a:solidFill>
                <a:latin typeface="Segoe UI"/>
              </a:rPr>
              <a:t>Seasonal supply, documentation aligned to your market, halal included.</a:t>
            </a:r>
          </a:p>
        </p:txBody>
      </p:sp>
      <p:sp>
        <p:nvSpPr>
          <p:cNvPr id="22" name="Rectangle 21"/>
          <p:cNvSpPr/>
          <p:nvPr/>
        </p:nvSpPr>
        <p:spPr>
          <a:xfrm>
            <a:off x="658368" y="5897880"/>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6035040"/>
            <a:ext cx="10424160" cy="310896"/>
          </a:xfrm>
          <a:prstGeom prst="rect">
            <a:avLst/>
          </a:prstGeom>
          <a:noFill/>
        </p:spPr>
        <p:txBody>
          <a:bodyPr wrap="square" lIns="0" tIns="0" rIns="0" bIns="0">
            <a:spAutoFit/>
          </a:bodyPr>
          <a:lstStyle/>
          <a:p>
            <a:pPr algn="l"/>
            <a:r>
              <a:rPr sz="2000" b="1">
                <a:solidFill>
                  <a:srgbClr val="1F4034"/>
                </a:solidFill>
                <a:latin typeface="Georgia"/>
              </a:rPr>
              <a:t>We host buyer inspections of our farms and facility at any time.</a:t>
            </a:r>
          </a:p>
        </p:txBody>
      </p:sp>
      <p:sp>
        <p:nvSpPr>
          <p:cNvPr id="24" name="TextBox 23"/>
          <p:cNvSpPr txBox="1"/>
          <p:nvPr/>
        </p:nvSpPr>
        <p:spPr>
          <a:xfrm>
            <a:off x="658368" y="6419088"/>
            <a:ext cx="54864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a:t>
            </a:r>
          </a:p>
        </p:txBody>
      </p:sp>
      <p:sp>
        <p:nvSpPr>
          <p:cNvPr id="25" name="TextBox 24"/>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losing_bg.jpg"/>
          <p:cNvPicPr>
            <a:picLocks noChangeAspect="1"/>
          </p:cNvPicPr>
          <p:nvPr/>
        </p:nvPicPr>
        <p:blipFill>
          <a:blip r:embed="rId2"/>
          <a:srcRect t="9596" b="9596"/>
          <a:stretch>
            <a:fillRect/>
          </a:stretch>
        </p:blipFill>
        <p:spPr>
          <a:xfrm>
            <a:off x="5852160" y="0"/>
            <a:ext cx="6336792" cy="6858000"/>
          </a:xfrm>
          <a:prstGeom prst="rect">
            <a:avLst/>
          </a:prstGeom>
        </p:spPr>
      </p:pic>
      <p:pic>
        <p:nvPicPr>
          <p:cNvPr id="5" name="Picture 4" descr="logo_small.png"/>
          <p:cNvPicPr>
            <a:picLocks noChangeAspect="1"/>
          </p:cNvPicPr>
          <p:nvPr/>
        </p:nvPicPr>
        <p:blipFill>
          <a:blip r:embed="rId3"/>
          <a:srcRect/>
          <a:stretch>
            <a:fillRect/>
          </a:stretch>
        </p:blipFill>
        <p:spPr>
          <a:xfrm>
            <a:off x="374904" y="274320"/>
            <a:ext cx="694944" cy="694944"/>
          </a:xfrm>
          <a:prstGeom prst="rect">
            <a:avLst/>
          </a:prstGeom>
        </p:spPr>
      </p:pic>
      <p:sp>
        <p:nvSpPr>
          <p:cNvPr id="6" name="TextBox 5"/>
          <p:cNvSpPr txBox="1"/>
          <p:nvPr/>
        </p:nvSpPr>
        <p:spPr>
          <a:xfrm>
            <a:off x="658368" y="1874519"/>
            <a:ext cx="4754880" cy="1325880"/>
          </a:xfrm>
          <a:prstGeom prst="rect">
            <a:avLst/>
          </a:prstGeom>
          <a:noFill/>
        </p:spPr>
        <p:txBody>
          <a:bodyPr wrap="square" lIns="0" tIns="0" rIns="0" bIns="0">
            <a:spAutoFit/>
          </a:bodyPr>
          <a:lstStyle/>
          <a:p>
            <a:pPr algn="l">
              <a:lnSpc>
                <a:spcPct val="110000"/>
              </a:lnSpc>
            </a:pPr>
            <a:r>
              <a:rPr sz="3600" b="1">
                <a:solidFill>
                  <a:srgbClr val="FFFFFF"/>
                </a:solidFill>
                <a:latin typeface="Georgia"/>
              </a:rPr>
              <a:t>Come and see the plots.</a:t>
            </a:r>
          </a:p>
        </p:txBody>
      </p:sp>
      <p:sp>
        <p:nvSpPr>
          <p:cNvPr id="7" name="TextBox 6"/>
          <p:cNvSpPr txBox="1"/>
          <p:nvPr/>
        </p:nvSpPr>
        <p:spPr>
          <a:xfrm>
            <a:off x="658368" y="3310128"/>
            <a:ext cx="4572000" cy="384048"/>
          </a:xfrm>
          <a:prstGeom prst="rect">
            <a:avLst/>
          </a:prstGeom>
          <a:noFill/>
        </p:spPr>
        <p:txBody>
          <a:bodyPr wrap="square" lIns="0" tIns="0" rIns="0" bIns="0">
            <a:spAutoFit/>
          </a:bodyPr>
          <a:lstStyle/>
          <a:p>
            <a:pPr algn="l"/>
            <a:r>
              <a:rPr sz="2000" b="1">
                <a:solidFill>
                  <a:srgbClr val="C7D8CD"/>
                </a:solidFill>
                <a:latin typeface="Segoe UI"/>
              </a:rPr>
              <a:t>PT Klumbayan Gold Farm</a:t>
            </a:r>
          </a:p>
        </p:txBody>
      </p:sp>
      <p:sp>
        <p:nvSpPr>
          <p:cNvPr id="8" name="Rectangle 7"/>
          <p:cNvSpPr/>
          <p:nvPr/>
        </p:nvSpPr>
        <p:spPr>
          <a:xfrm>
            <a:off x="658368" y="3840480"/>
            <a:ext cx="4572000" cy="10972"/>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4069080"/>
            <a:ext cx="4754880" cy="1051560"/>
          </a:xfrm>
          <a:prstGeom prst="rect">
            <a:avLst/>
          </a:prstGeom>
          <a:noFill/>
        </p:spPr>
        <p:txBody>
          <a:bodyPr wrap="square" lIns="0" tIns="0" rIns="0" bIns="0">
            <a:spAutoFit/>
          </a:bodyPr>
          <a:lstStyle/>
          <a:p>
            <a:pPr algn="l">
              <a:lnSpc>
                <a:spcPct val="140000"/>
              </a:lnSpc>
            </a:pPr>
            <a:r>
              <a:rPr sz="1600" b="0">
                <a:solidFill>
                  <a:srgbClr val="D9E1DA"/>
                </a:solidFill>
                <a:latin typeface="Segoe UI"/>
              </a:rPr>
              <a:t>Jln. Wolter Monginsidi No. 159</a:t>
            </a:r>
          </a:p>
          <a:p>
            <a:pPr algn="l">
              <a:lnSpc>
                <a:spcPct val="140000"/>
              </a:lnSpc>
            </a:pPr>
            <a:r>
              <a:rPr sz="1600" b="0">
                <a:solidFill>
                  <a:srgbClr val="D9E1DA"/>
                </a:solidFill>
                <a:latin typeface="Segoe UI"/>
              </a:rPr>
              <a:t>Bandar Lampung, Lampung, Indonesia</a:t>
            </a:r>
          </a:p>
          <a:p>
            <a:pPr algn="l">
              <a:lnSpc>
                <a:spcPct val="140000"/>
              </a:lnSpc>
            </a:pPr>
            <a:r>
              <a:rPr sz="1600" b="0">
                <a:solidFill>
                  <a:srgbClr val="D9E1DA"/>
                </a:solidFill>
                <a:latin typeface="Segoe UI"/>
              </a:rPr>
              <a:t>Warehouse: Gudang Natar, Lampung Selatan</a:t>
            </a:r>
          </a:p>
        </p:txBody>
      </p:sp>
      <p:sp>
        <p:nvSpPr>
          <p:cNvPr id="10" name="TextBox 9"/>
          <p:cNvSpPr txBox="1"/>
          <p:nvPr/>
        </p:nvSpPr>
        <p:spPr>
          <a:xfrm>
            <a:off x="658368" y="5285232"/>
            <a:ext cx="4754880" cy="960120"/>
          </a:xfrm>
          <a:prstGeom prst="rect">
            <a:avLst/>
          </a:prstGeom>
          <a:noFill/>
        </p:spPr>
        <p:txBody>
          <a:bodyPr wrap="square" lIns="0" tIns="0" rIns="0" bIns="0">
            <a:spAutoFit/>
          </a:bodyPr>
          <a:lstStyle/>
          <a:p>
            <a:pPr algn="l">
              <a:lnSpc>
                <a:spcPct val="140000"/>
              </a:lnSpc>
            </a:pPr>
            <a:r>
              <a:rPr sz="1600" b="0">
                <a:solidFill>
                  <a:srgbClr val="FFFFFF"/>
                </a:solidFill>
                <a:latin typeface="Segoe UI"/>
              </a:rPr>
              <a:t>Arif Rachman, Operational Director</a:t>
            </a:r>
          </a:p>
          <a:p>
            <a:pPr algn="l">
              <a:lnSpc>
                <a:spcPct val="140000"/>
              </a:lnSpc>
            </a:pPr>
            <a:r>
              <a:rPr sz="1600" b="0">
                <a:solidFill>
                  <a:srgbClr val="FFFFFF"/>
                </a:solidFill>
                <a:latin typeface="Segoe UI"/>
              </a:rPr>
              <a:t>arif@klumbayanfarm.com</a:t>
            </a:r>
          </a:p>
          <a:p>
            <a:pPr algn="l">
              <a:lnSpc>
                <a:spcPct val="140000"/>
              </a:lnSpc>
            </a:pPr>
            <a:r>
              <a:rPr sz="1600" b="0">
                <a:solidFill>
                  <a:srgbClr val="FFFFFF"/>
                </a:solidFill>
                <a:latin typeface="Segoe UI"/>
              </a:rPr>
              <a:t>+62 853 7887 0007</a:t>
            </a:r>
          </a:p>
        </p:txBody>
      </p:sp>
      <p:sp>
        <p:nvSpPr>
          <p:cNvPr id="11" name="TextBox 10"/>
          <p:cNvSpPr txBox="1"/>
          <p:nvPr/>
        </p:nvSpPr>
        <p:spPr>
          <a:xfrm>
            <a:off x="658368" y="6382512"/>
            <a:ext cx="4754880" cy="274320"/>
          </a:xfrm>
          <a:prstGeom prst="rect">
            <a:avLst/>
          </a:prstGeom>
          <a:noFill/>
        </p:spPr>
        <p:txBody>
          <a:bodyPr wrap="square" lIns="0" tIns="0" rIns="0" bIns="0">
            <a:spAutoFit/>
          </a:bodyPr>
          <a:lstStyle/>
          <a:p>
            <a:pPr algn="l"/>
            <a:r>
              <a:rPr sz="1300" b="1" spc="160">
                <a:solidFill>
                  <a:srgbClr val="9A7526"/>
                </a:solidFill>
                <a:latin typeface="Segoe UI"/>
              </a:rPr>
              <a:t>KLUMBAYANFARM.COM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169</TotalTime>
  <Words>1288</Words>
  <Application>Microsoft Office PowerPoint</Application>
  <PresentationFormat>Custom</PresentationFormat>
  <Paragraphs>232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kgfteam</cp:lastModifiedBy>
  <cp:revision>2</cp:revision>
  <dcterms:created xsi:type="dcterms:W3CDTF">2013-01-27T09:14:16Z</dcterms:created>
  <dcterms:modified xsi:type="dcterms:W3CDTF">2026-08-19T06:36:23Z</dcterms:modified>
  <cp:category/>
</cp:coreProperties>
</file>