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7.jpg"/><Relationship Id="rId6" Type="http://schemas.openxmlformats.org/officeDocument/2006/relationships/image" Target="../media/image11.jpg"/><Relationship Id="rId7"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bg.jpg"/>
          <p:cNvPicPr>
            <a:picLocks noChangeAspect="1"/>
          </p:cNvPicPr>
          <p:nvPr/>
        </p:nvPicPr>
        <p:blipFill>
          <a:blip r:embed="rId2"/>
          <a:srcRect l="12" r="12"/>
          <a:stretch>
            <a:fillRect/>
          </a:stretch>
        </p:blipFill>
        <p:spPr>
          <a:xfrm>
            <a:off x="0" y="0"/>
            <a:ext cx="12188952" cy="6858000"/>
          </a:xfrm>
          <a:prstGeom prst="rect">
            <a:avLst/>
          </a:prstGeom>
        </p:spPr>
      </p:pic>
      <p:sp>
        <p:nvSpPr>
          <p:cNvPr id="4" name="Rectangle 3"/>
          <p:cNvSpPr/>
          <p:nvPr/>
        </p:nvSpPr>
        <p:spPr>
          <a:xfrm>
            <a:off x="0" y="0"/>
            <a:ext cx="8778240" cy="6858000"/>
          </a:xfrm>
          <a:prstGeom prst="rect">
            <a:avLst/>
          </a:prstGeom>
          <a:gradFill rotWithShape="1">
            <a:gsLst>
              <a:gs pos="0">
                <a:srgbClr val="1F4034">
                  <a:alpha val="100000"/>
                </a:srgbClr>
              </a:gs>
              <a:gs pos="42000">
                <a:srgbClr val="1F4034">
                  <a:alpha val="92000"/>
                </a:srgbClr>
              </a:gs>
              <a:gs pos="72000">
                <a:srgbClr val="1F4034">
                  <a:alpha val="55000"/>
                </a:srgbClr>
              </a:gs>
              <a:gs pos="100000">
                <a:srgbClr val="1F403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small.png"/>
          <p:cNvPicPr>
            <a:picLocks noChangeAspect="1"/>
          </p:cNvPicPr>
          <p:nvPr/>
        </p:nvPicPr>
        <p:blipFill>
          <a:blip r:embed="rId3"/>
          <a:stretch>
            <a:fillRect/>
          </a:stretch>
        </p:blipFill>
        <p:spPr>
          <a:xfrm>
            <a:off x="374904" y="219456"/>
            <a:ext cx="694944" cy="694944"/>
          </a:xfrm>
          <a:prstGeom prst="rect">
            <a:avLst/>
          </a:prstGeom>
        </p:spPr>
      </p:pic>
      <p:sp>
        <p:nvSpPr>
          <p:cNvPr id="6" name="TextBox 5"/>
          <p:cNvSpPr txBox="1"/>
          <p:nvPr/>
        </p:nvSpPr>
        <p:spPr>
          <a:xfrm>
            <a:off x="1188720" y="292608"/>
            <a:ext cx="4023360" cy="310896"/>
          </a:xfrm>
          <a:prstGeom prst="rect">
            <a:avLst/>
          </a:prstGeom>
          <a:noFill/>
        </p:spPr>
        <p:txBody>
          <a:bodyPr wrap="square" lIns="0" rIns="0" tIns="0" bIns="0">
            <a:spAutoFit/>
          </a:bodyPr>
          <a:lstStyle/>
          <a:p>
            <a:pPr algn="l"/>
            <a:r>
              <a:rPr sz="2000" b="1">
                <a:solidFill>
                  <a:srgbClr val="FFFFFF"/>
                </a:solidFill>
                <a:latin typeface="Segoe UI"/>
              </a:rPr>
              <a:t>PT Klumbayan Gold Farm</a:t>
            </a:r>
          </a:p>
        </p:txBody>
      </p:sp>
      <p:sp>
        <p:nvSpPr>
          <p:cNvPr id="7" name="TextBox 6"/>
          <p:cNvSpPr txBox="1"/>
          <p:nvPr/>
        </p:nvSpPr>
        <p:spPr>
          <a:xfrm>
            <a:off x="1188720" y="621792"/>
            <a:ext cx="4023360" cy="256032"/>
          </a:xfrm>
          <a:prstGeom prst="rect">
            <a:avLst/>
          </a:prstGeom>
          <a:noFill/>
        </p:spPr>
        <p:txBody>
          <a:bodyPr wrap="square" lIns="0" rIns="0" tIns="0" bIns="0">
            <a:spAutoFit/>
          </a:bodyPr>
          <a:lstStyle/>
          <a:p>
            <a:pPr algn="l"/>
            <a:r>
              <a:rPr sz="1100" b="0" spc="160">
                <a:solidFill>
                  <a:srgbClr val="C7D8CD"/>
                </a:solidFill>
                <a:latin typeface="Segoe UI"/>
              </a:rPr>
              <a:t>LAMPUNG · INDONESIA · EST. 2022</a:t>
            </a:r>
          </a:p>
        </p:txBody>
      </p:sp>
      <p:sp>
        <p:nvSpPr>
          <p:cNvPr id="8" name="TextBox 7"/>
          <p:cNvSpPr txBox="1"/>
          <p:nvPr/>
        </p:nvSpPr>
        <p:spPr>
          <a:xfrm>
            <a:off x="658368" y="1828800"/>
            <a:ext cx="6766560" cy="1783080"/>
          </a:xfrm>
          <a:prstGeom prst="rect">
            <a:avLst/>
          </a:prstGeom>
          <a:noFill/>
        </p:spPr>
        <p:txBody>
          <a:bodyPr wrap="square" lIns="0" rIns="0" tIns="0" bIns="0">
            <a:spAutoFit/>
          </a:bodyPr>
          <a:lstStyle/>
          <a:p>
            <a:pPr algn="l">
              <a:lnSpc>
                <a:spcPct val="110000"/>
              </a:lnSpc>
            </a:pPr>
            <a:r>
              <a:rPr sz="3200" b="1">
                <a:solidFill>
                  <a:srgbClr val="FFFFFF"/>
                </a:solidFill>
                <a:latin typeface="Georgia"/>
              </a:rPr>
              <a:t>From mined-out land</a:t>
            </a:r>
          </a:p>
          <a:p>
            <a:pPr algn="l">
              <a:lnSpc>
                <a:spcPct val="110000"/>
              </a:lnSpc>
            </a:pPr>
            <a:r>
              <a:rPr sz="3200" b="1">
                <a:solidFill>
                  <a:srgbClr val="FFFFFF"/>
                </a:solidFill>
                <a:latin typeface="Georgia"/>
              </a:rPr>
              <a:t>to a European supply chain.</a:t>
            </a:r>
          </a:p>
        </p:txBody>
      </p:sp>
      <p:sp>
        <p:nvSpPr>
          <p:cNvPr id="9" name="TextBox 8"/>
          <p:cNvSpPr txBox="1"/>
          <p:nvPr/>
        </p:nvSpPr>
        <p:spPr>
          <a:xfrm>
            <a:off x="658368" y="3840480"/>
            <a:ext cx="4937760" cy="1051560"/>
          </a:xfrm>
          <a:prstGeom prst="rect">
            <a:avLst/>
          </a:prstGeom>
          <a:noFill/>
        </p:spPr>
        <p:txBody>
          <a:bodyPr wrap="square" lIns="0" rIns="0" tIns="0" bIns="0">
            <a:spAutoFit/>
          </a:bodyPr>
          <a:lstStyle/>
          <a:p>
            <a:pPr algn="l">
              <a:lnSpc>
                <a:spcPct val="136000"/>
              </a:lnSpc>
            </a:pPr>
            <a:r>
              <a:rPr sz="1600" b="0">
                <a:solidFill>
                  <a:srgbClr val="D9E1DA"/>
                </a:solidFill>
                <a:latin typeface="Segoe UI"/>
              </a:rPr>
              <a:t>Regenerative agroforestry on degraded post-mining land in Lampung, traded into Europe with plot-level traceability.</a:t>
            </a:r>
          </a:p>
        </p:txBody>
      </p:sp>
      <p:sp>
        <p:nvSpPr>
          <p:cNvPr id="10" name="TextBox 9"/>
          <p:cNvSpPr txBox="1"/>
          <p:nvPr/>
        </p:nvSpPr>
        <p:spPr>
          <a:xfrm>
            <a:off x="658368" y="5029200"/>
            <a:ext cx="4572000" cy="237744"/>
          </a:xfrm>
          <a:prstGeom prst="rect">
            <a:avLst/>
          </a:prstGeom>
          <a:noFill/>
        </p:spPr>
        <p:txBody>
          <a:bodyPr wrap="square" lIns="0" rIns="0" tIns="0" bIns="0">
            <a:spAutoFit/>
          </a:bodyPr>
          <a:lstStyle/>
          <a:p>
            <a:pPr algn="l"/>
            <a:r>
              <a:rPr sz="1100" b="1" spc="160">
                <a:solidFill>
                  <a:srgbClr val="9A7526"/>
                </a:solidFill>
                <a:latin typeface="Segoe UI"/>
              </a:rPr>
              <a:t>MEMBER OF</a:t>
            </a:r>
          </a:p>
        </p:txBody>
      </p:sp>
      <p:sp>
        <p:nvSpPr>
          <p:cNvPr id="11" name="Rectangle 10"/>
          <p:cNvSpPr/>
          <p:nvPr/>
        </p:nvSpPr>
        <p:spPr>
          <a:xfrm>
            <a:off x="658368" y="5285232"/>
            <a:ext cx="393192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go_ssii.png"/>
          <p:cNvPicPr>
            <a:picLocks noChangeAspect="1"/>
          </p:cNvPicPr>
          <p:nvPr/>
        </p:nvPicPr>
        <p:blipFill>
          <a:blip r:embed="rId4"/>
          <a:stretch>
            <a:fillRect/>
          </a:stretch>
        </p:blipFill>
        <p:spPr>
          <a:xfrm>
            <a:off x="1227835" y="5358384"/>
            <a:ext cx="817880" cy="420624"/>
          </a:xfrm>
          <a:prstGeom prst="rect">
            <a:avLst/>
          </a:prstGeom>
        </p:spPr>
      </p:pic>
      <p:pic>
        <p:nvPicPr>
          <p:cNvPr id="13" name="Picture 12" descr="logo_agrowforests.png"/>
          <p:cNvPicPr>
            <a:picLocks noChangeAspect="1"/>
          </p:cNvPicPr>
          <p:nvPr/>
        </p:nvPicPr>
        <p:blipFill>
          <a:blip r:embed="rId5"/>
          <a:stretch>
            <a:fillRect/>
          </a:stretch>
        </p:blipFill>
        <p:spPr>
          <a:xfrm>
            <a:off x="3364991" y="5358384"/>
            <a:ext cx="420624" cy="420624"/>
          </a:xfrm>
          <a:prstGeom prst="rect">
            <a:avLst/>
          </a:prstGeom>
        </p:spPr>
      </p:pic>
      <p:sp>
        <p:nvSpPr>
          <p:cNvPr id="14" name="TextBox 13"/>
          <p:cNvSpPr txBox="1"/>
          <p:nvPr/>
        </p:nvSpPr>
        <p:spPr>
          <a:xfrm>
            <a:off x="4754880" y="5340096"/>
            <a:ext cx="4389120" cy="219456"/>
          </a:xfrm>
          <a:prstGeom prst="rect">
            <a:avLst/>
          </a:prstGeom>
          <a:noFill/>
        </p:spPr>
        <p:txBody>
          <a:bodyPr wrap="square" lIns="0" rIns="0" tIns="0" bIns="0">
            <a:spAutoFit/>
          </a:bodyPr>
          <a:lstStyle/>
          <a:p>
            <a:pPr algn="l"/>
            <a:r>
              <a:rPr sz="1100" b="0" spc="90">
                <a:solidFill>
                  <a:srgbClr val="B9C7BE"/>
                </a:solidFill>
                <a:latin typeface="Segoe UI"/>
              </a:rPr>
              <a:t>SUSTAINABLE SPICES INITIATIVE INDONESIA</a:t>
            </a:r>
          </a:p>
        </p:txBody>
      </p:sp>
      <p:sp>
        <p:nvSpPr>
          <p:cNvPr id="15" name="TextBox 14"/>
          <p:cNvSpPr txBox="1"/>
          <p:nvPr/>
        </p:nvSpPr>
        <p:spPr>
          <a:xfrm>
            <a:off x="4754880" y="5577840"/>
            <a:ext cx="4389120" cy="219456"/>
          </a:xfrm>
          <a:prstGeom prst="rect">
            <a:avLst/>
          </a:prstGeom>
          <a:noFill/>
        </p:spPr>
        <p:txBody>
          <a:bodyPr wrap="square" lIns="0" rIns="0" tIns="0" bIns="0">
            <a:spAutoFit/>
          </a:bodyPr>
          <a:lstStyle/>
          <a:p>
            <a:pPr algn="l"/>
            <a:r>
              <a:rPr sz="1100" b="0" spc="90">
                <a:solidFill>
                  <a:srgbClr val="B9C7BE"/>
                </a:solidFill>
                <a:latin typeface="Segoe UI"/>
              </a:rPr>
              <a:t>aGROWforests CONSORTIUM · GIZ FUNDED</a:t>
            </a:r>
          </a:p>
        </p:txBody>
      </p:sp>
      <p:sp>
        <p:nvSpPr>
          <p:cNvPr id="16" name="Rectangle 15"/>
          <p:cNvSpPr/>
          <p:nvPr/>
        </p:nvSpPr>
        <p:spPr>
          <a:xfrm>
            <a:off x="658368" y="6016752"/>
            <a:ext cx="457200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6153912"/>
            <a:ext cx="7680960" cy="237744"/>
          </a:xfrm>
          <a:prstGeom prst="rect">
            <a:avLst/>
          </a:prstGeom>
          <a:noFill/>
        </p:spPr>
        <p:txBody>
          <a:bodyPr wrap="square" lIns="0" rIns="0" tIns="0" bIns="0">
            <a:spAutoFit/>
          </a:bodyPr>
          <a:lstStyle/>
          <a:p>
            <a:pPr algn="l"/>
            <a:r>
              <a:rPr sz="1100" b="0" spc="110">
                <a:solidFill>
                  <a:srgbClr val="9A7526"/>
                </a:solidFill>
                <a:latin typeface="Segoe UI"/>
              </a:rPr>
              <a:t>ICIF NETHERLANDS BUSINESS MISSION 2026 · CATEGORY 03</a:t>
            </a:r>
          </a:p>
        </p:txBody>
      </p:sp>
      <p:sp>
        <p:nvSpPr>
          <p:cNvPr id="18" name="TextBox 17"/>
          <p:cNvSpPr txBox="1"/>
          <p:nvPr/>
        </p:nvSpPr>
        <p:spPr>
          <a:xfrm>
            <a:off x="658368" y="6400800"/>
            <a:ext cx="6400800" cy="237744"/>
          </a:xfrm>
          <a:prstGeom prst="rect">
            <a:avLst/>
          </a:prstGeom>
          <a:noFill/>
        </p:spPr>
        <p:txBody>
          <a:bodyPr wrap="square" lIns="0" rIns="0" tIns="0" bIns="0">
            <a:spAutoFit/>
          </a:bodyPr>
          <a:lstStyle/>
          <a:p>
            <a:pPr algn="l"/>
            <a:r>
              <a:rPr sz="1100" b="0">
                <a:solidFill>
                  <a:srgbClr val="B9C7BE"/>
                </a:solidFill>
                <a:latin typeface="Segoe UI"/>
              </a:rPr>
              <a:t>klumbayanfarm.com    arif@klumbayanfarm.com    +62 853 7887 0007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01   THESIS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Circular agriculture starts with the land.</a:t>
            </a:r>
          </a:p>
        </p:txBody>
      </p:sp>
      <p:sp>
        <p:nvSpPr>
          <p:cNvPr id="7" name="TextBox 6"/>
          <p:cNvSpPr txBox="1"/>
          <p:nvPr/>
        </p:nvSpPr>
        <p:spPr>
          <a:xfrm>
            <a:off x="658368" y="2359152"/>
            <a:ext cx="5760720" cy="13716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Most circular economy work begins after a product exists: recover it, recycle it, reuse the material. In agriculture the largest circular gain sits earlier. Land already destroyed can be brought back into production, instead of clearing new forest to replace it.</a:t>
            </a:r>
          </a:p>
        </p:txBody>
      </p:sp>
      <p:sp>
        <p:nvSpPr>
          <p:cNvPr id="8" name="TextBox 7"/>
          <p:cNvSpPr txBox="1"/>
          <p:nvPr/>
        </p:nvSpPr>
        <p:spPr>
          <a:xfrm>
            <a:off x="658368" y="3913632"/>
            <a:ext cx="5760720" cy="914400"/>
          </a:xfrm>
          <a:prstGeom prst="rect">
            <a:avLst/>
          </a:prstGeom>
          <a:noFill/>
        </p:spPr>
        <p:txBody>
          <a:bodyPr wrap="square" lIns="0" rIns="0" tIns="0" bIns="0">
            <a:spAutoFit/>
          </a:bodyPr>
          <a:lstStyle/>
          <a:p>
            <a:pPr algn="l">
              <a:lnSpc>
                <a:spcPct val="124000"/>
              </a:lnSpc>
            </a:pPr>
            <a:r>
              <a:rPr sz="2000" b="1">
                <a:solidFill>
                  <a:srgbClr val="1F4034"/>
                </a:solidFill>
                <a:latin typeface="Georgia"/>
              </a:rPr>
              <a:t>Restoring damaged land, rather than opening new land, is the circular principle applied at landscape scale.</a:t>
            </a:r>
          </a:p>
        </p:txBody>
      </p:sp>
      <p:sp>
        <p:nvSpPr>
          <p:cNvPr id="9" name="TextBox 8"/>
          <p:cNvSpPr txBox="1"/>
          <p:nvPr/>
        </p:nvSpPr>
        <p:spPr>
          <a:xfrm>
            <a:off x="658368" y="4983480"/>
            <a:ext cx="1828800" cy="566928"/>
          </a:xfrm>
          <a:prstGeom prst="rect">
            <a:avLst/>
          </a:prstGeom>
          <a:noFill/>
        </p:spPr>
        <p:txBody>
          <a:bodyPr wrap="square" lIns="0" rIns="0" tIns="0" bIns="0">
            <a:spAutoFit/>
          </a:bodyPr>
          <a:lstStyle/>
          <a:p>
            <a:pPr algn="l"/>
            <a:r>
              <a:rPr sz="3200" b="1">
                <a:solidFill>
                  <a:srgbClr val="1F4034"/>
                </a:solidFill>
                <a:latin typeface="Georgia"/>
              </a:rPr>
              <a:t>2022</a:t>
            </a:r>
          </a:p>
        </p:txBody>
      </p:sp>
      <p:sp>
        <p:nvSpPr>
          <p:cNvPr id="10" name="TextBox 9"/>
          <p:cNvSpPr txBox="1"/>
          <p:nvPr/>
        </p:nvSpPr>
        <p:spPr>
          <a:xfrm>
            <a:off x="658368" y="5550408"/>
            <a:ext cx="1828800" cy="274320"/>
          </a:xfrm>
          <a:prstGeom prst="rect">
            <a:avLst/>
          </a:prstGeom>
          <a:noFill/>
        </p:spPr>
        <p:txBody>
          <a:bodyPr wrap="square" lIns="0" rIns="0" tIns="0" bIns="0">
            <a:spAutoFit/>
          </a:bodyPr>
          <a:lstStyle/>
          <a:p>
            <a:pPr algn="l"/>
            <a:r>
              <a:rPr sz="1100" b="0" spc="100">
                <a:solidFill>
                  <a:srgbClr val="6C7A72"/>
                </a:solidFill>
                <a:latin typeface="Segoe UI"/>
              </a:rPr>
              <a:t>RESTORATION BEGAN</a:t>
            </a:r>
          </a:p>
        </p:txBody>
      </p:sp>
      <p:sp>
        <p:nvSpPr>
          <p:cNvPr id="11" name="TextBox 10"/>
          <p:cNvSpPr txBox="1"/>
          <p:nvPr/>
        </p:nvSpPr>
        <p:spPr>
          <a:xfrm>
            <a:off x="2670048" y="4983480"/>
            <a:ext cx="1828800" cy="566928"/>
          </a:xfrm>
          <a:prstGeom prst="rect">
            <a:avLst/>
          </a:prstGeom>
          <a:noFill/>
        </p:spPr>
        <p:txBody>
          <a:bodyPr wrap="square" lIns="0" rIns="0" tIns="0" bIns="0">
            <a:spAutoFit/>
          </a:bodyPr>
          <a:lstStyle/>
          <a:p>
            <a:pPr algn="l"/>
            <a:r>
              <a:rPr sz="3200" b="1">
                <a:solidFill>
                  <a:srgbClr val="1F4034"/>
                </a:solidFill>
                <a:latin typeface="Georgia"/>
              </a:rPr>
              <a:t>1,250</a:t>
            </a:r>
          </a:p>
        </p:txBody>
      </p:sp>
      <p:sp>
        <p:nvSpPr>
          <p:cNvPr id="12" name="TextBox 11"/>
          <p:cNvSpPr txBox="1"/>
          <p:nvPr/>
        </p:nvSpPr>
        <p:spPr>
          <a:xfrm>
            <a:off x="2670048" y="5550408"/>
            <a:ext cx="1828800" cy="274320"/>
          </a:xfrm>
          <a:prstGeom prst="rect">
            <a:avLst/>
          </a:prstGeom>
          <a:noFill/>
        </p:spPr>
        <p:txBody>
          <a:bodyPr wrap="square" lIns="0" rIns="0" tIns="0" bIns="0">
            <a:spAutoFit/>
          </a:bodyPr>
          <a:lstStyle/>
          <a:p>
            <a:pPr algn="l"/>
            <a:r>
              <a:rPr sz="1100" b="0" spc="100">
                <a:solidFill>
                  <a:srgbClr val="6C7A72"/>
                </a:solidFill>
                <a:latin typeface="Segoe UI"/>
              </a:rPr>
              <a:t>FARMER HOUSEHOLDS</a:t>
            </a:r>
          </a:p>
        </p:txBody>
      </p:sp>
      <p:sp>
        <p:nvSpPr>
          <p:cNvPr id="13" name="TextBox 12"/>
          <p:cNvSpPr txBox="1"/>
          <p:nvPr/>
        </p:nvSpPr>
        <p:spPr>
          <a:xfrm>
            <a:off x="4681728" y="4983480"/>
            <a:ext cx="1920240" cy="566928"/>
          </a:xfrm>
          <a:prstGeom prst="rect">
            <a:avLst/>
          </a:prstGeom>
          <a:noFill/>
        </p:spPr>
        <p:txBody>
          <a:bodyPr wrap="square" lIns="0" rIns="0" tIns="0" bIns="0">
            <a:spAutoFit/>
          </a:bodyPr>
          <a:lstStyle/>
          <a:p>
            <a:pPr algn="l"/>
            <a:r>
              <a:rPr sz="3200" b="1">
                <a:solidFill>
                  <a:srgbClr val="1F4034"/>
                </a:solidFill>
                <a:latin typeface="Georgia"/>
              </a:rPr>
              <a:t>17</a:t>
            </a:r>
          </a:p>
        </p:txBody>
      </p:sp>
      <p:sp>
        <p:nvSpPr>
          <p:cNvPr id="14" name="TextBox 13"/>
          <p:cNvSpPr txBox="1"/>
          <p:nvPr/>
        </p:nvSpPr>
        <p:spPr>
          <a:xfrm>
            <a:off x="4681728" y="5550408"/>
            <a:ext cx="1920240" cy="274320"/>
          </a:xfrm>
          <a:prstGeom prst="rect">
            <a:avLst/>
          </a:prstGeom>
          <a:noFill/>
        </p:spPr>
        <p:txBody>
          <a:bodyPr wrap="square" lIns="0" rIns="0" tIns="0" bIns="0">
            <a:spAutoFit/>
          </a:bodyPr>
          <a:lstStyle/>
          <a:p>
            <a:pPr algn="l"/>
            <a:r>
              <a:rPr sz="1100" b="0" spc="100">
                <a:solidFill>
                  <a:srgbClr val="6C7A72"/>
                </a:solidFill>
                <a:latin typeface="Segoe UI"/>
              </a:rPr>
              <a:t>BUYING STATIONS</a:t>
            </a:r>
          </a:p>
        </p:txBody>
      </p:sp>
      <p:pic>
        <p:nvPicPr>
          <p:cNvPr id="15" name="Picture 14" descr="ops_farmer_training.jpg"/>
          <p:cNvPicPr>
            <a:picLocks noChangeAspect="1"/>
          </p:cNvPicPr>
          <p:nvPr/>
        </p:nvPicPr>
        <p:blipFill>
          <a:blip r:embed="rId2"/>
          <a:srcRect t="18502" b="18502"/>
          <a:stretch>
            <a:fillRect/>
          </a:stretch>
        </p:blipFill>
        <p:spPr>
          <a:xfrm>
            <a:off x="6903720" y="2359152"/>
            <a:ext cx="4626864" cy="3611880"/>
          </a:xfrm>
          <a:prstGeom prst="rect">
            <a:avLst/>
          </a:prstGeom>
        </p:spPr>
      </p:pic>
      <p:sp>
        <p:nvSpPr>
          <p:cNvPr id="16" name="Rectangle 15"/>
          <p:cNvSpPr/>
          <p:nvPr/>
        </p:nvSpPr>
        <p:spPr>
          <a:xfrm>
            <a:off x="6903720" y="569671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13448" y="5747004"/>
            <a:ext cx="4407407" cy="201168"/>
          </a:xfrm>
          <a:prstGeom prst="rect">
            <a:avLst/>
          </a:prstGeom>
          <a:noFill/>
        </p:spPr>
        <p:txBody>
          <a:bodyPr wrap="square" lIns="0" rIns="0" tIns="0" bIns="0">
            <a:spAutoFit/>
          </a:bodyPr>
          <a:lstStyle/>
          <a:p>
            <a:pPr algn="l"/>
            <a:r>
              <a:rPr sz="1100" b="1" spc="90">
                <a:solidFill>
                  <a:srgbClr val="FFFFFF"/>
                </a:solidFill>
                <a:latin typeface="Segoe UI"/>
              </a:rPr>
              <a:t>AGROFORESTRY ON RESTORED LAND</a:t>
            </a:r>
          </a:p>
        </p:txBody>
      </p:sp>
      <p:sp>
        <p:nvSpPr>
          <p:cNvPr id="18" name="TextBox 17"/>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19" name="TextBox 18"/>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02   ORIGIN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We began on land a gold mine left behind.</a:t>
            </a:r>
          </a:p>
        </p:txBody>
      </p:sp>
      <p:sp>
        <p:nvSpPr>
          <p:cNvPr id="7" name="TextBox 6"/>
          <p:cNvSpPr txBox="1"/>
          <p:nvPr/>
        </p:nvSpPr>
        <p:spPr>
          <a:xfrm>
            <a:off x="658368" y="2359152"/>
            <a:ext cx="10424160" cy="9144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PT Klumbayan Gold Farm was founded in Pesawaran, Lampung in 2022 with a single purpose: restore land degraded by former gold mining, and bring villagers back into professional farming through regenerative agribusiness. The company name records where that work began.</a:t>
            </a:r>
          </a:p>
        </p:txBody>
      </p:sp>
      <p:sp>
        <p:nvSpPr>
          <p:cNvPr id="8" name="Rectangle 7"/>
          <p:cNvSpPr/>
          <p:nvPr/>
        </p:nvSpPr>
        <p:spPr>
          <a:xfrm>
            <a:off x="658368" y="3749039"/>
            <a:ext cx="2430018" cy="960120"/>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3858768"/>
            <a:ext cx="2173986" cy="274320"/>
          </a:xfrm>
          <a:prstGeom prst="rect">
            <a:avLst/>
          </a:prstGeom>
          <a:noFill/>
        </p:spPr>
        <p:txBody>
          <a:bodyPr wrap="square" lIns="0" rIns="0" tIns="0" bIns="0">
            <a:spAutoFit/>
          </a:bodyPr>
          <a:lstStyle/>
          <a:p>
            <a:pPr algn="ctr"/>
            <a:r>
              <a:rPr sz="1300" b="1" spc="90">
                <a:solidFill>
                  <a:srgbClr val="141D18"/>
                </a:solidFill>
                <a:latin typeface="Segoe UI"/>
              </a:rPr>
              <a:t>DEGRADED</a:t>
            </a:r>
          </a:p>
        </p:txBody>
      </p:sp>
      <p:sp>
        <p:nvSpPr>
          <p:cNvPr id="10" name="TextBox 9"/>
          <p:cNvSpPr txBox="1"/>
          <p:nvPr/>
        </p:nvSpPr>
        <p:spPr>
          <a:xfrm>
            <a:off x="786384" y="4169663"/>
            <a:ext cx="2173986" cy="475488"/>
          </a:xfrm>
          <a:prstGeom prst="rect">
            <a:avLst/>
          </a:prstGeom>
          <a:noFill/>
        </p:spPr>
        <p:txBody>
          <a:bodyPr wrap="square" lIns="0" rIns="0" tIns="0" bIns="0">
            <a:spAutoFit/>
          </a:bodyPr>
          <a:lstStyle/>
          <a:p>
            <a:pPr algn="ctr">
              <a:lnSpc>
                <a:spcPct val="125000"/>
              </a:lnSpc>
            </a:pPr>
            <a:r>
              <a:rPr sz="1100" b="0">
                <a:solidFill>
                  <a:srgbClr val="3D4A43"/>
                </a:solidFill>
                <a:latin typeface="Segoe UI"/>
              </a:rPr>
              <a:t>Post-mining land, stripped and unproductive</a:t>
            </a:r>
          </a:p>
        </p:txBody>
      </p:sp>
      <p:sp>
        <p:nvSpPr>
          <p:cNvPr id="11" name="Right Arrow 10"/>
          <p:cNvSpPr/>
          <p:nvPr/>
        </p:nvSpPr>
        <p:spPr>
          <a:xfrm>
            <a:off x="3161538" y="4133087"/>
            <a:ext cx="237744"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2434" y="3749039"/>
            <a:ext cx="2430018" cy="960120"/>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858768"/>
            <a:ext cx="2173986" cy="274320"/>
          </a:xfrm>
          <a:prstGeom prst="rect">
            <a:avLst/>
          </a:prstGeom>
          <a:noFill/>
        </p:spPr>
        <p:txBody>
          <a:bodyPr wrap="square" lIns="0" rIns="0" tIns="0" bIns="0">
            <a:spAutoFit/>
          </a:bodyPr>
          <a:lstStyle/>
          <a:p>
            <a:pPr algn="ctr"/>
            <a:r>
              <a:rPr sz="1300" b="1" spc="90">
                <a:solidFill>
                  <a:srgbClr val="141D18"/>
                </a:solidFill>
                <a:latin typeface="Segoe UI"/>
              </a:rPr>
              <a:t>REPLANTED</a:t>
            </a:r>
          </a:p>
        </p:txBody>
      </p:sp>
      <p:sp>
        <p:nvSpPr>
          <p:cNvPr id="14" name="TextBox 13"/>
          <p:cNvSpPr txBox="1"/>
          <p:nvPr/>
        </p:nvSpPr>
        <p:spPr>
          <a:xfrm>
            <a:off x="3600450" y="4169663"/>
            <a:ext cx="2173986" cy="475488"/>
          </a:xfrm>
          <a:prstGeom prst="rect">
            <a:avLst/>
          </a:prstGeom>
          <a:noFill/>
        </p:spPr>
        <p:txBody>
          <a:bodyPr wrap="square" lIns="0" rIns="0" tIns="0" bIns="0">
            <a:spAutoFit/>
          </a:bodyPr>
          <a:lstStyle/>
          <a:p>
            <a:pPr algn="ctr">
              <a:lnSpc>
                <a:spcPct val="125000"/>
              </a:lnSpc>
            </a:pPr>
            <a:r>
              <a:rPr sz="1100" b="0">
                <a:solidFill>
                  <a:srgbClr val="3D4A43"/>
                </a:solidFill>
                <a:latin typeface="Segoe UI"/>
              </a:rPr>
              <a:t>Multi-strata agroforestry, not monoculture</a:t>
            </a:r>
          </a:p>
        </p:txBody>
      </p:sp>
      <p:sp>
        <p:nvSpPr>
          <p:cNvPr id="15" name="Right Arrow 14"/>
          <p:cNvSpPr/>
          <p:nvPr/>
        </p:nvSpPr>
        <p:spPr>
          <a:xfrm>
            <a:off x="5975604" y="4133087"/>
            <a:ext cx="237744"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86500" y="3749039"/>
            <a:ext cx="2430018" cy="960120"/>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3858768"/>
            <a:ext cx="2173986" cy="274320"/>
          </a:xfrm>
          <a:prstGeom prst="rect">
            <a:avLst/>
          </a:prstGeom>
          <a:noFill/>
        </p:spPr>
        <p:txBody>
          <a:bodyPr wrap="square" lIns="0" rIns="0" tIns="0" bIns="0">
            <a:spAutoFit/>
          </a:bodyPr>
          <a:lstStyle/>
          <a:p>
            <a:pPr algn="ctr"/>
            <a:r>
              <a:rPr sz="1300" b="1" spc="90">
                <a:solidFill>
                  <a:srgbClr val="141D18"/>
                </a:solidFill>
                <a:latin typeface="Segoe UI"/>
              </a:rPr>
              <a:t>PRODUCTIVE</a:t>
            </a:r>
          </a:p>
        </p:txBody>
      </p:sp>
      <p:sp>
        <p:nvSpPr>
          <p:cNvPr id="18" name="TextBox 17"/>
          <p:cNvSpPr txBox="1"/>
          <p:nvPr/>
        </p:nvSpPr>
        <p:spPr>
          <a:xfrm>
            <a:off x="6414516" y="4169663"/>
            <a:ext cx="2173986" cy="475488"/>
          </a:xfrm>
          <a:prstGeom prst="rect">
            <a:avLst/>
          </a:prstGeom>
          <a:noFill/>
        </p:spPr>
        <p:txBody>
          <a:bodyPr wrap="square" lIns="0" rIns="0" tIns="0" bIns="0">
            <a:spAutoFit/>
          </a:bodyPr>
          <a:lstStyle/>
          <a:p>
            <a:pPr algn="ctr">
              <a:lnSpc>
                <a:spcPct val="125000"/>
              </a:lnSpc>
            </a:pPr>
            <a:r>
              <a:rPr sz="1100" b="0">
                <a:solidFill>
                  <a:srgbClr val="3D4A43"/>
                </a:solidFill>
                <a:latin typeface="Segoe UI"/>
              </a:rPr>
              <a:t>Pepper, robusta and cocoa grown under shade</a:t>
            </a:r>
          </a:p>
        </p:txBody>
      </p:sp>
      <p:sp>
        <p:nvSpPr>
          <p:cNvPr id="19" name="Right Arrow 18"/>
          <p:cNvSpPr/>
          <p:nvPr/>
        </p:nvSpPr>
        <p:spPr>
          <a:xfrm>
            <a:off x="8789670" y="4133087"/>
            <a:ext cx="237744"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0566" y="3749039"/>
            <a:ext cx="2430018" cy="960120"/>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28582" y="3858768"/>
            <a:ext cx="2173986" cy="274320"/>
          </a:xfrm>
          <a:prstGeom prst="rect">
            <a:avLst/>
          </a:prstGeom>
          <a:noFill/>
        </p:spPr>
        <p:txBody>
          <a:bodyPr wrap="square" lIns="0" rIns="0" tIns="0" bIns="0">
            <a:spAutoFit/>
          </a:bodyPr>
          <a:lstStyle/>
          <a:p>
            <a:pPr algn="ctr"/>
            <a:r>
              <a:rPr sz="1300" b="1" spc="90">
                <a:solidFill>
                  <a:srgbClr val="141D18"/>
                </a:solidFill>
                <a:latin typeface="Segoe UI"/>
              </a:rPr>
              <a:t>TRADED</a:t>
            </a:r>
          </a:p>
        </p:txBody>
      </p:sp>
      <p:sp>
        <p:nvSpPr>
          <p:cNvPr id="22" name="TextBox 21"/>
          <p:cNvSpPr txBox="1"/>
          <p:nvPr/>
        </p:nvSpPr>
        <p:spPr>
          <a:xfrm>
            <a:off x="9228582" y="4169663"/>
            <a:ext cx="2173986" cy="475488"/>
          </a:xfrm>
          <a:prstGeom prst="rect">
            <a:avLst/>
          </a:prstGeom>
          <a:noFill/>
        </p:spPr>
        <p:txBody>
          <a:bodyPr wrap="square" lIns="0" rIns="0" tIns="0" bIns="0">
            <a:spAutoFit/>
          </a:bodyPr>
          <a:lstStyle/>
          <a:p>
            <a:pPr algn="ctr">
              <a:lnSpc>
                <a:spcPct val="125000"/>
              </a:lnSpc>
            </a:pPr>
            <a:r>
              <a:rPr sz="1100" b="0">
                <a:solidFill>
                  <a:srgbClr val="3D4A43"/>
                </a:solidFill>
                <a:latin typeface="Segoe UI"/>
              </a:rPr>
              <a:t>Contracted into European supply chains</a:t>
            </a:r>
          </a:p>
        </p:txBody>
      </p:sp>
      <p:sp>
        <p:nvSpPr>
          <p:cNvPr id="23" name="TextBox 22"/>
          <p:cNvSpPr txBox="1"/>
          <p:nvPr/>
        </p:nvSpPr>
        <p:spPr>
          <a:xfrm>
            <a:off x="658368" y="5120640"/>
            <a:ext cx="10424160" cy="822960"/>
          </a:xfrm>
          <a:prstGeom prst="rect">
            <a:avLst/>
          </a:prstGeom>
          <a:noFill/>
        </p:spPr>
        <p:txBody>
          <a:bodyPr wrap="square" lIns="0" rIns="0" tIns="0" bIns="0">
            <a:spAutoFit/>
          </a:bodyPr>
          <a:lstStyle/>
          <a:p>
            <a:pPr algn="l">
              <a:lnSpc>
                <a:spcPct val="122000"/>
              </a:lnSpc>
            </a:pPr>
            <a:r>
              <a:rPr sz="2000" b="1">
                <a:solidFill>
                  <a:srgbClr val="1F4034"/>
                </a:solidFill>
                <a:latin typeface="Georgia"/>
              </a:rPr>
              <a:t>We did not add sustainability to a trading business. We added a trading business to a restoration project.</a:t>
            </a:r>
          </a:p>
        </p:txBody>
      </p:sp>
      <p:sp>
        <p:nvSpPr>
          <p:cNvPr id="24" name="TextBox 23"/>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5" name="TextBox 24"/>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03   CIRCULARITY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Where the circularity actually is.</a:t>
            </a:r>
          </a:p>
        </p:txBody>
      </p:sp>
      <p:sp>
        <p:nvSpPr>
          <p:cNvPr id="7" name="TextBox 6"/>
          <p:cNvSpPr txBox="1"/>
          <p:nvPr/>
        </p:nvSpPr>
        <p:spPr>
          <a:xfrm>
            <a:off x="658368" y="2304288"/>
            <a:ext cx="10424160" cy="365760"/>
          </a:xfrm>
          <a:prstGeom prst="rect">
            <a:avLst/>
          </a:prstGeom>
          <a:noFill/>
        </p:spPr>
        <p:txBody>
          <a:bodyPr wrap="square" lIns="0" rIns="0" tIns="0" bIns="0">
            <a:spAutoFit/>
          </a:bodyPr>
          <a:lstStyle/>
          <a:p>
            <a:pPr algn="l"/>
            <a:r>
              <a:rPr sz="1600" b="0">
                <a:solidFill>
                  <a:srgbClr val="6C7A72"/>
                </a:solidFill>
                <a:latin typeface="Segoe UI"/>
              </a:rPr>
              <a:t>A spice company is not an obvious circular business, so we will be precise.</a:t>
            </a:r>
          </a:p>
        </p:txBody>
      </p:sp>
      <p:sp>
        <p:nvSpPr>
          <p:cNvPr id="8" name="Rectangle 7"/>
          <p:cNvSpPr/>
          <p:nvPr/>
        </p:nvSpPr>
        <p:spPr>
          <a:xfrm>
            <a:off x="658368" y="2788920"/>
            <a:ext cx="251231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971800"/>
            <a:ext cx="2512314" cy="603504"/>
          </a:xfrm>
          <a:prstGeom prst="rect">
            <a:avLst/>
          </a:prstGeom>
          <a:noFill/>
        </p:spPr>
        <p:txBody>
          <a:bodyPr wrap="square" lIns="0" rIns="0" tIns="0" bIns="0">
            <a:spAutoFit/>
          </a:bodyPr>
          <a:lstStyle/>
          <a:p>
            <a:pPr algn="l">
              <a:lnSpc>
                <a:spcPct val="114000"/>
              </a:lnSpc>
            </a:pPr>
            <a:r>
              <a:rPr sz="2000" b="1">
                <a:solidFill>
                  <a:srgbClr val="141D18"/>
                </a:solidFill>
                <a:latin typeface="Segoe UI"/>
              </a:rPr>
              <a:t>Circular land use</a:t>
            </a:r>
          </a:p>
        </p:txBody>
      </p:sp>
      <p:sp>
        <p:nvSpPr>
          <p:cNvPr id="10" name="TextBox 9"/>
          <p:cNvSpPr txBox="1"/>
          <p:nvPr/>
        </p:nvSpPr>
        <p:spPr>
          <a:xfrm>
            <a:off x="658368" y="3675887"/>
            <a:ext cx="2512314" cy="1828800"/>
          </a:xfrm>
          <a:prstGeom prst="rect">
            <a:avLst/>
          </a:prstGeom>
          <a:noFill/>
        </p:spPr>
        <p:txBody>
          <a:bodyPr wrap="square" lIns="0" rIns="0" tIns="0" bIns="0">
            <a:spAutoFit/>
          </a:bodyPr>
          <a:lstStyle/>
          <a:p>
            <a:pPr algn="l">
              <a:lnSpc>
                <a:spcPct val="134000"/>
              </a:lnSpc>
            </a:pPr>
            <a:r>
              <a:rPr sz="1600" b="0">
                <a:solidFill>
                  <a:srgbClr val="3D4A43"/>
                </a:solidFill>
                <a:latin typeface="Segoe UI"/>
              </a:rPr>
              <a:t>Degraded and post-mining land restored into production instead of clearing forest to expand. Audited by GIZ under aGROWforests.</a:t>
            </a:r>
          </a:p>
        </p:txBody>
      </p:sp>
      <p:sp>
        <p:nvSpPr>
          <p:cNvPr id="11" name="Rectangle 10"/>
          <p:cNvSpPr/>
          <p:nvPr/>
        </p:nvSpPr>
        <p:spPr>
          <a:xfrm>
            <a:off x="3445002" y="2788920"/>
            <a:ext cx="251231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5002" y="2971800"/>
            <a:ext cx="2512314" cy="603504"/>
          </a:xfrm>
          <a:prstGeom prst="rect">
            <a:avLst/>
          </a:prstGeom>
          <a:noFill/>
        </p:spPr>
        <p:txBody>
          <a:bodyPr wrap="square" lIns="0" rIns="0" tIns="0" bIns="0">
            <a:spAutoFit/>
          </a:bodyPr>
          <a:lstStyle/>
          <a:p>
            <a:pPr algn="l">
              <a:lnSpc>
                <a:spcPct val="114000"/>
              </a:lnSpc>
            </a:pPr>
            <a:r>
              <a:rPr sz="2000" b="1">
                <a:solidFill>
                  <a:srgbClr val="141D18"/>
                </a:solidFill>
                <a:latin typeface="Segoe UI"/>
              </a:rPr>
              <a:t>Residue returned to soil</a:t>
            </a:r>
          </a:p>
        </p:txBody>
      </p:sp>
      <p:sp>
        <p:nvSpPr>
          <p:cNvPr id="13" name="TextBox 12"/>
          <p:cNvSpPr txBox="1"/>
          <p:nvPr/>
        </p:nvSpPr>
        <p:spPr>
          <a:xfrm>
            <a:off x="3445002" y="3675887"/>
            <a:ext cx="2512314" cy="1828800"/>
          </a:xfrm>
          <a:prstGeom prst="rect">
            <a:avLst/>
          </a:prstGeom>
          <a:noFill/>
        </p:spPr>
        <p:txBody>
          <a:bodyPr wrap="square" lIns="0" rIns="0" tIns="0" bIns="0">
            <a:spAutoFit/>
          </a:bodyPr>
          <a:lstStyle/>
          <a:p>
            <a:pPr algn="l">
              <a:lnSpc>
                <a:spcPct val="134000"/>
              </a:lnSpc>
            </a:pPr>
            <a:r>
              <a:rPr sz="1600" b="0">
                <a:solidFill>
                  <a:srgbClr val="3D4A43"/>
                </a:solidFill>
                <a:latin typeface="Segoe UI"/>
              </a:rPr>
              <a:t>Composting runs at our LKC and Taman Sari motherplants, plus two communal units in Ulu Belu. Over 10 tonnes distributed so far.</a:t>
            </a:r>
          </a:p>
        </p:txBody>
      </p:sp>
      <p:sp>
        <p:nvSpPr>
          <p:cNvPr id="14" name="Rectangle 13"/>
          <p:cNvSpPr/>
          <p:nvPr/>
        </p:nvSpPr>
        <p:spPr>
          <a:xfrm>
            <a:off x="6231636" y="2788920"/>
            <a:ext cx="251231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1636" y="2971800"/>
            <a:ext cx="2512314" cy="603504"/>
          </a:xfrm>
          <a:prstGeom prst="rect">
            <a:avLst/>
          </a:prstGeom>
          <a:noFill/>
        </p:spPr>
        <p:txBody>
          <a:bodyPr wrap="square" lIns="0" rIns="0" tIns="0" bIns="0">
            <a:spAutoFit/>
          </a:bodyPr>
          <a:lstStyle/>
          <a:p>
            <a:pPr algn="l">
              <a:lnSpc>
                <a:spcPct val="114000"/>
              </a:lnSpc>
            </a:pPr>
            <a:r>
              <a:rPr sz="2000" b="1">
                <a:solidFill>
                  <a:srgbClr val="141D18"/>
                </a:solidFill>
                <a:latin typeface="Segoe UI"/>
              </a:rPr>
              <a:t>Verification, not assertion</a:t>
            </a:r>
          </a:p>
        </p:txBody>
      </p:sp>
      <p:sp>
        <p:nvSpPr>
          <p:cNvPr id="16" name="TextBox 15"/>
          <p:cNvSpPr txBox="1"/>
          <p:nvPr/>
        </p:nvSpPr>
        <p:spPr>
          <a:xfrm>
            <a:off x="6231636" y="3675887"/>
            <a:ext cx="2512314" cy="1828800"/>
          </a:xfrm>
          <a:prstGeom prst="rect">
            <a:avLst/>
          </a:prstGeom>
          <a:noFill/>
        </p:spPr>
        <p:txBody>
          <a:bodyPr wrap="square" lIns="0" rIns="0" tIns="0" bIns="0">
            <a:spAutoFit/>
          </a:bodyPr>
          <a:lstStyle/>
          <a:p>
            <a:pPr algn="l">
              <a:lnSpc>
                <a:spcPct val="134000"/>
              </a:lnSpc>
            </a:pPr>
            <a:r>
              <a:rPr sz="1600" b="0">
                <a:solidFill>
                  <a:srgbClr val="3D4A43"/>
                </a:solidFill>
                <a:latin typeface="Segoe UI"/>
              </a:rPr>
              <a:t>Plot polygons and every transaction recorded in TAPAK, so a restoration or deforestation-free claim can be checked by a third party.</a:t>
            </a:r>
          </a:p>
        </p:txBody>
      </p:sp>
      <p:sp>
        <p:nvSpPr>
          <p:cNvPr id="17" name="Rectangle 16"/>
          <p:cNvSpPr/>
          <p:nvPr/>
        </p:nvSpPr>
        <p:spPr>
          <a:xfrm>
            <a:off x="9018270" y="2788920"/>
            <a:ext cx="2512314"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8270" y="2971800"/>
            <a:ext cx="2512314" cy="603504"/>
          </a:xfrm>
          <a:prstGeom prst="rect">
            <a:avLst/>
          </a:prstGeom>
          <a:noFill/>
        </p:spPr>
        <p:txBody>
          <a:bodyPr wrap="square" lIns="0" rIns="0" tIns="0" bIns="0">
            <a:spAutoFit/>
          </a:bodyPr>
          <a:lstStyle/>
          <a:p>
            <a:pPr algn="l">
              <a:lnSpc>
                <a:spcPct val="114000"/>
              </a:lnSpc>
            </a:pPr>
            <a:r>
              <a:rPr sz="2000" b="1">
                <a:solidFill>
                  <a:srgbClr val="141D18"/>
                </a:solidFill>
                <a:latin typeface="Segoe UI"/>
              </a:rPr>
              <a:t>Value kept at origin</a:t>
            </a:r>
          </a:p>
        </p:txBody>
      </p:sp>
      <p:sp>
        <p:nvSpPr>
          <p:cNvPr id="19" name="TextBox 18"/>
          <p:cNvSpPr txBox="1"/>
          <p:nvPr/>
        </p:nvSpPr>
        <p:spPr>
          <a:xfrm>
            <a:off x="9018270" y="3675887"/>
            <a:ext cx="2512314" cy="1828800"/>
          </a:xfrm>
          <a:prstGeom prst="rect">
            <a:avLst/>
          </a:prstGeom>
          <a:noFill/>
        </p:spPr>
        <p:txBody>
          <a:bodyPr wrap="square" lIns="0" rIns="0" tIns="0" bIns="0">
            <a:spAutoFit/>
          </a:bodyPr>
          <a:lstStyle/>
          <a:p>
            <a:pPr algn="l">
              <a:lnSpc>
                <a:spcPct val="134000"/>
              </a:lnSpc>
            </a:pPr>
            <a:r>
              <a:rPr sz="1600" b="0">
                <a:solidFill>
                  <a:srgbClr val="3D4A43"/>
                </a:solidFill>
                <a:latin typeface="Segoe UI"/>
              </a:rPr>
              <a:t>Cocoa processed into powder and nibs in Lampung rather than exported as raw beans, so processing value stays in the producing region.</a:t>
            </a:r>
          </a:p>
        </p:txBody>
      </p:sp>
      <p:sp>
        <p:nvSpPr>
          <p:cNvPr id="20" name="TextBox 19"/>
          <p:cNvSpPr txBox="1"/>
          <p:nvPr/>
        </p:nvSpPr>
        <p:spPr>
          <a:xfrm>
            <a:off x="658368" y="5833872"/>
            <a:ext cx="10424160" cy="457200"/>
          </a:xfrm>
          <a:prstGeom prst="rect">
            <a:avLst/>
          </a:prstGeom>
          <a:noFill/>
        </p:spPr>
        <p:txBody>
          <a:bodyPr wrap="square" lIns="0" rIns="0" tIns="0" bIns="0">
            <a:spAutoFit/>
          </a:bodyPr>
          <a:lstStyle/>
          <a:p>
            <a:pPr algn="l"/>
            <a:r>
              <a:rPr sz="1300" b="1">
                <a:solidFill>
                  <a:srgbClr val="9A7526"/>
                </a:solidFill>
                <a:latin typeface="Segoe UI"/>
              </a:rPr>
              <a:t>ICIF category 03, Circular Food and Agriculture, with a second fit in category 04, Bio Material and Biomass Innovation.</a:t>
            </a:r>
          </a:p>
        </p:txBody>
      </p:sp>
      <p:sp>
        <p:nvSpPr>
          <p:cNvPr id="21" name="TextBox 20"/>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2" name="TextBox 21"/>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04   FROM WASTE TO WORTH</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A buyer asked for the pod, not the bean.</a:t>
            </a:r>
          </a:p>
        </p:txBody>
      </p:sp>
      <p:sp>
        <p:nvSpPr>
          <p:cNvPr id="7" name="TextBox 6"/>
          <p:cNvSpPr txBox="1"/>
          <p:nvPr/>
        </p:nvSpPr>
        <p:spPr>
          <a:xfrm>
            <a:off x="658368" y="2359152"/>
            <a:ext cx="5852160" cy="13716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An overseas buyer travelled to Lampung, inspected our gardens and processing line, and enquired about black pepper, robusta green beans, cocoa beans and processed cocoa, and cocoa pods.</a:t>
            </a:r>
          </a:p>
        </p:txBody>
      </p:sp>
      <p:sp>
        <p:nvSpPr>
          <p:cNvPr id="8" name="TextBox 7"/>
          <p:cNvSpPr txBox="1"/>
          <p:nvPr/>
        </p:nvSpPr>
        <p:spPr>
          <a:xfrm>
            <a:off x="658368" y="3401568"/>
            <a:ext cx="5852160" cy="914400"/>
          </a:xfrm>
          <a:prstGeom prst="rect">
            <a:avLst/>
          </a:prstGeom>
          <a:noFill/>
        </p:spPr>
        <p:txBody>
          <a:bodyPr wrap="square" lIns="0" rIns="0" tIns="0" bIns="0">
            <a:spAutoFit/>
          </a:bodyPr>
          <a:lstStyle/>
          <a:p>
            <a:pPr algn="l">
              <a:lnSpc>
                <a:spcPct val="122000"/>
              </a:lnSpc>
            </a:pPr>
            <a:r>
              <a:rPr sz="2000" b="1">
                <a:solidFill>
                  <a:srgbClr val="1F4034"/>
                </a:solidFill>
                <a:latin typeface="Georgia"/>
              </a:rPr>
              <a:t>A buyer asking for the pod is evidence that what a conventional exporter treats as a disposal cost already has a market.</a:t>
            </a:r>
          </a:p>
        </p:txBody>
      </p:sp>
      <p:sp>
        <p:nvSpPr>
          <p:cNvPr id="9" name="Rectangle 8"/>
          <p:cNvSpPr/>
          <p:nvPr/>
        </p:nvSpPr>
        <p:spPr>
          <a:xfrm>
            <a:off x="658368" y="4526280"/>
            <a:ext cx="5852160" cy="1627632"/>
          </a:xfrm>
          <a:prstGeom prst="rect">
            <a:avLst/>
          </a:prstGeom>
          <a:solidFill>
            <a:srgbClr val="F7F2E4"/>
          </a:solidFill>
          <a:ln w="9525">
            <a:solidFill>
              <a:srgbClr val="9A7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654296"/>
            <a:ext cx="3383280" cy="237744"/>
          </a:xfrm>
          <a:prstGeom prst="rect">
            <a:avLst/>
          </a:prstGeom>
          <a:noFill/>
        </p:spPr>
        <p:txBody>
          <a:bodyPr wrap="square" lIns="0" rIns="0" tIns="0" bIns="0">
            <a:spAutoFit/>
          </a:bodyPr>
          <a:lstStyle/>
          <a:p>
            <a:pPr algn="l"/>
            <a:r>
              <a:rPr sz="1100" b="1" spc="110">
                <a:solidFill>
                  <a:srgbClr val="9A7526"/>
                </a:solidFill>
                <a:latin typeface="Segoe UI"/>
              </a:rPr>
              <a:t>COMPOSTING ALREADY RUNNING</a:t>
            </a:r>
          </a:p>
        </p:txBody>
      </p:sp>
      <p:sp>
        <p:nvSpPr>
          <p:cNvPr id="11" name="TextBox 10"/>
          <p:cNvSpPr txBox="1"/>
          <p:nvPr/>
        </p:nvSpPr>
        <p:spPr>
          <a:xfrm>
            <a:off x="859536" y="4928616"/>
            <a:ext cx="3291840" cy="1060704"/>
          </a:xfrm>
          <a:prstGeom prst="rect">
            <a:avLst/>
          </a:prstGeom>
          <a:noFill/>
        </p:spPr>
        <p:txBody>
          <a:bodyPr wrap="square" lIns="0" rIns="0" tIns="0" bIns="0">
            <a:spAutoFit/>
          </a:bodyPr>
          <a:lstStyle/>
          <a:p>
            <a:pPr algn="l">
              <a:lnSpc>
                <a:spcPct val="130000"/>
              </a:lnSpc>
            </a:pPr>
            <a:r>
              <a:rPr sz="1600" b="0">
                <a:solidFill>
                  <a:srgbClr val="3D4A43"/>
                </a:solidFill>
                <a:latin typeface="Segoe UI"/>
              </a:rPr>
              <a:t>LKC and Taman Sari motherplant, plus two communal units in Ulu Belu. Farmers are trained to make their own.</a:t>
            </a:r>
          </a:p>
        </p:txBody>
      </p:sp>
      <p:sp>
        <p:nvSpPr>
          <p:cNvPr id="12" name="TextBox 11"/>
          <p:cNvSpPr txBox="1"/>
          <p:nvPr/>
        </p:nvSpPr>
        <p:spPr>
          <a:xfrm>
            <a:off x="4361688" y="4864608"/>
            <a:ext cx="1920240" cy="512064"/>
          </a:xfrm>
          <a:prstGeom prst="rect">
            <a:avLst/>
          </a:prstGeom>
          <a:noFill/>
        </p:spPr>
        <p:txBody>
          <a:bodyPr wrap="square" lIns="0" rIns="0" tIns="0" bIns="0">
            <a:spAutoFit/>
          </a:bodyPr>
          <a:lstStyle/>
          <a:p>
            <a:pPr algn="l"/>
            <a:r>
              <a:rPr sz="3200" b="1">
                <a:solidFill>
                  <a:srgbClr val="1F4034"/>
                </a:solidFill>
                <a:latin typeface="Georgia"/>
              </a:rPr>
              <a:t>10+ MT</a:t>
            </a:r>
          </a:p>
        </p:txBody>
      </p:sp>
      <p:sp>
        <p:nvSpPr>
          <p:cNvPr id="13" name="TextBox 12"/>
          <p:cNvSpPr txBox="1"/>
          <p:nvPr/>
        </p:nvSpPr>
        <p:spPr>
          <a:xfrm>
            <a:off x="4361688" y="5404104"/>
            <a:ext cx="2011680" cy="438912"/>
          </a:xfrm>
          <a:prstGeom prst="rect">
            <a:avLst/>
          </a:prstGeom>
          <a:noFill/>
        </p:spPr>
        <p:txBody>
          <a:bodyPr wrap="square" lIns="0" rIns="0" tIns="0" bIns="0">
            <a:spAutoFit/>
          </a:bodyPr>
          <a:lstStyle/>
          <a:p>
            <a:pPr algn="l">
              <a:lnSpc>
                <a:spcPct val="125000"/>
              </a:lnSpc>
            </a:pPr>
            <a:r>
              <a:rPr sz="1100" b="0" spc="90">
                <a:solidFill>
                  <a:srgbClr val="6C7A72"/>
                </a:solidFill>
                <a:latin typeface="Segoe UI"/>
              </a:rPr>
              <a:t>COMPOST DISTRIBUTED TO FARMERS</a:t>
            </a:r>
          </a:p>
        </p:txBody>
      </p:sp>
      <p:pic>
        <p:nvPicPr>
          <p:cNvPr id="14" name="Picture 13" descr="ops_cacao_winnowing.jpg"/>
          <p:cNvPicPr>
            <a:picLocks noChangeAspect="1"/>
          </p:cNvPicPr>
          <p:nvPr/>
        </p:nvPicPr>
        <p:blipFill>
          <a:blip r:embed="rId2"/>
          <a:srcRect t="13336" b="13336"/>
          <a:stretch>
            <a:fillRect/>
          </a:stretch>
        </p:blipFill>
        <p:spPr>
          <a:xfrm>
            <a:off x="6903720" y="2359152"/>
            <a:ext cx="4626864" cy="1874519"/>
          </a:xfrm>
          <a:prstGeom prst="rect">
            <a:avLst/>
          </a:prstGeom>
        </p:spPr>
      </p:pic>
      <p:sp>
        <p:nvSpPr>
          <p:cNvPr id="15" name="Rectangle 14"/>
          <p:cNvSpPr/>
          <p:nvPr/>
        </p:nvSpPr>
        <p:spPr>
          <a:xfrm>
            <a:off x="6903720" y="3959352"/>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13448" y="4009644"/>
            <a:ext cx="4407407" cy="201168"/>
          </a:xfrm>
          <a:prstGeom prst="rect">
            <a:avLst/>
          </a:prstGeom>
          <a:noFill/>
        </p:spPr>
        <p:txBody>
          <a:bodyPr wrap="square" lIns="0" rIns="0" tIns="0" bIns="0">
            <a:spAutoFit/>
          </a:bodyPr>
          <a:lstStyle/>
          <a:p>
            <a:pPr algn="l"/>
            <a:r>
              <a:rPr sz="1100" b="1" spc="90">
                <a:solidFill>
                  <a:srgbClr val="FFFFFF"/>
                </a:solidFill>
                <a:latin typeface="Segoe UI"/>
              </a:rPr>
              <a:t>CACAO WINNOWING</a:t>
            </a:r>
          </a:p>
        </p:txBody>
      </p:sp>
      <p:pic>
        <p:nvPicPr>
          <p:cNvPr id="17" name="Picture 16" descr="ops_cacao_roasting.jpg"/>
          <p:cNvPicPr>
            <a:picLocks noChangeAspect="1"/>
          </p:cNvPicPr>
          <p:nvPr/>
        </p:nvPicPr>
        <p:blipFill>
          <a:blip r:embed="rId3"/>
          <a:srcRect t="33653" b="33653"/>
          <a:stretch>
            <a:fillRect/>
          </a:stretch>
        </p:blipFill>
        <p:spPr>
          <a:xfrm>
            <a:off x="6903720" y="4315968"/>
            <a:ext cx="4626864" cy="1874519"/>
          </a:xfrm>
          <a:prstGeom prst="rect">
            <a:avLst/>
          </a:prstGeom>
        </p:spPr>
      </p:pic>
      <p:sp>
        <p:nvSpPr>
          <p:cNvPr id="18" name="Rectangle 17"/>
          <p:cNvSpPr/>
          <p:nvPr/>
        </p:nvSpPr>
        <p:spPr>
          <a:xfrm>
            <a:off x="6903720" y="5916168"/>
            <a:ext cx="462686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3448" y="5966459"/>
            <a:ext cx="4407407" cy="201168"/>
          </a:xfrm>
          <a:prstGeom prst="rect">
            <a:avLst/>
          </a:prstGeom>
          <a:noFill/>
        </p:spPr>
        <p:txBody>
          <a:bodyPr wrap="square" lIns="0" rIns="0" tIns="0" bIns="0">
            <a:spAutoFit/>
          </a:bodyPr>
          <a:lstStyle/>
          <a:p>
            <a:pPr algn="l"/>
            <a:r>
              <a:rPr sz="1100" b="1" spc="90">
                <a:solidFill>
                  <a:srgbClr val="FFFFFF"/>
                </a:solidFill>
                <a:latin typeface="Segoe UI"/>
              </a:rPr>
              <a:t>DOWNSTREAM PROCESSING IN LAMPUNG</a:t>
            </a:r>
          </a:p>
        </p:txBody>
      </p:sp>
      <p:sp>
        <p:nvSpPr>
          <p:cNvPr id="20" name="TextBox 19"/>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1" name="TextBox 20"/>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05   THE MODEL</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One company from the plot to the container.</a:t>
            </a:r>
          </a:p>
        </p:txBody>
      </p:sp>
      <p:sp>
        <p:nvSpPr>
          <p:cNvPr id="7" name="Rectangle 6"/>
          <p:cNvSpPr/>
          <p:nvPr/>
        </p:nvSpPr>
        <p:spPr>
          <a:xfrm>
            <a:off x="658368" y="2395728"/>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14600"/>
            <a:ext cx="2103120" cy="256032"/>
          </a:xfrm>
          <a:prstGeom prst="rect">
            <a:avLst/>
          </a:prstGeom>
          <a:noFill/>
        </p:spPr>
        <p:txBody>
          <a:bodyPr wrap="square" lIns="0" rIns="0" tIns="0" bIns="0">
            <a:spAutoFit/>
          </a:bodyPr>
          <a:lstStyle/>
          <a:p>
            <a:pPr algn="ctr"/>
            <a:r>
              <a:rPr sz="1300" b="1" spc="90">
                <a:solidFill>
                  <a:srgbClr val="141D18"/>
                </a:solidFill>
                <a:latin typeface="Segoe UI"/>
              </a:rPr>
              <a:t>FARMERS</a:t>
            </a:r>
          </a:p>
        </p:txBody>
      </p:sp>
      <p:sp>
        <p:nvSpPr>
          <p:cNvPr id="9" name="TextBox 8"/>
          <p:cNvSpPr txBox="1"/>
          <p:nvPr/>
        </p:nvSpPr>
        <p:spPr>
          <a:xfrm>
            <a:off x="804672" y="2825496"/>
            <a:ext cx="2103120" cy="310896"/>
          </a:xfrm>
          <a:prstGeom prst="rect">
            <a:avLst/>
          </a:prstGeom>
          <a:noFill/>
        </p:spPr>
        <p:txBody>
          <a:bodyPr wrap="square" lIns="0" rIns="0" tIns="0" bIns="0">
            <a:spAutoFit/>
          </a:bodyPr>
          <a:lstStyle/>
          <a:p>
            <a:pPr algn="ctr"/>
            <a:r>
              <a:rPr sz="1300" b="0">
                <a:solidFill>
                  <a:srgbClr val="3D4A43"/>
                </a:solidFill>
                <a:latin typeface="Segoe UI"/>
              </a:rPr>
              <a:t>1,250 registered</a:t>
            </a:r>
          </a:p>
        </p:txBody>
      </p:sp>
      <p:sp>
        <p:nvSpPr>
          <p:cNvPr id="10" name="Right Arrow 9"/>
          <p:cNvSpPr/>
          <p:nvPr/>
        </p:nvSpPr>
        <p:spPr>
          <a:xfrm>
            <a:off x="3136391" y="2715768"/>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83863" y="2395728"/>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168" y="2514600"/>
            <a:ext cx="2103120" cy="256032"/>
          </a:xfrm>
          <a:prstGeom prst="rect">
            <a:avLst/>
          </a:prstGeom>
          <a:noFill/>
        </p:spPr>
        <p:txBody>
          <a:bodyPr wrap="square" lIns="0" rIns="0" tIns="0" bIns="0">
            <a:spAutoFit/>
          </a:bodyPr>
          <a:lstStyle/>
          <a:p>
            <a:pPr algn="ctr"/>
            <a:r>
              <a:rPr sz="1300" b="1" spc="90">
                <a:solidFill>
                  <a:srgbClr val="141D18"/>
                </a:solidFill>
                <a:latin typeface="Segoe UI"/>
              </a:rPr>
              <a:t>BUYING STATIONS</a:t>
            </a:r>
          </a:p>
        </p:txBody>
      </p:sp>
      <p:sp>
        <p:nvSpPr>
          <p:cNvPr id="13" name="TextBox 12"/>
          <p:cNvSpPr txBox="1"/>
          <p:nvPr/>
        </p:nvSpPr>
        <p:spPr>
          <a:xfrm>
            <a:off x="3630168" y="2825496"/>
            <a:ext cx="2103120" cy="310896"/>
          </a:xfrm>
          <a:prstGeom prst="rect">
            <a:avLst/>
          </a:prstGeom>
          <a:noFill/>
        </p:spPr>
        <p:txBody>
          <a:bodyPr wrap="square" lIns="0" rIns="0" tIns="0" bIns="0">
            <a:spAutoFit/>
          </a:bodyPr>
          <a:lstStyle/>
          <a:p>
            <a:pPr algn="ctr"/>
            <a:r>
              <a:rPr sz="1300" b="0">
                <a:solidFill>
                  <a:srgbClr val="3D4A43"/>
                </a:solidFill>
                <a:latin typeface="Segoe UI"/>
              </a:rPr>
              <a:t>17 verified</a:t>
            </a:r>
          </a:p>
        </p:txBody>
      </p:sp>
      <p:sp>
        <p:nvSpPr>
          <p:cNvPr id="14" name="Right Arrow 13"/>
          <p:cNvSpPr/>
          <p:nvPr/>
        </p:nvSpPr>
        <p:spPr>
          <a:xfrm>
            <a:off x="5961888" y="2715768"/>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59" y="2395728"/>
            <a:ext cx="2395728" cy="841248"/>
          </a:xfrm>
          <a:prstGeom prst="rect">
            <a:avLst/>
          </a:prstGeom>
          <a:solidFill>
            <a:srgbClr val="FFFFFF"/>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2514600"/>
            <a:ext cx="2103120" cy="256032"/>
          </a:xfrm>
          <a:prstGeom prst="rect">
            <a:avLst/>
          </a:prstGeom>
          <a:noFill/>
        </p:spPr>
        <p:txBody>
          <a:bodyPr wrap="square" lIns="0" rIns="0" tIns="0" bIns="0">
            <a:spAutoFit/>
          </a:bodyPr>
          <a:lstStyle/>
          <a:p>
            <a:pPr algn="ctr"/>
            <a:r>
              <a:rPr sz="1300" b="1" spc="90">
                <a:solidFill>
                  <a:srgbClr val="141D18"/>
                </a:solidFill>
                <a:latin typeface="Segoe UI"/>
              </a:rPr>
              <a:t>GUDANG NATAR</a:t>
            </a:r>
          </a:p>
        </p:txBody>
      </p:sp>
      <p:sp>
        <p:nvSpPr>
          <p:cNvPr id="17" name="TextBox 16"/>
          <p:cNvSpPr txBox="1"/>
          <p:nvPr/>
        </p:nvSpPr>
        <p:spPr>
          <a:xfrm>
            <a:off x="6455664" y="2825496"/>
            <a:ext cx="2103120" cy="310896"/>
          </a:xfrm>
          <a:prstGeom prst="rect">
            <a:avLst/>
          </a:prstGeom>
          <a:noFill/>
        </p:spPr>
        <p:txBody>
          <a:bodyPr wrap="square" lIns="0" rIns="0" tIns="0" bIns="0">
            <a:spAutoFit/>
          </a:bodyPr>
          <a:lstStyle/>
          <a:p>
            <a:pPr algn="ctr"/>
            <a:r>
              <a:rPr sz="1300" b="0">
                <a:solidFill>
                  <a:srgbClr val="3D4A43"/>
                </a:solidFill>
                <a:latin typeface="Segoe UI"/>
              </a:rPr>
              <a:t>2,000 tonnes</a:t>
            </a:r>
          </a:p>
        </p:txBody>
      </p:sp>
      <p:sp>
        <p:nvSpPr>
          <p:cNvPr id="18" name="Right Arrow 17"/>
          <p:cNvSpPr/>
          <p:nvPr/>
        </p:nvSpPr>
        <p:spPr>
          <a:xfrm>
            <a:off x="8787384" y="2715768"/>
            <a:ext cx="265176" cy="201168"/>
          </a:xfrm>
          <a:prstGeom prst="rightArrow">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34856" y="2395728"/>
            <a:ext cx="2395728" cy="841248"/>
          </a:xfrm>
          <a:prstGeom prst="rect">
            <a:avLst/>
          </a:prstGeom>
          <a:solidFill>
            <a:srgbClr val="1F4034"/>
          </a:solidFill>
          <a:ln w="9525">
            <a:solidFill>
              <a:srgbClr val="1F40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2514600"/>
            <a:ext cx="2103120" cy="256032"/>
          </a:xfrm>
          <a:prstGeom prst="rect">
            <a:avLst/>
          </a:prstGeom>
          <a:noFill/>
        </p:spPr>
        <p:txBody>
          <a:bodyPr wrap="square" lIns="0" rIns="0" tIns="0" bIns="0">
            <a:spAutoFit/>
          </a:bodyPr>
          <a:lstStyle/>
          <a:p>
            <a:pPr algn="ctr"/>
            <a:r>
              <a:rPr sz="1300" b="1" spc="90">
                <a:solidFill>
                  <a:srgbClr val="FFFFFF"/>
                </a:solidFill>
                <a:latin typeface="Segoe UI"/>
              </a:rPr>
              <a:t>EXPORT CONTAINER</a:t>
            </a:r>
          </a:p>
        </p:txBody>
      </p:sp>
      <p:sp>
        <p:nvSpPr>
          <p:cNvPr id="21" name="TextBox 20"/>
          <p:cNvSpPr txBox="1"/>
          <p:nvPr/>
        </p:nvSpPr>
        <p:spPr>
          <a:xfrm>
            <a:off x="9281160" y="2825496"/>
            <a:ext cx="2103120" cy="310896"/>
          </a:xfrm>
          <a:prstGeom prst="rect">
            <a:avLst/>
          </a:prstGeom>
          <a:noFill/>
        </p:spPr>
        <p:txBody>
          <a:bodyPr wrap="square" lIns="0" rIns="0" tIns="0" bIns="0">
            <a:spAutoFit/>
          </a:bodyPr>
          <a:lstStyle/>
          <a:p>
            <a:pPr algn="ctr"/>
            <a:r>
              <a:rPr sz="1300" b="0">
                <a:solidFill>
                  <a:srgbClr val="C7D8CD"/>
                </a:solidFill>
                <a:latin typeface="Segoe UI"/>
              </a:rPr>
              <a:t>Lot-level record</a:t>
            </a:r>
          </a:p>
        </p:txBody>
      </p:sp>
      <p:sp>
        <p:nvSpPr>
          <p:cNvPr id="22" name="Rectangle 21"/>
          <p:cNvSpPr/>
          <p:nvPr/>
        </p:nvSpPr>
        <p:spPr>
          <a:xfrm>
            <a:off x="658368" y="3456432"/>
            <a:ext cx="10872216" cy="384048"/>
          </a:xfrm>
          <a:prstGeom prst="rect">
            <a:avLst/>
          </a:prstGeom>
          <a:solidFill>
            <a:srgbClr val="F7F2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456432"/>
            <a:ext cx="10872216" cy="25603"/>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3547872"/>
            <a:ext cx="10515600" cy="237744"/>
          </a:xfrm>
          <a:prstGeom prst="rect">
            <a:avLst/>
          </a:prstGeom>
          <a:noFill/>
        </p:spPr>
        <p:txBody>
          <a:bodyPr wrap="square" lIns="0" rIns="0" tIns="0" bIns="0">
            <a:spAutoFit/>
          </a:bodyPr>
          <a:lstStyle/>
          <a:p>
            <a:pPr algn="ctr"/>
            <a:r>
              <a:rPr sz="1300" b="1" spc="60">
                <a:solidFill>
                  <a:srgbClr val="9A7526"/>
                </a:solidFill>
                <a:latin typeface="Segoe UI"/>
              </a:rPr>
              <a:t>TAPAK records farmer identity, plot coordinates, volume and receipts at every step</a:t>
            </a:r>
          </a:p>
        </p:txBody>
      </p:sp>
      <p:sp>
        <p:nvSpPr>
          <p:cNvPr id="25" name="Rectangle 24"/>
          <p:cNvSpPr/>
          <p:nvPr/>
        </p:nvSpPr>
        <p:spPr>
          <a:xfrm>
            <a:off x="658368" y="4096512"/>
            <a:ext cx="27432" cy="205740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409651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We organise the farmers</a:t>
            </a:r>
          </a:p>
        </p:txBody>
      </p:sp>
      <p:sp>
        <p:nvSpPr>
          <p:cNvPr id="27" name="TextBox 26"/>
          <p:cNvSpPr txBox="1"/>
          <p:nvPr/>
        </p:nvSpPr>
        <p:spPr>
          <a:xfrm>
            <a:off x="877824" y="4864608"/>
            <a:ext cx="3090672" cy="1289304"/>
          </a:xfrm>
          <a:prstGeom prst="rect">
            <a:avLst/>
          </a:prstGeom>
          <a:noFill/>
        </p:spPr>
        <p:txBody>
          <a:bodyPr wrap="square" lIns="0" rIns="0" tIns="0" bIns="0">
            <a:spAutoFit/>
          </a:bodyPr>
          <a:lstStyle/>
          <a:p>
            <a:pPr algn="l">
              <a:lnSpc>
                <a:spcPct val="132000"/>
              </a:lnSpc>
            </a:pPr>
            <a:r>
              <a:rPr sz="1600" b="0">
                <a:solidFill>
                  <a:srgbClr val="3D4A43"/>
                </a:solidFill>
                <a:latin typeface="Segoe UI"/>
              </a:rPr>
              <a:t>1,250 households registered, trained and bought from directly, with no collector layer in between.</a:t>
            </a:r>
          </a:p>
        </p:txBody>
      </p:sp>
      <p:sp>
        <p:nvSpPr>
          <p:cNvPr id="28" name="Rectangle 27"/>
          <p:cNvSpPr/>
          <p:nvPr/>
        </p:nvSpPr>
        <p:spPr>
          <a:xfrm>
            <a:off x="4270248" y="4096512"/>
            <a:ext cx="27432" cy="205740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9704" y="409651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We own the middle</a:t>
            </a:r>
          </a:p>
        </p:txBody>
      </p:sp>
      <p:sp>
        <p:nvSpPr>
          <p:cNvPr id="30" name="TextBox 29"/>
          <p:cNvSpPr txBox="1"/>
          <p:nvPr/>
        </p:nvSpPr>
        <p:spPr>
          <a:xfrm>
            <a:off x="4489704" y="4864608"/>
            <a:ext cx="3090672" cy="1289304"/>
          </a:xfrm>
          <a:prstGeom prst="rect">
            <a:avLst/>
          </a:prstGeom>
          <a:noFill/>
        </p:spPr>
        <p:txBody>
          <a:bodyPr wrap="square" lIns="0" rIns="0" tIns="0" bIns="0">
            <a:spAutoFit/>
          </a:bodyPr>
          <a:lstStyle/>
          <a:p>
            <a:pPr algn="l">
              <a:lnSpc>
                <a:spcPct val="132000"/>
              </a:lnSpc>
            </a:pPr>
            <a:r>
              <a:rPr sz="1600" b="0">
                <a:solidFill>
                  <a:srgbClr val="3D4A43"/>
                </a:solidFill>
                <a:latin typeface="Segoe UI"/>
              </a:rPr>
              <a:t>17 verified buying stations and our own 2,000-tonne facility, so consolidation and quality control are not outsourced.</a:t>
            </a:r>
          </a:p>
        </p:txBody>
      </p:sp>
      <p:sp>
        <p:nvSpPr>
          <p:cNvPr id="31" name="Rectangle 30"/>
          <p:cNvSpPr/>
          <p:nvPr/>
        </p:nvSpPr>
        <p:spPr>
          <a:xfrm>
            <a:off x="7882128" y="4096512"/>
            <a:ext cx="27432" cy="205740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01584" y="409651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We record as we go</a:t>
            </a:r>
          </a:p>
        </p:txBody>
      </p:sp>
      <p:sp>
        <p:nvSpPr>
          <p:cNvPr id="33" name="TextBox 32"/>
          <p:cNvSpPr txBox="1"/>
          <p:nvPr/>
        </p:nvSpPr>
        <p:spPr>
          <a:xfrm>
            <a:off x="8101584" y="4864608"/>
            <a:ext cx="3090672" cy="1289304"/>
          </a:xfrm>
          <a:prstGeom prst="rect">
            <a:avLst/>
          </a:prstGeom>
          <a:noFill/>
        </p:spPr>
        <p:txBody>
          <a:bodyPr wrap="square" lIns="0" rIns="0" tIns="0" bIns="0">
            <a:spAutoFit/>
          </a:bodyPr>
          <a:lstStyle/>
          <a:p>
            <a:pPr algn="l">
              <a:lnSpc>
                <a:spcPct val="132000"/>
              </a:lnSpc>
            </a:pPr>
            <a:r>
              <a:rPr sz="1600" b="0">
                <a:solidFill>
                  <a:srgbClr val="3D4A43"/>
                </a:solidFill>
                <a:latin typeface="Segoe UI"/>
              </a:rPr>
              <a:t>Captured at the moment of purchase, not reconstructed afterwards for an audit.</a:t>
            </a:r>
          </a:p>
        </p:txBody>
      </p:sp>
      <p:sp>
        <p:nvSpPr>
          <p:cNvPr id="34" name="TextBox 33"/>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35" name="TextBox 34"/>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06   OPERATIONS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200" b="1">
                <a:solidFill>
                  <a:srgbClr val="141D18"/>
                </a:solidFill>
                <a:latin typeface="Georgia"/>
              </a:rPr>
              <a:t>Built and running, not proposed.</a:t>
            </a:r>
          </a:p>
        </p:txBody>
      </p:sp>
      <p:pic>
        <p:nvPicPr>
          <p:cNvPr id="7" name="Picture 6" descr="ops_natar_warehouse.jpg"/>
          <p:cNvPicPr>
            <a:picLocks noChangeAspect="1"/>
          </p:cNvPicPr>
          <p:nvPr/>
        </p:nvPicPr>
        <p:blipFill>
          <a:blip r:embed="rId2"/>
          <a:srcRect l="8754" r="8754"/>
          <a:stretch>
            <a:fillRect/>
          </a:stretch>
        </p:blipFill>
        <p:spPr>
          <a:xfrm>
            <a:off x="658368" y="2359152"/>
            <a:ext cx="3529584" cy="1700784"/>
          </a:xfrm>
          <a:prstGeom prst="rect">
            <a:avLst/>
          </a:prstGeom>
        </p:spPr>
      </p:pic>
      <p:sp>
        <p:nvSpPr>
          <p:cNvPr id="8" name="Rectangle 7"/>
          <p:cNvSpPr/>
          <p:nvPr/>
        </p:nvSpPr>
        <p:spPr>
          <a:xfrm>
            <a:off x="658368"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NATAR WAREHOUSE, 2,000 T</a:t>
            </a:r>
          </a:p>
        </p:txBody>
      </p:sp>
      <p:pic>
        <p:nvPicPr>
          <p:cNvPr id="10" name="Picture 9" descr="ops_cleaning_grading.jpg"/>
          <p:cNvPicPr>
            <a:picLocks noChangeAspect="1"/>
          </p:cNvPicPr>
          <p:nvPr/>
        </p:nvPicPr>
        <p:blipFill>
          <a:blip r:embed="rId3"/>
          <a:srcRect t="6392" b="6392"/>
          <a:stretch>
            <a:fillRect/>
          </a:stretch>
        </p:blipFill>
        <p:spPr>
          <a:xfrm>
            <a:off x="4334255" y="2359152"/>
            <a:ext cx="3529584" cy="1700784"/>
          </a:xfrm>
          <a:prstGeom prst="rect">
            <a:avLst/>
          </a:prstGeom>
        </p:spPr>
      </p:pic>
      <p:sp>
        <p:nvSpPr>
          <p:cNvPr id="11" name="Rectangle 10"/>
          <p:cNvSpPr/>
          <p:nvPr/>
        </p:nvSpPr>
        <p:spPr>
          <a:xfrm>
            <a:off x="4334255"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3"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CLEANING AND GRADING LINE</a:t>
            </a:r>
          </a:p>
        </p:txBody>
      </p:sp>
      <p:pic>
        <p:nvPicPr>
          <p:cNvPr id="13" name="Picture 12" descr="ops_quality_control.jpg"/>
          <p:cNvPicPr>
            <a:picLocks noChangeAspect="1"/>
          </p:cNvPicPr>
          <p:nvPr/>
        </p:nvPicPr>
        <p:blipFill>
          <a:blip r:embed="rId4"/>
          <a:srcRect t="30557" b="30557"/>
          <a:stretch>
            <a:fillRect/>
          </a:stretch>
        </p:blipFill>
        <p:spPr>
          <a:xfrm>
            <a:off x="8010144" y="2359152"/>
            <a:ext cx="3529584" cy="1700784"/>
          </a:xfrm>
          <a:prstGeom prst="rect">
            <a:avLst/>
          </a:prstGeom>
        </p:spPr>
      </p:pic>
      <p:sp>
        <p:nvSpPr>
          <p:cNvPr id="14" name="Rectangle 13"/>
          <p:cNvSpPr/>
          <p:nvPr/>
        </p:nvSpPr>
        <p:spPr>
          <a:xfrm>
            <a:off x="8010144" y="3785616"/>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1" y="3835908"/>
            <a:ext cx="3310128" cy="201168"/>
          </a:xfrm>
          <a:prstGeom prst="rect">
            <a:avLst/>
          </a:prstGeom>
          <a:noFill/>
        </p:spPr>
        <p:txBody>
          <a:bodyPr wrap="square" lIns="0" rIns="0" tIns="0" bIns="0">
            <a:spAutoFit/>
          </a:bodyPr>
          <a:lstStyle/>
          <a:p>
            <a:pPr algn="l"/>
            <a:r>
              <a:rPr sz="1100" b="1" spc="90">
                <a:solidFill>
                  <a:srgbClr val="FFFFFF"/>
                </a:solidFill>
                <a:latin typeface="Segoe UI"/>
              </a:rPr>
              <a:t>QUALITY CONTROL</a:t>
            </a:r>
          </a:p>
        </p:txBody>
      </p:sp>
      <p:pic>
        <p:nvPicPr>
          <p:cNvPr id="16" name="Picture 15" descr="ops_cacao_roasting.jpg"/>
          <p:cNvPicPr>
            <a:picLocks noChangeAspect="1"/>
          </p:cNvPicPr>
          <p:nvPr/>
        </p:nvPicPr>
        <p:blipFill>
          <a:blip r:embed="rId5"/>
          <a:srcRect t="30557" b="30557"/>
          <a:stretch>
            <a:fillRect/>
          </a:stretch>
        </p:blipFill>
        <p:spPr>
          <a:xfrm>
            <a:off x="658368" y="4206240"/>
            <a:ext cx="3529584" cy="1700784"/>
          </a:xfrm>
          <a:prstGeom prst="rect">
            <a:avLst/>
          </a:prstGeom>
        </p:spPr>
      </p:pic>
      <p:sp>
        <p:nvSpPr>
          <p:cNvPr id="17" name="Rectangle 16"/>
          <p:cNvSpPr/>
          <p:nvPr/>
        </p:nvSpPr>
        <p:spPr>
          <a:xfrm>
            <a:off x="658368"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CACAO ROASTING</a:t>
            </a:r>
          </a:p>
        </p:txBody>
      </p:sp>
      <p:pic>
        <p:nvPicPr>
          <p:cNvPr id="19" name="Picture 18" descr="ops_field_school.jpg"/>
          <p:cNvPicPr>
            <a:picLocks noChangeAspect="1"/>
          </p:cNvPicPr>
          <p:nvPr/>
        </p:nvPicPr>
        <p:blipFill>
          <a:blip r:embed="rId6"/>
          <a:srcRect t="6392" b="6392"/>
          <a:stretch>
            <a:fillRect/>
          </a:stretch>
        </p:blipFill>
        <p:spPr>
          <a:xfrm>
            <a:off x="4334255" y="4206240"/>
            <a:ext cx="3529584" cy="1700784"/>
          </a:xfrm>
          <a:prstGeom prst="rect">
            <a:avLst/>
          </a:prstGeom>
        </p:spPr>
      </p:pic>
      <p:sp>
        <p:nvSpPr>
          <p:cNvPr id="20" name="Rectangle 19"/>
          <p:cNvSpPr/>
          <p:nvPr/>
        </p:nvSpPr>
        <p:spPr>
          <a:xfrm>
            <a:off x="4334255"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43983"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FIELD SCHOOL</a:t>
            </a:r>
          </a:p>
        </p:txBody>
      </p:sp>
      <p:pic>
        <p:nvPicPr>
          <p:cNvPr id="22" name="Picture 21" descr="ops_training_quality.jpg"/>
          <p:cNvPicPr>
            <a:picLocks noChangeAspect="1"/>
          </p:cNvPicPr>
          <p:nvPr/>
        </p:nvPicPr>
        <p:blipFill>
          <a:blip r:embed="rId7"/>
          <a:srcRect t="6392" b="6392"/>
          <a:stretch>
            <a:fillRect/>
          </a:stretch>
        </p:blipFill>
        <p:spPr>
          <a:xfrm>
            <a:off x="8010144" y="4206240"/>
            <a:ext cx="3529584" cy="1700784"/>
          </a:xfrm>
          <a:prstGeom prst="rect">
            <a:avLst/>
          </a:prstGeom>
        </p:spPr>
      </p:pic>
      <p:sp>
        <p:nvSpPr>
          <p:cNvPr id="23" name="Rectangle 22"/>
          <p:cNvSpPr/>
          <p:nvPr/>
        </p:nvSpPr>
        <p:spPr>
          <a:xfrm>
            <a:off x="8010144" y="5632704"/>
            <a:ext cx="3529584" cy="27432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19871" y="5682996"/>
            <a:ext cx="3310128" cy="201168"/>
          </a:xfrm>
          <a:prstGeom prst="rect">
            <a:avLst/>
          </a:prstGeom>
          <a:noFill/>
        </p:spPr>
        <p:txBody>
          <a:bodyPr wrap="square" lIns="0" rIns="0" tIns="0" bIns="0">
            <a:spAutoFit/>
          </a:bodyPr>
          <a:lstStyle/>
          <a:p>
            <a:pPr algn="l"/>
            <a:r>
              <a:rPr sz="1100" b="1" spc="90">
                <a:solidFill>
                  <a:srgbClr val="FFFFFF"/>
                </a:solidFill>
                <a:latin typeface="Segoe UI"/>
              </a:rPr>
              <a:t>FARMER TRAINING</a:t>
            </a:r>
          </a:p>
        </p:txBody>
      </p:sp>
      <p:sp>
        <p:nvSpPr>
          <p:cNvPr id="25" name="TextBox 24"/>
          <p:cNvSpPr txBox="1"/>
          <p:nvPr/>
        </p:nvSpPr>
        <p:spPr>
          <a:xfrm>
            <a:off x="658368" y="6053328"/>
            <a:ext cx="10424160" cy="292608"/>
          </a:xfrm>
          <a:prstGeom prst="rect">
            <a:avLst/>
          </a:prstGeom>
          <a:noFill/>
        </p:spPr>
        <p:txBody>
          <a:bodyPr wrap="square" lIns="0" rIns="0" tIns="0" bIns="0">
            <a:spAutoFit/>
          </a:bodyPr>
          <a:lstStyle/>
          <a:p>
            <a:pPr algn="l"/>
            <a:r>
              <a:rPr sz="1300" b="0">
                <a:solidFill>
                  <a:srgbClr val="6C7A72"/>
                </a:solidFill>
                <a:latin typeface="Segoe UI"/>
              </a:rPr>
              <a:t>Facilities commissioned between 2024 and 2026. Warehouse capacity 2,000 tonnes.</a:t>
            </a:r>
          </a:p>
        </p:txBody>
      </p:sp>
      <p:sp>
        <p:nvSpPr>
          <p:cNvPr id="26" name="TextBox 25"/>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07   TECHNOLOGY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TAPAK: every lot traced to a mapped plot.</a:t>
            </a:r>
          </a:p>
        </p:txBody>
      </p:sp>
      <p:sp>
        <p:nvSpPr>
          <p:cNvPr id="7" name="TextBox 6"/>
          <p:cNvSpPr txBox="1"/>
          <p:nvPr/>
        </p:nvSpPr>
        <p:spPr>
          <a:xfrm>
            <a:off x="658368" y="2359152"/>
            <a:ext cx="5852160" cy="310896"/>
          </a:xfrm>
          <a:prstGeom prst="rect">
            <a:avLst/>
          </a:prstGeom>
          <a:noFill/>
        </p:spPr>
        <p:txBody>
          <a:bodyPr wrap="square" lIns="0" rIns="0" tIns="0" bIns="0">
            <a:spAutoFit/>
          </a:bodyPr>
          <a:lstStyle/>
          <a:p>
            <a:pPr algn="l"/>
            <a:r>
              <a:rPr sz="1300" b="1" spc="90">
                <a:solidFill>
                  <a:srgbClr val="9A7526"/>
                </a:solidFill>
                <a:latin typeface="Segoe UI"/>
              </a:rPr>
              <a:t>TRACEABILITY AND ACCOUNTABILITY OF PROFESSIONAL AGRI-KGF</a:t>
            </a:r>
          </a:p>
        </p:txBody>
      </p:sp>
      <p:sp>
        <p:nvSpPr>
          <p:cNvPr id="8" name="TextBox 7"/>
          <p:cNvSpPr txBox="1"/>
          <p:nvPr/>
        </p:nvSpPr>
        <p:spPr>
          <a:xfrm>
            <a:off x="658368" y="2852928"/>
            <a:ext cx="5852160" cy="1371600"/>
          </a:xfrm>
          <a:prstGeom prst="rect">
            <a:avLst/>
          </a:prstGeom>
          <a:noFill/>
        </p:spPr>
        <p:txBody>
          <a:bodyPr wrap="square" lIns="0" rIns="0" tIns="0" bIns="0">
            <a:spAutoFit/>
          </a:bodyPr>
          <a:lstStyle/>
          <a:p>
            <a:pPr algn="l">
              <a:lnSpc>
                <a:spcPct val="138000"/>
              </a:lnSpc>
            </a:pPr>
            <a:r>
              <a:rPr sz="1600" b="0">
                <a:solidFill>
                  <a:srgbClr val="3D4A43"/>
                </a:solidFill>
                <a:latin typeface="Segoe UI"/>
              </a:rPr>
              <a:t>Our own platform, live and in production use. Every purchase records farmer identity, plot polygon coordinates, volume, digital receipts and warehouse lot movement.</a:t>
            </a:r>
          </a:p>
        </p:txBody>
      </p:sp>
      <p:sp>
        <p:nvSpPr>
          <p:cNvPr id="9" name="TextBox 8"/>
          <p:cNvSpPr txBox="1"/>
          <p:nvPr/>
        </p:nvSpPr>
        <p:spPr>
          <a:xfrm>
            <a:off x="658368" y="4224528"/>
            <a:ext cx="5852160" cy="1554480"/>
          </a:xfrm>
          <a:prstGeom prst="rect">
            <a:avLst/>
          </a:prstGeom>
          <a:noFill/>
        </p:spPr>
        <p:txBody>
          <a:bodyPr wrap="square" lIns="0" rIns="0" tIns="0" bIns="0">
            <a:spAutoFit/>
          </a:bodyPr>
          <a:lstStyle/>
          <a:p>
            <a:pPr algn="l">
              <a:lnSpc>
                <a:spcPct val="138000"/>
              </a:lnSpc>
            </a:pPr>
            <a:r>
              <a:rPr sz="1600" b="0">
                <a:solidFill>
                  <a:srgbClr val="3D4A43"/>
                </a:solidFill>
                <a:latin typeface="Segoe UI"/>
              </a:rPr>
              <a:t>An investor or buyer asking which farms a container came from receives a plot-level answer, and can be granted dashboard access to verify it independently rather than taking our word for it.</a:t>
            </a:r>
          </a:p>
        </p:txBody>
      </p:sp>
      <p:sp>
        <p:nvSpPr>
          <p:cNvPr id="10" name="Rectangle 9"/>
          <p:cNvSpPr/>
          <p:nvPr/>
        </p:nvSpPr>
        <p:spPr>
          <a:xfrm>
            <a:off x="6903720" y="2359152"/>
            <a:ext cx="4626864" cy="3611880"/>
          </a:xfrm>
          <a:prstGeom prst="rect">
            <a:avLst/>
          </a:prstGeom>
          <a:solidFill>
            <a:srgbClr val="E7E0CE"/>
          </a:solidFill>
          <a:ln w="9525">
            <a:solidFill>
              <a:srgbClr val="B9C7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68312" y="3909059"/>
            <a:ext cx="4297679" cy="512064"/>
          </a:xfrm>
          <a:prstGeom prst="rect">
            <a:avLst/>
          </a:prstGeom>
          <a:noFill/>
        </p:spPr>
        <p:txBody>
          <a:bodyPr wrap="square" lIns="0" rIns="0" tIns="0" bIns="0">
            <a:spAutoFit/>
          </a:bodyPr>
          <a:lstStyle/>
          <a:p>
            <a:pPr algn="ctr"/>
            <a:r>
              <a:rPr sz="1100" b="0" spc="80">
                <a:solidFill>
                  <a:srgbClr val="9A7526"/>
                </a:solidFill>
                <a:latin typeface="Segoe UI"/>
              </a:rPr>
              <a:t>TAPAK PLOT MAP, PERSONAL DATA MASKED</a:t>
            </a:r>
          </a:p>
        </p:txBody>
      </p:sp>
      <p:sp>
        <p:nvSpPr>
          <p:cNvPr id="12" name="TextBox 11"/>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13" name="TextBox 12"/>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08   EUROPE</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Europe will require what we already built.</a:t>
            </a:r>
          </a:p>
        </p:txBody>
      </p:sp>
      <p:sp>
        <p:nvSpPr>
          <p:cNvPr id="7" name="TextBox 6"/>
          <p:cNvSpPr txBox="1"/>
          <p:nvPr/>
        </p:nvSpPr>
        <p:spPr>
          <a:xfrm>
            <a:off x="658368" y="2359152"/>
            <a:ext cx="10424160" cy="868680"/>
          </a:xfrm>
          <a:prstGeom prst="rect">
            <a:avLst/>
          </a:prstGeom>
          <a:noFill/>
        </p:spPr>
        <p:txBody>
          <a:bodyPr wrap="square" lIns="0" rIns="0" tIns="0" bIns="0">
            <a:spAutoFit/>
          </a:bodyPr>
          <a:lstStyle/>
          <a:p>
            <a:pPr algn="l">
              <a:lnSpc>
                <a:spcPct val="138000"/>
              </a:lnSpc>
            </a:pPr>
            <a:r>
              <a:rPr sz="1600" b="0">
                <a:solidFill>
                  <a:srgbClr val="3D4A43"/>
                </a:solidFill>
                <a:latin typeface="Segoe UI"/>
              </a:rPr>
              <a:t>From the point EU deforestation rules apply, plot-level traceability stops being a differentiator and becomes a condition of market access. Suppliers who have not built it face a cost we have largely already absorbed.</a:t>
            </a:r>
          </a:p>
        </p:txBody>
      </p:sp>
      <p:sp>
        <p:nvSpPr>
          <p:cNvPr id="8" name="Rectangle 7"/>
          <p:cNvSpPr/>
          <p:nvPr/>
        </p:nvSpPr>
        <p:spPr>
          <a:xfrm>
            <a:off x="658368" y="3383280"/>
            <a:ext cx="27432" cy="196596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338328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Already exporting</a:t>
            </a:r>
          </a:p>
        </p:txBody>
      </p:sp>
      <p:sp>
        <p:nvSpPr>
          <p:cNvPr id="10" name="TextBox 9"/>
          <p:cNvSpPr txBox="1"/>
          <p:nvPr/>
        </p:nvSpPr>
        <p:spPr>
          <a:xfrm>
            <a:off x="877824" y="4151376"/>
            <a:ext cx="3090672" cy="1197864"/>
          </a:xfrm>
          <a:prstGeom prst="rect">
            <a:avLst/>
          </a:prstGeom>
          <a:noFill/>
        </p:spPr>
        <p:txBody>
          <a:bodyPr wrap="square" lIns="0" rIns="0" tIns="0" bIns="0">
            <a:spAutoFit/>
          </a:bodyPr>
          <a:lstStyle/>
          <a:p>
            <a:pPr algn="l">
              <a:lnSpc>
                <a:spcPct val="132000"/>
              </a:lnSpc>
            </a:pPr>
            <a:r>
              <a:rPr sz="1600" b="0">
                <a:solidFill>
                  <a:srgbClr val="3D4A43"/>
                </a:solidFill>
                <a:latin typeface="Segoe UI"/>
              </a:rPr>
              <a:t>Contracted to Verstegen Spices and Sauces, Netherlands, against European quality standards.</a:t>
            </a:r>
          </a:p>
        </p:txBody>
      </p:sp>
      <p:sp>
        <p:nvSpPr>
          <p:cNvPr id="11" name="Rectangle 10"/>
          <p:cNvSpPr/>
          <p:nvPr/>
        </p:nvSpPr>
        <p:spPr>
          <a:xfrm>
            <a:off x="4270248" y="3383280"/>
            <a:ext cx="27432" cy="196596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338328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Due diligence underway</a:t>
            </a:r>
          </a:p>
        </p:txBody>
      </p:sp>
      <p:sp>
        <p:nvSpPr>
          <p:cNvPr id="13" name="TextBox 12"/>
          <p:cNvSpPr txBox="1"/>
          <p:nvPr/>
        </p:nvSpPr>
        <p:spPr>
          <a:xfrm>
            <a:off x="4489704" y="4151376"/>
            <a:ext cx="3090672" cy="1197864"/>
          </a:xfrm>
          <a:prstGeom prst="rect">
            <a:avLst/>
          </a:prstGeom>
          <a:noFill/>
        </p:spPr>
        <p:txBody>
          <a:bodyPr wrap="square" lIns="0" rIns="0" tIns="0" bIns="0">
            <a:spAutoFit/>
          </a:bodyPr>
          <a:lstStyle/>
          <a:p>
            <a:pPr algn="l">
              <a:lnSpc>
                <a:spcPct val="132000"/>
              </a:lnSpc>
            </a:pPr>
            <a:r>
              <a:rPr sz="1600" b="0">
                <a:solidFill>
                  <a:srgbClr val="3D4A43"/>
                </a:solidFill>
                <a:latin typeface="Segoe UI"/>
              </a:rPr>
              <a:t>Plot polygons collected and validated with Verstegen and Fairfood for EU deforestation compliance.</a:t>
            </a:r>
          </a:p>
        </p:txBody>
      </p:sp>
      <p:sp>
        <p:nvSpPr>
          <p:cNvPr id="14" name="Rectangle 13"/>
          <p:cNvSpPr/>
          <p:nvPr/>
        </p:nvSpPr>
        <p:spPr>
          <a:xfrm>
            <a:off x="7882128" y="3383280"/>
            <a:ext cx="27432" cy="196596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4" y="3383280"/>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Audited by a European buyer</a:t>
            </a:r>
          </a:p>
        </p:txBody>
      </p:sp>
      <p:sp>
        <p:nvSpPr>
          <p:cNvPr id="16" name="TextBox 15"/>
          <p:cNvSpPr txBox="1"/>
          <p:nvPr/>
        </p:nvSpPr>
        <p:spPr>
          <a:xfrm>
            <a:off x="8101584" y="4151376"/>
            <a:ext cx="3090672" cy="1197864"/>
          </a:xfrm>
          <a:prstGeom prst="rect">
            <a:avLst/>
          </a:prstGeom>
          <a:noFill/>
        </p:spPr>
        <p:txBody>
          <a:bodyPr wrap="square" lIns="0" rIns="0" tIns="0" bIns="0">
            <a:spAutoFit/>
          </a:bodyPr>
          <a:lstStyle/>
          <a:p>
            <a:pPr algn="l">
              <a:lnSpc>
                <a:spcPct val="132000"/>
              </a:lnSpc>
            </a:pPr>
            <a:r>
              <a:rPr sz="1600" b="0">
                <a:solidFill>
                  <a:srgbClr val="3D4A43"/>
                </a:solidFill>
                <a:latin typeface="Segoe UI"/>
              </a:rPr>
              <a:t>Our Natar facility is inspected against the requirements of the buyer, not against our own checklist.</a:t>
            </a:r>
          </a:p>
        </p:txBody>
      </p:sp>
      <p:sp>
        <p:nvSpPr>
          <p:cNvPr id="17" name="TextBox 16"/>
          <p:cNvSpPr txBox="1"/>
          <p:nvPr/>
        </p:nvSpPr>
        <p:spPr>
          <a:xfrm>
            <a:off x="658368" y="5532120"/>
            <a:ext cx="10424160" cy="694944"/>
          </a:xfrm>
          <a:prstGeom prst="rect">
            <a:avLst/>
          </a:prstGeom>
          <a:noFill/>
        </p:spPr>
        <p:txBody>
          <a:bodyPr wrap="square" lIns="0" rIns="0" tIns="0" bIns="0">
            <a:spAutoFit/>
          </a:bodyPr>
          <a:lstStyle/>
          <a:p>
            <a:pPr algn="l">
              <a:lnSpc>
                <a:spcPct val="120000"/>
              </a:lnSpc>
            </a:pPr>
            <a:r>
              <a:rPr sz="2000" b="1">
                <a:solidFill>
                  <a:srgbClr val="1F4034"/>
                </a:solidFill>
                <a:latin typeface="Georgia"/>
              </a:rPr>
              <a:t>Our two closest partners, Verstegen and Fairfood, are both Dutch. Amsterdam is where this relationship already lives.</a:t>
            </a:r>
          </a:p>
        </p:txBody>
      </p:sp>
      <p:sp>
        <p:nvSpPr>
          <p:cNvPr id="18" name="TextBox 17"/>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19" name="TextBox 18"/>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09   TRACTION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Already shipping to the Netherlands.</a:t>
            </a:r>
          </a:p>
        </p:txBody>
      </p:sp>
      <p:sp>
        <p:nvSpPr>
          <p:cNvPr id="7" name="TextBox 6"/>
          <p:cNvSpPr txBox="1"/>
          <p:nvPr/>
        </p:nvSpPr>
        <p:spPr>
          <a:xfrm>
            <a:off x="658368" y="2395728"/>
            <a:ext cx="2606040" cy="566928"/>
          </a:xfrm>
          <a:prstGeom prst="rect">
            <a:avLst/>
          </a:prstGeom>
          <a:noFill/>
        </p:spPr>
        <p:txBody>
          <a:bodyPr wrap="square" lIns="0" rIns="0" tIns="0" bIns="0">
            <a:spAutoFit/>
          </a:bodyPr>
          <a:lstStyle/>
          <a:p>
            <a:pPr algn="l"/>
            <a:r>
              <a:rPr sz="3200" b="1">
                <a:solidFill>
                  <a:srgbClr val="1F4034"/>
                </a:solidFill>
                <a:latin typeface="Georgia"/>
              </a:rPr>
              <a:t>80-100 MT</a:t>
            </a:r>
          </a:p>
        </p:txBody>
      </p:sp>
      <p:sp>
        <p:nvSpPr>
          <p:cNvPr id="8" name="TextBox 7"/>
          <p:cNvSpPr txBox="1"/>
          <p:nvPr/>
        </p:nvSpPr>
        <p:spPr>
          <a:xfrm>
            <a:off x="658368" y="2962656"/>
            <a:ext cx="2606040" cy="274320"/>
          </a:xfrm>
          <a:prstGeom prst="rect">
            <a:avLst/>
          </a:prstGeom>
          <a:noFill/>
        </p:spPr>
        <p:txBody>
          <a:bodyPr wrap="square" lIns="0" rIns="0" tIns="0" bIns="0">
            <a:spAutoFit/>
          </a:bodyPr>
          <a:lstStyle/>
          <a:p>
            <a:pPr algn="l"/>
            <a:r>
              <a:rPr sz="1100" b="0" spc="100">
                <a:solidFill>
                  <a:srgbClr val="6C7A72"/>
                </a:solidFill>
                <a:latin typeface="Segoe UI"/>
              </a:rPr>
              <a:t>PEPPER CONTRACTED, 2026</a:t>
            </a:r>
          </a:p>
        </p:txBody>
      </p:sp>
      <p:sp>
        <p:nvSpPr>
          <p:cNvPr id="9" name="TextBox 8"/>
          <p:cNvSpPr txBox="1"/>
          <p:nvPr/>
        </p:nvSpPr>
        <p:spPr>
          <a:xfrm>
            <a:off x="3401568" y="2395728"/>
            <a:ext cx="2606040" cy="566928"/>
          </a:xfrm>
          <a:prstGeom prst="rect">
            <a:avLst/>
          </a:prstGeom>
          <a:noFill/>
        </p:spPr>
        <p:txBody>
          <a:bodyPr wrap="square" lIns="0" rIns="0" tIns="0" bIns="0">
            <a:spAutoFit/>
          </a:bodyPr>
          <a:lstStyle/>
          <a:p>
            <a:pPr algn="l"/>
            <a:r>
              <a:rPr sz="3200" b="1">
                <a:solidFill>
                  <a:srgbClr val="1F4034"/>
                </a:solidFill>
                <a:latin typeface="Georgia"/>
              </a:rPr>
              <a:t>300 MT/mo</a:t>
            </a:r>
          </a:p>
        </p:txBody>
      </p:sp>
      <p:sp>
        <p:nvSpPr>
          <p:cNvPr id="10" name="TextBox 9"/>
          <p:cNvSpPr txBox="1"/>
          <p:nvPr/>
        </p:nvSpPr>
        <p:spPr>
          <a:xfrm>
            <a:off x="3401568" y="2962656"/>
            <a:ext cx="2606040" cy="274320"/>
          </a:xfrm>
          <a:prstGeom prst="rect">
            <a:avLst/>
          </a:prstGeom>
          <a:noFill/>
        </p:spPr>
        <p:txBody>
          <a:bodyPr wrap="square" lIns="0" rIns="0" tIns="0" bIns="0">
            <a:spAutoFit/>
          </a:bodyPr>
          <a:lstStyle/>
          <a:p>
            <a:pPr algn="l"/>
            <a:r>
              <a:rPr sz="1100" b="0" spc="100">
                <a:solidFill>
                  <a:srgbClr val="6C7A72"/>
                </a:solidFill>
                <a:latin typeface="Segoe UI"/>
              </a:rPr>
              <a:t>ROBUSTA, CEILING 720</a:t>
            </a:r>
          </a:p>
        </p:txBody>
      </p:sp>
      <p:sp>
        <p:nvSpPr>
          <p:cNvPr id="11" name="TextBox 10"/>
          <p:cNvSpPr txBox="1"/>
          <p:nvPr/>
        </p:nvSpPr>
        <p:spPr>
          <a:xfrm>
            <a:off x="6144768" y="2395728"/>
            <a:ext cx="2606040" cy="566928"/>
          </a:xfrm>
          <a:prstGeom prst="rect">
            <a:avLst/>
          </a:prstGeom>
          <a:noFill/>
        </p:spPr>
        <p:txBody>
          <a:bodyPr wrap="square" lIns="0" rIns="0" tIns="0" bIns="0">
            <a:spAutoFit/>
          </a:bodyPr>
          <a:lstStyle/>
          <a:p>
            <a:pPr algn="l"/>
            <a:r>
              <a:rPr sz="3200" b="1">
                <a:solidFill>
                  <a:srgbClr val="1F4034"/>
                </a:solidFill>
                <a:latin typeface="Georgia"/>
              </a:rPr>
              <a:t>2,000 MT</a:t>
            </a:r>
          </a:p>
        </p:txBody>
      </p:sp>
      <p:sp>
        <p:nvSpPr>
          <p:cNvPr id="12" name="TextBox 11"/>
          <p:cNvSpPr txBox="1"/>
          <p:nvPr/>
        </p:nvSpPr>
        <p:spPr>
          <a:xfrm>
            <a:off x="6144768" y="2962656"/>
            <a:ext cx="2606040" cy="274320"/>
          </a:xfrm>
          <a:prstGeom prst="rect">
            <a:avLst/>
          </a:prstGeom>
          <a:noFill/>
        </p:spPr>
        <p:txBody>
          <a:bodyPr wrap="square" lIns="0" rIns="0" tIns="0" bIns="0">
            <a:spAutoFit/>
          </a:bodyPr>
          <a:lstStyle/>
          <a:p>
            <a:pPr algn="l"/>
            <a:r>
              <a:rPr sz="1100" b="0" spc="100">
                <a:solidFill>
                  <a:srgbClr val="6C7A72"/>
                </a:solidFill>
                <a:latin typeface="Segoe UI"/>
              </a:rPr>
              <a:t>WAREHOUSE CAPACITY</a:t>
            </a:r>
          </a:p>
        </p:txBody>
      </p:sp>
      <p:sp>
        <p:nvSpPr>
          <p:cNvPr id="13" name="TextBox 12"/>
          <p:cNvSpPr txBox="1"/>
          <p:nvPr/>
        </p:nvSpPr>
        <p:spPr>
          <a:xfrm>
            <a:off x="8887968" y="2395728"/>
            <a:ext cx="2606040" cy="566928"/>
          </a:xfrm>
          <a:prstGeom prst="rect">
            <a:avLst/>
          </a:prstGeom>
          <a:noFill/>
        </p:spPr>
        <p:txBody>
          <a:bodyPr wrap="square" lIns="0" rIns="0" tIns="0" bIns="0">
            <a:spAutoFit/>
          </a:bodyPr>
          <a:lstStyle/>
          <a:p>
            <a:pPr algn="l"/>
            <a:r>
              <a:rPr sz="3200" b="1">
                <a:solidFill>
                  <a:srgbClr val="1F4034"/>
                </a:solidFill>
                <a:latin typeface="Georgia"/>
              </a:rPr>
              <a:t>1,250</a:t>
            </a:r>
          </a:p>
        </p:txBody>
      </p:sp>
      <p:sp>
        <p:nvSpPr>
          <p:cNvPr id="14" name="TextBox 13"/>
          <p:cNvSpPr txBox="1"/>
          <p:nvPr/>
        </p:nvSpPr>
        <p:spPr>
          <a:xfrm>
            <a:off x="8887968" y="2962656"/>
            <a:ext cx="2606040" cy="274320"/>
          </a:xfrm>
          <a:prstGeom prst="rect">
            <a:avLst/>
          </a:prstGeom>
          <a:noFill/>
        </p:spPr>
        <p:txBody>
          <a:bodyPr wrap="square" lIns="0" rIns="0" tIns="0" bIns="0">
            <a:spAutoFit/>
          </a:bodyPr>
          <a:lstStyle/>
          <a:p>
            <a:pPr algn="l"/>
            <a:r>
              <a:rPr sz="1100" b="0" spc="100">
                <a:solidFill>
                  <a:srgbClr val="6C7A72"/>
                </a:solidFill>
                <a:latin typeface="Segoe UI"/>
              </a:rPr>
              <a:t>FARMER HOUSEHOLDS</a:t>
            </a:r>
          </a:p>
        </p:txBody>
      </p:sp>
      <p:sp>
        <p:nvSpPr>
          <p:cNvPr id="15" name="Rectangle 14"/>
          <p:cNvSpPr/>
          <p:nvPr/>
        </p:nvSpPr>
        <p:spPr>
          <a:xfrm>
            <a:off x="658368" y="356616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794760"/>
            <a:ext cx="27432" cy="65836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3794760"/>
            <a:ext cx="2651760" cy="292608"/>
          </a:xfrm>
          <a:prstGeom prst="rect">
            <a:avLst/>
          </a:prstGeom>
          <a:noFill/>
        </p:spPr>
        <p:txBody>
          <a:bodyPr wrap="square" lIns="0" rIns="0" tIns="0" bIns="0">
            <a:spAutoFit/>
          </a:bodyPr>
          <a:lstStyle/>
          <a:p>
            <a:pPr algn="l"/>
            <a:r>
              <a:rPr sz="1600" b="1">
                <a:solidFill>
                  <a:srgbClr val="141D18"/>
                </a:solidFill>
                <a:latin typeface="Segoe UI"/>
              </a:rPr>
              <a:t>Anchor buyer</a:t>
            </a:r>
          </a:p>
        </p:txBody>
      </p:sp>
      <p:sp>
        <p:nvSpPr>
          <p:cNvPr id="18" name="TextBox 17"/>
          <p:cNvSpPr txBox="1"/>
          <p:nvPr/>
        </p:nvSpPr>
        <p:spPr>
          <a:xfrm>
            <a:off x="3675887" y="3794760"/>
            <a:ext cx="758952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Verstegen Spices and Sauces, Netherlands. Contracted with 80 per cent payment on goods ready for shipment.</a:t>
            </a:r>
          </a:p>
        </p:txBody>
      </p:sp>
      <p:sp>
        <p:nvSpPr>
          <p:cNvPr id="19" name="Rectangle 18"/>
          <p:cNvSpPr/>
          <p:nvPr/>
        </p:nvSpPr>
        <p:spPr>
          <a:xfrm>
            <a:off x="658368" y="4581144"/>
            <a:ext cx="27432" cy="65836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581144"/>
            <a:ext cx="2651760" cy="292608"/>
          </a:xfrm>
          <a:prstGeom prst="rect">
            <a:avLst/>
          </a:prstGeom>
          <a:noFill/>
        </p:spPr>
        <p:txBody>
          <a:bodyPr wrap="square" lIns="0" rIns="0" tIns="0" bIns="0">
            <a:spAutoFit/>
          </a:bodyPr>
          <a:lstStyle/>
          <a:p>
            <a:pPr algn="l"/>
            <a:r>
              <a:rPr sz="1600" b="1">
                <a:solidFill>
                  <a:srgbClr val="141D18"/>
                </a:solidFill>
                <a:latin typeface="Segoe UI"/>
              </a:rPr>
              <a:t>Programme</a:t>
            </a:r>
          </a:p>
        </p:txBody>
      </p:sp>
      <p:sp>
        <p:nvSpPr>
          <p:cNvPr id="21" name="TextBox 20"/>
          <p:cNvSpPr txBox="1"/>
          <p:nvPr/>
        </p:nvSpPr>
        <p:spPr>
          <a:xfrm>
            <a:off x="3675887" y="4581144"/>
            <a:ext cx="758952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Lead local implementer of aGROWforests, funded and audited by GIZ. Its successor aGROWForests+ is conditionally awarded up to €3m by the European Commission.</a:t>
            </a:r>
          </a:p>
        </p:txBody>
      </p:sp>
      <p:sp>
        <p:nvSpPr>
          <p:cNvPr id="22" name="Rectangle 21"/>
          <p:cNvSpPr/>
          <p:nvPr/>
        </p:nvSpPr>
        <p:spPr>
          <a:xfrm>
            <a:off x="658368" y="5367528"/>
            <a:ext cx="27432" cy="65836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367528"/>
            <a:ext cx="2651760" cy="292608"/>
          </a:xfrm>
          <a:prstGeom prst="rect">
            <a:avLst/>
          </a:prstGeom>
          <a:noFill/>
        </p:spPr>
        <p:txBody>
          <a:bodyPr wrap="square" lIns="0" rIns="0" tIns="0" bIns="0">
            <a:spAutoFit/>
          </a:bodyPr>
          <a:lstStyle/>
          <a:p>
            <a:pPr algn="l"/>
            <a:r>
              <a:rPr sz="1600" b="1">
                <a:solidFill>
                  <a:srgbClr val="141D18"/>
                </a:solidFill>
                <a:latin typeface="Segoe UI"/>
              </a:rPr>
              <a:t>Government</a:t>
            </a:r>
          </a:p>
        </p:txBody>
      </p:sp>
      <p:sp>
        <p:nvSpPr>
          <p:cNvPr id="24" name="TextBox 23"/>
          <p:cNvSpPr txBox="1"/>
          <p:nvPr/>
        </p:nvSpPr>
        <p:spPr>
          <a:xfrm>
            <a:off x="3675887" y="5367528"/>
            <a:ext cx="7589520" cy="658368"/>
          </a:xfrm>
          <a:prstGeom prst="rect">
            <a:avLst/>
          </a:prstGeom>
          <a:noFill/>
        </p:spPr>
        <p:txBody>
          <a:bodyPr wrap="square" lIns="0" rIns="0" tIns="0" bIns="0">
            <a:spAutoFit/>
          </a:bodyPr>
          <a:lstStyle/>
          <a:p>
            <a:pPr algn="l">
              <a:lnSpc>
                <a:spcPct val="130000"/>
              </a:lnSpc>
            </a:pPr>
            <a:r>
              <a:rPr sz="1600" b="0">
                <a:solidFill>
                  <a:srgbClr val="3D4A43"/>
                </a:solidFill>
                <a:latin typeface="Segoe UI"/>
              </a:rPr>
              <a:t>The Governor of Lampung has asked us in writing to help attract investors into agricultural and plantation development. Letter of May 2025.</a:t>
            </a:r>
          </a:p>
        </p:txBody>
      </p:sp>
      <p:sp>
        <p:nvSpPr>
          <p:cNvPr id="25" name="TextBox 24"/>
          <p:cNvSpPr txBox="1"/>
          <p:nvPr/>
        </p:nvSpPr>
        <p:spPr>
          <a:xfrm>
            <a:off x="658368" y="6126480"/>
            <a:ext cx="10424160" cy="237744"/>
          </a:xfrm>
          <a:prstGeom prst="rect">
            <a:avLst/>
          </a:prstGeom>
          <a:noFill/>
        </p:spPr>
        <p:txBody>
          <a:bodyPr wrap="square" lIns="0" rIns="0" tIns="0" bIns="0">
            <a:spAutoFit/>
          </a:bodyPr>
          <a:lstStyle/>
          <a:p>
            <a:pPr algn="l"/>
            <a:r>
              <a:rPr sz="1300" b="0">
                <a:solidFill>
                  <a:srgbClr val="6C7A72"/>
                </a:solidFill>
                <a:latin typeface="Segoe UI"/>
              </a:rPr>
              <a:t>Realised revenue figures available to qualified investors on request.</a:t>
            </a:r>
          </a:p>
        </p:txBody>
      </p:sp>
      <p:sp>
        <p:nvSpPr>
          <p:cNvPr id="26" name="TextBox 25"/>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10   DELEGATION FIT</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Why we fit this delegation.</a:t>
            </a:r>
          </a:p>
        </p:txBody>
      </p:sp>
      <p:sp>
        <p:nvSpPr>
          <p:cNvPr id="7" name="Rectangle 6"/>
          <p:cNvSpPr/>
          <p:nvPr/>
        </p:nvSpPr>
        <p:spPr>
          <a:xfrm>
            <a:off x="658368" y="2359152"/>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359152"/>
            <a:ext cx="5006340" cy="347472"/>
          </a:xfrm>
          <a:prstGeom prst="rect">
            <a:avLst/>
          </a:prstGeom>
          <a:noFill/>
        </p:spPr>
        <p:txBody>
          <a:bodyPr wrap="square" lIns="0" rIns="0" tIns="0" bIns="0">
            <a:spAutoFit/>
          </a:bodyPr>
          <a:lstStyle/>
          <a:p>
            <a:pPr algn="l"/>
            <a:r>
              <a:rPr sz="2000" b="1">
                <a:solidFill>
                  <a:srgbClr val="141D18"/>
                </a:solidFill>
                <a:latin typeface="Segoe UI"/>
              </a:rPr>
              <a:t>Export-ready</a:t>
            </a:r>
          </a:p>
        </p:txBody>
      </p:sp>
      <p:sp>
        <p:nvSpPr>
          <p:cNvPr id="9" name="TextBox 8"/>
          <p:cNvSpPr txBox="1"/>
          <p:nvPr/>
        </p:nvSpPr>
        <p:spPr>
          <a:xfrm>
            <a:off x="877824" y="2761488"/>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Shipping to the Netherlands under contract today.</a:t>
            </a:r>
          </a:p>
        </p:txBody>
      </p:sp>
      <p:sp>
        <p:nvSpPr>
          <p:cNvPr id="10" name="Rectangle 9"/>
          <p:cNvSpPr/>
          <p:nvPr/>
        </p:nvSpPr>
        <p:spPr>
          <a:xfrm>
            <a:off x="6249924" y="2359152"/>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9380" y="2359152"/>
            <a:ext cx="5006340" cy="347472"/>
          </a:xfrm>
          <a:prstGeom prst="rect">
            <a:avLst/>
          </a:prstGeom>
          <a:noFill/>
        </p:spPr>
        <p:txBody>
          <a:bodyPr wrap="square" lIns="0" rIns="0" tIns="0" bIns="0">
            <a:spAutoFit/>
          </a:bodyPr>
          <a:lstStyle/>
          <a:p>
            <a:pPr algn="l"/>
            <a:r>
              <a:rPr sz="2000" b="1">
                <a:solidFill>
                  <a:srgbClr val="141D18"/>
                </a:solidFill>
                <a:latin typeface="Segoe UI"/>
              </a:rPr>
              <a:t>Investment-ready</a:t>
            </a:r>
          </a:p>
        </p:txBody>
      </p:sp>
      <p:sp>
        <p:nvSpPr>
          <p:cNvPr id="12" name="TextBox 11"/>
          <p:cNvSpPr txBox="1"/>
          <p:nvPr/>
        </p:nvSpPr>
        <p:spPr>
          <a:xfrm>
            <a:off x="6469380" y="2761488"/>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A written provincial mandate to attract investors, plus donor-compliance financial systems.</a:t>
            </a:r>
          </a:p>
        </p:txBody>
      </p:sp>
      <p:sp>
        <p:nvSpPr>
          <p:cNvPr id="13" name="Rectangle 12"/>
          <p:cNvSpPr/>
          <p:nvPr/>
        </p:nvSpPr>
        <p:spPr>
          <a:xfrm>
            <a:off x="658368" y="3584448"/>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584448"/>
            <a:ext cx="5006340" cy="347472"/>
          </a:xfrm>
          <a:prstGeom prst="rect">
            <a:avLst/>
          </a:prstGeom>
          <a:noFill/>
        </p:spPr>
        <p:txBody>
          <a:bodyPr wrap="square" lIns="0" rIns="0" tIns="0" bIns="0">
            <a:spAutoFit/>
          </a:bodyPr>
          <a:lstStyle/>
          <a:p>
            <a:pPr algn="l"/>
            <a:r>
              <a:rPr sz="2000" b="1">
                <a:solidFill>
                  <a:srgbClr val="141D18"/>
                </a:solidFill>
                <a:latin typeface="Segoe UI"/>
              </a:rPr>
              <a:t>Scalable</a:t>
            </a:r>
          </a:p>
        </p:txBody>
      </p:sp>
      <p:sp>
        <p:nvSpPr>
          <p:cNvPr id="15" name="TextBox 14"/>
          <p:cNvSpPr txBox="1"/>
          <p:nvPr/>
        </p:nvSpPr>
        <p:spPr>
          <a:xfrm>
            <a:off x="877824" y="3986784"/>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The plant is underused. Growth needs working capital, not new land or new machinery.</a:t>
            </a:r>
          </a:p>
        </p:txBody>
      </p:sp>
      <p:sp>
        <p:nvSpPr>
          <p:cNvPr id="16" name="Rectangle 15"/>
          <p:cNvSpPr/>
          <p:nvPr/>
        </p:nvSpPr>
        <p:spPr>
          <a:xfrm>
            <a:off x="6249924" y="3584448"/>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9380" y="3584448"/>
            <a:ext cx="5006340" cy="347472"/>
          </a:xfrm>
          <a:prstGeom prst="rect">
            <a:avLst/>
          </a:prstGeom>
          <a:noFill/>
        </p:spPr>
        <p:txBody>
          <a:bodyPr wrap="square" lIns="0" rIns="0" tIns="0" bIns="0">
            <a:spAutoFit/>
          </a:bodyPr>
          <a:lstStyle/>
          <a:p>
            <a:pPr algn="l"/>
            <a:r>
              <a:rPr sz="2000" b="1">
                <a:solidFill>
                  <a:srgbClr val="141D18"/>
                </a:solidFill>
                <a:latin typeface="Segoe UI"/>
              </a:rPr>
              <a:t>Innovation-driven</a:t>
            </a:r>
          </a:p>
        </p:txBody>
      </p:sp>
      <p:sp>
        <p:nvSpPr>
          <p:cNvPr id="18" name="TextBox 17"/>
          <p:cNvSpPr txBox="1"/>
          <p:nvPr/>
        </p:nvSpPr>
        <p:spPr>
          <a:xfrm>
            <a:off x="6469380" y="3986784"/>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TAPAK, our own plot-level traceability platform, live in production.</a:t>
            </a:r>
          </a:p>
        </p:txBody>
      </p:sp>
      <p:sp>
        <p:nvSpPr>
          <p:cNvPr id="19" name="Rectangle 18"/>
          <p:cNvSpPr/>
          <p:nvPr/>
        </p:nvSpPr>
        <p:spPr>
          <a:xfrm>
            <a:off x="658368" y="4809744"/>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809744"/>
            <a:ext cx="5006340" cy="347472"/>
          </a:xfrm>
          <a:prstGeom prst="rect">
            <a:avLst/>
          </a:prstGeom>
          <a:noFill/>
        </p:spPr>
        <p:txBody>
          <a:bodyPr wrap="square" lIns="0" rIns="0" tIns="0" bIns="0">
            <a:spAutoFit/>
          </a:bodyPr>
          <a:lstStyle/>
          <a:p>
            <a:pPr algn="l"/>
            <a:r>
              <a:rPr sz="2000" b="1">
                <a:solidFill>
                  <a:srgbClr val="141D18"/>
                </a:solidFill>
                <a:latin typeface="Segoe UI"/>
              </a:rPr>
              <a:t>Sustainability-focused</a:t>
            </a:r>
          </a:p>
        </p:txBody>
      </p:sp>
      <p:sp>
        <p:nvSpPr>
          <p:cNvPr id="21" name="TextBox 20"/>
          <p:cNvSpPr txBox="1"/>
          <p:nvPr/>
        </p:nvSpPr>
        <p:spPr>
          <a:xfrm>
            <a:off x="877824" y="5212080"/>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GIZ-funded land restoration, EUDR preparation, and on-site composting.</a:t>
            </a:r>
          </a:p>
        </p:txBody>
      </p:sp>
      <p:sp>
        <p:nvSpPr>
          <p:cNvPr id="22" name="Rectangle 21"/>
          <p:cNvSpPr/>
          <p:nvPr/>
        </p:nvSpPr>
        <p:spPr>
          <a:xfrm>
            <a:off x="6249924" y="4809744"/>
            <a:ext cx="27432" cy="1097280"/>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9380" y="4809744"/>
            <a:ext cx="5006340" cy="347472"/>
          </a:xfrm>
          <a:prstGeom prst="rect">
            <a:avLst/>
          </a:prstGeom>
          <a:noFill/>
        </p:spPr>
        <p:txBody>
          <a:bodyPr wrap="square" lIns="0" rIns="0" tIns="0" bIns="0">
            <a:spAutoFit/>
          </a:bodyPr>
          <a:lstStyle/>
          <a:p>
            <a:pPr algn="l"/>
            <a:r>
              <a:rPr sz="2000" b="1">
                <a:solidFill>
                  <a:srgbClr val="141D18"/>
                </a:solidFill>
                <a:latin typeface="Segoe UI"/>
              </a:rPr>
              <a:t>Open to collaboration</a:t>
            </a:r>
          </a:p>
        </p:txBody>
      </p:sp>
      <p:sp>
        <p:nvSpPr>
          <p:cNvPr id="24" name="TextBox 23"/>
          <p:cNvSpPr txBox="1"/>
          <p:nvPr/>
        </p:nvSpPr>
        <p:spPr>
          <a:xfrm>
            <a:off x="6469380" y="5212080"/>
            <a:ext cx="5006340" cy="749808"/>
          </a:xfrm>
          <a:prstGeom prst="rect">
            <a:avLst/>
          </a:prstGeom>
          <a:noFill/>
        </p:spPr>
        <p:txBody>
          <a:bodyPr wrap="square" lIns="0" rIns="0" tIns="0" bIns="0">
            <a:spAutoFit/>
          </a:bodyPr>
          <a:lstStyle/>
          <a:p>
            <a:pPr algn="l">
              <a:lnSpc>
                <a:spcPct val="130000"/>
              </a:lnSpc>
            </a:pPr>
            <a:r>
              <a:rPr sz="1600" b="0">
                <a:solidFill>
                  <a:srgbClr val="3D4A43"/>
                </a:solidFill>
                <a:latin typeface="Segoe UI"/>
              </a:rPr>
              <a:t>Existing consortium with Verstegen, Fairfood and PT CAN.</a:t>
            </a:r>
          </a:p>
        </p:txBody>
      </p:sp>
      <p:sp>
        <p:nvSpPr>
          <p:cNvPr id="25" name="TextBox 24"/>
          <p:cNvSpPr txBox="1"/>
          <p:nvPr/>
        </p:nvSpPr>
        <p:spPr>
          <a:xfrm>
            <a:off x="658368" y="6053328"/>
            <a:ext cx="10424160" cy="237744"/>
          </a:xfrm>
          <a:prstGeom prst="rect">
            <a:avLst/>
          </a:prstGeom>
          <a:noFill/>
        </p:spPr>
        <p:txBody>
          <a:bodyPr wrap="square" lIns="0" rIns="0" tIns="0" bIns="0">
            <a:spAutoFit/>
          </a:bodyPr>
          <a:lstStyle/>
          <a:p>
            <a:pPr algn="l"/>
            <a:r>
              <a:rPr sz="1300" b="0">
                <a:solidFill>
                  <a:srgbClr val="6C7A72"/>
                </a:solidFill>
                <a:latin typeface="Segoe UI"/>
              </a:rPr>
              <a:t>Measured against the six participant criteria published in the ICIF prospectus.</a:t>
            </a:r>
          </a:p>
        </p:txBody>
      </p:sp>
      <p:sp>
        <p:nvSpPr>
          <p:cNvPr id="26" name="TextBox 25"/>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11   GROUND CAPACITY</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What a new programme would plug into.</a:t>
            </a:r>
          </a:p>
        </p:txBody>
      </p:sp>
      <p:sp>
        <p:nvSpPr>
          <p:cNvPr id="7" name="TextBox 6"/>
          <p:cNvSpPr txBox="1"/>
          <p:nvPr/>
        </p:nvSpPr>
        <p:spPr>
          <a:xfrm>
            <a:off x="658368" y="2331720"/>
            <a:ext cx="10424160" cy="731520"/>
          </a:xfrm>
          <a:prstGeom prst="rect">
            <a:avLst/>
          </a:prstGeom>
          <a:noFill/>
        </p:spPr>
        <p:txBody>
          <a:bodyPr wrap="square" lIns="0" rIns="0" tIns="0" bIns="0">
            <a:spAutoFit/>
          </a:bodyPr>
          <a:lstStyle/>
          <a:p>
            <a:pPr algn="l">
              <a:lnSpc>
                <a:spcPct val="138000"/>
              </a:lnSpc>
            </a:pPr>
            <a:r>
              <a:rPr sz="1600" b="0">
                <a:solidFill>
                  <a:srgbClr val="3D4A43"/>
                </a:solidFill>
                <a:latin typeface="Segoe UI"/>
              </a:rPr>
              <a:t>Our current partners are references, not the limit of who we can work with. An organisation bringing a programme to Lampung does not have to build a farmer base first.</a:t>
            </a:r>
          </a:p>
        </p:txBody>
      </p:sp>
      <p:sp>
        <p:nvSpPr>
          <p:cNvPr id="8" name="TextBox 7"/>
          <p:cNvSpPr txBox="1"/>
          <p:nvPr/>
        </p:nvSpPr>
        <p:spPr>
          <a:xfrm>
            <a:off x="658368" y="3154680"/>
            <a:ext cx="2057400" cy="566928"/>
          </a:xfrm>
          <a:prstGeom prst="rect">
            <a:avLst/>
          </a:prstGeom>
          <a:noFill/>
        </p:spPr>
        <p:txBody>
          <a:bodyPr wrap="square" lIns="0" rIns="0" tIns="0" bIns="0">
            <a:spAutoFit/>
          </a:bodyPr>
          <a:lstStyle/>
          <a:p>
            <a:pPr algn="l"/>
            <a:r>
              <a:rPr sz="3200" b="1">
                <a:solidFill>
                  <a:srgbClr val="1F4034"/>
                </a:solidFill>
                <a:latin typeface="Georgia"/>
              </a:rPr>
              <a:t>1,250</a:t>
            </a:r>
          </a:p>
        </p:txBody>
      </p:sp>
      <p:sp>
        <p:nvSpPr>
          <p:cNvPr id="9" name="TextBox 8"/>
          <p:cNvSpPr txBox="1"/>
          <p:nvPr/>
        </p:nvSpPr>
        <p:spPr>
          <a:xfrm>
            <a:off x="658368"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FARMER HOUSEHOLDS</a:t>
            </a:r>
          </a:p>
        </p:txBody>
      </p:sp>
      <p:sp>
        <p:nvSpPr>
          <p:cNvPr id="10" name="TextBox 9"/>
          <p:cNvSpPr txBox="1"/>
          <p:nvPr/>
        </p:nvSpPr>
        <p:spPr>
          <a:xfrm>
            <a:off x="2834639" y="3154680"/>
            <a:ext cx="2057400" cy="566928"/>
          </a:xfrm>
          <a:prstGeom prst="rect">
            <a:avLst/>
          </a:prstGeom>
          <a:noFill/>
        </p:spPr>
        <p:txBody>
          <a:bodyPr wrap="square" lIns="0" rIns="0" tIns="0" bIns="0">
            <a:spAutoFit/>
          </a:bodyPr>
          <a:lstStyle/>
          <a:p>
            <a:pPr algn="l"/>
            <a:r>
              <a:rPr sz="3200" b="1">
                <a:solidFill>
                  <a:srgbClr val="1F4034"/>
                </a:solidFill>
                <a:latin typeface="Georgia"/>
              </a:rPr>
              <a:t>≈600 ha</a:t>
            </a:r>
          </a:p>
        </p:txBody>
      </p:sp>
      <p:sp>
        <p:nvSpPr>
          <p:cNvPr id="11" name="TextBox 10"/>
          <p:cNvSpPr txBox="1"/>
          <p:nvPr/>
        </p:nvSpPr>
        <p:spPr>
          <a:xfrm>
            <a:off x="2834639"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UNDER MANAGEMENT</a:t>
            </a:r>
          </a:p>
        </p:txBody>
      </p:sp>
      <p:sp>
        <p:nvSpPr>
          <p:cNvPr id="12" name="TextBox 11"/>
          <p:cNvSpPr txBox="1"/>
          <p:nvPr/>
        </p:nvSpPr>
        <p:spPr>
          <a:xfrm>
            <a:off x="5010912" y="3154680"/>
            <a:ext cx="2057400" cy="566928"/>
          </a:xfrm>
          <a:prstGeom prst="rect">
            <a:avLst/>
          </a:prstGeom>
          <a:noFill/>
        </p:spPr>
        <p:txBody>
          <a:bodyPr wrap="square" lIns="0" rIns="0" tIns="0" bIns="0">
            <a:spAutoFit/>
          </a:bodyPr>
          <a:lstStyle/>
          <a:p>
            <a:pPr algn="l"/>
            <a:r>
              <a:rPr sz="3200" b="1">
                <a:solidFill>
                  <a:srgbClr val="1F4034"/>
                </a:solidFill>
                <a:latin typeface="Georgia"/>
              </a:rPr>
              <a:t>17</a:t>
            </a:r>
          </a:p>
        </p:txBody>
      </p:sp>
      <p:sp>
        <p:nvSpPr>
          <p:cNvPr id="13" name="TextBox 12"/>
          <p:cNvSpPr txBox="1"/>
          <p:nvPr/>
        </p:nvSpPr>
        <p:spPr>
          <a:xfrm>
            <a:off x="5010912"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BUYING STATIONS</a:t>
            </a:r>
          </a:p>
        </p:txBody>
      </p:sp>
      <p:sp>
        <p:nvSpPr>
          <p:cNvPr id="14" name="TextBox 13"/>
          <p:cNvSpPr txBox="1"/>
          <p:nvPr/>
        </p:nvSpPr>
        <p:spPr>
          <a:xfrm>
            <a:off x="7187183" y="3154680"/>
            <a:ext cx="2057400" cy="566928"/>
          </a:xfrm>
          <a:prstGeom prst="rect">
            <a:avLst/>
          </a:prstGeom>
          <a:noFill/>
        </p:spPr>
        <p:txBody>
          <a:bodyPr wrap="square" lIns="0" rIns="0" tIns="0" bIns="0">
            <a:spAutoFit/>
          </a:bodyPr>
          <a:lstStyle/>
          <a:p>
            <a:pPr algn="l"/>
            <a:r>
              <a:rPr sz="3200" b="1">
                <a:solidFill>
                  <a:srgbClr val="1F4034"/>
                </a:solidFill>
                <a:latin typeface="Georgia"/>
              </a:rPr>
              <a:t>5</a:t>
            </a:r>
          </a:p>
        </p:txBody>
      </p:sp>
      <p:sp>
        <p:nvSpPr>
          <p:cNvPr id="15" name="TextBox 14"/>
          <p:cNvSpPr txBox="1"/>
          <p:nvPr/>
        </p:nvSpPr>
        <p:spPr>
          <a:xfrm>
            <a:off x="7187183"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FIELD FACILITATORS</a:t>
            </a:r>
          </a:p>
        </p:txBody>
      </p:sp>
      <p:sp>
        <p:nvSpPr>
          <p:cNvPr id="16" name="TextBox 15"/>
          <p:cNvSpPr txBox="1"/>
          <p:nvPr/>
        </p:nvSpPr>
        <p:spPr>
          <a:xfrm>
            <a:off x="9363456" y="3154680"/>
            <a:ext cx="2057400" cy="566928"/>
          </a:xfrm>
          <a:prstGeom prst="rect">
            <a:avLst/>
          </a:prstGeom>
          <a:noFill/>
        </p:spPr>
        <p:txBody>
          <a:bodyPr wrap="square" lIns="0" rIns="0" tIns="0" bIns="0">
            <a:spAutoFit/>
          </a:bodyPr>
          <a:lstStyle/>
          <a:p>
            <a:pPr algn="l"/>
            <a:r>
              <a:rPr sz="3200" b="1">
                <a:solidFill>
                  <a:srgbClr val="1F4034"/>
                </a:solidFill>
                <a:latin typeface="Georgia"/>
              </a:rPr>
              <a:t>2,000 MT</a:t>
            </a:r>
          </a:p>
        </p:txBody>
      </p:sp>
      <p:sp>
        <p:nvSpPr>
          <p:cNvPr id="17" name="TextBox 16"/>
          <p:cNvSpPr txBox="1"/>
          <p:nvPr/>
        </p:nvSpPr>
        <p:spPr>
          <a:xfrm>
            <a:off x="9363456" y="3721608"/>
            <a:ext cx="2057400" cy="274320"/>
          </a:xfrm>
          <a:prstGeom prst="rect">
            <a:avLst/>
          </a:prstGeom>
          <a:noFill/>
        </p:spPr>
        <p:txBody>
          <a:bodyPr wrap="square" lIns="0" rIns="0" tIns="0" bIns="0">
            <a:spAutoFit/>
          </a:bodyPr>
          <a:lstStyle/>
          <a:p>
            <a:pPr algn="l"/>
            <a:r>
              <a:rPr sz="1100" b="0" spc="100">
                <a:solidFill>
                  <a:srgbClr val="6C7A72"/>
                </a:solidFill>
                <a:latin typeface="Segoe UI"/>
              </a:rPr>
              <a:t>FACILITY AT NATAR</a:t>
            </a:r>
          </a:p>
        </p:txBody>
      </p:sp>
      <p:sp>
        <p:nvSpPr>
          <p:cNvPr id="18" name="Rectangle 17"/>
          <p:cNvSpPr/>
          <p:nvPr/>
        </p:nvSpPr>
        <p:spPr>
          <a:xfrm>
            <a:off x="658368" y="4160520"/>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279392"/>
            <a:ext cx="27432" cy="1536192"/>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27939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Registered, not estimated</a:t>
            </a:r>
          </a:p>
        </p:txBody>
      </p:sp>
      <p:sp>
        <p:nvSpPr>
          <p:cNvPr id="21" name="TextBox 20"/>
          <p:cNvSpPr txBox="1"/>
          <p:nvPr/>
        </p:nvSpPr>
        <p:spPr>
          <a:xfrm>
            <a:off x="877824" y="5047488"/>
            <a:ext cx="3090672" cy="768096"/>
          </a:xfrm>
          <a:prstGeom prst="rect">
            <a:avLst/>
          </a:prstGeom>
          <a:noFill/>
        </p:spPr>
        <p:txBody>
          <a:bodyPr wrap="square" lIns="0" rIns="0" tIns="0" bIns="0">
            <a:spAutoFit/>
          </a:bodyPr>
          <a:lstStyle/>
          <a:p>
            <a:pPr algn="l">
              <a:lnSpc>
                <a:spcPct val="132000"/>
              </a:lnSpc>
            </a:pPr>
            <a:r>
              <a:rPr sz="1600" b="0">
                <a:solidFill>
                  <a:srgbClr val="3D4A43"/>
                </a:solidFill>
                <a:latin typeface="Segoe UI"/>
              </a:rPr>
              <a:t>Every farmer has an identity record and a mapped plot.</a:t>
            </a:r>
          </a:p>
        </p:txBody>
      </p:sp>
      <p:sp>
        <p:nvSpPr>
          <p:cNvPr id="22" name="Rectangle 21"/>
          <p:cNvSpPr/>
          <p:nvPr/>
        </p:nvSpPr>
        <p:spPr>
          <a:xfrm>
            <a:off x="4270248" y="4279392"/>
            <a:ext cx="27432" cy="1536192"/>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9704" y="427939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Resident, not visiting</a:t>
            </a:r>
          </a:p>
        </p:txBody>
      </p:sp>
      <p:sp>
        <p:nvSpPr>
          <p:cNvPr id="24" name="TextBox 23"/>
          <p:cNvSpPr txBox="1"/>
          <p:nvPr/>
        </p:nvSpPr>
        <p:spPr>
          <a:xfrm>
            <a:off x="4489704" y="5047488"/>
            <a:ext cx="3090672" cy="768096"/>
          </a:xfrm>
          <a:prstGeom prst="rect">
            <a:avLst/>
          </a:prstGeom>
          <a:noFill/>
        </p:spPr>
        <p:txBody>
          <a:bodyPr wrap="square" lIns="0" rIns="0" tIns="0" bIns="0">
            <a:spAutoFit/>
          </a:bodyPr>
          <a:lstStyle/>
          <a:p>
            <a:pPr algn="l">
              <a:lnSpc>
                <a:spcPct val="132000"/>
              </a:lnSpc>
            </a:pPr>
            <a:r>
              <a:rPr sz="1600" b="0">
                <a:solidFill>
                  <a:srgbClr val="3D4A43"/>
                </a:solidFill>
                <a:latin typeface="Segoe UI"/>
              </a:rPr>
              <a:t>Fifteen staff, resident across all three regencies.</a:t>
            </a:r>
          </a:p>
        </p:txBody>
      </p:sp>
      <p:sp>
        <p:nvSpPr>
          <p:cNvPr id="25" name="Rectangle 24"/>
          <p:cNvSpPr/>
          <p:nvPr/>
        </p:nvSpPr>
        <p:spPr>
          <a:xfrm>
            <a:off x="7882128" y="4279392"/>
            <a:ext cx="27432" cy="1536192"/>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01584" y="4279392"/>
            <a:ext cx="3090672" cy="676656"/>
          </a:xfrm>
          <a:prstGeom prst="rect">
            <a:avLst/>
          </a:prstGeom>
          <a:noFill/>
        </p:spPr>
        <p:txBody>
          <a:bodyPr wrap="square" lIns="0" rIns="0" tIns="0" bIns="0">
            <a:spAutoFit/>
          </a:bodyPr>
          <a:lstStyle/>
          <a:p>
            <a:pPr algn="l">
              <a:lnSpc>
                <a:spcPct val="114000"/>
              </a:lnSpc>
            </a:pPr>
            <a:r>
              <a:rPr sz="2000" b="1">
                <a:solidFill>
                  <a:srgbClr val="141D18"/>
                </a:solidFill>
                <a:latin typeface="Segoe UI"/>
              </a:rPr>
              <a:t>We buy, not just deliver</a:t>
            </a:r>
          </a:p>
        </p:txBody>
      </p:sp>
      <p:sp>
        <p:nvSpPr>
          <p:cNvPr id="27" name="TextBox 26"/>
          <p:cNvSpPr txBox="1"/>
          <p:nvPr/>
        </p:nvSpPr>
        <p:spPr>
          <a:xfrm>
            <a:off x="8101584" y="5047488"/>
            <a:ext cx="3090672" cy="768096"/>
          </a:xfrm>
          <a:prstGeom prst="rect">
            <a:avLst/>
          </a:prstGeom>
          <a:noFill/>
        </p:spPr>
        <p:txBody>
          <a:bodyPr wrap="square" lIns="0" rIns="0" tIns="0" bIns="0">
            <a:spAutoFit/>
          </a:bodyPr>
          <a:lstStyle/>
          <a:p>
            <a:pPr algn="l">
              <a:lnSpc>
                <a:spcPct val="132000"/>
              </a:lnSpc>
            </a:pPr>
            <a:r>
              <a:rPr sz="1600" b="0">
                <a:solidFill>
                  <a:srgbClr val="3D4A43"/>
                </a:solidFill>
                <a:latin typeface="Segoe UI"/>
              </a:rPr>
              <a:t>We are the off-taker too, not only a delivery agent.</a:t>
            </a:r>
          </a:p>
        </p:txBody>
      </p:sp>
      <p:sp>
        <p:nvSpPr>
          <p:cNvPr id="28" name="TextBox 27"/>
          <p:cNvSpPr txBox="1"/>
          <p:nvPr/>
        </p:nvSpPr>
        <p:spPr>
          <a:xfrm>
            <a:off x="658368" y="5852160"/>
            <a:ext cx="5486400" cy="237744"/>
          </a:xfrm>
          <a:prstGeom prst="rect">
            <a:avLst/>
          </a:prstGeom>
          <a:noFill/>
        </p:spPr>
        <p:txBody>
          <a:bodyPr wrap="square" lIns="0" rIns="0" tIns="0" bIns="0">
            <a:spAutoFit/>
          </a:bodyPr>
          <a:lstStyle/>
          <a:p>
            <a:pPr algn="l"/>
            <a:r>
              <a:rPr sz="1300" b="1" spc="80">
                <a:solidFill>
                  <a:srgbClr val="9A7526"/>
                </a:solidFill>
                <a:latin typeface="Segoe UI"/>
              </a:rPr>
              <a:t>Pesawaran · Tanggamus · Lampung Barat</a:t>
            </a:r>
          </a:p>
        </p:txBody>
      </p:sp>
      <p:sp>
        <p:nvSpPr>
          <p:cNvPr id="29" name="TextBox 28"/>
          <p:cNvSpPr txBox="1"/>
          <p:nvPr/>
        </p:nvSpPr>
        <p:spPr>
          <a:xfrm>
            <a:off x="658368" y="6089904"/>
            <a:ext cx="7498079" cy="237744"/>
          </a:xfrm>
          <a:prstGeom prst="rect">
            <a:avLst/>
          </a:prstGeom>
          <a:noFill/>
        </p:spPr>
        <p:txBody>
          <a:bodyPr wrap="square" lIns="0" rIns="0" tIns="0" bIns="0">
            <a:spAutoFit/>
          </a:bodyPr>
          <a:lstStyle/>
          <a:p>
            <a:pPr algn="l"/>
            <a:r>
              <a:rPr sz="1100" b="0">
                <a:solidFill>
                  <a:srgbClr val="6C7A72"/>
                </a:solidFill>
                <a:latin typeface="Segoe UI"/>
              </a:rPr>
              <a:t>Area estimated at 0.5 ha average holding. TAPAK holds the plot polygons to compute it exactly.</a:t>
            </a:r>
          </a:p>
        </p:txBody>
      </p:sp>
      <p:sp>
        <p:nvSpPr>
          <p:cNvPr id="30" name="TextBox 29"/>
          <p:cNvSpPr txBox="1"/>
          <p:nvPr/>
        </p:nvSpPr>
        <p:spPr>
          <a:xfrm>
            <a:off x="7699248" y="5925312"/>
            <a:ext cx="3840480" cy="237744"/>
          </a:xfrm>
          <a:prstGeom prst="rect">
            <a:avLst/>
          </a:prstGeom>
          <a:noFill/>
        </p:spPr>
        <p:txBody>
          <a:bodyPr wrap="square" lIns="0" rIns="0" tIns="0" bIns="0">
            <a:spAutoFit/>
          </a:bodyPr>
          <a:lstStyle/>
          <a:p>
            <a:pPr algn="l"/>
            <a:r>
              <a:rPr sz="1300" b="1">
                <a:solidFill>
                  <a:srgbClr val="1F4034"/>
                </a:solidFill>
                <a:latin typeface="Segoe UI"/>
              </a:rPr>
              <a:t>aGROWforests implementer, audited by GIZ</a:t>
            </a:r>
          </a:p>
        </p:txBody>
      </p:sp>
      <p:sp>
        <p:nvSpPr>
          <p:cNvPr id="31" name="TextBox 30"/>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32" name="TextBox 31"/>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12   THE ASK</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What we are looking for in Amsterdam.</a:t>
            </a:r>
          </a:p>
        </p:txBody>
      </p:sp>
      <p:sp>
        <p:nvSpPr>
          <p:cNvPr id="7" name="Oval 6"/>
          <p:cNvSpPr/>
          <p:nvPr/>
        </p:nvSpPr>
        <p:spPr>
          <a:xfrm>
            <a:off x="658368" y="2395728"/>
            <a:ext cx="402336" cy="402336"/>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1</a:t>
            </a:r>
          </a:p>
        </p:txBody>
      </p:sp>
      <p:sp>
        <p:nvSpPr>
          <p:cNvPr id="8" name="TextBox 7"/>
          <p:cNvSpPr txBox="1"/>
          <p:nvPr/>
        </p:nvSpPr>
        <p:spPr>
          <a:xfrm>
            <a:off x="1298448" y="2414016"/>
            <a:ext cx="3200400" cy="548640"/>
          </a:xfrm>
          <a:prstGeom prst="rect">
            <a:avLst/>
          </a:prstGeom>
          <a:noFill/>
        </p:spPr>
        <p:txBody>
          <a:bodyPr wrap="square" lIns="0" rIns="0" tIns="0" bIns="0">
            <a:spAutoFit/>
          </a:bodyPr>
          <a:lstStyle/>
          <a:p>
            <a:pPr algn="l">
              <a:lnSpc>
                <a:spcPct val="120000"/>
              </a:lnSpc>
            </a:pPr>
            <a:r>
              <a:rPr sz="1600" b="1">
                <a:solidFill>
                  <a:srgbClr val="141D18"/>
                </a:solidFill>
                <a:latin typeface="Segoe UI"/>
              </a:rPr>
              <a:t>New programmes for Lampung</a:t>
            </a:r>
          </a:p>
        </p:txBody>
      </p:sp>
      <p:sp>
        <p:nvSpPr>
          <p:cNvPr id="9" name="TextBox 8"/>
          <p:cNvSpPr txBox="1"/>
          <p:nvPr/>
        </p:nvSpPr>
        <p:spPr>
          <a:xfrm>
            <a:off x="4636007" y="2414016"/>
            <a:ext cx="667512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Not investment in KGF. New projects across commodities and forestry in the province, with us delivering them on the ground.</a:t>
            </a:r>
          </a:p>
        </p:txBody>
      </p:sp>
      <p:sp>
        <p:nvSpPr>
          <p:cNvPr id="10" name="Oval 9"/>
          <p:cNvSpPr/>
          <p:nvPr/>
        </p:nvSpPr>
        <p:spPr>
          <a:xfrm>
            <a:off x="658368" y="3291840"/>
            <a:ext cx="402336" cy="402336"/>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2</a:t>
            </a:r>
          </a:p>
        </p:txBody>
      </p:sp>
      <p:sp>
        <p:nvSpPr>
          <p:cNvPr id="11" name="TextBox 10"/>
          <p:cNvSpPr txBox="1"/>
          <p:nvPr/>
        </p:nvSpPr>
        <p:spPr>
          <a:xfrm>
            <a:off x="1298448" y="3310128"/>
            <a:ext cx="3200400" cy="548640"/>
          </a:xfrm>
          <a:prstGeom prst="rect">
            <a:avLst/>
          </a:prstGeom>
          <a:noFill/>
        </p:spPr>
        <p:txBody>
          <a:bodyPr wrap="square" lIns="0" rIns="0" tIns="0" bIns="0">
            <a:spAutoFit/>
          </a:bodyPr>
          <a:lstStyle/>
          <a:p>
            <a:pPr algn="l">
              <a:lnSpc>
                <a:spcPct val="120000"/>
              </a:lnSpc>
            </a:pPr>
            <a:r>
              <a:rPr sz="1600" b="1">
                <a:solidFill>
                  <a:srgbClr val="141D18"/>
                </a:solidFill>
                <a:latin typeface="Segoe UI"/>
              </a:rPr>
              <a:t>A European partner to apply with</a:t>
            </a:r>
          </a:p>
        </p:txBody>
      </p:sp>
      <p:sp>
        <p:nvSpPr>
          <p:cNvPr id="12" name="TextBox 11"/>
          <p:cNvSpPr txBox="1"/>
          <p:nvPr/>
        </p:nvSpPr>
        <p:spPr>
          <a:xfrm>
            <a:off x="4636007" y="3310128"/>
            <a:ext cx="667512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Programmes like GIZ develoPPP need an applicant domiciled in the EU or OECD-DAC. We are not eligible, and do not need to be.</a:t>
            </a:r>
          </a:p>
        </p:txBody>
      </p:sp>
      <p:sp>
        <p:nvSpPr>
          <p:cNvPr id="13" name="Oval 12"/>
          <p:cNvSpPr/>
          <p:nvPr/>
        </p:nvSpPr>
        <p:spPr>
          <a:xfrm>
            <a:off x="658368" y="4187952"/>
            <a:ext cx="402336" cy="402336"/>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3</a:t>
            </a:r>
          </a:p>
        </p:txBody>
      </p:sp>
      <p:sp>
        <p:nvSpPr>
          <p:cNvPr id="14" name="TextBox 13"/>
          <p:cNvSpPr txBox="1"/>
          <p:nvPr/>
        </p:nvSpPr>
        <p:spPr>
          <a:xfrm>
            <a:off x="1298448" y="4206240"/>
            <a:ext cx="3200400" cy="548640"/>
          </a:xfrm>
          <a:prstGeom prst="rect">
            <a:avLst/>
          </a:prstGeom>
          <a:noFill/>
        </p:spPr>
        <p:txBody>
          <a:bodyPr wrap="square" lIns="0" rIns="0" tIns="0" bIns="0">
            <a:spAutoFit/>
          </a:bodyPr>
          <a:lstStyle/>
          <a:p>
            <a:pPr algn="l">
              <a:lnSpc>
                <a:spcPct val="120000"/>
              </a:lnSpc>
            </a:pPr>
            <a:r>
              <a:rPr sz="1600" b="1">
                <a:solidFill>
                  <a:srgbClr val="141D18"/>
                </a:solidFill>
                <a:latin typeface="Segoe UI"/>
              </a:rPr>
              <a:t>European buyers and distributors</a:t>
            </a:r>
          </a:p>
        </p:txBody>
      </p:sp>
      <p:sp>
        <p:nvSpPr>
          <p:cNvPr id="15" name="TextBox 14"/>
          <p:cNvSpPr txBox="1"/>
          <p:nvPr/>
        </p:nvSpPr>
        <p:spPr>
          <a:xfrm>
            <a:off x="4636007" y="4206240"/>
            <a:ext cx="667512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Robusta coffee and processed cocoa are uncommitted. Our premium pepper is already contracted to a Dutch buyer.</a:t>
            </a:r>
          </a:p>
        </p:txBody>
      </p:sp>
      <p:sp>
        <p:nvSpPr>
          <p:cNvPr id="16" name="Oval 15"/>
          <p:cNvSpPr/>
          <p:nvPr/>
        </p:nvSpPr>
        <p:spPr>
          <a:xfrm>
            <a:off x="658368" y="5084064"/>
            <a:ext cx="402336" cy="402336"/>
          </a:xfrm>
          <a:prstGeom prst="ellipse">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4</a:t>
            </a:r>
          </a:p>
        </p:txBody>
      </p:sp>
      <p:sp>
        <p:nvSpPr>
          <p:cNvPr id="17" name="TextBox 16"/>
          <p:cNvSpPr txBox="1"/>
          <p:nvPr/>
        </p:nvSpPr>
        <p:spPr>
          <a:xfrm>
            <a:off x="1298448" y="5102352"/>
            <a:ext cx="3200400" cy="548640"/>
          </a:xfrm>
          <a:prstGeom prst="rect">
            <a:avLst/>
          </a:prstGeom>
          <a:noFill/>
        </p:spPr>
        <p:txBody>
          <a:bodyPr wrap="square" lIns="0" rIns="0" tIns="0" bIns="0">
            <a:spAutoFit/>
          </a:bodyPr>
          <a:lstStyle/>
          <a:p>
            <a:pPr algn="l">
              <a:lnSpc>
                <a:spcPct val="120000"/>
              </a:lnSpc>
            </a:pPr>
            <a:r>
              <a:rPr sz="1600" b="1">
                <a:solidFill>
                  <a:srgbClr val="141D18"/>
                </a:solidFill>
                <a:latin typeface="Segoe UI"/>
              </a:rPr>
              <a:t>Circular processing partners</a:t>
            </a:r>
          </a:p>
        </p:txBody>
      </p:sp>
      <p:sp>
        <p:nvSpPr>
          <p:cNvPr id="18" name="TextBox 17"/>
          <p:cNvSpPr txBox="1"/>
          <p:nvPr/>
        </p:nvSpPr>
        <p:spPr>
          <a:xfrm>
            <a:off x="4636007" y="5102352"/>
            <a:ext cx="667512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Routes for coffee husk and cocoa pod husk that we could adopt in Lampung.</a:t>
            </a:r>
          </a:p>
        </p:txBody>
      </p:sp>
      <p:sp>
        <p:nvSpPr>
          <p:cNvPr id="19" name="Rectangle 18"/>
          <p:cNvSpPr/>
          <p:nvPr/>
        </p:nvSpPr>
        <p:spPr>
          <a:xfrm>
            <a:off x="658368" y="5870448"/>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98464"/>
            <a:ext cx="10424160" cy="329184"/>
          </a:xfrm>
          <a:prstGeom prst="rect">
            <a:avLst/>
          </a:prstGeom>
          <a:noFill/>
        </p:spPr>
        <p:txBody>
          <a:bodyPr wrap="square" lIns="0" rIns="0" tIns="0" bIns="0">
            <a:spAutoFit/>
          </a:bodyPr>
          <a:lstStyle/>
          <a:p>
            <a:pPr algn="l"/>
            <a:r>
              <a:rPr sz="2000" b="1">
                <a:solidFill>
                  <a:srgbClr val="1F4034"/>
                </a:solidFill>
                <a:latin typeface="Georgia"/>
              </a:rPr>
              <a:t>We cannot cover the delegate fee. The next page sets out the alternative.</a:t>
            </a:r>
          </a:p>
        </p:txBody>
      </p:sp>
      <p:sp>
        <p:nvSpPr>
          <p:cNvPr id="21" name="TextBox 20"/>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2" name="TextBox 21"/>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13   SPONSORED PARTICIPATION</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We cannot fund the seat. We can fill it.</a:t>
            </a:r>
          </a:p>
        </p:txBody>
      </p:sp>
      <p:sp>
        <p:nvSpPr>
          <p:cNvPr id="7" name="TextBox 6"/>
          <p:cNvSpPr txBox="1"/>
          <p:nvPr/>
        </p:nvSpPr>
        <p:spPr>
          <a:xfrm>
            <a:off x="658368" y="2359152"/>
            <a:ext cx="10424160" cy="731520"/>
          </a:xfrm>
          <a:prstGeom prst="rect">
            <a:avLst/>
          </a:prstGeom>
          <a:noFill/>
        </p:spPr>
        <p:txBody>
          <a:bodyPr wrap="square" lIns="0" rIns="0" tIns="0" bIns="0">
            <a:spAutoFit/>
          </a:bodyPr>
          <a:lstStyle/>
          <a:p>
            <a:pPr algn="l">
              <a:lnSpc>
                <a:spcPct val="138000"/>
              </a:lnSpc>
            </a:pPr>
            <a:r>
              <a:rPr sz="1600" b="0">
                <a:solidFill>
                  <a:srgbClr val="3D4A43"/>
                </a:solidFill>
                <a:latin typeface="Segoe UI"/>
              </a:rPr>
              <a:t>We told the organisers plainly that the IDR 75,000,000 delegate fee is beyond us. Rather than withdraw, we set out here what a sponsored seat would actually be funding.</a:t>
            </a:r>
          </a:p>
        </p:txBody>
      </p:sp>
      <p:sp>
        <p:nvSpPr>
          <p:cNvPr id="8" name="Rectangle 7"/>
          <p:cNvSpPr/>
          <p:nvPr/>
        </p:nvSpPr>
        <p:spPr>
          <a:xfrm>
            <a:off x="658368" y="3218688"/>
            <a:ext cx="27432" cy="1042415"/>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3218688"/>
            <a:ext cx="5006340" cy="347472"/>
          </a:xfrm>
          <a:prstGeom prst="rect">
            <a:avLst/>
          </a:prstGeom>
          <a:noFill/>
        </p:spPr>
        <p:txBody>
          <a:bodyPr wrap="square" lIns="0" rIns="0" tIns="0" bIns="0">
            <a:spAutoFit/>
          </a:bodyPr>
          <a:lstStyle/>
          <a:p>
            <a:pPr algn="l"/>
            <a:r>
              <a:rPr sz="2000" b="1">
                <a:solidFill>
                  <a:srgbClr val="141D18"/>
                </a:solidFill>
                <a:latin typeface="Segoe UI"/>
              </a:rPr>
              <a:t>A provincial mandate, not a company trip</a:t>
            </a:r>
          </a:p>
        </p:txBody>
      </p:sp>
      <p:sp>
        <p:nvSpPr>
          <p:cNvPr id="10" name="TextBox 9"/>
          <p:cNvSpPr txBox="1"/>
          <p:nvPr/>
        </p:nvSpPr>
        <p:spPr>
          <a:xfrm>
            <a:off x="877824" y="3621024"/>
            <a:ext cx="500634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The Governor of Lampung asked us in writing to help bring investment into the province.</a:t>
            </a:r>
          </a:p>
        </p:txBody>
      </p:sp>
      <p:sp>
        <p:nvSpPr>
          <p:cNvPr id="11" name="Rectangle 10"/>
          <p:cNvSpPr/>
          <p:nvPr/>
        </p:nvSpPr>
        <p:spPr>
          <a:xfrm>
            <a:off x="6249924" y="3218688"/>
            <a:ext cx="27432" cy="1042415"/>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9380" y="3218688"/>
            <a:ext cx="5006340" cy="347472"/>
          </a:xfrm>
          <a:prstGeom prst="rect">
            <a:avLst/>
          </a:prstGeom>
          <a:noFill/>
        </p:spPr>
        <p:txBody>
          <a:bodyPr wrap="square" lIns="0" rIns="0" tIns="0" bIns="0">
            <a:spAutoFit/>
          </a:bodyPr>
          <a:lstStyle/>
          <a:p>
            <a:pPr algn="l"/>
            <a:r>
              <a:rPr sz="2000" b="1">
                <a:solidFill>
                  <a:srgbClr val="141D18"/>
                </a:solidFill>
                <a:latin typeface="Segoe UI"/>
              </a:rPr>
              <a:t>A case that shows well on a stage</a:t>
            </a:r>
          </a:p>
        </p:txBody>
      </p:sp>
      <p:sp>
        <p:nvSpPr>
          <p:cNvPr id="13" name="TextBox 12"/>
          <p:cNvSpPr txBox="1"/>
          <p:nvPr/>
        </p:nvSpPr>
        <p:spPr>
          <a:xfrm>
            <a:off x="6469380" y="3621024"/>
            <a:ext cx="500634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Post-mining land restored into a traded, deforestation-free supply chain, with the data to show it.</a:t>
            </a:r>
          </a:p>
        </p:txBody>
      </p:sp>
      <p:sp>
        <p:nvSpPr>
          <p:cNvPr id="14" name="Rectangle 13"/>
          <p:cNvSpPr/>
          <p:nvPr/>
        </p:nvSpPr>
        <p:spPr>
          <a:xfrm>
            <a:off x="658368" y="4407408"/>
            <a:ext cx="27432" cy="1042415"/>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407408"/>
            <a:ext cx="5006340" cy="347472"/>
          </a:xfrm>
          <a:prstGeom prst="rect">
            <a:avLst/>
          </a:prstGeom>
          <a:noFill/>
        </p:spPr>
        <p:txBody>
          <a:bodyPr wrap="square" lIns="0" rIns="0" tIns="0" bIns="0">
            <a:spAutoFit/>
          </a:bodyPr>
          <a:lstStyle/>
          <a:p>
            <a:pPr algn="l"/>
            <a:r>
              <a:rPr sz="2000" b="1">
                <a:solidFill>
                  <a:srgbClr val="141D18"/>
                </a:solidFill>
                <a:latin typeface="Segoe UI"/>
              </a:rPr>
              <a:t>An EU grant, conditionally awarded</a:t>
            </a:r>
          </a:p>
        </p:txBody>
      </p:sp>
      <p:sp>
        <p:nvSpPr>
          <p:cNvPr id="16" name="TextBox 15"/>
          <p:cNvSpPr txBox="1"/>
          <p:nvPr/>
        </p:nvSpPr>
        <p:spPr>
          <a:xfrm>
            <a:off x="877824" y="4809744"/>
            <a:ext cx="500634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aGROWForests+ selected for up to €3m by the European Commission. KGF is a co-applicant.</a:t>
            </a:r>
          </a:p>
        </p:txBody>
      </p:sp>
      <p:sp>
        <p:nvSpPr>
          <p:cNvPr id="17" name="Rectangle 16"/>
          <p:cNvSpPr/>
          <p:nvPr/>
        </p:nvSpPr>
        <p:spPr>
          <a:xfrm>
            <a:off x="6249924" y="4407408"/>
            <a:ext cx="27432" cy="1042415"/>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9380" y="4407408"/>
            <a:ext cx="5006340" cy="347472"/>
          </a:xfrm>
          <a:prstGeom prst="rect">
            <a:avLst/>
          </a:prstGeom>
          <a:noFill/>
        </p:spPr>
        <p:txBody>
          <a:bodyPr wrap="square" lIns="0" rIns="0" tIns="0" bIns="0">
            <a:spAutoFit/>
          </a:bodyPr>
          <a:lstStyle/>
          <a:p>
            <a:pPr algn="l"/>
            <a:r>
              <a:rPr sz="2000" b="1">
                <a:solidFill>
                  <a:srgbClr val="141D18"/>
                </a:solidFill>
                <a:latin typeface="Segoe UI"/>
              </a:rPr>
              <a:t>Dutch counterparts already in place</a:t>
            </a:r>
          </a:p>
        </p:txBody>
      </p:sp>
      <p:sp>
        <p:nvSpPr>
          <p:cNvPr id="19" name="TextBox 18"/>
          <p:cNvSpPr txBox="1"/>
          <p:nvPr/>
        </p:nvSpPr>
        <p:spPr>
          <a:xfrm>
            <a:off x="6469380" y="4809744"/>
            <a:ext cx="5006340" cy="694944"/>
          </a:xfrm>
          <a:prstGeom prst="rect">
            <a:avLst/>
          </a:prstGeom>
          <a:noFill/>
        </p:spPr>
        <p:txBody>
          <a:bodyPr wrap="square" lIns="0" rIns="0" tIns="0" bIns="0">
            <a:spAutoFit/>
          </a:bodyPr>
          <a:lstStyle/>
          <a:p>
            <a:pPr algn="l">
              <a:lnSpc>
                <a:spcPct val="130000"/>
              </a:lnSpc>
            </a:pPr>
            <a:r>
              <a:rPr sz="1600" b="0">
                <a:solidFill>
                  <a:srgbClr val="3D4A43"/>
                </a:solidFill>
                <a:latin typeface="Segoe UI"/>
              </a:rPr>
              <a:t>Verstegen and Fairfood are both Dutch. The mission deepens partnerships we already hold.</a:t>
            </a:r>
          </a:p>
        </p:txBody>
      </p:sp>
      <p:sp>
        <p:nvSpPr>
          <p:cNvPr id="20" name="Rectangle 19"/>
          <p:cNvSpPr/>
          <p:nvPr/>
        </p:nvSpPr>
        <p:spPr>
          <a:xfrm>
            <a:off x="658368" y="5504688"/>
            <a:ext cx="10872216"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650992"/>
            <a:ext cx="10424160" cy="694944"/>
          </a:xfrm>
          <a:prstGeom prst="rect">
            <a:avLst/>
          </a:prstGeom>
          <a:noFill/>
        </p:spPr>
        <p:txBody>
          <a:bodyPr wrap="square" lIns="0" rIns="0" tIns="0" bIns="0">
            <a:spAutoFit/>
          </a:bodyPr>
          <a:lstStyle/>
          <a:p>
            <a:pPr algn="l">
              <a:lnSpc>
                <a:spcPct val="120000"/>
              </a:lnSpc>
            </a:pPr>
            <a:r>
              <a:rPr sz="2000" b="1">
                <a:solidFill>
                  <a:srgbClr val="1F4034"/>
                </a:solidFill>
                <a:latin typeface="Georgia"/>
              </a:rPr>
              <a:t>What we bring instead of a fee is a case the province, the programme funder and the European buyer will each vouch for.</a:t>
            </a:r>
          </a:p>
        </p:txBody>
      </p:sp>
      <p:sp>
        <p:nvSpPr>
          <p:cNvPr id="22" name="TextBox 21"/>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3" name="TextBox 22"/>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14   TEAM</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The people who run it.</a:t>
            </a:r>
          </a:p>
        </p:txBody>
      </p:sp>
      <p:pic>
        <p:nvPicPr>
          <p:cNvPr id="7" name="Picture 6" descr="team_1_faizal.png"/>
          <p:cNvPicPr>
            <a:picLocks noChangeAspect="1"/>
          </p:cNvPicPr>
          <p:nvPr/>
        </p:nvPicPr>
        <p:blipFill>
          <a:blip r:embed="rId2"/>
          <a:srcRect/>
          <a:stretch>
            <a:fillRect/>
          </a:stretch>
        </p:blipFill>
        <p:spPr>
          <a:xfrm>
            <a:off x="1828799" y="2395728"/>
            <a:ext cx="1188720" cy="1188720"/>
          </a:xfrm>
          <a:prstGeom prst="rect">
            <a:avLst/>
          </a:prstGeom>
        </p:spPr>
      </p:pic>
      <p:sp>
        <p:nvSpPr>
          <p:cNvPr id="8" name="TextBox 7"/>
          <p:cNvSpPr txBox="1"/>
          <p:nvPr/>
        </p:nvSpPr>
        <p:spPr>
          <a:xfrm>
            <a:off x="658368" y="3675887"/>
            <a:ext cx="3529584" cy="256032"/>
          </a:xfrm>
          <a:prstGeom prst="rect">
            <a:avLst/>
          </a:prstGeom>
          <a:noFill/>
        </p:spPr>
        <p:txBody>
          <a:bodyPr wrap="square" lIns="0" rIns="0" tIns="0" bIns="0">
            <a:spAutoFit/>
          </a:bodyPr>
          <a:lstStyle/>
          <a:p>
            <a:pPr algn="ctr"/>
            <a:r>
              <a:rPr sz="1600" b="1">
                <a:solidFill>
                  <a:srgbClr val="141D18"/>
                </a:solidFill>
                <a:latin typeface="Segoe UI"/>
              </a:rPr>
              <a:t>Faizal Riza</a:t>
            </a:r>
          </a:p>
        </p:txBody>
      </p:sp>
      <p:sp>
        <p:nvSpPr>
          <p:cNvPr id="9" name="TextBox 8"/>
          <p:cNvSpPr txBox="1"/>
          <p:nvPr/>
        </p:nvSpPr>
        <p:spPr>
          <a:xfrm>
            <a:off x="658368"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CHIEF EXECUTIVE OFFICER</a:t>
            </a:r>
          </a:p>
        </p:txBody>
      </p:sp>
      <p:pic>
        <p:nvPicPr>
          <p:cNvPr id="10" name="Picture 9" descr="team_2_arif.png"/>
          <p:cNvPicPr>
            <a:picLocks noChangeAspect="1"/>
          </p:cNvPicPr>
          <p:nvPr/>
        </p:nvPicPr>
        <p:blipFill>
          <a:blip r:embed="rId3"/>
          <a:srcRect/>
          <a:stretch>
            <a:fillRect/>
          </a:stretch>
        </p:blipFill>
        <p:spPr>
          <a:xfrm>
            <a:off x="5504688" y="2395728"/>
            <a:ext cx="1188720" cy="1188720"/>
          </a:xfrm>
          <a:prstGeom prst="rect">
            <a:avLst/>
          </a:prstGeom>
        </p:spPr>
      </p:pic>
      <p:sp>
        <p:nvSpPr>
          <p:cNvPr id="11" name="TextBox 10"/>
          <p:cNvSpPr txBox="1"/>
          <p:nvPr/>
        </p:nvSpPr>
        <p:spPr>
          <a:xfrm>
            <a:off x="4334255" y="3675887"/>
            <a:ext cx="3529584" cy="256032"/>
          </a:xfrm>
          <a:prstGeom prst="rect">
            <a:avLst/>
          </a:prstGeom>
          <a:noFill/>
        </p:spPr>
        <p:txBody>
          <a:bodyPr wrap="square" lIns="0" rIns="0" tIns="0" bIns="0">
            <a:spAutoFit/>
          </a:bodyPr>
          <a:lstStyle/>
          <a:p>
            <a:pPr algn="ctr"/>
            <a:r>
              <a:rPr sz="1600" b="1">
                <a:solidFill>
                  <a:srgbClr val="141D18"/>
                </a:solidFill>
                <a:latin typeface="Segoe UI"/>
              </a:rPr>
              <a:t>Arif Rachman</a:t>
            </a:r>
          </a:p>
        </p:txBody>
      </p:sp>
      <p:sp>
        <p:nvSpPr>
          <p:cNvPr id="12" name="TextBox 11"/>
          <p:cNvSpPr txBox="1"/>
          <p:nvPr/>
        </p:nvSpPr>
        <p:spPr>
          <a:xfrm>
            <a:off x="4334255"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COO / PROJECT DIRECTOR</a:t>
            </a:r>
          </a:p>
        </p:txBody>
      </p:sp>
      <p:pic>
        <p:nvPicPr>
          <p:cNvPr id="13" name="Picture 12" descr="team_3_rafiq.png"/>
          <p:cNvPicPr>
            <a:picLocks noChangeAspect="1"/>
          </p:cNvPicPr>
          <p:nvPr/>
        </p:nvPicPr>
        <p:blipFill>
          <a:blip r:embed="rId4"/>
          <a:srcRect/>
          <a:stretch>
            <a:fillRect/>
          </a:stretch>
        </p:blipFill>
        <p:spPr>
          <a:xfrm>
            <a:off x="9180576" y="2395728"/>
            <a:ext cx="1188720" cy="1188720"/>
          </a:xfrm>
          <a:prstGeom prst="rect">
            <a:avLst/>
          </a:prstGeom>
        </p:spPr>
      </p:pic>
      <p:sp>
        <p:nvSpPr>
          <p:cNvPr id="14" name="TextBox 13"/>
          <p:cNvSpPr txBox="1"/>
          <p:nvPr/>
        </p:nvSpPr>
        <p:spPr>
          <a:xfrm>
            <a:off x="8010144" y="3675887"/>
            <a:ext cx="3529584" cy="256032"/>
          </a:xfrm>
          <a:prstGeom prst="rect">
            <a:avLst/>
          </a:prstGeom>
          <a:noFill/>
        </p:spPr>
        <p:txBody>
          <a:bodyPr wrap="square" lIns="0" rIns="0" tIns="0" bIns="0">
            <a:spAutoFit/>
          </a:bodyPr>
          <a:lstStyle/>
          <a:p>
            <a:pPr algn="ctr"/>
            <a:r>
              <a:rPr sz="1600" b="1">
                <a:solidFill>
                  <a:srgbClr val="141D18"/>
                </a:solidFill>
                <a:latin typeface="Segoe UI"/>
              </a:rPr>
              <a:t>Muhammad Rafiq</a:t>
            </a:r>
          </a:p>
        </p:txBody>
      </p:sp>
      <p:sp>
        <p:nvSpPr>
          <p:cNvPr id="15" name="TextBox 14"/>
          <p:cNvSpPr txBox="1"/>
          <p:nvPr/>
        </p:nvSpPr>
        <p:spPr>
          <a:xfrm>
            <a:off x="8010144" y="3931920"/>
            <a:ext cx="3529584" cy="237744"/>
          </a:xfrm>
          <a:prstGeom prst="rect">
            <a:avLst/>
          </a:prstGeom>
          <a:noFill/>
        </p:spPr>
        <p:txBody>
          <a:bodyPr wrap="square" lIns="0" rIns="0" tIns="0" bIns="0">
            <a:spAutoFit/>
          </a:bodyPr>
          <a:lstStyle/>
          <a:p>
            <a:pPr algn="ctr"/>
            <a:r>
              <a:rPr sz="1100" b="0" spc="80">
                <a:solidFill>
                  <a:srgbClr val="6C7A72"/>
                </a:solidFill>
                <a:latin typeface="Segoe UI"/>
              </a:rPr>
              <a:t>TECHNICAL MANAGER</a:t>
            </a:r>
          </a:p>
        </p:txBody>
      </p:sp>
      <p:pic>
        <p:nvPicPr>
          <p:cNvPr id="16" name="Picture 15" descr="team_4_heri.png"/>
          <p:cNvPicPr>
            <a:picLocks noChangeAspect="1"/>
          </p:cNvPicPr>
          <p:nvPr/>
        </p:nvPicPr>
        <p:blipFill>
          <a:blip r:embed="rId5"/>
          <a:srcRect/>
          <a:stretch>
            <a:fillRect/>
          </a:stretch>
        </p:blipFill>
        <p:spPr>
          <a:xfrm>
            <a:off x="1828799" y="4297680"/>
            <a:ext cx="1188720" cy="1188720"/>
          </a:xfrm>
          <a:prstGeom prst="rect">
            <a:avLst/>
          </a:prstGeom>
        </p:spPr>
      </p:pic>
      <p:sp>
        <p:nvSpPr>
          <p:cNvPr id="17" name="TextBox 16"/>
          <p:cNvSpPr txBox="1"/>
          <p:nvPr/>
        </p:nvSpPr>
        <p:spPr>
          <a:xfrm>
            <a:off x="658368" y="5577840"/>
            <a:ext cx="3529584" cy="256032"/>
          </a:xfrm>
          <a:prstGeom prst="rect">
            <a:avLst/>
          </a:prstGeom>
          <a:noFill/>
        </p:spPr>
        <p:txBody>
          <a:bodyPr wrap="square" lIns="0" rIns="0" tIns="0" bIns="0">
            <a:spAutoFit/>
          </a:bodyPr>
          <a:lstStyle/>
          <a:p>
            <a:pPr algn="ctr"/>
            <a:r>
              <a:rPr sz="1600" b="1">
                <a:solidFill>
                  <a:srgbClr val="141D18"/>
                </a:solidFill>
                <a:latin typeface="Segoe UI"/>
              </a:rPr>
              <a:t>Heri Adi Prasetya</a:t>
            </a:r>
          </a:p>
        </p:txBody>
      </p:sp>
      <p:sp>
        <p:nvSpPr>
          <p:cNvPr id="18" name="TextBox 17"/>
          <p:cNvSpPr txBox="1"/>
          <p:nvPr/>
        </p:nvSpPr>
        <p:spPr>
          <a:xfrm>
            <a:off x="658368"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OPERATIONS MANAGER - IT DEV</a:t>
            </a:r>
          </a:p>
        </p:txBody>
      </p:sp>
      <p:pic>
        <p:nvPicPr>
          <p:cNvPr id="19" name="Picture 18" descr="team_5_nico.png"/>
          <p:cNvPicPr>
            <a:picLocks noChangeAspect="1"/>
          </p:cNvPicPr>
          <p:nvPr/>
        </p:nvPicPr>
        <p:blipFill>
          <a:blip r:embed="rId6"/>
          <a:srcRect/>
          <a:stretch>
            <a:fillRect/>
          </a:stretch>
        </p:blipFill>
        <p:spPr>
          <a:xfrm>
            <a:off x="5504688" y="4297680"/>
            <a:ext cx="1188720" cy="1188720"/>
          </a:xfrm>
          <a:prstGeom prst="rect">
            <a:avLst/>
          </a:prstGeom>
        </p:spPr>
      </p:pic>
      <p:sp>
        <p:nvSpPr>
          <p:cNvPr id="20" name="TextBox 19"/>
          <p:cNvSpPr txBox="1"/>
          <p:nvPr/>
        </p:nvSpPr>
        <p:spPr>
          <a:xfrm>
            <a:off x="4334255" y="5577840"/>
            <a:ext cx="3529584" cy="256032"/>
          </a:xfrm>
          <a:prstGeom prst="rect">
            <a:avLst/>
          </a:prstGeom>
          <a:noFill/>
        </p:spPr>
        <p:txBody>
          <a:bodyPr wrap="square" lIns="0" rIns="0" tIns="0" bIns="0">
            <a:spAutoFit/>
          </a:bodyPr>
          <a:lstStyle/>
          <a:p>
            <a:pPr algn="ctr"/>
            <a:r>
              <a:rPr sz="1600" b="1">
                <a:solidFill>
                  <a:srgbClr val="141D18"/>
                </a:solidFill>
                <a:latin typeface="Segoe UI"/>
              </a:rPr>
              <a:t>Nico Setyo Utomo</a:t>
            </a:r>
          </a:p>
        </p:txBody>
      </p:sp>
      <p:sp>
        <p:nvSpPr>
          <p:cNvPr id="21" name="TextBox 20"/>
          <p:cNvSpPr txBox="1"/>
          <p:nvPr/>
        </p:nvSpPr>
        <p:spPr>
          <a:xfrm>
            <a:off x="4334255"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DATA AND MANAGEMENT</a:t>
            </a:r>
          </a:p>
        </p:txBody>
      </p:sp>
      <p:pic>
        <p:nvPicPr>
          <p:cNvPr id="22" name="Picture 21" descr="team_6_yanfa.png"/>
          <p:cNvPicPr>
            <a:picLocks noChangeAspect="1"/>
          </p:cNvPicPr>
          <p:nvPr/>
        </p:nvPicPr>
        <p:blipFill>
          <a:blip r:embed="rId7"/>
          <a:srcRect/>
          <a:stretch>
            <a:fillRect/>
          </a:stretch>
        </p:blipFill>
        <p:spPr>
          <a:xfrm>
            <a:off x="9180576" y="4297680"/>
            <a:ext cx="1188720" cy="1188720"/>
          </a:xfrm>
          <a:prstGeom prst="rect">
            <a:avLst/>
          </a:prstGeom>
        </p:spPr>
      </p:pic>
      <p:sp>
        <p:nvSpPr>
          <p:cNvPr id="23" name="TextBox 22"/>
          <p:cNvSpPr txBox="1"/>
          <p:nvPr/>
        </p:nvSpPr>
        <p:spPr>
          <a:xfrm>
            <a:off x="8010144" y="5577840"/>
            <a:ext cx="3529584" cy="256032"/>
          </a:xfrm>
          <a:prstGeom prst="rect">
            <a:avLst/>
          </a:prstGeom>
          <a:noFill/>
        </p:spPr>
        <p:txBody>
          <a:bodyPr wrap="square" lIns="0" rIns="0" tIns="0" bIns="0">
            <a:spAutoFit/>
          </a:bodyPr>
          <a:lstStyle/>
          <a:p>
            <a:pPr algn="ctr"/>
            <a:r>
              <a:rPr sz="1600" b="1">
                <a:solidFill>
                  <a:srgbClr val="141D18"/>
                </a:solidFill>
                <a:latin typeface="Segoe UI"/>
              </a:rPr>
              <a:t>Yanfa Ghiyats Ghifari</a:t>
            </a:r>
          </a:p>
        </p:txBody>
      </p:sp>
      <p:sp>
        <p:nvSpPr>
          <p:cNvPr id="24" name="TextBox 23"/>
          <p:cNvSpPr txBox="1"/>
          <p:nvPr/>
        </p:nvSpPr>
        <p:spPr>
          <a:xfrm>
            <a:off x="8010144" y="5833872"/>
            <a:ext cx="3529584" cy="237744"/>
          </a:xfrm>
          <a:prstGeom prst="rect">
            <a:avLst/>
          </a:prstGeom>
          <a:noFill/>
        </p:spPr>
        <p:txBody>
          <a:bodyPr wrap="square" lIns="0" rIns="0" tIns="0" bIns="0">
            <a:spAutoFit/>
          </a:bodyPr>
          <a:lstStyle/>
          <a:p>
            <a:pPr algn="ctr"/>
            <a:r>
              <a:rPr sz="1100" b="0" spc="80">
                <a:solidFill>
                  <a:srgbClr val="6C7A72"/>
                </a:solidFill>
                <a:latin typeface="Segoe UI"/>
              </a:rPr>
              <a:t>SENIOR FACILITATOR</a:t>
            </a:r>
          </a:p>
        </p:txBody>
      </p:sp>
      <p:sp>
        <p:nvSpPr>
          <p:cNvPr id="25" name="TextBox 24"/>
          <p:cNvSpPr txBox="1"/>
          <p:nvPr/>
        </p:nvSpPr>
        <p:spPr>
          <a:xfrm>
            <a:off x="658368" y="6126480"/>
            <a:ext cx="10424160" cy="237744"/>
          </a:xfrm>
          <a:prstGeom prst="rect">
            <a:avLst/>
          </a:prstGeom>
          <a:noFill/>
        </p:spPr>
        <p:txBody>
          <a:bodyPr wrap="square" lIns="0" rIns="0" tIns="0" bIns="0">
            <a:spAutoFit/>
          </a:bodyPr>
          <a:lstStyle/>
          <a:p>
            <a:pPr algn="l"/>
            <a:r>
              <a:rPr sz="1300" b="0">
                <a:solidFill>
                  <a:srgbClr val="6C7A72"/>
                </a:solidFill>
                <a:latin typeface="Segoe UI"/>
              </a:rPr>
              <a:t>A resident team in Lampung, not a head office at a distance. 15 internal staff, including five field facilitators.</a:t>
            </a:r>
          </a:p>
        </p:txBody>
      </p:sp>
      <p:sp>
        <p:nvSpPr>
          <p:cNvPr id="26" name="TextBox 25"/>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27" name="TextBox 26"/>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66928"/>
            <a:ext cx="5486400" cy="274320"/>
          </a:xfrm>
          <a:prstGeom prst="rect">
            <a:avLst/>
          </a:prstGeom>
          <a:noFill/>
        </p:spPr>
        <p:txBody>
          <a:bodyPr wrap="square" lIns="0" rIns="0" tIns="0" bIns="0">
            <a:spAutoFit/>
          </a:bodyPr>
          <a:lstStyle/>
          <a:p>
            <a:pPr algn="l"/>
            <a:r>
              <a:rPr sz="1300" b="0" spc="140">
                <a:solidFill>
                  <a:srgbClr val="9A7526"/>
                </a:solidFill>
                <a:latin typeface="Segoe UI"/>
              </a:rPr>
              <a:t>15   PARTNERS</a:t>
            </a:r>
          </a:p>
        </p:txBody>
      </p:sp>
      <p:sp>
        <p:nvSpPr>
          <p:cNvPr id="4" name="Rectangle 3"/>
          <p:cNvSpPr/>
          <p:nvPr/>
        </p:nvSpPr>
        <p:spPr>
          <a:xfrm>
            <a:off x="658368" y="822960"/>
            <a:ext cx="10872215" cy="10972"/>
          </a:xfrm>
          <a:prstGeom prst="rect">
            <a:avLst/>
          </a:prstGeom>
          <a:solidFill>
            <a:srgbClr val="B9C7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818388"/>
            <a:ext cx="402336" cy="20116"/>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024128"/>
            <a:ext cx="10872216" cy="1188720"/>
          </a:xfrm>
          <a:prstGeom prst="rect">
            <a:avLst/>
          </a:prstGeom>
          <a:noFill/>
        </p:spPr>
        <p:txBody>
          <a:bodyPr wrap="square" lIns="0" rIns="0" tIns="0" bIns="0">
            <a:spAutoFit/>
          </a:bodyPr>
          <a:lstStyle/>
          <a:p>
            <a:pPr algn="l">
              <a:lnSpc>
                <a:spcPct val="112000"/>
              </a:lnSpc>
            </a:pPr>
            <a:r>
              <a:rPr sz="3600" b="1">
                <a:solidFill>
                  <a:srgbClr val="141D18"/>
                </a:solidFill>
                <a:latin typeface="Georgia"/>
              </a:rPr>
              <a:t>We do not do this alone.</a:t>
            </a:r>
          </a:p>
        </p:txBody>
      </p:sp>
      <p:sp>
        <p:nvSpPr>
          <p:cNvPr id="7" name="Rectangle 6"/>
          <p:cNvSpPr/>
          <p:nvPr/>
        </p:nvSpPr>
        <p:spPr>
          <a:xfrm>
            <a:off x="658368"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542032"/>
            <a:ext cx="2526030" cy="347472"/>
          </a:xfrm>
          <a:prstGeom prst="rect">
            <a:avLst/>
          </a:prstGeom>
          <a:noFill/>
        </p:spPr>
        <p:txBody>
          <a:bodyPr wrap="square" lIns="0" rIns="0" tIns="0" bIns="0">
            <a:spAutoFit/>
          </a:bodyPr>
          <a:lstStyle/>
          <a:p>
            <a:pPr algn="l"/>
            <a:r>
              <a:rPr sz="2000" b="1" spc="100">
                <a:solidFill>
                  <a:srgbClr val="141D18"/>
                </a:solidFill>
                <a:latin typeface="Segoe UI"/>
              </a:rPr>
              <a:t>MARKET</a:t>
            </a:r>
          </a:p>
        </p:txBody>
      </p:sp>
      <p:sp>
        <p:nvSpPr>
          <p:cNvPr id="9" name="TextBox 8"/>
          <p:cNvSpPr txBox="1"/>
          <p:nvPr/>
        </p:nvSpPr>
        <p:spPr>
          <a:xfrm>
            <a:off x="658368" y="2907792"/>
            <a:ext cx="2526030" cy="365760"/>
          </a:xfrm>
          <a:prstGeom prst="rect">
            <a:avLst/>
          </a:prstGeom>
          <a:noFill/>
        </p:spPr>
        <p:txBody>
          <a:bodyPr wrap="square" lIns="0" rIns="0" tIns="0" bIns="0">
            <a:spAutoFit/>
          </a:bodyPr>
          <a:lstStyle/>
          <a:p>
            <a:pPr algn="l"/>
            <a:r>
              <a:rPr sz="1100" b="0">
                <a:solidFill>
                  <a:srgbClr val="6C7A72"/>
                </a:solidFill>
                <a:latin typeface="Segoe UI"/>
              </a:rPr>
              <a:t>Buyer and national supply</a:t>
            </a:r>
          </a:p>
        </p:txBody>
      </p:sp>
      <p:sp>
        <p:nvSpPr>
          <p:cNvPr id="10" name="Rectangle 9"/>
          <p:cNvSpPr/>
          <p:nvPr/>
        </p:nvSpPr>
        <p:spPr>
          <a:xfrm>
            <a:off x="658368"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_verstegen.png"/>
          <p:cNvPicPr>
            <a:picLocks noChangeAspect="1"/>
          </p:cNvPicPr>
          <p:nvPr/>
        </p:nvPicPr>
        <p:blipFill>
          <a:blip r:embed="rId2"/>
          <a:stretch>
            <a:fillRect/>
          </a:stretch>
        </p:blipFill>
        <p:spPr>
          <a:xfrm>
            <a:off x="1673246" y="3328416"/>
            <a:ext cx="496273" cy="402336"/>
          </a:xfrm>
          <a:prstGeom prst="rect">
            <a:avLst/>
          </a:prstGeom>
        </p:spPr>
      </p:pic>
      <p:sp>
        <p:nvSpPr>
          <p:cNvPr id="12" name="TextBox 11"/>
          <p:cNvSpPr txBox="1"/>
          <p:nvPr/>
        </p:nvSpPr>
        <p:spPr>
          <a:xfrm>
            <a:off x="859536" y="3895344"/>
            <a:ext cx="2123694" cy="237744"/>
          </a:xfrm>
          <a:prstGeom prst="rect">
            <a:avLst/>
          </a:prstGeom>
          <a:noFill/>
        </p:spPr>
        <p:txBody>
          <a:bodyPr wrap="square" lIns="0" rIns="0" tIns="0" bIns="0">
            <a:spAutoFit/>
          </a:bodyPr>
          <a:lstStyle/>
          <a:p>
            <a:pPr algn="ctr"/>
            <a:r>
              <a:rPr sz="1600" b="1">
                <a:solidFill>
                  <a:srgbClr val="6C7A72"/>
                </a:solidFill>
                <a:latin typeface="Segoe UI"/>
              </a:rPr>
              <a:t>PT CAN</a:t>
            </a:r>
          </a:p>
        </p:txBody>
      </p:sp>
      <p:sp>
        <p:nvSpPr>
          <p:cNvPr id="13" name="TextBox 12"/>
          <p:cNvSpPr txBox="1"/>
          <p:nvPr/>
        </p:nvSpPr>
        <p:spPr>
          <a:xfrm>
            <a:off x="658368" y="4956048"/>
            <a:ext cx="2526030" cy="1097280"/>
          </a:xfrm>
          <a:prstGeom prst="rect">
            <a:avLst/>
          </a:prstGeom>
          <a:noFill/>
        </p:spPr>
        <p:txBody>
          <a:bodyPr wrap="square" lIns="0" rIns="0" tIns="0" bIns="0">
            <a:spAutoFit/>
          </a:bodyPr>
          <a:lstStyle/>
          <a:p>
            <a:pPr algn="l">
              <a:lnSpc>
                <a:spcPct val="142000"/>
              </a:lnSpc>
            </a:pPr>
            <a:r>
              <a:rPr sz="1600" b="0">
                <a:solidFill>
                  <a:srgbClr val="3D4A43"/>
                </a:solidFill>
                <a:latin typeface="Segoe UI"/>
              </a:rPr>
              <a:t>Verstegen</a:t>
            </a:r>
          </a:p>
          <a:p>
            <a:pPr algn="l">
              <a:lnSpc>
                <a:spcPct val="142000"/>
              </a:lnSpc>
            </a:pPr>
            <a:r>
              <a:rPr sz="1600" b="0">
                <a:solidFill>
                  <a:srgbClr val="3D4A43"/>
                </a:solidFill>
                <a:latin typeface="Segoe UI"/>
              </a:rPr>
              <a:t>PT CAN</a:t>
            </a:r>
          </a:p>
        </p:txBody>
      </p:sp>
      <p:sp>
        <p:nvSpPr>
          <p:cNvPr id="14" name="Rectangle 13"/>
          <p:cNvSpPr/>
          <p:nvPr/>
        </p:nvSpPr>
        <p:spPr>
          <a:xfrm>
            <a:off x="3440430"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0430" y="2542032"/>
            <a:ext cx="2526030" cy="347472"/>
          </a:xfrm>
          <a:prstGeom prst="rect">
            <a:avLst/>
          </a:prstGeom>
          <a:noFill/>
        </p:spPr>
        <p:txBody>
          <a:bodyPr wrap="square" lIns="0" rIns="0" tIns="0" bIns="0">
            <a:spAutoFit/>
          </a:bodyPr>
          <a:lstStyle/>
          <a:p>
            <a:pPr algn="l"/>
            <a:r>
              <a:rPr sz="2000" b="1" spc="100">
                <a:solidFill>
                  <a:srgbClr val="141D18"/>
                </a:solidFill>
                <a:latin typeface="Segoe UI"/>
              </a:rPr>
              <a:t>PROGRAMME</a:t>
            </a:r>
          </a:p>
        </p:txBody>
      </p:sp>
      <p:sp>
        <p:nvSpPr>
          <p:cNvPr id="16" name="TextBox 15"/>
          <p:cNvSpPr txBox="1"/>
          <p:nvPr/>
        </p:nvSpPr>
        <p:spPr>
          <a:xfrm>
            <a:off x="3440430" y="2907792"/>
            <a:ext cx="2526030" cy="365760"/>
          </a:xfrm>
          <a:prstGeom prst="rect">
            <a:avLst/>
          </a:prstGeom>
          <a:noFill/>
        </p:spPr>
        <p:txBody>
          <a:bodyPr wrap="square" lIns="0" rIns="0" tIns="0" bIns="0">
            <a:spAutoFit/>
          </a:bodyPr>
          <a:lstStyle/>
          <a:p>
            <a:pPr algn="l"/>
            <a:r>
              <a:rPr sz="1100" b="0">
                <a:solidFill>
                  <a:srgbClr val="6C7A72"/>
                </a:solidFill>
                <a:latin typeface="Segoe UI"/>
              </a:rPr>
              <a:t>Funders and platforms</a:t>
            </a:r>
          </a:p>
        </p:txBody>
      </p:sp>
      <p:sp>
        <p:nvSpPr>
          <p:cNvPr id="17" name="Rectangle 16"/>
          <p:cNvSpPr/>
          <p:nvPr/>
        </p:nvSpPr>
        <p:spPr>
          <a:xfrm>
            <a:off x="3440430"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go_giz.png"/>
          <p:cNvPicPr>
            <a:picLocks noChangeAspect="1"/>
          </p:cNvPicPr>
          <p:nvPr/>
        </p:nvPicPr>
        <p:blipFill>
          <a:blip r:embed="rId3"/>
          <a:stretch>
            <a:fillRect/>
          </a:stretch>
        </p:blipFill>
        <p:spPr>
          <a:xfrm>
            <a:off x="4053270" y="3328416"/>
            <a:ext cx="1300349" cy="402336"/>
          </a:xfrm>
          <a:prstGeom prst="rect">
            <a:avLst/>
          </a:prstGeom>
        </p:spPr>
      </p:pic>
      <p:pic>
        <p:nvPicPr>
          <p:cNvPr id="19" name="Picture 18" descr="logo_ssii.png"/>
          <p:cNvPicPr>
            <a:picLocks noChangeAspect="1"/>
          </p:cNvPicPr>
          <p:nvPr/>
        </p:nvPicPr>
        <p:blipFill>
          <a:blip r:embed="rId4"/>
          <a:stretch>
            <a:fillRect/>
          </a:stretch>
        </p:blipFill>
        <p:spPr>
          <a:xfrm>
            <a:off x="4312285" y="3803904"/>
            <a:ext cx="782320" cy="402336"/>
          </a:xfrm>
          <a:prstGeom prst="rect">
            <a:avLst/>
          </a:prstGeom>
        </p:spPr>
      </p:pic>
      <p:sp>
        <p:nvSpPr>
          <p:cNvPr id="20" name="TextBox 19"/>
          <p:cNvSpPr txBox="1"/>
          <p:nvPr/>
        </p:nvSpPr>
        <p:spPr>
          <a:xfrm>
            <a:off x="3641598" y="4370831"/>
            <a:ext cx="2123694" cy="237744"/>
          </a:xfrm>
          <a:prstGeom prst="rect">
            <a:avLst/>
          </a:prstGeom>
          <a:noFill/>
        </p:spPr>
        <p:txBody>
          <a:bodyPr wrap="square" lIns="0" rIns="0" tIns="0" bIns="0">
            <a:spAutoFit/>
          </a:bodyPr>
          <a:lstStyle/>
          <a:p>
            <a:pPr algn="ctr"/>
            <a:r>
              <a:rPr sz="1600" b="1">
                <a:solidFill>
                  <a:srgbClr val="6C7A72"/>
                </a:solidFill>
                <a:latin typeface="Segoe UI"/>
              </a:rPr>
              <a:t>Solidaridad</a:t>
            </a:r>
          </a:p>
        </p:txBody>
      </p:sp>
      <p:sp>
        <p:nvSpPr>
          <p:cNvPr id="21" name="TextBox 20"/>
          <p:cNvSpPr txBox="1"/>
          <p:nvPr/>
        </p:nvSpPr>
        <p:spPr>
          <a:xfrm>
            <a:off x="3440430" y="4956048"/>
            <a:ext cx="2526030" cy="1097280"/>
          </a:xfrm>
          <a:prstGeom prst="rect">
            <a:avLst/>
          </a:prstGeom>
          <a:noFill/>
        </p:spPr>
        <p:txBody>
          <a:bodyPr wrap="square" lIns="0" rIns="0" tIns="0" bIns="0">
            <a:spAutoFit/>
          </a:bodyPr>
          <a:lstStyle/>
          <a:p>
            <a:pPr algn="l">
              <a:lnSpc>
                <a:spcPct val="142000"/>
              </a:lnSpc>
            </a:pPr>
            <a:r>
              <a:rPr sz="1600" b="0">
                <a:solidFill>
                  <a:srgbClr val="3D4A43"/>
                </a:solidFill>
                <a:latin typeface="Segoe UI"/>
              </a:rPr>
              <a:t>GIZ</a:t>
            </a:r>
          </a:p>
          <a:p>
            <a:pPr algn="l">
              <a:lnSpc>
                <a:spcPct val="142000"/>
              </a:lnSpc>
            </a:pPr>
            <a:r>
              <a:rPr sz="1600" b="0">
                <a:solidFill>
                  <a:srgbClr val="3D4A43"/>
                </a:solidFill>
                <a:latin typeface="Segoe UI"/>
              </a:rPr>
              <a:t>SSI-I</a:t>
            </a:r>
          </a:p>
          <a:p>
            <a:pPr algn="l">
              <a:lnSpc>
                <a:spcPct val="142000"/>
              </a:lnSpc>
            </a:pPr>
            <a:r>
              <a:rPr sz="1600" b="0">
                <a:solidFill>
                  <a:srgbClr val="3D4A43"/>
                </a:solidFill>
                <a:latin typeface="Segoe UI"/>
              </a:rPr>
              <a:t>Solidaridad</a:t>
            </a:r>
          </a:p>
        </p:txBody>
      </p:sp>
      <p:sp>
        <p:nvSpPr>
          <p:cNvPr id="22" name="Rectangle 21"/>
          <p:cNvSpPr/>
          <p:nvPr/>
        </p:nvSpPr>
        <p:spPr>
          <a:xfrm>
            <a:off x="6222492"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2492" y="2542032"/>
            <a:ext cx="2526030" cy="347472"/>
          </a:xfrm>
          <a:prstGeom prst="rect">
            <a:avLst/>
          </a:prstGeom>
          <a:noFill/>
        </p:spPr>
        <p:txBody>
          <a:bodyPr wrap="square" lIns="0" rIns="0" tIns="0" bIns="0">
            <a:spAutoFit/>
          </a:bodyPr>
          <a:lstStyle/>
          <a:p>
            <a:pPr algn="l"/>
            <a:r>
              <a:rPr sz="2000" b="1" spc="100">
                <a:solidFill>
                  <a:srgbClr val="141D18"/>
                </a:solidFill>
                <a:latin typeface="Segoe UI"/>
              </a:rPr>
              <a:t>RESEARCH</a:t>
            </a:r>
          </a:p>
        </p:txBody>
      </p:sp>
      <p:sp>
        <p:nvSpPr>
          <p:cNvPr id="24" name="TextBox 23"/>
          <p:cNvSpPr txBox="1"/>
          <p:nvPr/>
        </p:nvSpPr>
        <p:spPr>
          <a:xfrm>
            <a:off x="6222492" y="2907792"/>
            <a:ext cx="2526030" cy="365760"/>
          </a:xfrm>
          <a:prstGeom prst="rect">
            <a:avLst/>
          </a:prstGeom>
          <a:noFill/>
        </p:spPr>
        <p:txBody>
          <a:bodyPr wrap="square" lIns="0" rIns="0" tIns="0" bIns="0">
            <a:spAutoFit/>
          </a:bodyPr>
          <a:lstStyle/>
          <a:p>
            <a:pPr algn="l"/>
            <a:r>
              <a:rPr sz="1100" b="0">
                <a:solidFill>
                  <a:srgbClr val="6C7A72"/>
                </a:solidFill>
                <a:latin typeface="Segoe UI"/>
              </a:rPr>
              <a:t>Applied science partners</a:t>
            </a:r>
          </a:p>
        </p:txBody>
      </p:sp>
      <p:sp>
        <p:nvSpPr>
          <p:cNvPr id="25" name="Rectangle 24"/>
          <p:cNvSpPr/>
          <p:nvPr/>
        </p:nvSpPr>
        <p:spPr>
          <a:xfrm>
            <a:off x="6222492"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go_brin.png"/>
          <p:cNvPicPr>
            <a:picLocks noChangeAspect="1"/>
          </p:cNvPicPr>
          <p:nvPr/>
        </p:nvPicPr>
        <p:blipFill>
          <a:blip r:embed="rId5"/>
          <a:stretch>
            <a:fillRect/>
          </a:stretch>
        </p:blipFill>
        <p:spPr>
          <a:xfrm>
            <a:off x="7048246" y="3328416"/>
            <a:ext cx="874522" cy="402336"/>
          </a:xfrm>
          <a:prstGeom prst="rect">
            <a:avLst/>
          </a:prstGeom>
        </p:spPr>
      </p:pic>
      <p:pic>
        <p:nvPicPr>
          <p:cNvPr id="27" name="Picture 26" descr="logo_sith_itb.png"/>
          <p:cNvPicPr>
            <a:picLocks noChangeAspect="1"/>
          </p:cNvPicPr>
          <p:nvPr/>
        </p:nvPicPr>
        <p:blipFill>
          <a:blip r:embed="rId6"/>
          <a:stretch>
            <a:fillRect/>
          </a:stretch>
        </p:blipFill>
        <p:spPr>
          <a:xfrm>
            <a:off x="7284339" y="3803904"/>
            <a:ext cx="402336" cy="402336"/>
          </a:xfrm>
          <a:prstGeom prst="rect">
            <a:avLst/>
          </a:prstGeom>
        </p:spPr>
      </p:pic>
      <p:sp>
        <p:nvSpPr>
          <p:cNvPr id="28" name="TextBox 27"/>
          <p:cNvSpPr txBox="1"/>
          <p:nvPr/>
        </p:nvSpPr>
        <p:spPr>
          <a:xfrm>
            <a:off x="6222492" y="4956048"/>
            <a:ext cx="2526030" cy="1097280"/>
          </a:xfrm>
          <a:prstGeom prst="rect">
            <a:avLst/>
          </a:prstGeom>
          <a:noFill/>
        </p:spPr>
        <p:txBody>
          <a:bodyPr wrap="square" lIns="0" rIns="0" tIns="0" bIns="0">
            <a:spAutoFit/>
          </a:bodyPr>
          <a:lstStyle/>
          <a:p>
            <a:pPr algn="l">
              <a:lnSpc>
                <a:spcPct val="142000"/>
              </a:lnSpc>
            </a:pPr>
            <a:r>
              <a:rPr sz="1600" b="0">
                <a:solidFill>
                  <a:srgbClr val="3D4A43"/>
                </a:solidFill>
                <a:latin typeface="Segoe UI"/>
              </a:rPr>
              <a:t>BRIN</a:t>
            </a:r>
          </a:p>
          <a:p>
            <a:pPr algn="l">
              <a:lnSpc>
                <a:spcPct val="142000"/>
              </a:lnSpc>
            </a:pPr>
            <a:r>
              <a:rPr sz="1600" b="0">
                <a:solidFill>
                  <a:srgbClr val="3D4A43"/>
                </a:solidFill>
                <a:latin typeface="Segoe UI"/>
              </a:rPr>
              <a:t>SITH ITB</a:t>
            </a:r>
          </a:p>
        </p:txBody>
      </p:sp>
      <p:sp>
        <p:nvSpPr>
          <p:cNvPr id="29" name="Rectangle 28"/>
          <p:cNvSpPr/>
          <p:nvPr/>
        </p:nvSpPr>
        <p:spPr>
          <a:xfrm>
            <a:off x="9004554" y="2395728"/>
            <a:ext cx="2526030" cy="41148"/>
          </a:xfrm>
          <a:prstGeom prst="rect">
            <a:avLst/>
          </a:prstGeom>
          <a:solidFill>
            <a:srgbClr val="9A7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4554" y="2542032"/>
            <a:ext cx="2526030" cy="347472"/>
          </a:xfrm>
          <a:prstGeom prst="rect">
            <a:avLst/>
          </a:prstGeom>
          <a:noFill/>
        </p:spPr>
        <p:txBody>
          <a:bodyPr wrap="square" lIns="0" rIns="0" tIns="0" bIns="0">
            <a:spAutoFit/>
          </a:bodyPr>
          <a:lstStyle/>
          <a:p>
            <a:pPr algn="l"/>
            <a:r>
              <a:rPr sz="2000" b="1" spc="100">
                <a:solidFill>
                  <a:srgbClr val="141D18"/>
                </a:solidFill>
                <a:latin typeface="Segoe UI"/>
              </a:rPr>
              <a:t>INSTITUTIONAL</a:t>
            </a:r>
          </a:p>
        </p:txBody>
      </p:sp>
      <p:sp>
        <p:nvSpPr>
          <p:cNvPr id="31" name="TextBox 30"/>
          <p:cNvSpPr txBox="1"/>
          <p:nvPr/>
        </p:nvSpPr>
        <p:spPr>
          <a:xfrm>
            <a:off x="9004554" y="2907792"/>
            <a:ext cx="2526030" cy="365760"/>
          </a:xfrm>
          <a:prstGeom prst="rect">
            <a:avLst/>
          </a:prstGeom>
          <a:noFill/>
        </p:spPr>
        <p:txBody>
          <a:bodyPr wrap="square" lIns="0" rIns="0" tIns="0" bIns="0">
            <a:spAutoFit/>
          </a:bodyPr>
          <a:lstStyle/>
          <a:p>
            <a:pPr algn="l"/>
            <a:r>
              <a:rPr sz="1100" b="0">
                <a:solidFill>
                  <a:srgbClr val="6C7A72"/>
                </a:solidFill>
                <a:latin typeface="Segoe UI"/>
              </a:rPr>
              <a:t>Government and national</a:t>
            </a:r>
          </a:p>
        </p:txBody>
      </p:sp>
      <p:sp>
        <p:nvSpPr>
          <p:cNvPr id="32" name="Rectangle 31"/>
          <p:cNvSpPr/>
          <p:nvPr/>
        </p:nvSpPr>
        <p:spPr>
          <a:xfrm>
            <a:off x="9004554" y="3218688"/>
            <a:ext cx="2526030" cy="1572768"/>
          </a:xfrm>
          <a:prstGeom prst="rect">
            <a:avLst/>
          </a:prstGeom>
          <a:solidFill>
            <a:srgbClr val="EF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go_kemenperin.png"/>
          <p:cNvPicPr>
            <a:picLocks noChangeAspect="1"/>
          </p:cNvPicPr>
          <p:nvPr/>
        </p:nvPicPr>
        <p:blipFill>
          <a:blip r:embed="rId7"/>
          <a:stretch>
            <a:fillRect/>
          </a:stretch>
        </p:blipFill>
        <p:spPr>
          <a:xfrm>
            <a:off x="9965817" y="3328416"/>
            <a:ext cx="603504" cy="402336"/>
          </a:xfrm>
          <a:prstGeom prst="rect">
            <a:avLst/>
          </a:prstGeom>
        </p:spPr>
      </p:pic>
      <p:sp>
        <p:nvSpPr>
          <p:cNvPr id="34" name="TextBox 33"/>
          <p:cNvSpPr txBox="1"/>
          <p:nvPr/>
        </p:nvSpPr>
        <p:spPr>
          <a:xfrm>
            <a:off x="9205722" y="3895344"/>
            <a:ext cx="2123694" cy="237744"/>
          </a:xfrm>
          <a:prstGeom prst="rect">
            <a:avLst/>
          </a:prstGeom>
          <a:noFill/>
        </p:spPr>
        <p:txBody>
          <a:bodyPr wrap="square" lIns="0" rIns="0" tIns="0" bIns="0">
            <a:spAutoFit/>
          </a:bodyPr>
          <a:lstStyle/>
          <a:p>
            <a:pPr algn="ctr"/>
            <a:r>
              <a:rPr sz="1600" b="1">
                <a:solidFill>
                  <a:srgbClr val="6C7A72"/>
                </a:solidFill>
                <a:latin typeface="Segoe UI"/>
              </a:rPr>
              <a:t>Bank Indonesia</a:t>
            </a:r>
          </a:p>
        </p:txBody>
      </p:sp>
      <p:sp>
        <p:nvSpPr>
          <p:cNvPr id="35" name="TextBox 34"/>
          <p:cNvSpPr txBox="1"/>
          <p:nvPr/>
        </p:nvSpPr>
        <p:spPr>
          <a:xfrm>
            <a:off x="9205722" y="4370831"/>
            <a:ext cx="2123694" cy="237744"/>
          </a:xfrm>
          <a:prstGeom prst="rect">
            <a:avLst/>
          </a:prstGeom>
          <a:noFill/>
        </p:spPr>
        <p:txBody>
          <a:bodyPr wrap="square" lIns="0" rIns="0" tIns="0" bIns="0">
            <a:spAutoFit/>
          </a:bodyPr>
          <a:lstStyle/>
          <a:p>
            <a:pPr algn="ctr"/>
            <a:r>
              <a:rPr sz="1600" b="1">
                <a:solidFill>
                  <a:srgbClr val="6C7A72"/>
                </a:solidFill>
                <a:latin typeface="Segoe UI"/>
              </a:rPr>
              <a:t>ASTRA</a:t>
            </a:r>
          </a:p>
        </p:txBody>
      </p:sp>
      <p:sp>
        <p:nvSpPr>
          <p:cNvPr id="36" name="TextBox 35"/>
          <p:cNvSpPr txBox="1"/>
          <p:nvPr/>
        </p:nvSpPr>
        <p:spPr>
          <a:xfrm>
            <a:off x="9004554" y="4956048"/>
            <a:ext cx="2526030" cy="1097280"/>
          </a:xfrm>
          <a:prstGeom prst="rect">
            <a:avLst/>
          </a:prstGeom>
          <a:noFill/>
        </p:spPr>
        <p:txBody>
          <a:bodyPr wrap="square" lIns="0" rIns="0" tIns="0" bIns="0">
            <a:spAutoFit/>
          </a:bodyPr>
          <a:lstStyle/>
          <a:p>
            <a:pPr algn="l">
              <a:lnSpc>
                <a:spcPct val="142000"/>
              </a:lnSpc>
            </a:pPr>
            <a:r>
              <a:rPr sz="1600" b="0">
                <a:solidFill>
                  <a:srgbClr val="3D4A43"/>
                </a:solidFill>
                <a:latin typeface="Segoe UI"/>
              </a:rPr>
              <a:t>Kemenperin</a:t>
            </a:r>
          </a:p>
          <a:p>
            <a:pPr algn="l">
              <a:lnSpc>
                <a:spcPct val="142000"/>
              </a:lnSpc>
            </a:pPr>
            <a:r>
              <a:rPr sz="1600" b="0">
                <a:solidFill>
                  <a:srgbClr val="3D4A43"/>
                </a:solidFill>
                <a:latin typeface="Segoe UI"/>
              </a:rPr>
              <a:t>Bank Indonesia</a:t>
            </a:r>
          </a:p>
          <a:p>
            <a:pPr algn="l">
              <a:lnSpc>
                <a:spcPct val="142000"/>
              </a:lnSpc>
            </a:pPr>
            <a:r>
              <a:rPr sz="1600" b="0">
                <a:solidFill>
                  <a:srgbClr val="3D4A43"/>
                </a:solidFill>
                <a:latin typeface="Segoe UI"/>
              </a:rPr>
              <a:t>ASTRA</a:t>
            </a:r>
          </a:p>
        </p:txBody>
      </p:sp>
      <p:sp>
        <p:nvSpPr>
          <p:cNvPr id="37" name="TextBox 36"/>
          <p:cNvSpPr txBox="1"/>
          <p:nvPr/>
        </p:nvSpPr>
        <p:spPr>
          <a:xfrm>
            <a:off x="658368" y="6144768"/>
            <a:ext cx="10424160" cy="256032"/>
          </a:xfrm>
          <a:prstGeom prst="rect">
            <a:avLst/>
          </a:prstGeom>
          <a:noFill/>
        </p:spPr>
        <p:txBody>
          <a:bodyPr wrap="square" lIns="0" rIns="0" tIns="0" bIns="0">
            <a:spAutoFit/>
          </a:bodyPr>
          <a:lstStyle/>
          <a:p>
            <a:pPr algn="l"/>
            <a:r>
              <a:rPr sz="1300" b="0">
                <a:solidFill>
                  <a:srgbClr val="6C7A72"/>
                </a:solidFill>
                <a:latin typeface="Segoe UI"/>
              </a:rPr>
              <a:t>KGF is the field implementer and off-taker inside the aGROWforests consortium.</a:t>
            </a:r>
          </a:p>
        </p:txBody>
      </p:sp>
      <p:sp>
        <p:nvSpPr>
          <p:cNvPr id="38" name="TextBox 37"/>
          <p:cNvSpPr txBox="1"/>
          <p:nvPr/>
        </p:nvSpPr>
        <p:spPr>
          <a:xfrm>
            <a:off x="658368" y="6419088"/>
            <a:ext cx="5486400" cy="237744"/>
          </a:xfrm>
          <a:prstGeom prst="rect">
            <a:avLst/>
          </a:prstGeom>
          <a:noFill/>
        </p:spPr>
        <p:txBody>
          <a:bodyPr wrap="square" lIns="0" rIns="0" tIns="0" bIns="0">
            <a:spAutoFit/>
          </a:bodyPr>
          <a:lstStyle/>
          <a:p>
            <a:pPr algn="l"/>
            <a:r>
              <a:rPr sz="1100" b="0" spc="100">
                <a:solidFill>
                  <a:srgbClr val="6C7A72"/>
                </a:solidFill>
                <a:latin typeface="Segoe UI"/>
              </a:rPr>
              <a:t>PT KLUMBAYAN GOLD FARM   ·   COMPANY PROFILE</a:t>
            </a:r>
          </a:p>
        </p:txBody>
      </p:sp>
      <p:sp>
        <p:nvSpPr>
          <p:cNvPr id="39" name="TextBox 38"/>
          <p:cNvSpPr txBox="1"/>
          <p:nvPr/>
        </p:nvSpPr>
        <p:spPr>
          <a:xfrm>
            <a:off x="9701784" y="6419088"/>
            <a:ext cx="1828800" cy="237744"/>
          </a:xfrm>
          <a:prstGeom prst="rect">
            <a:avLst/>
          </a:prstGeom>
          <a:noFill/>
        </p:spPr>
        <p:txBody>
          <a:bodyPr wrap="square" lIns="0" rIns="0" tIns="0" bIns="0">
            <a:spAutoFit/>
          </a:bodyPr>
          <a:lstStyle/>
          <a:p>
            <a:pPr algn="r"/>
            <a:r>
              <a:rPr sz="1100" b="0" spc="100">
                <a:solidFill>
                  <a:srgbClr val="6C7A72"/>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F4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osing_bg.jpg"/>
          <p:cNvPicPr>
            <a:picLocks noChangeAspect="1"/>
          </p:cNvPicPr>
          <p:nvPr/>
        </p:nvPicPr>
        <p:blipFill>
          <a:blip r:embed="rId2"/>
          <a:srcRect t="4839" b="4839"/>
          <a:stretch>
            <a:fillRect/>
          </a:stretch>
        </p:blipFill>
        <p:spPr>
          <a:xfrm>
            <a:off x="0" y="0"/>
            <a:ext cx="5669280" cy="6858000"/>
          </a:xfrm>
          <a:prstGeom prst="rect">
            <a:avLst/>
          </a:prstGeom>
        </p:spPr>
      </p:pic>
      <p:sp>
        <p:nvSpPr>
          <p:cNvPr id="5" name="Rectangle 4"/>
          <p:cNvSpPr/>
          <p:nvPr/>
        </p:nvSpPr>
        <p:spPr>
          <a:xfrm>
            <a:off x="4297680" y="0"/>
            <a:ext cx="1371600" cy="6858000"/>
          </a:xfrm>
          <a:prstGeom prst="rect">
            <a:avLst/>
          </a:prstGeom>
          <a:gradFill rotWithShape="1">
            <a:gsLst>
              <a:gs pos="0">
                <a:srgbClr val="1F4034">
                  <a:alpha val="100000"/>
                </a:srgbClr>
              </a:gs>
              <a:gs pos="42000">
                <a:srgbClr val="1F4034">
                  <a:alpha val="92000"/>
                </a:srgbClr>
              </a:gs>
              <a:gs pos="72000">
                <a:srgbClr val="1F4034">
                  <a:alpha val="55000"/>
                </a:srgbClr>
              </a:gs>
              <a:gs pos="100000">
                <a:srgbClr val="1F4034">
                  <a:alpha val="0"/>
                </a:srgbClr>
              </a:gs>
            </a:gsLst>
            <a:lin ang="10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small.png"/>
          <p:cNvPicPr>
            <a:picLocks noChangeAspect="1"/>
          </p:cNvPicPr>
          <p:nvPr/>
        </p:nvPicPr>
        <p:blipFill>
          <a:blip r:embed="rId3"/>
          <a:stretch>
            <a:fillRect/>
          </a:stretch>
        </p:blipFill>
        <p:spPr>
          <a:xfrm>
            <a:off x="6446520" y="566928"/>
            <a:ext cx="694944" cy="694944"/>
          </a:xfrm>
          <a:prstGeom prst="rect">
            <a:avLst/>
          </a:prstGeom>
        </p:spPr>
      </p:pic>
      <p:sp>
        <p:nvSpPr>
          <p:cNvPr id="7" name="TextBox 6"/>
          <p:cNvSpPr txBox="1"/>
          <p:nvPr/>
        </p:nvSpPr>
        <p:spPr>
          <a:xfrm>
            <a:off x="6446520" y="1828800"/>
            <a:ext cx="5120640" cy="1463040"/>
          </a:xfrm>
          <a:prstGeom prst="rect">
            <a:avLst/>
          </a:prstGeom>
          <a:noFill/>
        </p:spPr>
        <p:txBody>
          <a:bodyPr wrap="square" lIns="0" rIns="0" tIns="0" bIns="0">
            <a:spAutoFit/>
          </a:bodyPr>
          <a:lstStyle/>
          <a:p>
            <a:pPr algn="l">
              <a:lnSpc>
                <a:spcPct val="110000"/>
              </a:lnSpc>
            </a:pPr>
            <a:r>
              <a:rPr sz="3200" b="1">
                <a:solidFill>
                  <a:srgbClr val="FFFFFF"/>
                </a:solidFill>
                <a:latin typeface="Georgia"/>
              </a:rPr>
              <a:t>From waste to worth,</a:t>
            </a:r>
          </a:p>
          <a:p>
            <a:pPr algn="l">
              <a:lnSpc>
                <a:spcPct val="110000"/>
              </a:lnSpc>
            </a:pPr>
            <a:r>
              <a:rPr sz="3200" b="1">
                <a:solidFill>
                  <a:srgbClr val="FFFFFF"/>
                </a:solidFill>
                <a:latin typeface="Georgia"/>
              </a:rPr>
              <a:t>and back to the soil.</a:t>
            </a:r>
          </a:p>
        </p:txBody>
      </p:sp>
      <p:sp>
        <p:nvSpPr>
          <p:cNvPr id="8" name="TextBox 7"/>
          <p:cNvSpPr txBox="1"/>
          <p:nvPr/>
        </p:nvSpPr>
        <p:spPr>
          <a:xfrm>
            <a:off x="6446520" y="3456432"/>
            <a:ext cx="4937760" cy="384048"/>
          </a:xfrm>
          <a:prstGeom prst="rect">
            <a:avLst/>
          </a:prstGeom>
          <a:noFill/>
        </p:spPr>
        <p:txBody>
          <a:bodyPr wrap="square" lIns="0" rIns="0" tIns="0" bIns="0">
            <a:spAutoFit/>
          </a:bodyPr>
          <a:lstStyle/>
          <a:p>
            <a:pPr algn="l"/>
            <a:r>
              <a:rPr sz="2000" b="1">
                <a:solidFill>
                  <a:srgbClr val="C7D8CD"/>
                </a:solidFill>
                <a:latin typeface="Segoe UI"/>
              </a:rPr>
              <a:t>PT Klumbayan Gold Farm</a:t>
            </a:r>
          </a:p>
        </p:txBody>
      </p:sp>
      <p:sp>
        <p:nvSpPr>
          <p:cNvPr id="9" name="Rectangle 8"/>
          <p:cNvSpPr/>
          <p:nvPr/>
        </p:nvSpPr>
        <p:spPr>
          <a:xfrm>
            <a:off x="6446520" y="3968496"/>
            <a:ext cx="4754880" cy="10972"/>
          </a:xfrm>
          <a:prstGeom prst="rect">
            <a:avLst/>
          </a:prstGeom>
          <a:solidFill>
            <a:srgbClr val="4A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169663"/>
            <a:ext cx="5120640" cy="1051560"/>
          </a:xfrm>
          <a:prstGeom prst="rect">
            <a:avLst/>
          </a:prstGeom>
          <a:noFill/>
        </p:spPr>
        <p:txBody>
          <a:bodyPr wrap="square" lIns="0" rIns="0" tIns="0" bIns="0">
            <a:spAutoFit/>
          </a:bodyPr>
          <a:lstStyle/>
          <a:p>
            <a:pPr algn="l">
              <a:lnSpc>
                <a:spcPct val="140000"/>
              </a:lnSpc>
            </a:pPr>
            <a:r>
              <a:rPr sz="1600" b="0">
                <a:solidFill>
                  <a:srgbClr val="D9E1DA"/>
                </a:solidFill>
                <a:latin typeface="Segoe UI"/>
              </a:rPr>
              <a:t>Jln. Wolter Monginsidi No. 159</a:t>
            </a:r>
          </a:p>
          <a:p>
            <a:pPr algn="l">
              <a:lnSpc>
                <a:spcPct val="140000"/>
              </a:lnSpc>
            </a:pPr>
            <a:r>
              <a:rPr sz="1600" b="0">
                <a:solidFill>
                  <a:srgbClr val="D9E1DA"/>
                </a:solidFill>
                <a:latin typeface="Segoe UI"/>
              </a:rPr>
              <a:t>Bandar Lampung, Lampung, Indonesia</a:t>
            </a:r>
          </a:p>
          <a:p>
            <a:pPr algn="l">
              <a:lnSpc>
                <a:spcPct val="140000"/>
              </a:lnSpc>
            </a:pPr>
            <a:r>
              <a:rPr sz="1600" b="0">
                <a:solidFill>
                  <a:srgbClr val="D9E1DA"/>
                </a:solidFill>
                <a:latin typeface="Segoe UI"/>
              </a:rPr>
              <a:t>Warehouse: Gudang Natar, Lampung Selatan</a:t>
            </a:r>
          </a:p>
        </p:txBody>
      </p:sp>
      <p:sp>
        <p:nvSpPr>
          <p:cNvPr id="11" name="TextBox 10"/>
          <p:cNvSpPr txBox="1"/>
          <p:nvPr/>
        </p:nvSpPr>
        <p:spPr>
          <a:xfrm>
            <a:off x="6446520" y="5376672"/>
            <a:ext cx="5120640" cy="960120"/>
          </a:xfrm>
          <a:prstGeom prst="rect">
            <a:avLst/>
          </a:prstGeom>
          <a:noFill/>
        </p:spPr>
        <p:txBody>
          <a:bodyPr wrap="square" lIns="0" rIns="0" tIns="0" bIns="0">
            <a:spAutoFit/>
          </a:bodyPr>
          <a:lstStyle/>
          <a:p>
            <a:pPr algn="l">
              <a:lnSpc>
                <a:spcPct val="140000"/>
              </a:lnSpc>
            </a:pPr>
            <a:r>
              <a:rPr sz="1600" b="0">
                <a:solidFill>
                  <a:srgbClr val="FFFFFF"/>
                </a:solidFill>
                <a:latin typeface="Segoe UI"/>
              </a:rPr>
              <a:t>Arif Rachman, COO / Project Director</a:t>
            </a:r>
          </a:p>
          <a:p>
            <a:pPr algn="l">
              <a:lnSpc>
                <a:spcPct val="140000"/>
              </a:lnSpc>
            </a:pPr>
            <a:r>
              <a:rPr sz="1600" b="0">
                <a:solidFill>
                  <a:srgbClr val="FFFFFF"/>
                </a:solidFill>
                <a:latin typeface="Segoe UI"/>
              </a:rPr>
              <a:t>arif@klumbayanfarm.com</a:t>
            </a:r>
          </a:p>
          <a:p>
            <a:pPr algn="l">
              <a:lnSpc>
                <a:spcPct val="140000"/>
              </a:lnSpc>
            </a:pPr>
            <a:r>
              <a:rPr sz="1600" b="0">
                <a:solidFill>
                  <a:srgbClr val="FFFFFF"/>
                </a:solidFill>
                <a:latin typeface="Segoe UI"/>
              </a:rPr>
              <a:t>+62 853 7887 0007</a:t>
            </a:r>
          </a:p>
        </p:txBody>
      </p:sp>
      <p:sp>
        <p:nvSpPr>
          <p:cNvPr id="12" name="TextBox 11"/>
          <p:cNvSpPr txBox="1"/>
          <p:nvPr/>
        </p:nvSpPr>
        <p:spPr>
          <a:xfrm>
            <a:off x="6446520" y="6400800"/>
            <a:ext cx="5120640" cy="274320"/>
          </a:xfrm>
          <a:prstGeom prst="rect">
            <a:avLst/>
          </a:prstGeom>
          <a:noFill/>
        </p:spPr>
        <p:txBody>
          <a:bodyPr wrap="square" lIns="0" rIns="0" tIns="0" bIns="0">
            <a:spAutoFit/>
          </a:bodyPr>
          <a:lstStyle/>
          <a:p>
            <a:pPr algn="l"/>
            <a:r>
              <a:rPr sz="1300" b="1" spc="160">
                <a:solidFill>
                  <a:srgbClr val="9A7526"/>
                </a:solidFill>
                <a:latin typeface="Segoe UI"/>
              </a:rPr>
              <a:t>KLUMBAYANFARM.COM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