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 Id="rId7"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_bg.jpg"/>
          <p:cNvPicPr>
            <a:picLocks noChangeAspect="1"/>
          </p:cNvPicPr>
          <p:nvPr/>
        </p:nvPicPr>
        <p:blipFill>
          <a:blip r:embed="rId2"/>
          <a:srcRect l="12" r="12"/>
          <a:stretch>
            <a:fillRect/>
          </a:stretch>
        </p:blipFill>
        <p:spPr>
          <a:xfrm>
            <a:off x="0" y="0"/>
            <a:ext cx="12188952" cy="6858000"/>
          </a:xfrm>
          <a:prstGeom prst="rect">
            <a:avLst/>
          </a:prstGeom>
        </p:spPr>
      </p:pic>
      <p:sp>
        <p:nvSpPr>
          <p:cNvPr id="4" name="Rectangle 3"/>
          <p:cNvSpPr/>
          <p:nvPr/>
        </p:nvSpPr>
        <p:spPr>
          <a:xfrm>
            <a:off x="0" y="0"/>
            <a:ext cx="8778240" cy="6858000"/>
          </a:xfrm>
          <a:prstGeom prst="rect">
            <a:avLst/>
          </a:prstGeom>
          <a:gradFill rotWithShape="1">
            <a:gsLst>
              <a:gs pos="0">
                <a:srgbClr val="1F4034">
                  <a:alpha val="100000"/>
                </a:srgbClr>
              </a:gs>
              <a:gs pos="42000">
                <a:srgbClr val="1F4034">
                  <a:alpha val="92000"/>
                </a:srgbClr>
              </a:gs>
              <a:gs pos="72000">
                <a:srgbClr val="1F4034">
                  <a:alpha val="55000"/>
                </a:srgbClr>
              </a:gs>
              <a:gs pos="100000">
                <a:srgbClr val="1F4034">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small.png"/>
          <p:cNvPicPr>
            <a:picLocks noChangeAspect="1"/>
          </p:cNvPicPr>
          <p:nvPr/>
        </p:nvPicPr>
        <p:blipFill>
          <a:blip r:embed="rId3"/>
          <a:stretch>
            <a:fillRect/>
          </a:stretch>
        </p:blipFill>
        <p:spPr>
          <a:xfrm>
            <a:off x="374904" y="219456"/>
            <a:ext cx="694944" cy="694944"/>
          </a:xfrm>
          <a:prstGeom prst="rect">
            <a:avLst/>
          </a:prstGeom>
        </p:spPr>
      </p:pic>
      <p:sp>
        <p:nvSpPr>
          <p:cNvPr id="6" name="TextBox 5"/>
          <p:cNvSpPr txBox="1"/>
          <p:nvPr/>
        </p:nvSpPr>
        <p:spPr>
          <a:xfrm>
            <a:off x="1188720" y="292608"/>
            <a:ext cx="4023360" cy="310896"/>
          </a:xfrm>
          <a:prstGeom prst="rect">
            <a:avLst/>
          </a:prstGeom>
          <a:noFill/>
        </p:spPr>
        <p:txBody>
          <a:bodyPr wrap="square" lIns="0" rIns="0" tIns="0" bIns="0">
            <a:spAutoFit/>
          </a:bodyPr>
          <a:lstStyle/>
          <a:p>
            <a:pPr algn="l"/>
            <a:r>
              <a:rPr sz="2000" b="1">
                <a:solidFill>
                  <a:srgbClr val="FFFFFF"/>
                </a:solidFill>
                <a:latin typeface="Segoe UI"/>
              </a:rPr>
              <a:t>PT Klumbayan Gold Farm</a:t>
            </a:r>
          </a:p>
        </p:txBody>
      </p:sp>
      <p:sp>
        <p:nvSpPr>
          <p:cNvPr id="7" name="TextBox 6"/>
          <p:cNvSpPr txBox="1"/>
          <p:nvPr/>
        </p:nvSpPr>
        <p:spPr>
          <a:xfrm>
            <a:off x="1188720" y="621792"/>
            <a:ext cx="4023360" cy="256032"/>
          </a:xfrm>
          <a:prstGeom prst="rect">
            <a:avLst/>
          </a:prstGeom>
          <a:noFill/>
        </p:spPr>
        <p:txBody>
          <a:bodyPr wrap="square" lIns="0" rIns="0" tIns="0" bIns="0">
            <a:spAutoFit/>
          </a:bodyPr>
          <a:lstStyle/>
          <a:p>
            <a:pPr algn="l"/>
            <a:r>
              <a:rPr sz="1100" b="0" spc="160">
                <a:solidFill>
                  <a:srgbClr val="C7D8CD"/>
                </a:solidFill>
                <a:latin typeface="Segoe UI"/>
              </a:rPr>
              <a:t>LAMPUNG · INDONESIA · BERDIRI 2022</a:t>
            </a:r>
          </a:p>
        </p:txBody>
      </p:sp>
      <p:sp>
        <p:nvSpPr>
          <p:cNvPr id="8" name="TextBox 7"/>
          <p:cNvSpPr txBox="1"/>
          <p:nvPr/>
        </p:nvSpPr>
        <p:spPr>
          <a:xfrm>
            <a:off x="658368" y="1874519"/>
            <a:ext cx="6766560" cy="1783080"/>
          </a:xfrm>
          <a:prstGeom prst="rect">
            <a:avLst/>
          </a:prstGeom>
          <a:noFill/>
        </p:spPr>
        <p:txBody>
          <a:bodyPr wrap="square" lIns="0" rIns="0" tIns="0" bIns="0">
            <a:spAutoFit/>
          </a:bodyPr>
          <a:lstStyle/>
          <a:p>
            <a:pPr algn="l">
              <a:lnSpc>
                <a:spcPct val="110000"/>
              </a:lnSpc>
            </a:pPr>
            <a:r>
              <a:rPr sz="3200" b="1">
                <a:solidFill>
                  <a:srgbClr val="FFFFFF"/>
                </a:solidFill>
                <a:latin typeface="Georgia"/>
              </a:rPr>
              <a:t>Dari lahan bekas tambang</a:t>
            </a:r>
          </a:p>
          <a:p>
            <a:pPr algn="l">
              <a:lnSpc>
                <a:spcPct val="110000"/>
              </a:lnSpc>
            </a:pPr>
            <a:r>
              <a:rPr sz="3200" b="1">
                <a:solidFill>
                  <a:srgbClr val="FFFFFF"/>
                </a:solidFill>
                <a:latin typeface="Georgia"/>
              </a:rPr>
              <a:t>ke rantai pasok Eropa.</a:t>
            </a:r>
          </a:p>
        </p:txBody>
      </p:sp>
      <p:sp>
        <p:nvSpPr>
          <p:cNvPr id="9" name="TextBox 8"/>
          <p:cNvSpPr txBox="1"/>
          <p:nvPr/>
        </p:nvSpPr>
        <p:spPr>
          <a:xfrm>
            <a:off x="658368" y="3886200"/>
            <a:ext cx="5120640" cy="1051560"/>
          </a:xfrm>
          <a:prstGeom prst="rect">
            <a:avLst/>
          </a:prstGeom>
          <a:noFill/>
        </p:spPr>
        <p:txBody>
          <a:bodyPr wrap="square" lIns="0" rIns="0" tIns="0" bIns="0">
            <a:spAutoFit/>
          </a:bodyPr>
          <a:lstStyle/>
          <a:p>
            <a:pPr algn="l">
              <a:lnSpc>
                <a:spcPct val="136000"/>
              </a:lnSpc>
            </a:pPr>
            <a:r>
              <a:rPr sz="1600" b="0">
                <a:solidFill>
                  <a:srgbClr val="D9E1DA"/>
                </a:solidFill>
                <a:latin typeface="Segoe UI"/>
              </a:rPr>
              <a:t>Agribisnis regeneratif di Lampung. Lada hitam, kopi robusta dan kakao, dibeli langsung dari 1.250 petani, tertelusur sampai titik kebun.</a:t>
            </a:r>
          </a:p>
        </p:txBody>
      </p:sp>
      <p:sp>
        <p:nvSpPr>
          <p:cNvPr id="10" name="Rectangle 9"/>
          <p:cNvSpPr/>
          <p:nvPr/>
        </p:nvSpPr>
        <p:spPr>
          <a:xfrm>
            <a:off x="658368" y="5074920"/>
            <a:ext cx="5120640" cy="10972"/>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230368"/>
            <a:ext cx="5669280" cy="237744"/>
          </a:xfrm>
          <a:prstGeom prst="rect">
            <a:avLst/>
          </a:prstGeom>
          <a:noFill/>
        </p:spPr>
        <p:txBody>
          <a:bodyPr wrap="square" lIns="0" rIns="0" tIns="0" bIns="0">
            <a:spAutoFit/>
          </a:bodyPr>
          <a:lstStyle/>
          <a:p>
            <a:pPr algn="l"/>
            <a:r>
              <a:rPr sz="1100" b="1" spc="160">
                <a:solidFill>
                  <a:srgbClr val="9A7526"/>
                </a:solidFill>
                <a:latin typeface="Segoe UI"/>
              </a:rPr>
              <a:t>DIAJUKAN UNTUK</a:t>
            </a:r>
          </a:p>
        </p:txBody>
      </p:sp>
      <p:sp>
        <p:nvSpPr>
          <p:cNvPr id="12" name="TextBox 11"/>
          <p:cNvSpPr txBox="1"/>
          <p:nvPr/>
        </p:nvSpPr>
        <p:spPr>
          <a:xfrm>
            <a:off x="658368" y="5477256"/>
            <a:ext cx="6035040" cy="384048"/>
          </a:xfrm>
          <a:prstGeom prst="rect">
            <a:avLst/>
          </a:prstGeom>
          <a:noFill/>
        </p:spPr>
        <p:txBody>
          <a:bodyPr wrap="square" lIns="0" rIns="0" tIns="0" bIns="0">
            <a:spAutoFit/>
          </a:bodyPr>
          <a:lstStyle/>
          <a:p>
            <a:pPr algn="l"/>
            <a:r>
              <a:rPr sz="2000" b="1">
                <a:solidFill>
                  <a:srgbClr val="FFFFFF"/>
                </a:solidFill>
                <a:latin typeface="Georgia"/>
              </a:rPr>
              <a:t>Pertamina UMK Academy 2026</a:t>
            </a:r>
          </a:p>
        </p:txBody>
      </p:sp>
      <p:sp>
        <p:nvSpPr>
          <p:cNvPr id="13" name="TextBox 12"/>
          <p:cNvSpPr txBox="1"/>
          <p:nvPr/>
        </p:nvSpPr>
        <p:spPr>
          <a:xfrm>
            <a:off x="658368" y="6172200"/>
            <a:ext cx="7680960" cy="237744"/>
          </a:xfrm>
          <a:prstGeom prst="rect">
            <a:avLst/>
          </a:prstGeom>
          <a:noFill/>
        </p:spPr>
        <p:txBody>
          <a:bodyPr wrap="square" lIns="0" rIns="0" tIns="0" bIns="0">
            <a:spAutoFit/>
          </a:bodyPr>
          <a:lstStyle/>
          <a:p>
            <a:pPr algn="l"/>
            <a:r>
              <a:rPr sz="1100" b="0" spc="120">
                <a:solidFill>
                  <a:srgbClr val="9A7526"/>
                </a:solidFill>
                <a:latin typeface="Segoe UI"/>
              </a:rPr>
              <a:t>PROFIL PERUSAHAAN · AGUSTUS 2026</a:t>
            </a:r>
          </a:p>
        </p:txBody>
      </p:sp>
      <p:sp>
        <p:nvSpPr>
          <p:cNvPr id="14" name="TextBox 13"/>
          <p:cNvSpPr txBox="1"/>
          <p:nvPr/>
        </p:nvSpPr>
        <p:spPr>
          <a:xfrm>
            <a:off x="658368" y="6419088"/>
            <a:ext cx="6766560" cy="237744"/>
          </a:xfrm>
          <a:prstGeom prst="rect">
            <a:avLst/>
          </a:prstGeom>
          <a:noFill/>
        </p:spPr>
        <p:txBody>
          <a:bodyPr wrap="square" lIns="0" rIns="0" tIns="0" bIns="0">
            <a:spAutoFit/>
          </a:bodyPr>
          <a:lstStyle/>
          <a:p>
            <a:pPr algn="l"/>
            <a:r>
              <a:rPr sz="1100" b="0">
                <a:solidFill>
                  <a:srgbClr val="B9C7BE"/>
                </a:solidFill>
                <a:latin typeface="Segoe UI"/>
              </a:rPr>
              <a:t>klumbayanfarm.com    arif@klumbayanfarm.com    +62 853 7887 0007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01   PROFIL SINGKAT</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Kami membeli langsung dari petani.</a:t>
            </a:r>
          </a:p>
        </p:txBody>
      </p:sp>
      <p:sp>
        <p:nvSpPr>
          <p:cNvPr id="7" name="TextBox 6"/>
          <p:cNvSpPr txBox="1"/>
          <p:nvPr/>
        </p:nvSpPr>
        <p:spPr>
          <a:xfrm>
            <a:off x="658368" y="2359152"/>
            <a:ext cx="5760720" cy="1463040"/>
          </a:xfrm>
          <a:prstGeom prst="rect">
            <a:avLst/>
          </a:prstGeom>
          <a:noFill/>
        </p:spPr>
        <p:txBody>
          <a:bodyPr wrap="square" lIns="0" rIns="0" tIns="0" bIns="0">
            <a:spAutoFit/>
          </a:bodyPr>
          <a:lstStyle/>
          <a:p>
            <a:pPr algn="l">
              <a:lnSpc>
                <a:spcPct val="138000"/>
              </a:lnSpc>
            </a:pPr>
            <a:r>
              <a:rPr sz="1600" b="0">
                <a:solidFill>
                  <a:srgbClr val="3D4A43"/>
                </a:solidFill>
                <a:latin typeface="Segoe UI"/>
              </a:rPr>
              <a:t>PT Klumbayan Gold Farm adalah perusahaan agroforestri dan perdagangan hasil bumi di Lampung. Kami membeli lada hitam, kopi robusta dan kakao langsung dari petani yang kami organisir sendiri, tanpa lapisan pengepul di antaranya.</a:t>
            </a:r>
          </a:p>
        </p:txBody>
      </p:sp>
      <p:sp>
        <p:nvSpPr>
          <p:cNvPr id="8" name="TextBox 7"/>
          <p:cNvSpPr txBox="1"/>
          <p:nvPr/>
        </p:nvSpPr>
        <p:spPr>
          <a:xfrm>
            <a:off x="658368" y="3977639"/>
            <a:ext cx="5760720" cy="1005840"/>
          </a:xfrm>
          <a:prstGeom prst="rect">
            <a:avLst/>
          </a:prstGeom>
          <a:noFill/>
        </p:spPr>
        <p:txBody>
          <a:bodyPr wrap="square" lIns="0" rIns="0" tIns="0" bIns="0">
            <a:spAutoFit/>
          </a:bodyPr>
          <a:lstStyle/>
          <a:p>
            <a:pPr algn="l">
              <a:lnSpc>
                <a:spcPct val="138000"/>
              </a:lnSpc>
            </a:pPr>
            <a:r>
              <a:rPr sz="1600" b="0">
                <a:solidFill>
                  <a:srgbClr val="3D4A43"/>
                </a:solidFill>
                <a:latin typeface="Segoe UI"/>
              </a:rPr>
              <a:t>Hasil panen dikonsolidasi dan dikendalikan mutunya di gudang kami sendiri di Natar, lalu dikirim ke pembeli dalam dan luar negeri.</a:t>
            </a:r>
          </a:p>
        </p:txBody>
      </p:sp>
      <p:sp>
        <p:nvSpPr>
          <p:cNvPr id="9" name="TextBox 8"/>
          <p:cNvSpPr txBox="1"/>
          <p:nvPr/>
        </p:nvSpPr>
        <p:spPr>
          <a:xfrm>
            <a:off x="658368" y="5074920"/>
            <a:ext cx="1737360" cy="566928"/>
          </a:xfrm>
          <a:prstGeom prst="rect">
            <a:avLst/>
          </a:prstGeom>
          <a:noFill/>
        </p:spPr>
        <p:txBody>
          <a:bodyPr wrap="square" lIns="0" rIns="0" tIns="0" bIns="0">
            <a:spAutoFit/>
          </a:bodyPr>
          <a:lstStyle/>
          <a:p>
            <a:pPr algn="l"/>
            <a:r>
              <a:rPr sz="3200" b="1">
                <a:solidFill>
                  <a:srgbClr val="1F4034"/>
                </a:solidFill>
                <a:latin typeface="Georgia"/>
              </a:rPr>
              <a:t>2022</a:t>
            </a:r>
          </a:p>
        </p:txBody>
      </p:sp>
      <p:sp>
        <p:nvSpPr>
          <p:cNvPr id="10" name="TextBox 9"/>
          <p:cNvSpPr txBox="1"/>
          <p:nvPr/>
        </p:nvSpPr>
        <p:spPr>
          <a:xfrm>
            <a:off x="658368" y="5641848"/>
            <a:ext cx="1737360" cy="274320"/>
          </a:xfrm>
          <a:prstGeom prst="rect">
            <a:avLst/>
          </a:prstGeom>
          <a:noFill/>
        </p:spPr>
        <p:txBody>
          <a:bodyPr wrap="square" lIns="0" rIns="0" tIns="0" bIns="0">
            <a:spAutoFit/>
          </a:bodyPr>
          <a:lstStyle/>
          <a:p>
            <a:pPr algn="l"/>
            <a:r>
              <a:rPr sz="1100" b="0" spc="100">
                <a:solidFill>
                  <a:srgbClr val="6C7A72"/>
                </a:solidFill>
                <a:latin typeface="Segoe UI"/>
              </a:rPr>
              <a:t>BERDIRI</a:t>
            </a:r>
          </a:p>
        </p:txBody>
      </p:sp>
      <p:sp>
        <p:nvSpPr>
          <p:cNvPr id="11" name="TextBox 10"/>
          <p:cNvSpPr txBox="1"/>
          <p:nvPr/>
        </p:nvSpPr>
        <p:spPr>
          <a:xfrm>
            <a:off x="2578608" y="5074920"/>
            <a:ext cx="1737360" cy="566928"/>
          </a:xfrm>
          <a:prstGeom prst="rect">
            <a:avLst/>
          </a:prstGeom>
          <a:noFill/>
        </p:spPr>
        <p:txBody>
          <a:bodyPr wrap="square" lIns="0" rIns="0" tIns="0" bIns="0">
            <a:spAutoFit/>
          </a:bodyPr>
          <a:lstStyle/>
          <a:p>
            <a:pPr algn="l"/>
            <a:r>
              <a:rPr sz="3200" b="1">
                <a:solidFill>
                  <a:srgbClr val="1F4034"/>
                </a:solidFill>
                <a:latin typeface="Georgia"/>
              </a:rPr>
              <a:t>1.250</a:t>
            </a:r>
          </a:p>
        </p:txBody>
      </p:sp>
      <p:sp>
        <p:nvSpPr>
          <p:cNvPr id="12" name="TextBox 11"/>
          <p:cNvSpPr txBox="1"/>
          <p:nvPr/>
        </p:nvSpPr>
        <p:spPr>
          <a:xfrm>
            <a:off x="2578608" y="5641848"/>
            <a:ext cx="1737360" cy="274320"/>
          </a:xfrm>
          <a:prstGeom prst="rect">
            <a:avLst/>
          </a:prstGeom>
          <a:noFill/>
        </p:spPr>
        <p:txBody>
          <a:bodyPr wrap="square" lIns="0" rIns="0" tIns="0" bIns="0">
            <a:spAutoFit/>
          </a:bodyPr>
          <a:lstStyle/>
          <a:p>
            <a:pPr algn="l"/>
            <a:r>
              <a:rPr sz="1100" b="0" spc="100">
                <a:solidFill>
                  <a:srgbClr val="6C7A72"/>
                </a:solidFill>
                <a:latin typeface="Segoe UI"/>
              </a:rPr>
              <a:t>PETANI</a:t>
            </a:r>
          </a:p>
        </p:txBody>
      </p:sp>
      <p:sp>
        <p:nvSpPr>
          <p:cNvPr id="13" name="TextBox 12"/>
          <p:cNvSpPr txBox="1"/>
          <p:nvPr/>
        </p:nvSpPr>
        <p:spPr>
          <a:xfrm>
            <a:off x="4498848" y="5074920"/>
            <a:ext cx="1828800" cy="566928"/>
          </a:xfrm>
          <a:prstGeom prst="rect">
            <a:avLst/>
          </a:prstGeom>
          <a:noFill/>
        </p:spPr>
        <p:txBody>
          <a:bodyPr wrap="square" lIns="0" rIns="0" tIns="0" bIns="0">
            <a:spAutoFit/>
          </a:bodyPr>
          <a:lstStyle/>
          <a:p>
            <a:pPr algn="l"/>
            <a:r>
              <a:rPr sz="3200" b="1">
                <a:solidFill>
                  <a:srgbClr val="1F4034"/>
                </a:solidFill>
                <a:latin typeface="Georgia"/>
              </a:rPr>
              <a:t>15</a:t>
            </a:r>
          </a:p>
        </p:txBody>
      </p:sp>
      <p:sp>
        <p:nvSpPr>
          <p:cNvPr id="14" name="TextBox 13"/>
          <p:cNvSpPr txBox="1"/>
          <p:nvPr/>
        </p:nvSpPr>
        <p:spPr>
          <a:xfrm>
            <a:off x="4498848" y="5641848"/>
            <a:ext cx="1828800" cy="274320"/>
          </a:xfrm>
          <a:prstGeom prst="rect">
            <a:avLst/>
          </a:prstGeom>
          <a:noFill/>
        </p:spPr>
        <p:txBody>
          <a:bodyPr wrap="square" lIns="0" rIns="0" tIns="0" bIns="0">
            <a:spAutoFit/>
          </a:bodyPr>
          <a:lstStyle/>
          <a:p>
            <a:pPr algn="l"/>
            <a:r>
              <a:rPr sz="1100" b="0" spc="100">
                <a:solidFill>
                  <a:srgbClr val="6C7A72"/>
                </a:solidFill>
                <a:latin typeface="Segoe UI"/>
              </a:rPr>
              <a:t>KARYAWAN</a:t>
            </a:r>
          </a:p>
        </p:txBody>
      </p:sp>
      <p:pic>
        <p:nvPicPr>
          <p:cNvPr id="15" name="Picture 14" descr="ops_farmer_training.jpg"/>
          <p:cNvPicPr>
            <a:picLocks noChangeAspect="1"/>
          </p:cNvPicPr>
          <p:nvPr/>
        </p:nvPicPr>
        <p:blipFill>
          <a:blip r:embed="rId2"/>
          <a:srcRect t="18900" b="18900"/>
          <a:stretch>
            <a:fillRect/>
          </a:stretch>
        </p:blipFill>
        <p:spPr>
          <a:xfrm>
            <a:off x="6903720" y="2359152"/>
            <a:ext cx="4626864" cy="3566160"/>
          </a:xfrm>
          <a:prstGeom prst="rect">
            <a:avLst/>
          </a:prstGeom>
        </p:spPr>
      </p:pic>
      <p:sp>
        <p:nvSpPr>
          <p:cNvPr id="16" name="Rectangle 15"/>
          <p:cNvSpPr/>
          <p:nvPr/>
        </p:nvSpPr>
        <p:spPr>
          <a:xfrm>
            <a:off x="6903720" y="5650992"/>
            <a:ext cx="462686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13448" y="5701284"/>
            <a:ext cx="4407407" cy="201168"/>
          </a:xfrm>
          <a:prstGeom prst="rect">
            <a:avLst/>
          </a:prstGeom>
          <a:noFill/>
        </p:spPr>
        <p:txBody>
          <a:bodyPr wrap="square" lIns="0" rIns="0" tIns="0" bIns="0">
            <a:spAutoFit/>
          </a:bodyPr>
          <a:lstStyle/>
          <a:p>
            <a:pPr algn="l"/>
            <a:r>
              <a:rPr sz="1100" b="1" spc="90">
                <a:solidFill>
                  <a:srgbClr val="FFFFFF"/>
                </a:solidFill>
                <a:latin typeface="Segoe UI"/>
              </a:rPr>
              <a:t>PELATIHAN PETANI, LAMPUNG</a:t>
            </a:r>
          </a:p>
        </p:txBody>
      </p:sp>
      <p:sp>
        <p:nvSpPr>
          <p:cNvPr id="18" name="TextBox 17"/>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19" name="TextBox 18"/>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02   ASAL USUL</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Kami mulai dari memperbaiki lahan.</a:t>
            </a:r>
          </a:p>
        </p:txBody>
      </p:sp>
      <p:sp>
        <p:nvSpPr>
          <p:cNvPr id="7" name="TextBox 6"/>
          <p:cNvSpPr txBox="1"/>
          <p:nvPr/>
        </p:nvSpPr>
        <p:spPr>
          <a:xfrm>
            <a:off x="658368" y="2359152"/>
            <a:ext cx="10424160" cy="914400"/>
          </a:xfrm>
          <a:prstGeom prst="rect">
            <a:avLst/>
          </a:prstGeom>
          <a:noFill/>
        </p:spPr>
        <p:txBody>
          <a:bodyPr wrap="square" lIns="0" rIns="0" tIns="0" bIns="0">
            <a:spAutoFit/>
          </a:bodyPr>
          <a:lstStyle/>
          <a:p>
            <a:pPr algn="l">
              <a:lnSpc>
                <a:spcPct val="138000"/>
              </a:lnSpc>
            </a:pPr>
            <a:r>
              <a:rPr sz="1600" b="0">
                <a:solidFill>
                  <a:srgbClr val="3D4A43"/>
                </a:solidFill>
                <a:latin typeface="Segoe UI"/>
              </a:rPr>
              <a:t>Perusahaan ini berdiri pada 2022 di Pesawaran dengan satu tujuan: memulihkan lahan yang rusak akibat bekas penambangan emas, dan mengembalikan warga desa ke pertanian yang dikelola secara profesional. Nama perusahaan merekam dari mana pekerjaan itu dimulai.</a:t>
            </a:r>
          </a:p>
        </p:txBody>
      </p:sp>
      <p:sp>
        <p:nvSpPr>
          <p:cNvPr id="8" name="Rectangle 7"/>
          <p:cNvSpPr/>
          <p:nvPr/>
        </p:nvSpPr>
        <p:spPr>
          <a:xfrm>
            <a:off x="658368" y="3822191"/>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941063"/>
            <a:ext cx="2103120" cy="256032"/>
          </a:xfrm>
          <a:prstGeom prst="rect">
            <a:avLst/>
          </a:prstGeom>
          <a:noFill/>
        </p:spPr>
        <p:txBody>
          <a:bodyPr wrap="square" lIns="0" rIns="0" tIns="0" bIns="0">
            <a:spAutoFit/>
          </a:bodyPr>
          <a:lstStyle/>
          <a:p>
            <a:pPr algn="ctr"/>
            <a:r>
              <a:rPr sz="1300" b="1" spc="90">
                <a:solidFill>
                  <a:srgbClr val="141D18"/>
                </a:solidFill>
                <a:latin typeface="Segoe UI"/>
              </a:rPr>
              <a:t>RUSAK</a:t>
            </a:r>
          </a:p>
        </p:txBody>
      </p:sp>
      <p:sp>
        <p:nvSpPr>
          <p:cNvPr id="10" name="TextBox 9"/>
          <p:cNvSpPr txBox="1"/>
          <p:nvPr/>
        </p:nvSpPr>
        <p:spPr>
          <a:xfrm>
            <a:off x="804672" y="4251959"/>
            <a:ext cx="2103120" cy="310896"/>
          </a:xfrm>
          <a:prstGeom prst="rect">
            <a:avLst/>
          </a:prstGeom>
          <a:noFill/>
        </p:spPr>
        <p:txBody>
          <a:bodyPr wrap="square" lIns="0" rIns="0" tIns="0" bIns="0">
            <a:spAutoFit/>
          </a:bodyPr>
          <a:lstStyle/>
          <a:p>
            <a:pPr algn="ctr"/>
            <a:r>
              <a:rPr sz="1300" b="0">
                <a:solidFill>
                  <a:srgbClr val="3D4A43"/>
                </a:solidFill>
                <a:latin typeface="Segoe UI"/>
              </a:rPr>
              <a:t>Bekas tambang, tidak produktif</a:t>
            </a:r>
          </a:p>
        </p:txBody>
      </p:sp>
      <p:sp>
        <p:nvSpPr>
          <p:cNvPr id="11" name="Right Arrow 10"/>
          <p:cNvSpPr/>
          <p:nvPr/>
        </p:nvSpPr>
        <p:spPr>
          <a:xfrm>
            <a:off x="3136391" y="414223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83863" y="3822191"/>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3941063"/>
            <a:ext cx="2103120" cy="256032"/>
          </a:xfrm>
          <a:prstGeom prst="rect">
            <a:avLst/>
          </a:prstGeom>
          <a:noFill/>
        </p:spPr>
        <p:txBody>
          <a:bodyPr wrap="square" lIns="0" rIns="0" tIns="0" bIns="0">
            <a:spAutoFit/>
          </a:bodyPr>
          <a:lstStyle/>
          <a:p>
            <a:pPr algn="ctr"/>
            <a:r>
              <a:rPr sz="1300" b="1" spc="90">
                <a:solidFill>
                  <a:srgbClr val="141D18"/>
                </a:solidFill>
                <a:latin typeface="Segoe UI"/>
              </a:rPr>
              <a:t>DITANAMI ULANG</a:t>
            </a:r>
          </a:p>
        </p:txBody>
      </p:sp>
      <p:sp>
        <p:nvSpPr>
          <p:cNvPr id="14" name="TextBox 13"/>
          <p:cNvSpPr txBox="1"/>
          <p:nvPr/>
        </p:nvSpPr>
        <p:spPr>
          <a:xfrm>
            <a:off x="3630168" y="4251959"/>
            <a:ext cx="2103120" cy="310896"/>
          </a:xfrm>
          <a:prstGeom prst="rect">
            <a:avLst/>
          </a:prstGeom>
          <a:noFill/>
        </p:spPr>
        <p:txBody>
          <a:bodyPr wrap="square" lIns="0" rIns="0" tIns="0" bIns="0">
            <a:spAutoFit/>
          </a:bodyPr>
          <a:lstStyle/>
          <a:p>
            <a:pPr algn="ctr"/>
            <a:r>
              <a:rPr sz="1300" b="0">
                <a:solidFill>
                  <a:srgbClr val="3D4A43"/>
                </a:solidFill>
                <a:latin typeface="Segoe UI"/>
              </a:rPr>
              <a:t>Agroforestri, bukan monokultur</a:t>
            </a:r>
          </a:p>
        </p:txBody>
      </p:sp>
      <p:sp>
        <p:nvSpPr>
          <p:cNvPr id="15" name="Right Arrow 14"/>
          <p:cNvSpPr/>
          <p:nvPr/>
        </p:nvSpPr>
        <p:spPr>
          <a:xfrm>
            <a:off x="5961888" y="414223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59" y="3822191"/>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3941063"/>
            <a:ext cx="2103120" cy="256032"/>
          </a:xfrm>
          <a:prstGeom prst="rect">
            <a:avLst/>
          </a:prstGeom>
          <a:noFill/>
        </p:spPr>
        <p:txBody>
          <a:bodyPr wrap="square" lIns="0" rIns="0" tIns="0" bIns="0">
            <a:spAutoFit/>
          </a:bodyPr>
          <a:lstStyle/>
          <a:p>
            <a:pPr algn="ctr"/>
            <a:r>
              <a:rPr sz="1300" b="1" spc="90">
                <a:solidFill>
                  <a:srgbClr val="141D18"/>
                </a:solidFill>
                <a:latin typeface="Segoe UI"/>
              </a:rPr>
              <a:t>PRODUKTIF</a:t>
            </a:r>
          </a:p>
        </p:txBody>
      </p:sp>
      <p:sp>
        <p:nvSpPr>
          <p:cNvPr id="18" name="TextBox 17"/>
          <p:cNvSpPr txBox="1"/>
          <p:nvPr/>
        </p:nvSpPr>
        <p:spPr>
          <a:xfrm>
            <a:off x="6455664" y="4251959"/>
            <a:ext cx="2103120" cy="310896"/>
          </a:xfrm>
          <a:prstGeom prst="rect">
            <a:avLst/>
          </a:prstGeom>
          <a:noFill/>
        </p:spPr>
        <p:txBody>
          <a:bodyPr wrap="square" lIns="0" rIns="0" tIns="0" bIns="0">
            <a:spAutoFit/>
          </a:bodyPr>
          <a:lstStyle/>
          <a:p>
            <a:pPr algn="ctr"/>
            <a:r>
              <a:rPr sz="1300" b="0">
                <a:solidFill>
                  <a:srgbClr val="3D4A43"/>
                </a:solidFill>
                <a:latin typeface="Segoe UI"/>
              </a:rPr>
              <a:t>Lada, kopi dan kakao</a:t>
            </a:r>
          </a:p>
        </p:txBody>
      </p:sp>
      <p:sp>
        <p:nvSpPr>
          <p:cNvPr id="19" name="Right Arrow 18"/>
          <p:cNvSpPr/>
          <p:nvPr/>
        </p:nvSpPr>
        <p:spPr>
          <a:xfrm>
            <a:off x="8787384" y="414223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34856" y="3822191"/>
            <a:ext cx="2395728" cy="841248"/>
          </a:xfrm>
          <a:prstGeom prst="rect">
            <a:avLst/>
          </a:prstGeom>
          <a:solidFill>
            <a:srgbClr val="1F4034"/>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3941063"/>
            <a:ext cx="2103120" cy="256032"/>
          </a:xfrm>
          <a:prstGeom prst="rect">
            <a:avLst/>
          </a:prstGeom>
          <a:noFill/>
        </p:spPr>
        <p:txBody>
          <a:bodyPr wrap="square" lIns="0" rIns="0" tIns="0" bIns="0">
            <a:spAutoFit/>
          </a:bodyPr>
          <a:lstStyle/>
          <a:p>
            <a:pPr algn="ctr"/>
            <a:r>
              <a:rPr sz="1300" b="1" spc="90">
                <a:solidFill>
                  <a:srgbClr val="FFFFFF"/>
                </a:solidFill>
                <a:latin typeface="Segoe UI"/>
              </a:rPr>
              <a:t>DIPERDAGANGKAN</a:t>
            </a:r>
          </a:p>
        </p:txBody>
      </p:sp>
      <p:sp>
        <p:nvSpPr>
          <p:cNvPr id="22" name="TextBox 21"/>
          <p:cNvSpPr txBox="1"/>
          <p:nvPr/>
        </p:nvSpPr>
        <p:spPr>
          <a:xfrm>
            <a:off x="9281160" y="4251959"/>
            <a:ext cx="2103120" cy="310896"/>
          </a:xfrm>
          <a:prstGeom prst="rect">
            <a:avLst/>
          </a:prstGeom>
          <a:noFill/>
        </p:spPr>
        <p:txBody>
          <a:bodyPr wrap="square" lIns="0" rIns="0" tIns="0" bIns="0">
            <a:spAutoFit/>
          </a:bodyPr>
          <a:lstStyle/>
          <a:p>
            <a:pPr algn="ctr"/>
            <a:r>
              <a:rPr sz="1300" b="0">
                <a:solidFill>
                  <a:srgbClr val="C7D8CD"/>
                </a:solidFill>
                <a:latin typeface="Segoe UI"/>
              </a:rPr>
              <a:t>Masuk rantai pasok ekspor</a:t>
            </a:r>
          </a:p>
        </p:txBody>
      </p:sp>
      <p:sp>
        <p:nvSpPr>
          <p:cNvPr id="23" name="Rectangle 22"/>
          <p:cNvSpPr/>
          <p:nvPr/>
        </p:nvSpPr>
        <p:spPr>
          <a:xfrm>
            <a:off x="658368" y="507492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257800"/>
            <a:ext cx="10424160" cy="822960"/>
          </a:xfrm>
          <a:prstGeom prst="rect">
            <a:avLst/>
          </a:prstGeom>
          <a:noFill/>
        </p:spPr>
        <p:txBody>
          <a:bodyPr wrap="square" lIns="0" rIns="0" tIns="0" bIns="0">
            <a:spAutoFit/>
          </a:bodyPr>
          <a:lstStyle/>
          <a:p>
            <a:pPr algn="l">
              <a:lnSpc>
                <a:spcPct val="122000"/>
              </a:lnSpc>
            </a:pPr>
            <a:r>
              <a:rPr sz="2000" b="1">
                <a:solidFill>
                  <a:srgbClr val="1F4034"/>
                </a:solidFill>
                <a:latin typeface="Georgia"/>
              </a:rPr>
              <a:t>Kami tidak menambahkan keberlanjutan ke dalam bisnis dagang. Kami menambahkan bisnis dagang ke dalam proyek pemulihan lahan.</a:t>
            </a:r>
          </a:p>
        </p:txBody>
      </p:sp>
      <p:sp>
        <p:nvSpPr>
          <p:cNvPr id="25" name="TextBox 24"/>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26" name="TextBox 25"/>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03   AGREGASI PETANI</a:t>
            </a:r>
          </a:p>
        </p:txBody>
      </p:sp>
      <p:sp>
        <p:nvSpPr>
          <p:cNvPr id="4" name="TextBox 3"/>
          <p:cNvSpPr txBox="1"/>
          <p:nvPr/>
        </p:nvSpPr>
        <p:spPr>
          <a:xfrm>
            <a:off x="7690104" y="566928"/>
            <a:ext cx="3840480" cy="274320"/>
          </a:xfrm>
          <a:prstGeom prst="rect">
            <a:avLst/>
          </a:prstGeom>
          <a:noFill/>
        </p:spPr>
        <p:txBody>
          <a:bodyPr wrap="square" lIns="0" rIns="0" tIns="0" bIns="0">
            <a:spAutoFit/>
          </a:bodyPr>
          <a:lstStyle/>
          <a:p>
            <a:pPr algn="r"/>
            <a:r>
              <a:rPr sz="1100" b="1" spc="120">
                <a:solidFill>
                  <a:srgbClr val="1F4034"/>
                </a:solidFill>
                <a:latin typeface="Segoe UI"/>
              </a:rPr>
              <a:t>GO AGGREGATOR</a:t>
            </a:r>
          </a:p>
        </p:txBody>
      </p:sp>
      <p:sp>
        <p:nvSpPr>
          <p:cNvPr id="5" name="Rectangle 4"/>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1.250 petani, satu rantai pasok.</a:t>
            </a:r>
          </a:p>
        </p:txBody>
      </p:sp>
      <p:sp>
        <p:nvSpPr>
          <p:cNvPr id="8" name="TextBox 7"/>
          <p:cNvSpPr txBox="1"/>
          <p:nvPr/>
        </p:nvSpPr>
        <p:spPr>
          <a:xfrm>
            <a:off x="658368" y="2331720"/>
            <a:ext cx="10424160" cy="731520"/>
          </a:xfrm>
          <a:prstGeom prst="rect">
            <a:avLst/>
          </a:prstGeom>
          <a:noFill/>
        </p:spPr>
        <p:txBody>
          <a:bodyPr wrap="square" lIns="0" rIns="0" tIns="0" bIns="0">
            <a:spAutoFit/>
          </a:bodyPr>
          <a:lstStyle/>
          <a:p>
            <a:pPr algn="l">
              <a:lnSpc>
                <a:spcPct val="138000"/>
              </a:lnSpc>
            </a:pPr>
            <a:r>
              <a:rPr sz="1600" b="0">
                <a:solidFill>
                  <a:srgbClr val="3D4A43"/>
                </a:solidFill>
                <a:latin typeface="Segoe UI"/>
              </a:rPr>
              <a:t>Kami tidak menunggu hasil panen datang ke gudang. Kami membangun jaringan pembelian sampai ke desa, sehingga petani kecil punya pembeli yang pasti dan kami punya pasokan yang terukur.</a:t>
            </a:r>
          </a:p>
        </p:txBody>
      </p:sp>
      <p:sp>
        <p:nvSpPr>
          <p:cNvPr id="9" name="TextBox 8"/>
          <p:cNvSpPr txBox="1"/>
          <p:nvPr/>
        </p:nvSpPr>
        <p:spPr>
          <a:xfrm>
            <a:off x="658368" y="3154680"/>
            <a:ext cx="2057400" cy="566928"/>
          </a:xfrm>
          <a:prstGeom prst="rect">
            <a:avLst/>
          </a:prstGeom>
          <a:noFill/>
        </p:spPr>
        <p:txBody>
          <a:bodyPr wrap="square" lIns="0" rIns="0" tIns="0" bIns="0">
            <a:spAutoFit/>
          </a:bodyPr>
          <a:lstStyle/>
          <a:p>
            <a:pPr algn="l"/>
            <a:r>
              <a:rPr sz="3200" b="1">
                <a:solidFill>
                  <a:srgbClr val="1F4034"/>
                </a:solidFill>
                <a:latin typeface="Georgia"/>
              </a:rPr>
              <a:t>1.250</a:t>
            </a:r>
          </a:p>
        </p:txBody>
      </p:sp>
      <p:sp>
        <p:nvSpPr>
          <p:cNvPr id="10" name="TextBox 9"/>
          <p:cNvSpPr txBox="1"/>
          <p:nvPr/>
        </p:nvSpPr>
        <p:spPr>
          <a:xfrm>
            <a:off x="658368"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PETANI</a:t>
            </a:r>
          </a:p>
        </p:txBody>
      </p:sp>
      <p:sp>
        <p:nvSpPr>
          <p:cNvPr id="11" name="TextBox 10"/>
          <p:cNvSpPr txBox="1"/>
          <p:nvPr/>
        </p:nvSpPr>
        <p:spPr>
          <a:xfrm>
            <a:off x="2834639" y="3154680"/>
            <a:ext cx="2057400" cy="566928"/>
          </a:xfrm>
          <a:prstGeom prst="rect">
            <a:avLst/>
          </a:prstGeom>
          <a:noFill/>
        </p:spPr>
        <p:txBody>
          <a:bodyPr wrap="square" lIns="0" rIns="0" tIns="0" bIns="0">
            <a:spAutoFit/>
          </a:bodyPr>
          <a:lstStyle/>
          <a:p>
            <a:pPr algn="l"/>
            <a:r>
              <a:rPr sz="3200" b="1">
                <a:solidFill>
                  <a:srgbClr val="1F4034"/>
                </a:solidFill>
                <a:latin typeface="Georgia"/>
              </a:rPr>
              <a:t>17</a:t>
            </a:r>
          </a:p>
        </p:txBody>
      </p:sp>
      <p:sp>
        <p:nvSpPr>
          <p:cNvPr id="12" name="TextBox 11"/>
          <p:cNvSpPr txBox="1"/>
          <p:nvPr/>
        </p:nvSpPr>
        <p:spPr>
          <a:xfrm>
            <a:off x="2834639"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STASIUN BELI</a:t>
            </a:r>
          </a:p>
        </p:txBody>
      </p:sp>
      <p:sp>
        <p:nvSpPr>
          <p:cNvPr id="13" name="TextBox 12"/>
          <p:cNvSpPr txBox="1"/>
          <p:nvPr/>
        </p:nvSpPr>
        <p:spPr>
          <a:xfrm>
            <a:off x="5010912" y="3154680"/>
            <a:ext cx="2057400" cy="566928"/>
          </a:xfrm>
          <a:prstGeom prst="rect">
            <a:avLst/>
          </a:prstGeom>
          <a:noFill/>
        </p:spPr>
        <p:txBody>
          <a:bodyPr wrap="square" lIns="0" rIns="0" tIns="0" bIns="0">
            <a:spAutoFit/>
          </a:bodyPr>
          <a:lstStyle/>
          <a:p>
            <a:pPr algn="l"/>
            <a:r>
              <a:rPr sz="3200" b="1">
                <a:solidFill>
                  <a:srgbClr val="1F4034"/>
                </a:solidFill>
                <a:latin typeface="Georgia"/>
              </a:rPr>
              <a:t>3</a:t>
            </a:r>
          </a:p>
        </p:txBody>
      </p:sp>
      <p:sp>
        <p:nvSpPr>
          <p:cNvPr id="14" name="TextBox 13"/>
          <p:cNvSpPr txBox="1"/>
          <p:nvPr/>
        </p:nvSpPr>
        <p:spPr>
          <a:xfrm>
            <a:off x="5010912"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KABUPATEN</a:t>
            </a:r>
          </a:p>
        </p:txBody>
      </p:sp>
      <p:sp>
        <p:nvSpPr>
          <p:cNvPr id="15" name="TextBox 14"/>
          <p:cNvSpPr txBox="1"/>
          <p:nvPr/>
        </p:nvSpPr>
        <p:spPr>
          <a:xfrm>
            <a:off x="7187183" y="3154680"/>
            <a:ext cx="2057400" cy="566928"/>
          </a:xfrm>
          <a:prstGeom prst="rect">
            <a:avLst/>
          </a:prstGeom>
          <a:noFill/>
        </p:spPr>
        <p:txBody>
          <a:bodyPr wrap="square" lIns="0" rIns="0" tIns="0" bIns="0">
            <a:spAutoFit/>
          </a:bodyPr>
          <a:lstStyle/>
          <a:p>
            <a:pPr algn="l"/>
            <a:r>
              <a:rPr sz="3200" b="1">
                <a:solidFill>
                  <a:srgbClr val="1F4034"/>
                </a:solidFill>
                <a:latin typeface="Georgia"/>
              </a:rPr>
              <a:t>±600 ha</a:t>
            </a:r>
          </a:p>
        </p:txBody>
      </p:sp>
      <p:sp>
        <p:nvSpPr>
          <p:cNvPr id="16" name="TextBox 15"/>
          <p:cNvSpPr txBox="1"/>
          <p:nvPr/>
        </p:nvSpPr>
        <p:spPr>
          <a:xfrm>
            <a:off x="7187183"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LAHAN BINAAN</a:t>
            </a:r>
          </a:p>
        </p:txBody>
      </p:sp>
      <p:sp>
        <p:nvSpPr>
          <p:cNvPr id="17" name="TextBox 16"/>
          <p:cNvSpPr txBox="1"/>
          <p:nvPr/>
        </p:nvSpPr>
        <p:spPr>
          <a:xfrm>
            <a:off x="9363456" y="3154680"/>
            <a:ext cx="2057400" cy="566928"/>
          </a:xfrm>
          <a:prstGeom prst="rect">
            <a:avLst/>
          </a:prstGeom>
          <a:noFill/>
        </p:spPr>
        <p:txBody>
          <a:bodyPr wrap="square" lIns="0" rIns="0" tIns="0" bIns="0">
            <a:spAutoFit/>
          </a:bodyPr>
          <a:lstStyle/>
          <a:p>
            <a:pPr algn="l"/>
            <a:r>
              <a:rPr sz="3200" b="1">
                <a:solidFill>
                  <a:srgbClr val="1F4034"/>
                </a:solidFill>
                <a:latin typeface="Georgia"/>
              </a:rPr>
              <a:t>2.000 ton</a:t>
            </a:r>
          </a:p>
        </p:txBody>
      </p:sp>
      <p:sp>
        <p:nvSpPr>
          <p:cNvPr id="18" name="TextBox 17"/>
          <p:cNvSpPr txBox="1"/>
          <p:nvPr/>
        </p:nvSpPr>
        <p:spPr>
          <a:xfrm>
            <a:off x="9363456"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GUDANG</a:t>
            </a:r>
          </a:p>
        </p:txBody>
      </p:sp>
      <p:sp>
        <p:nvSpPr>
          <p:cNvPr id="19" name="Rectangle 18"/>
          <p:cNvSpPr/>
          <p:nvPr/>
        </p:nvSpPr>
        <p:spPr>
          <a:xfrm>
            <a:off x="658368" y="416052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4224528"/>
            <a:ext cx="27432" cy="146304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4224528"/>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Tercatat, bukan diperkirakan</a:t>
            </a:r>
          </a:p>
        </p:txBody>
      </p:sp>
      <p:sp>
        <p:nvSpPr>
          <p:cNvPr id="22" name="TextBox 21"/>
          <p:cNvSpPr txBox="1"/>
          <p:nvPr/>
        </p:nvSpPr>
        <p:spPr>
          <a:xfrm>
            <a:off x="877824" y="4992624"/>
            <a:ext cx="3090672" cy="694944"/>
          </a:xfrm>
          <a:prstGeom prst="rect">
            <a:avLst/>
          </a:prstGeom>
          <a:noFill/>
        </p:spPr>
        <p:txBody>
          <a:bodyPr wrap="square" lIns="0" rIns="0" tIns="0" bIns="0">
            <a:spAutoFit/>
          </a:bodyPr>
          <a:lstStyle/>
          <a:p>
            <a:pPr algn="l">
              <a:lnSpc>
                <a:spcPct val="132000"/>
              </a:lnSpc>
            </a:pPr>
            <a:r>
              <a:rPr sz="1600" b="0">
                <a:solidFill>
                  <a:srgbClr val="3D4A43"/>
                </a:solidFill>
                <a:latin typeface="Segoe UI"/>
              </a:rPr>
              <a:t>Tiap petani punya rekaman identitas dan titik kebun.</a:t>
            </a:r>
          </a:p>
        </p:txBody>
      </p:sp>
      <p:sp>
        <p:nvSpPr>
          <p:cNvPr id="23" name="Rectangle 22"/>
          <p:cNvSpPr/>
          <p:nvPr/>
        </p:nvSpPr>
        <p:spPr>
          <a:xfrm>
            <a:off x="4270248" y="4224528"/>
            <a:ext cx="27432" cy="146304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9704" y="4224528"/>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Menetap, bukan berkunjung</a:t>
            </a:r>
          </a:p>
        </p:txBody>
      </p:sp>
      <p:sp>
        <p:nvSpPr>
          <p:cNvPr id="25" name="TextBox 24"/>
          <p:cNvSpPr txBox="1"/>
          <p:nvPr/>
        </p:nvSpPr>
        <p:spPr>
          <a:xfrm>
            <a:off x="4489704" y="4992624"/>
            <a:ext cx="3090672" cy="694944"/>
          </a:xfrm>
          <a:prstGeom prst="rect">
            <a:avLst/>
          </a:prstGeom>
          <a:noFill/>
        </p:spPr>
        <p:txBody>
          <a:bodyPr wrap="square" lIns="0" rIns="0" tIns="0" bIns="0">
            <a:spAutoFit/>
          </a:bodyPr>
          <a:lstStyle/>
          <a:p>
            <a:pPr algn="l">
              <a:lnSpc>
                <a:spcPct val="132000"/>
              </a:lnSpc>
            </a:pPr>
            <a:r>
              <a:rPr sz="1600" b="0">
                <a:solidFill>
                  <a:srgbClr val="3D4A43"/>
                </a:solidFill>
                <a:latin typeface="Segoe UI"/>
              </a:rPr>
              <a:t>Lima belas staf tinggal di Lampung.</a:t>
            </a:r>
          </a:p>
        </p:txBody>
      </p:sp>
      <p:sp>
        <p:nvSpPr>
          <p:cNvPr id="26" name="Rectangle 25"/>
          <p:cNvSpPr/>
          <p:nvPr/>
        </p:nvSpPr>
        <p:spPr>
          <a:xfrm>
            <a:off x="7882128" y="4224528"/>
            <a:ext cx="27432" cy="146304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01584" y="4224528"/>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Kami membeli, bukan hanya membina</a:t>
            </a:r>
          </a:p>
        </p:txBody>
      </p:sp>
      <p:sp>
        <p:nvSpPr>
          <p:cNvPr id="28" name="TextBox 27"/>
          <p:cNvSpPr txBox="1"/>
          <p:nvPr/>
        </p:nvSpPr>
        <p:spPr>
          <a:xfrm>
            <a:off x="8101584" y="4992624"/>
            <a:ext cx="3090672" cy="694944"/>
          </a:xfrm>
          <a:prstGeom prst="rect">
            <a:avLst/>
          </a:prstGeom>
          <a:noFill/>
        </p:spPr>
        <p:txBody>
          <a:bodyPr wrap="square" lIns="0" rIns="0" tIns="0" bIns="0">
            <a:spAutoFit/>
          </a:bodyPr>
          <a:lstStyle/>
          <a:p>
            <a:pPr algn="l">
              <a:lnSpc>
                <a:spcPct val="132000"/>
              </a:lnSpc>
            </a:pPr>
            <a:r>
              <a:rPr sz="1600" b="0">
                <a:solidFill>
                  <a:srgbClr val="3D4A43"/>
                </a:solidFill>
                <a:latin typeface="Segoe UI"/>
              </a:rPr>
              <a:t>Hubungan dengan petani tak berhenti saat program usai.</a:t>
            </a:r>
          </a:p>
        </p:txBody>
      </p:sp>
      <p:sp>
        <p:nvSpPr>
          <p:cNvPr id="29" name="TextBox 28"/>
          <p:cNvSpPr txBox="1"/>
          <p:nvPr/>
        </p:nvSpPr>
        <p:spPr>
          <a:xfrm>
            <a:off x="658368" y="5852160"/>
            <a:ext cx="5852160" cy="237744"/>
          </a:xfrm>
          <a:prstGeom prst="rect">
            <a:avLst/>
          </a:prstGeom>
          <a:noFill/>
        </p:spPr>
        <p:txBody>
          <a:bodyPr wrap="square" lIns="0" rIns="0" tIns="0" bIns="0">
            <a:spAutoFit/>
          </a:bodyPr>
          <a:lstStyle/>
          <a:p>
            <a:pPr algn="l"/>
            <a:r>
              <a:rPr sz="1300" b="1" spc="80">
                <a:solidFill>
                  <a:srgbClr val="9A7526"/>
                </a:solidFill>
                <a:latin typeface="Segoe UI"/>
              </a:rPr>
              <a:t>Pesawaran · Tanggamus · Lampung Barat</a:t>
            </a:r>
          </a:p>
        </p:txBody>
      </p:sp>
      <p:sp>
        <p:nvSpPr>
          <p:cNvPr id="30" name="TextBox 29"/>
          <p:cNvSpPr txBox="1"/>
          <p:nvPr/>
        </p:nvSpPr>
        <p:spPr>
          <a:xfrm>
            <a:off x="6967728" y="5870448"/>
            <a:ext cx="4572000" cy="237744"/>
          </a:xfrm>
          <a:prstGeom prst="rect">
            <a:avLst/>
          </a:prstGeom>
          <a:noFill/>
        </p:spPr>
        <p:txBody>
          <a:bodyPr wrap="square" lIns="0" rIns="0" tIns="0" bIns="0">
            <a:spAutoFit/>
          </a:bodyPr>
          <a:lstStyle/>
          <a:p>
            <a:pPr algn="l"/>
            <a:r>
              <a:rPr sz="1100" b="0">
                <a:solidFill>
                  <a:srgbClr val="6C7A72"/>
                </a:solidFill>
                <a:latin typeface="Segoe UI"/>
              </a:rPr>
              <a:t>Luas binaan diperkirakan pada rata-rata 0,5 ha per petani.</a:t>
            </a:r>
          </a:p>
        </p:txBody>
      </p:sp>
      <p:sp>
        <p:nvSpPr>
          <p:cNvPr id="31" name="TextBox 30"/>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32" name="TextBox 31"/>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04   PRAKTIK HIJAU</a:t>
            </a:r>
          </a:p>
        </p:txBody>
      </p:sp>
      <p:sp>
        <p:nvSpPr>
          <p:cNvPr id="4" name="TextBox 3"/>
          <p:cNvSpPr txBox="1"/>
          <p:nvPr/>
        </p:nvSpPr>
        <p:spPr>
          <a:xfrm>
            <a:off x="7690104" y="566928"/>
            <a:ext cx="3840480" cy="274320"/>
          </a:xfrm>
          <a:prstGeom prst="rect">
            <a:avLst/>
          </a:prstGeom>
          <a:noFill/>
        </p:spPr>
        <p:txBody>
          <a:bodyPr wrap="square" lIns="0" rIns="0" tIns="0" bIns="0">
            <a:spAutoFit/>
          </a:bodyPr>
          <a:lstStyle/>
          <a:p>
            <a:pPr algn="r"/>
            <a:r>
              <a:rPr sz="1100" b="1" spc="120">
                <a:solidFill>
                  <a:srgbClr val="1F4034"/>
                </a:solidFill>
                <a:latin typeface="Segoe UI"/>
              </a:rPr>
              <a:t>GO GREEN</a:t>
            </a:r>
          </a:p>
        </p:txBody>
      </p:sp>
      <p:sp>
        <p:nvSpPr>
          <p:cNvPr id="5" name="Rectangle 4"/>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Sisa panen kembali ke tanah.</a:t>
            </a:r>
          </a:p>
        </p:txBody>
      </p:sp>
      <p:sp>
        <p:nvSpPr>
          <p:cNvPr id="8" name="TextBox 7"/>
          <p:cNvSpPr txBox="1"/>
          <p:nvPr/>
        </p:nvSpPr>
        <p:spPr>
          <a:xfrm>
            <a:off x="658368" y="2359152"/>
            <a:ext cx="5852160" cy="1280160"/>
          </a:xfrm>
          <a:prstGeom prst="rect">
            <a:avLst/>
          </a:prstGeom>
          <a:noFill/>
        </p:spPr>
        <p:txBody>
          <a:bodyPr wrap="square" lIns="0" rIns="0" tIns="0" bIns="0">
            <a:spAutoFit/>
          </a:bodyPr>
          <a:lstStyle/>
          <a:p>
            <a:pPr algn="l">
              <a:lnSpc>
                <a:spcPct val="138000"/>
              </a:lnSpc>
            </a:pPr>
            <a:r>
              <a:rPr sz="1600" b="0">
                <a:solidFill>
                  <a:srgbClr val="3D4A43"/>
                </a:solidFill>
                <a:latin typeface="Segoe UI"/>
              </a:rPr>
              <a:t>Tanaman kami tumbuh berlapis bersama pohon naungan, di atas lahan yang sedang dipulihkan, bukan lahan yang dibuka baru.</a:t>
            </a:r>
          </a:p>
        </p:txBody>
      </p:sp>
      <p:sp>
        <p:nvSpPr>
          <p:cNvPr id="9" name="Rectangle 8"/>
          <p:cNvSpPr/>
          <p:nvPr/>
        </p:nvSpPr>
        <p:spPr>
          <a:xfrm>
            <a:off x="658368" y="3246120"/>
            <a:ext cx="27432" cy="14173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246120"/>
            <a:ext cx="5632704"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Pengomposan berjalan</a:t>
            </a:r>
          </a:p>
        </p:txBody>
      </p:sp>
      <p:sp>
        <p:nvSpPr>
          <p:cNvPr id="11" name="TextBox 10"/>
          <p:cNvSpPr txBox="1"/>
          <p:nvPr/>
        </p:nvSpPr>
        <p:spPr>
          <a:xfrm>
            <a:off x="877824" y="4014215"/>
            <a:ext cx="5632704" cy="649224"/>
          </a:xfrm>
          <a:prstGeom prst="rect">
            <a:avLst/>
          </a:prstGeom>
          <a:noFill/>
        </p:spPr>
        <p:txBody>
          <a:bodyPr wrap="square" lIns="0" rIns="0" tIns="0" bIns="0">
            <a:spAutoFit/>
          </a:bodyPr>
          <a:lstStyle/>
          <a:p>
            <a:pPr algn="l">
              <a:lnSpc>
                <a:spcPct val="132000"/>
              </a:lnSpc>
            </a:pPr>
            <a:r>
              <a:rPr sz="1600" b="0">
                <a:solidFill>
                  <a:srgbClr val="3D4A43"/>
                </a:solidFill>
                <a:latin typeface="Segoe UI"/>
              </a:rPr>
              <a:t>Unit di LKC dan Taman Sari, ditambah dua unit komunal di Ulu Belu. Petani dilatih membuat kompos sendiri.</a:t>
            </a:r>
          </a:p>
        </p:txBody>
      </p:sp>
      <p:sp>
        <p:nvSpPr>
          <p:cNvPr id="12" name="Rectangle 11"/>
          <p:cNvSpPr/>
          <p:nvPr/>
        </p:nvSpPr>
        <p:spPr>
          <a:xfrm>
            <a:off x="658368" y="4754879"/>
            <a:ext cx="27432" cy="14173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4754879"/>
            <a:ext cx="5632704"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Lahan pulih, bukan lahan baru</a:t>
            </a:r>
          </a:p>
        </p:txBody>
      </p:sp>
      <p:sp>
        <p:nvSpPr>
          <p:cNvPr id="14" name="TextBox 13"/>
          <p:cNvSpPr txBox="1"/>
          <p:nvPr/>
        </p:nvSpPr>
        <p:spPr>
          <a:xfrm>
            <a:off x="877824" y="5522975"/>
            <a:ext cx="5632704" cy="649224"/>
          </a:xfrm>
          <a:prstGeom prst="rect">
            <a:avLst/>
          </a:prstGeom>
          <a:noFill/>
        </p:spPr>
        <p:txBody>
          <a:bodyPr wrap="square" lIns="0" rIns="0" tIns="0" bIns="0">
            <a:spAutoFit/>
          </a:bodyPr>
          <a:lstStyle/>
          <a:p>
            <a:pPr algn="l">
              <a:lnSpc>
                <a:spcPct val="132000"/>
              </a:lnSpc>
            </a:pPr>
            <a:r>
              <a:rPr sz="1600" b="0">
                <a:solidFill>
                  <a:srgbClr val="3D4A43"/>
                </a:solidFill>
                <a:latin typeface="Segoe UI"/>
              </a:rPr>
              <a:t>Pertumbuhan diisi dengan memulihkan lahan rusak, bukan dengan membuka hutan.</a:t>
            </a:r>
          </a:p>
        </p:txBody>
      </p:sp>
      <p:sp>
        <p:nvSpPr>
          <p:cNvPr id="15" name="TextBox 14"/>
          <p:cNvSpPr txBox="1"/>
          <p:nvPr/>
        </p:nvSpPr>
        <p:spPr>
          <a:xfrm>
            <a:off x="6903720" y="2359152"/>
            <a:ext cx="2194560" cy="566928"/>
          </a:xfrm>
          <a:prstGeom prst="rect">
            <a:avLst/>
          </a:prstGeom>
          <a:noFill/>
        </p:spPr>
        <p:txBody>
          <a:bodyPr wrap="square" lIns="0" rIns="0" tIns="0" bIns="0">
            <a:spAutoFit/>
          </a:bodyPr>
          <a:lstStyle/>
          <a:p>
            <a:pPr algn="l"/>
            <a:r>
              <a:rPr sz="3200" b="1">
                <a:solidFill>
                  <a:srgbClr val="1F4034"/>
                </a:solidFill>
                <a:latin typeface="Georgia"/>
              </a:rPr>
              <a:t>10+ ton</a:t>
            </a:r>
          </a:p>
        </p:txBody>
      </p:sp>
      <p:sp>
        <p:nvSpPr>
          <p:cNvPr id="16" name="TextBox 15"/>
          <p:cNvSpPr txBox="1"/>
          <p:nvPr/>
        </p:nvSpPr>
        <p:spPr>
          <a:xfrm>
            <a:off x="6903720" y="2926080"/>
            <a:ext cx="2194560" cy="274320"/>
          </a:xfrm>
          <a:prstGeom prst="rect">
            <a:avLst/>
          </a:prstGeom>
          <a:noFill/>
        </p:spPr>
        <p:txBody>
          <a:bodyPr wrap="square" lIns="0" rIns="0" tIns="0" bIns="0">
            <a:spAutoFit/>
          </a:bodyPr>
          <a:lstStyle/>
          <a:p>
            <a:pPr algn="l"/>
            <a:r>
              <a:rPr sz="1100" b="0" spc="100">
                <a:solidFill>
                  <a:srgbClr val="6C7A72"/>
                </a:solidFill>
                <a:latin typeface="Segoe UI"/>
              </a:rPr>
              <a:t>KOMPOS TERSALUR</a:t>
            </a:r>
          </a:p>
        </p:txBody>
      </p:sp>
      <p:sp>
        <p:nvSpPr>
          <p:cNvPr id="17" name="TextBox 16"/>
          <p:cNvSpPr txBox="1"/>
          <p:nvPr/>
        </p:nvSpPr>
        <p:spPr>
          <a:xfrm>
            <a:off x="9326880" y="2359152"/>
            <a:ext cx="2194560" cy="566928"/>
          </a:xfrm>
          <a:prstGeom prst="rect">
            <a:avLst/>
          </a:prstGeom>
          <a:noFill/>
        </p:spPr>
        <p:txBody>
          <a:bodyPr wrap="square" lIns="0" rIns="0" tIns="0" bIns="0">
            <a:spAutoFit/>
          </a:bodyPr>
          <a:lstStyle/>
          <a:p>
            <a:pPr algn="l"/>
            <a:r>
              <a:rPr sz="3200" b="1">
                <a:solidFill>
                  <a:srgbClr val="1F4034"/>
                </a:solidFill>
                <a:latin typeface="Georgia"/>
              </a:rPr>
              <a:t>4</a:t>
            </a:r>
          </a:p>
        </p:txBody>
      </p:sp>
      <p:sp>
        <p:nvSpPr>
          <p:cNvPr id="18" name="TextBox 17"/>
          <p:cNvSpPr txBox="1"/>
          <p:nvPr/>
        </p:nvSpPr>
        <p:spPr>
          <a:xfrm>
            <a:off x="9326880" y="2926080"/>
            <a:ext cx="2194560" cy="274320"/>
          </a:xfrm>
          <a:prstGeom prst="rect">
            <a:avLst/>
          </a:prstGeom>
          <a:noFill/>
        </p:spPr>
        <p:txBody>
          <a:bodyPr wrap="square" lIns="0" rIns="0" tIns="0" bIns="0">
            <a:spAutoFit/>
          </a:bodyPr>
          <a:lstStyle/>
          <a:p>
            <a:pPr algn="l"/>
            <a:r>
              <a:rPr sz="1100" b="0" spc="100">
                <a:solidFill>
                  <a:srgbClr val="6C7A72"/>
                </a:solidFill>
                <a:latin typeface="Segoe UI"/>
              </a:rPr>
              <a:t>UNIT KOMPOS</a:t>
            </a:r>
          </a:p>
        </p:txBody>
      </p:sp>
      <p:pic>
        <p:nvPicPr>
          <p:cNvPr id="19" name="Picture 18" descr="visit_agroforestry_plot.jpg"/>
          <p:cNvPicPr>
            <a:picLocks noChangeAspect="1"/>
          </p:cNvPicPr>
          <p:nvPr/>
        </p:nvPicPr>
        <p:blipFill>
          <a:blip r:embed="rId2"/>
          <a:srcRect t="3015" b="3015"/>
          <a:stretch>
            <a:fillRect/>
          </a:stretch>
        </p:blipFill>
        <p:spPr>
          <a:xfrm>
            <a:off x="6903720" y="3474720"/>
            <a:ext cx="4626864" cy="2450592"/>
          </a:xfrm>
          <a:prstGeom prst="rect">
            <a:avLst/>
          </a:prstGeom>
        </p:spPr>
      </p:pic>
      <p:sp>
        <p:nvSpPr>
          <p:cNvPr id="20" name="Rectangle 19"/>
          <p:cNvSpPr/>
          <p:nvPr/>
        </p:nvSpPr>
        <p:spPr>
          <a:xfrm>
            <a:off x="6903720" y="5650992"/>
            <a:ext cx="462686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3448" y="5701284"/>
            <a:ext cx="4407407" cy="201168"/>
          </a:xfrm>
          <a:prstGeom prst="rect">
            <a:avLst/>
          </a:prstGeom>
          <a:noFill/>
        </p:spPr>
        <p:txBody>
          <a:bodyPr wrap="square" lIns="0" rIns="0" tIns="0" bIns="0">
            <a:spAutoFit/>
          </a:bodyPr>
          <a:lstStyle/>
          <a:p>
            <a:pPr algn="l"/>
            <a:r>
              <a:rPr sz="1100" b="1" spc="90">
                <a:solidFill>
                  <a:srgbClr val="FFFFFF"/>
                </a:solidFill>
                <a:latin typeface="Segoe UI"/>
              </a:rPr>
              <a:t>KEBUN AGROFORESTRI BERLAPIS</a:t>
            </a:r>
          </a:p>
        </p:txBody>
      </p:sp>
      <p:sp>
        <p:nvSpPr>
          <p:cNvPr id="22" name="TextBox 21"/>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23" name="TextBox 22"/>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05   PASAR DAN EKSPOR</a:t>
            </a:r>
          </a:p>
        </p:txBody>
      </p:sp>
      <p:sp>
        <p:nvSpPr>
          <p:cNvPr id="4" name="TextBox 3"/>
          <p:cNvSpPr txBox="1"/>
          <p:nvPr/>
        </p:nvSpPr>
        <p:spPr>
          <a:xfrm>
            <a:off x="7690104" y="566928"/>
            <a:ext cx="3840480" cy="274320"/>
          </a:xfrm>
          <a:prstGeom prst="rect">
            <a:avLst/>
          </a:prstGeom>
          <a:noFill/>
        </p:spPr>
        <p:txBody>
          <a:bodyPr wrap="square" lIns="0" rIns="0" tIns="0" bIns="0">
            <a:spAutoFit/>
          </a:bodyPr>
          <a:lstStyle/>
          <a:p>
            <a:pPr algn="r"/>
            <a:r>
              <a:rPr sz="1100" b="1" spc="120">
                <a:solidFill>
                  <a:srgbClr val="1F4034"/>
                </a:solidFill>
                <a:latin typeface="Segoe UI"/>
              </a:rPr>
              <a:t>GO GLOBAL</a:t>
            </a:r>
          </a:p>
        </p:txBody>
      </p:sp>
      <p:sp>
        <p:nvSpPr>
          <p:cNvPr id="5" name="Rectangle 4"/>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Sudah mengekspor ke Belanda.</a:t>
            </a:r>
          </a:p>
        </p:txBody>
      </p:sp>
      <p:sp>
        <p:nvSpPr>
          <p:cNvPr id="8" name="TextBox 7"/>
          <p:cNvSpPr txBox="1"/>
          <p:nvPr/>
        </p:nvSpPr>
        <p:spPr>
          <a:xfrm>
            <a:off x="658368" y="2359152"/>
            <a:ext cx="10424160" cy="731520"/>
          </a:xfrm>
          <a:prstGeom prst="rect">
            <a:avLst/>
          </a:prstGeom>
          <a:noFill/>
        </p:spPr>
        <p:txBody>
          <a:bodyPr wrap="square" lIns="0" rIns="0" tIns="0" bIns="0">
            <a:spAutoFit/>
          </a:bodyPr>
          <a:lstStyle/>
          <a:p>
            <a:pPr algn="l">
              <a:lnSpc>
                <a:spcPct val="138000"/>
              </a:lnSpc>
            </a:pPr>
            <a:r>
              <a:rPr sz="1600" b="0">
                <a:solidFill>
                  <a:srgbClr val="3D4A43"/>
                </a:solidFill>
                <a:latin typeface="Segoe UI"/>
              </a:rPr>
              <a:t>Pembeli utama kami adalah Verstegen Spices and Sauces dari Belanda, yang membeli lada hitam kami dengan standar mutu Eropa dan mengaudit fasilitas kami.</a:t>
            </a:r>
          </a:p>
        </p:txBody>
      </p:sp>
      <p:sp>
        <p:nvSpPr>
          <p:cNvPr id="9" name="TextBox 8"/>
          <p:cNvSpPr txBox="1"/>
          <p:nvPr/>
        </p:nvSpPr>
        <p:spPr>
          <a:xfrm>
            <a:off x="658368" y="3246120"/>
            <a:ext cx="3383280" cy="566928"/>
          </a:xfrm>
          <a:prstGeom prst="rect">
            <a:avLst/>
          </a:prstGeom>
          <a:noFill/>
        </p:spPr>
        <p:txBody>
          <a:bodyPr wrap="square" lIns="0" rIns="0" tIns="0" bIns="0">
            <a:spAutoFit/>
          </a:bodyPr>
          <a:lstStyle/>
          <a:p>
            <a:pPr algn="l"/>
            <a:r>
              <a:rPr sz="3200" b="1">
                <a:solidFill>
                  <a:srgbClr val="1F4034"/>
                </a:solidFill>
                <a:latin typeface="Georgia"/>
              </a:rPr>
              <a:t>80-100 ton</a:t>
            </a:r>
          </a:p>
        </p:txBody>
      </p:sp>
      <p:sp>
        <p:nvSpPr>
          <p:cNvPr id="10" name="TextBox 9"/>
          <p:cNvSpPr txBox="1"/>
          <p:nvPr/>
        </p:nvSpPr>
        <p:spPr>
          <a:xfrm>
            <a:off x="658368" y="3813048"/>
            <a:ext cx="3383280" cy="274320"/>
          </a:xfrm>
          <a:prstGeom prst="rect">
            <a:avLst/>
          </a:prstGeom>
          <a:noFill/>
        </p:spPr>
        <p:txBody>
          <a:bodyPr wrap="square" lIns="0" rIns="0" tIns="0" bIns="0">
            <a:spAutoFit/>
          </a:bodyPr>
          <a:lstStyle/>
          <a:p>
            <a:pPr algn="l"/>
            <a:r>
              <a:rPr sz="1100" b="0" spc="100">
                <a:solidFill>
                  <a:srgbClr val="6C7A72"/>
                </a:solidFill>
                <a:latin typeface="Segoe UI"/>
              </a:rPr>
              <a:t>LADA DIKONTRAK, 2026</a:t>
            </a:r>
          </a:p>
        </p:txBody>
      </p:sp>
      <p:sp>
        <p:nvSpPr>
          <p:cNvPr id="11" name="TextBox 10"/>
          <p:cNvSpPr txBox="1"/>
          <p:nvPr/>
        </p:nvSpPr>
        <p:spPr>
          <a:xfrm>
            <a:off x="4270248" y="3246120"/>
            <a:ext cx="3383280" cy="566928"/>
          </a:xfrm>
          <a:prstGeom prst="rect">
            <a:avLst/>
          </a:prstGeom>
          <a:noFill/>
        </p:spPr>
        <p:txBody>
          <a:bodyPr wrap="square" lIns="0" rIns="0" tIns="0" bIns="0">
            <a:spAutoFit/>
          </a:bodyPr>
          <a:lstStyle/>
          <a:p>
            <a:pPr algn="l"/>
            <a:r>
              <a:rPr sz="3200" b="1">
                <a:solidFill>
                  <a:srgbClr val="1F4034"/>
                </a:solidFill>
                <a:latin typeface="Georgia"/>
              </a:rPr>
              <a:t>300 ton</a:t>
            </a:r>
          </a:p>
        </p:txBody>
      </p:sp>
      <p:sp>
        <p:nvSpPr>
          <p:cNvPr id="12" name="TextBox 11"/>
          <p:cNvSpPr txBox="1"/>
          <p:nvPr/>
        </p:nvSpPr>
        <p:spPr>
          <a:xfrm>
            <a:off x="4270248" y="3813048"/>
            <a:ext cx="3383280" cy="274320"/>
          </a:xfrm>
          <a:prstGeom prst="rect">
            <a:avLst/>
          </a:prstGeom>
          <a:noFill/>
        </p:spPr>
        <p:txBody>
          <a:bodyPr wrap="square" lIns="0" rIns="0" tIns="0" bIns="0">
            <a:spAutoFit/>
          </a:bodyPr>
          <a:lstStyle/>
          <a:p>
            <a:pPr algn="l"/>
            <a:r>
              <a:rPr sz="1100" b="0" spc="100">
                <a:solidFill>
                  <a:srgbClr val="6C7A72"/>
                </a:solidFill>
                <a:latin typeface="Segoe UI"/>
              </a:rPr>
              <a:t>KOPI ROBUSTA PER BULAN</a:t>
            </a:r>
          </a:p>
        </p:txBody>
      </p:sp>
      <p:sp>
        <p:nvSpPr>
          <p:cNvPr id="13" name="TextBox 12"/>
          <p:cNvSpPr txBox="1"/>
          <p:nvPr/>
        </p:nvSpPr>
        <p:spPr>
          <a:xfrm>
            <a:off x="7882128" y="3246120"/>
            <a:ext cx="3383280" cy="566928"/>
          </a:xfrm>
          <a:prstGeom prst="rect">
            <a:avLst/>
          </a:prstGeom>
          <a:noFill/>
        </p:spPr>
        <p:txBody>
          <a:bodyPr wrap="square" lIns="0" rIns="0" tIns="0" bIns="0">
            <a:spAutoFit/>
          </a:bodyPr>
          <a:lstStyle/>
          <a:p>
            <a:pPr algn="l"/>
            <a:r>
              <a:rPr sz="3200" b="1">
                <a:solidFill>
                  <a:srgbClr val="1F4034"/>
                </a:solidFill>
                <a:latin typeface="Georgia"/>
              </a:rPr>
              <a:t>2.000 ton</a:t>
            </a:r>
          </a:p>
        </p:txBody>
      </p:sp>
      <p:sp>
        <p:nvSpPr>
          <p:cNvPr id="14" name="TextBox 13"/>
          <p:cNvSpPr txBox="1"/>
          <p:nvPr/>
        </p:nvSpPr>
        <p:spPr>
          <a:xfrm>
            <a:off x="7882128" y="3813048"/>
            <a:ext cx="3383280" cy="274320"/>
          </a:xfrm>
          <a:prstGeom prst="rect">
            <a:avLst/>
          </a:prstGeom>
          <a:noFill/>
        </p:spPr>
        <p:txBody>
          <a:bodyPr wrap="square" lIns="0" rIns="0" tIns="0" bIns="0">
            <a:spAutoFit/>
          </a:bodyPr>
          <a:lstStyle/>
          <a:p>
            <a:pPr algn="l"/>
            <a:r>
              <a:rPr sz="1100" b="0" spc="100">
                <a:solidFill>
                  <a:srgbClr val="6C7A72"/>
                </a:solidFill>
                <a:latin typeface="Segoe UI"/>
              </a:rPr>
              <a:t>KAPASITAS GUDANG</a:t>
            </a:r>
          </a:p>
        </p:txBody>
      </p:sp>
      <p:sp>
        <p:nvSpPr>
          <p:cNvPr id="15" name="Rectangle 14"/>
          <p:cNvSpPr/>
          <p:nvPr/>
        </p:nvSpPr>
        <p:spPr>
          <a:xfrm>
            <a:off x="658368" y="434340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434840"/>
            <a:ext cx="27432" cy="17830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4434840"/>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Standar yang diaudit pembeli</a:t>
            </a:r>
          </a:p>
        </p:txBody>
      </p:sp>
      <p:sp>
        <p:nvSpPr>
          <p:cNvPr id="18" name="TextBox 17"/>
          <p:cNvSpPr txBox="1"/>
          <p:nvPr/>
        </p:nvSpPr>
        <p:spPr>
          <a:xfrm>
            <a:off x="877824" y="5202936"/>
            <a:ext cx="3090672" cy="1014983"/>
          </a:xfrm>
          <a:prstGeom prst="rect">
            <a:avLst/>
          </a:prstGeom>
          <a:noFill/>
        </p:spPr>
        <p:txBody>
          <a:bodyPr wrap="square" lIns="0" rIns="0" tIns="0" bIns="0">
            <a:spAutoFit/>
          </a:bodyPr>
          <a:lstStyle/>
          <a:p>
            <a:pPr algn="l">
              <a:lnSpc>
                <a:spcPct val="132000"/>
              </a:lnSpc>
            </a:pPr>
            <a:r>
              <a:rPr sz="1600" b="0">
                <a:solidFill>
                  <a:srgbClr val="3D4A43"/>
                </a:solidFill>
                <a:latin typeface="Segoe UI"/>
              </a:rPr>
              <a:t>Gudang dan proses kami diperiksa terhadap syarat pembeli Eropa.</a:t>
            </a:r>
          </a:p>
        </p:txBody>
      </p:sp>
      <p:sp>
        <p:nvSpPr>
          <p:cNvPr id="19" name="Rectangle 18"/>
          <p:cNvSpPr/>
          <p:nvPr/>
        </p:nvSpPr>
        <p:spPr>
          <a:xfrm>
            <a:off x="4270248" y="4434840"/>
            <a:ext cx="27432" cy="17830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4" y="4434840"/>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Kesiapan regulasi Eropa</a:t>
            </a:r>
          </a:p>
        </p:txBody>
      </p:sp>
      <p:sp>
        <p:nvSpPr>
          <p:cNvPr id="21" name="TextBox 20"/>
          <p:cNvSpPr txBox="1"/>
          <p:nvPr/>
        </p:nvSpPr>
        <p:spPr>
          <a:xfrm>
            <a:off x="4489704" y="5202936"/>
            <a:ext cx="3090672" cy="1014983"/>
          </a:xfrm>
          <a:prstGeom prst="rect">
            <a:avLst/>
          </a:prstGeom>
          <a:noFill/>
        </p:spPr>
        <p:txBody>
          <a:bodyPr wrap="square" lIns="0" rIns="0" tIns="0" bIns="0">
            <a:spAutoFit/>
          </a:bodyPr>
          <a:lstStyle/>
          <a:p>
            <a:pPr algn="l">
              <a:lnSpc>
                <a:spcPct val="132000"/>
              </a:lnSpc>
            </a:pPr>
            <a:r>
              <a:rPr sz="1600" b="0">
                <a:solidFill>
                  <a:srgbClr val="3D4A43"/>
                </a:solidFill>
                <a:latin typeface="Segoe UI"/>
              </a:rPr>
              <a:t>Penyiapan uji tuntas deforestasi Uni Eropa sedang berjalan.</a:t>
            </a:r>
          </a:p>
        </p:txBody>
      </p:sp>
      <p:sp>
        <p:nvSpPr>
          <p:cNvPr id="22" name="Rectangle 21"/>
          <p:cNvSpPr/>
          <p:nvPr/>
        </p:nvSpPr>
        <p:spPr>
          <a:xfrm>
            <a:off x="7882128" y="4434840"/>
            <a:ext cx="27432" cy="17830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4" y="4434840"/>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Pasar baru sedang dijajaki</a:t>
            </a:r>
          </a:p>
        </p:txBody>
      </p:sp>
      <p:sp>
        <p:nvSpPr>
          <p:cNvPr id="24" name="TextBox 23"/>
          <p:cNvSpPr txBox="1"/>
          <p:nvPr/>
        </p:nvSpPr>
        <p:spPr>
          <a:xfrm>
            <a:off x="8101584" y="5202936"/>
            <a:ext cx="3090672" cy="1014983"/>
          </a:xfrm>
          <a:prstGeom prst="rect">
            <a:avLst/>
          </a:prstGeom>
          <a:noFill/>
        </p:spPr>
        <p:txBody>
          <a:bodyPr wrap="square" lIns="0" rIns="0" tIns="0" bIns="0">
            <a:spAutoFit/>
          </a:bodyPr>
          <a:lstStyle/>
          <a:p>
            <a:pPr algn="l">
              <a:lnSpc>
                <a:spcPct val="132000"/>
              </a:lnSpc>
            </a:pPr>
            <a:r>
              <a:rPr sz="1600" b="0">
                <a:solidFill>
                  <a:srgbClr val="3D4A43"/>
                </a:solidFill>
                <a:latin typeface="Segoe UI"/>
              </a:rPr>
              <a:t>Penjajakan pembeli Bangladesh berlanjut setelah kunjungan mereka.</a:t>
            </a:r>
          </a:p>
        </p:txBody>
      </p:sp>
      <p:sp>
        <p:nvSpPr>
          <p:cNvPr id="25" name="TextBox 24"/>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26" name="TextBox 25"/>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06   TEKNOLOGI</a:t>
            </a:r>
          </a:p>
        </p:txBody>
      </p:sp>
      <p:sp>
        <p:nvSpPr>
          <p:cNvPr id="4" name="TextBox 3"/>
          <p:cNvSpPr txBox="1"/>
          <p:nvPr/>
        </p:nvSpPr>
        <p:spPr>
          <a:xfrm>
            <a:off x="7690104" y="566928"/>
            <a:ext cx="3840480" cy="274320"/>
          </a:xfrm>
          <a:prstGeom prst="rect">
            <a:avLst/>
          </a:prstGeom>
          <a:noFill/>
        </p:spPr>
        <p:txBody>
          <a:bodyPr wrap="square" lIns="0" rIns="0" tIns="0" bIns="0">
            <a:spAutoFit/>
          </a:bodyPr>
          <a:lstStyle/>
          <a:p>
            <a:pPr algn="r"/>
            <a:r>
              <a:rPr sz="1100" b="1" spc="120">
                <a:solidFill>
                  <a:srgbClr val="1F4034"/>
                </a:solidFill>
                <a:latin typeface="Segoe UI"/>
              </a:rPr>
              <a:t>GO DIGITAL</a:t>
            </a:r>
          </a:p>
        </p:txBody>
      </p:sp>
      <p:sp>
        <p:nvSpPr>
          <p:cNvPr id="5" name="Rectangle 4"/>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TAPAK: tiap lot tertelusur ke kebun.</a:t>
            </a:r>
          </a:p>
        </p:txBody>
      </p:sp>
      <p:sp>
        <p:nvSpPr>
          <p:cNvPr id="8" name="TextBox 7"/>
          <p:cNvSpPr txBox="1"/>
          <p:nvPr/>
        </p:nvSpPr>
        <p:spPr>
          <a:xfrm>
            <a:off x="658368" y="2359152"/>
            <a:ext cx="5852160" cy="310896"/>
          </a:xfrm>
          <a:prstGeom prst="rect">
            <a:avLst/>
          </a:prstGeom>
          <a:noFill/>
        </p:spPr>
        <p:txBody>
          <a:bodyPr wrap="square" lIns="0" rIns="0" tIns="0" bIns="0">
            <a:spAutoFit/>
          </a:bodyPr>
          <a:lstStyle/>
          <a:p>
            <a:pPr algn="l"/>
            <a:r>
              <a:rPr sz="1300" b="1" spc="90">
                <a:solidFill>
                  <a:srgbClr val="9A7526"/>
                </a:solidFill>
                <a:latin typeface="Segoe UI"/>
              </a:rPr>
              <a:t>TRACEABILITY AND ACCOUNTABILITY OF PROFESSIONAL AGRI-KGF</a:t>
            </a:r>
          </a:p>
        </p:txBody>
      </p:sp>
      <p:sp>
        <p:nvSpPr>
          <p:cNvPr id="9" name="TextBox 8"/>
          <p:cNvSpPr txBox="1"/>
          <p:nvPr/>
        </p:nvSpPr>
        <p:spPr>
          <a:xfrm>
            <a:off x="658368" y="2852928"/>
            <a:ext cx="5852160" cy="1371600"/>
          </a:xfrm>
          <a:prstGeom prst="rect">
            <a:avLst/>
          </a:prstGeom>
          <a:noFill/>
        </p:spPr>
        <p:txBody>
          <a:bodyPr wrap="square" lIns="0" rIns="0" tIns="0" bIns="0">
            <a:spAutoFit/>
          </a:bodyPr>
          <a:lstStyle/>
          <a:p>
            <a:pPr algn="l">
              <a:lnSpc>
                <a:spcPct val="138000"/>
              </a:lnSpc>
            </a:pPr>
            <a:r>
              <a:rPr sz="1600" b="0">
                <a:solidFill>
                  <a:srgbClr val="3D4A43"/>
                </a:solidFill>
                <a:latin typeface="Segoe UI"/>
              </a:rPr>
              <a:t>Platform milik kami sendiri, sudah dipakai dalam operasi harian. Setiap pembelian merekam identitas petani, koordinat kebun, volume, bukti pembayaran digital dan pergerakan lot di gudang.</a:t>
            </a:r>
          </a:p>
        </p:txBody>
      </p:sp>
      <p:sp>
        <p:nvSpPr>
          <p:cNvPr id="10" name="TextBox 9"/>
          <p:cNvSpPr txBox="1"/>
          <p:nvPr/>
        </p:nvSpPr>
        <p:spPr>
          <a:xfrm>
            <a:off x="658368" y="4343400"/>
            <a:ext cx="5852160" cy="1371600"/>
          </a:xfrm>
          <a:prstGeom prst="rect">
            <a:avLst/>
          </a:prstGeom>
          <a:noFill/>
        </p:spPr>
        <p:txBody>
          <a:bodyPr wrap="square" lIns="0" rIns="0" tIns="0" bIns="0">
            <a:spAutoFit/>
          </a:bodyPr>
          <a:lstStyle/>
          <a:p>
            <a:pPr algn="l">
              <a:lnSpc>
                <a:spcPct val="138000"/>
              </a:lnSpc>
            </a:pPr>
            <a:r>
              <a:rPr sz="1600" b="0">
                <a:solidFill>
                  <a:srgbClr val="3D4A43"/>
                </a:solidFill>
                <a:latin typeface="Segoe UI"/>
              </a:rPr>
              <a:t>Pembeli yang bertanya satu kontainer berasal dari kebun mana akan mendapat jawaban sampai titik kebun, dan bisa diberi akses untuk memeriksanya sendiri.</a:t>
            </a:r>
          </a:p>
        </p:txBody>
      </p:sp>
      <p:sp>
        <p:nvSpPr>
          <p:cNvPr id="11" name="TextBox 10"/>
          <p:cNvSpPr txBox="1"/>
          <p:nvPr/>
        </p:nvSpPr>
        <p:spPr>
          <a:xfrm>
            <a:off x="658368" y="5760720"/>
            <a:ext cx="5852160" cy="457200"/>
          </a:xfrm>
          <a:prstGeom prst="rect">
            <a:avLst/>
          </a:prstGeom>
          <a:noFill/>
        </p:spPr>
        <p:txBody>
          <a:bodyPr wrap="square" lIns="0" rIns="0" tIns="0" bIns="0">
            <a:spAutoFit/>
          </a:bodyPr>
          <a:lstStyle/>
          <a:p>
            <a:pPr algn="l">
              <a:lnSpc>
                <a:spcPct val="130000"/>
              </a:lnSpc>
            </a:pPr>
            <a:r>
              <a:rPr sz="1600" b="1">
                <a:solidFill>
                  <a:srgbClr val="1F4034"/>
                </a:solidFill>
                <a:latin typeface="Segoe UI"/>
              </a:rPr>
              <a:t>Pencatatan dilakukan saat transaksi terjadi, bukan disusun ulang belakangan.</a:t>
            </a:r>
          </a:p>
        </p:txBody>
      </p:sp>
      <p:sp>
        <p:nvSpPr>
          <p:cNvPr id="12" name="Rectangle 11"/>
          <p:cNvSpPr/>
          <p:nvPr/>
        </p:nvSpPr>
        <p:spPr>
          <a:xfrm>
            <a:off x="6903720" y="2359152"/>
            <a:ext cx="4626864" cy="3566160"/>
          </a:xfrm>
          <a:prstGeom prst="rect">
            <a:avLst/>
          </a:prstGeom>
          <a:solidFill>
            <a:srgbClr val="E7E0CE"/>
          </a:solidFill>
          <a:ln w="9525">
            <a:solidFill>
              <a:srgbClr val="B9C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68312" y="3886200"/>
            <a:ext cx="4297679" cy="512064"/>
          </a:xfrm>
          <a:prstGeom prst="rect">
            <a:avLst/>
          </a:prstGeom>
          <a:noFill/>
        </p:spPr>
        <p:txBody>
          <a:bodyPr wrap="square" lIns="0" rIns="0" tIns="0" bIns="0">
            <a:spAutoFit/>
          </a:bodyPr>
          <a:lstStyle/>
          <a:p>
            <a:pPr algn="ctr"/>
            <a:r>
              <a:rPr sz="1100" b="0" spc="80">
                <a:solidFill>
                  <a:srgbClr val="9A7526"/>
                </a:solidFill>
                <a:latin typeface="Segoe UI"/>
              </a:rPr>
              <a:t>TANGKAPAN LAYAR TAPAK</a:t>
            </a:r>
          </a:p>
        </p:txBody>
      </p:sp>
      <p:sp>
        <p:nvSpPr>
          <p:cNvPr id="14" name="TextBox 13"/>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15" name="TextBox 14"/>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07   PRODUK</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200" b="1">
                <a:solidFill>
                  <a:srgbClr val="141D18"/>
                </a:solidFill>
                <a:latin typeface="Georgia"/>
              </a:rPr>
              <a:t>Enam komoditas dari satu basis pasokan.</a:t>
            </a:r>
          </a:p>
        </p:txBody>
      </p:sp>
      <p:sp>
        <p:nvSpPr>
          <p:cNvPr id="7" name="Rectangle 6"/>
          <p:cNvSpPr/>
          <p:nvPr/>
        </p:nvSpPr>
        <p:spPr>
          <a:xfrm>
            <a:off x="658368" y="2377440"/>
            <a:ext cx="10872216" cy="36576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468880"/>
            <a:ext cx="3675887" cy="219456"/>
          </a:xfrm>
          <a:prstGeom prst="rect">
            <a:avLst/>
          </a:prstGeom>
          <a:noFill/>
        </p:spPr>
        <p:txBody>
          <a:bodyPr wrap="square" lIns="0" rIns="0" tIns="0" bIns="0">
            <a:spAutoFit/>
          </a:bodyPr>
          <a:lstStyle/>
          <a:p>
            <a:pPr algn="l"/>
            <a:r>
              <a:rPr sz="1100" b="1" spc="120">
                <a:solidFill>
                  <a:srgbClr val="FFFFFF"/>
                </a:solidFill>
                <a:latin typeface="Segoe UI"/>
              </a:rPr>
              <a:t>PRODUK</a:t>
            </a:r>
          </a:p>
        </p:txBody>
      </p:sp>
      <p:sp>
        <p:nvSpPr>
          <p:cNvPr id="9" name="TextBox 8"/>
          <p:cNvSpPr txBox="1"/>
          <p:nvPr/>
        </p:nvSpPr>
        <p:spPr>
          <a:xfrm>
            <a:off x="4590288" y="2468880"/>
            <a:ext cx="4160520" cy="219456"/>
          </a:xfrm>
          <a:prstGeom prst="rect">
            <a:avLst/>
          </a:prstGeom>
          <a:noFill/>
        </p:spPr>
        <p:txBody>
          <a:bodyPr wrap="square" lIns="0" rIns="0" tIns="0" bIns="0">
            <a:spAutoFit/>
          </a:bodyPr>
          <a:lstStyle/>
          <a:p>
            <a:pPr algn="l"/>
            <a:r>
              <a:rPr sz="1100" b="1" spc="120">
                <a:solidFill>
                  <a:srgbClr val="FFFFFF"/>
                </a:solidFill>
                <a:latin typeface="Segoe UI"/>
              </a:rPr>
              <a:t>MUTU DAN BENTUK</a:t>
            </a:r>
          </a:p>
        </p:txBody>
      </p:sp>
      <p:sp>
        <p:nvSpPr>
          <p:cNvPr id="10" name="TextBox 9"/>
          <p:cNvSpPr txBox="1"/>
          <p:nvPr/>
        </p:nvSpPr>
        <p:spPr>
          <a:xfrm>
            <a:off x="8750808" y="2468880"/>
            <a:ext cx="2779776" cy="219456"/>
          </a:xfrm>
          <a:prstGeom prst="rect">
            <a:avLst/>
          </a:prstGeom>
          <a:noFill/>
        </p:spPr>
        <p:txBody>
          <a:bodyPr wrap="square" lIns="0" rIns="0" tIns="0" bIns="0">
            <a:spAutoFit/>
          </a:bodyPr>
          <a:lstStyle/>
          <a:p>
            <a:pPr algn="l"/>
            <a:r>
              <a:rPr sz="1100" b="1" spc="120">
                <a:solidFill>
                  <a:srgbClr val="FFFFFF"/>
                </a:solidFill>
                <a:latin typeface="Segoe UI"/>
              </a:rPr>
              <a:t>KETERSEDIAAN</a:t>
            </a:r>
          </a:p>
        </p:txBody>
      </p:sp>
      <p:sp>
        <p:nvSpPr>
          <p:cNvPr id="11" name="Rectangle 10"/>
          <p:cNvSpPr/>
          <p:nvPr/>
        </p:nvSpPr>
        <p:spPr>
          <a:xfrm>
            <a:off x="658368" y="2752344"/>
            <a:ext cx="10872216" cy="51206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2816352"/>
            <a:ext cx="3657600" cy="256032"/>
          </a:xfrm>
          <a:prstGeom prst="rect">
            <a:avLst/>
          </a:prstGeom>
          <a:noFill/>
        </p:spPr>
        <p:txBody>
          <a:bodyPr wrap="square" lIns="0" rIns="0" tIns="0" bIns="0">
            <a:spAutoFit/>
          </a:bodyPr>
          <a:lstStyle/>
          <a:p>
            <a:pPr algn="l"/>
            <a:r>
              <a:rPr sz="1600" b="1">
                <a:solidFill>
                  <a:srgbClr val="141D18"/>
                </a:solidFill>
                <a:latin typeface="Segoe UI"/>
              </a:rPr>
              <a:t>Lada hitam, premium</a:t>
            </a:r>
          </a:p>
        </p:txBody>
      </p:sp>
      <p:sp>
        <p:nvSpPr>
          <p:cNvPr id="13" name="TextBox 12"/>
          <p:cNvSpPr txBox="1"/>
          <p:nvPr/>
        </p:nvSpPr>
        <p:spPr>
          <a:xfrm>
            <a:off x="4590288" y="2834640"/>
            <a:ext cx="3886200" cy="237744"/>
          </a:xfrm>
          <a:prstGeom prst="rect">
            <a:avLst/>
          </a:prstGeom>
          <a:noFill/>
        </p:spPr>
        <p:txBody>
          <a:bodyPr wrap="square" lIns="0" rIns="0" tIns="0" bIns="0">
            <a:spAutoFit/>
          </a:bodyPr>
          <a:lstStyle/>
          <a:p>
            <a:pPr algn="l"/>
            <a:r>
              <a:rPr sz="1600" b="0">
                <a:solidFill>
                  <a:srgbClr val="3D4A43"/>
                </a:solidFill>
                <a:latin typeface="Segoe UI"/>
              </a:rPr>
              <a:t>Kepadatan min. 580 g/l</a:t>
            </a:r>
          </a:p>
        </p:txBody>
      </p:sp>
      <p:sp>
        <p:nvSpPr>
          <p:cNvPr id="14" name="TextBox 13"/>
          <p:cNvSpPr txBox="1"/>
          <p:nvPr/>
        </p:nvSpPr>
        <p:spPr>
          <a:xfrm>
            <a:off x="8750808" y="2798064"/>
            <a:ext cx="2779776" cy="219456"/>
          </a:xfrm>
          <a:prstGeom prst="rect">
            <a:avLst/>
          </a:prstGeom>
          <a:noFill/>
        </p:spPr>
        <p:txBody>
          <a:bodyPr wrap="square" lIns="0" rIns="0" tIns="0" bIns="0">
            <a:spAutoFit/>
          </a:bodyPr>
          <a:lstStyle/>
          <a:p>
            <a:pPr algn="l"/>
            <a:r>
              <a:rPr sz="1100" b="1" spc="100">
                <a:solidFill>
                  <a:srgbClr val="9A7526"/>
                </a:solidFill>
                <a:latin typeface="Segoe UI"/>
              </a:rPr>
              <a:t>DIKONTRAK 2026</a:t>
            </a:r>
          </a:p>
        </p:txBody>
      </p:sp>
      <p:sp>
        <p:nvSpPr>
          <p:cNvPr id="15" name="TextBox 14"/>
          <p:cNvSpPr txBox="1"/>
          <p:nvPr/>
        </p:nvSpPr>
        <p:spPr>
          <a:xfrm>
            <a:off x="8750808" y="3017520"/>
            <a:ext cx="2779776" cy="219456"/>
          </a:xfrm>
          <a:prstGeom prst="rect">
            <a:avLst/>
          </a:prstGeom>
          <a:noFill/>
        </p:spPr>
        <p:txBody>
          <a:bodyPr wrap="square" lIns="0" rIns="0" tIns="0" bIns="0">
            <a:spAutoFit/>
          </a:bodyPr>
          <a:lstStyle/>
          <a:p>
            <a:pPr algn="l"/>
            <a:r>
              <a:rPr sz="1100" b="0">
                <a:solidFill>
                  <a:srgbClr val="6C7A72"/>
                </a:solidFill>
                <a:latin typeface="Segoe UI"/>
              </a:rPr>
              <a:t>80-100 ton, Eropa</a:t>
            </a:r>
          </a:p>
        </p:txBody>
      </p:sp>
      <p:sp>
        <p:nvSpPr>
          <p:cNvPr id="16" name="TextBox 15"/>
          <p:cNvSpPr txBox="1"/>
          <p:nvPr/>
        </p:nvSpPr>
        <p:spPr>
          <a:xfrm>
            <a:off x="859536" y="3328416"/>
            <a:ext cx="3657600" cy="256032"/>
          </a:xfrm>
          <a:prstGeom prst="rect">
            <a:avLst/>
          </a:prstGeom>
          <a:noFill/>
        </p:spPr>
        <p:txBody>
          <a:bodyPr wrap="square" lIns="0" rIns="0" tIns="0" bIns="0">
            <a:spAutoFit/>
          </a:bodyPr>
          <a:lstStyle/>
          <a:p>
            <a:pPr algn="l"/>
            <a:r>
              <a:rPr sz="1600" b="1">
                <a:solidFill>
                  <a:srgbClr val="141D18"/>
                </a:solidFill>
                <a:latin typeface="Segoe UI"/>
              </a:rPr>
              <a:t>Lada hitam, standar</a:t>
            </a:r>
          </a:p>
        </p:txBody>
      </p:sp>
      <p:sp>
        <p:nvSpPr>
          <p:cNvPr id="17" name="TextBox 16"/>
          <p:cNvSpPr txBox="1"/>
          <p:nvPr/>
        </p:nvSpPr>
        <p:spPr>
          <a:xfrm>
            <a:off x="4590288" y="3346704"/>
            <a:ext cx="3886200" cy="237744"/>
          </a:xfrm>
          <a:prstGeom prst="rect">
            <a:avLst/>
          </a:prstGeom>
          <a:noFill/>
        </p:spPr>
        <p:txBody>
          <a:bodyPr wrap="square" lIns="0" rIns="0" tIns="0" bIns="0">
            <a:spAutoFit/>
          </a:bodyPr>
          <a:lstStyle/>
          <a:p>
            <a:pPr algn="l"/>
            <a:r>
              <a:rPr sz="1600" b="0">
                <a:solidFill>
                  <a:srgbClr val="3D4A43"/>
                </a:solidFill>
                <a:latin typeface="Segoe UI"/>
              </a:rPr>
              <a:t>Kepadatan 500 g/l</a:t>
            </a:r>
          </a:p>
        </p:txBody>
      </p:sp>
      <p:sp>
        <p:nvSpPr>
          <p:cNvPr id="18" name="TextBox 17"/>
          <p:cNvSpPr txBox="1"/>
          <p:nvPr/>
        </p:nvSpPr>
        <p:spPr>
          <a:xfrm>
            <a:off x="8750808" y="3310128"/>
            <a:ext cx="2779776" cy="219456"/>
          </a:xfrm>
          <a:prstGeom prst="rect">
            <a:avLst/>
          </a:prstGeom>
          <a:noFill/>
        </p:spPr>
        <p:txBody>
          <a:bodyPr wrap="square" lIns="0" rIns="0" tIns="0" bIns="0">
            <a:spAutoFit/>
          </a:bodyPr>
          <a:lstStyle/>
          <a:p>
            <a:pPr algn="l"/>
            <a:r>
              <a:rPr sz="1100" b="1" spc="100">
                <a:solidFill>
                  <a:srgbClr val="1F4034"/>
                </a:solidFill>
                <a:latin typeface="Segoe UI"/>
              </a:rPr>
              <a:t>TERSEDIA</a:t>
            </a:r>
          </a:p>
        </p:txBody>
      </p:sp>
      <p:sp>
        <p:nvSpPr>
          <p:cNvPr id="19" name="TextBox 18"/>
          <p:cNvSpPr txBox="1"/>
          <p:nvPr/>
        </p:nvSpPr>
        <p:spPr>
          <a:xfrm>
            <a:off x="8750808" y="3529584"/>
            <a:ext cx="2779776" cy="219456"/>
          </a:xfrm>
          <a:prstGeom prst="rect">
            <a:avLst/>
          </a:prstGeom>
          <a:noFill/>
        </p:spPr>
        <p:txBody>
          <a:bodyPr wrap="square" lIns="0" rIns="0" tIns="0" bIns="0">
            <a:spAutoFit/>
          </a:bodyPr>
          <a:lstStyle/>
          <a:p>
            <a:pPr algn="l"/>
            <a:r>
              <a:rPr sz="1100" b="0">
                <a:solidFill>
                  <a:srgbClr val="6C7A72"/>
                </a:solidFill>
                <a:latin typeface="Segoe UI"/>
              </a:rPr>
              <a:t>200 ton per tahun</a:t>
            </a:r>
          </a:p>
        </p:txBody>
      </p:sp>
      <p:sp>
        <p:nvSpPr>
          <p:cNvPr id="20" name="Rectangle 19"/>
          <p:cNvSpPr/>
          <p:nvPr/>
        </p:nvSpPr>
        <p:spPr>
          <a:xfrm>
            <a:off x="658368" y="3776472"/>
            <a:ext cx="10872216" cy="51206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3840479"/>
            <a:ext cx="3657600" cy="256032"/>
          </a:xfrm>
          <a:prstGeom prst="rect">
            <a:avLst/>
          </a:prstGeom>
          <a:noFill/>
        </p:spPr>
        <p:txBody>
          <a:bodyPr wrap="square" lIns="0" rIns="0" tIns="0" bIns="0">
            <a:spAutoFit/>
          </a:bodyPr>
          <a:lstStyle/>
          <a:p>
            <a:pPr algn="l"/>
            <a:r>
              <a:rPr sz="1600" b="1">
                <a:solidFill>
                  <a:srgbClr val="141D18"/>
                </a:solidFill>
                <a:latin typeface="Segoe UI"/>
              </a:rPr>
              <a:t>Kopi robusta</a:t>
            </a:r>
          </a:p>
        </p:txBody>
      </p:sp>
      <p:sp>
        <p:nvSpPr>
          <p:cNvPr id="22" name="TextBox 21"/>
          <p:cNvSpPr txBox="1"/>
          <p:nvPr/>
        </p:nvSpPr>
        <p:spPr>
          <a:xfrm>
            <a:off x="4590288" y="3858768"/>
            <a:ext cx="3886200" cy="237744"/>
          </a:xfrm>
          <a:prstGeom prst="rect">
            <a:avLst/>
          </a:prstGeom>
          <a:noFill/>
        </p:spPr>
        <p:txBody>
          <a:bodyPr wrap="square" lIns="0" rIns="0" tIns="0" bIns="0">
            <a:spAutoFit/>
          </a:bodyPr>
          <a:lstStyle/>
          <a:p>
            <a:pPr algn="l"/>
            <a:r>
              <a:rPr sz="1600" b="0">
                <a:solidFill>
                  <a:srgbClr val="3D4A43"/>
                </a:solidFill>
                <a:latin typeface="Segoe UI"/>
              </a:rPr>
              <a:t>Natural kering, sortir defect 80/120</a:t>
            </a:r>
          </a:p>
        </p:txBody>
      </p:sp>
      <p:sp>
        <p:nvSpPr>
          <p:cNvPr id="23" name="TextBox 22"/>
          <p:cNvSpPr txBox="1"/>
          <p:nvPr/>
        </p:nvSpPr>
        <p:spPr>
          <a:xfrm>
            <a:off x="8750808" y="3822191"/>
            <a:ext cx="2779776" cy="219456"/>
          </a:xfrm>
          <a:prstGeom prst="rect">
            <a:avLst/>
          </a:prstGeom>
          <a:noFill/>
        </p:spPr>
        <p:txBody>
          <a:bodyPr wrap="square" lIns="0" rIns="0" tIns="0" bIns="0">
            <a:spAutoFit/>
          </a:bodyPr>
          <a:lstStyle/>
          <a:p>
            <a:pPr algn="l"/>
            <a:r>
              <a:rPr sz="1100" b="1" spc="100">
                <a:solidFill>
                  <a:srgbClr val="1F4034"/>
                </a:solidFill>
                <a:latin typeface="Segoe UI"/>
              </a:rPr>
              <a:t>TERSEDIA</a:t>
            </a:r>
          </a:p>
        </p:txBody>
      </p:sp>
      <p:sp>
        <p:nvSpPr>
          <p:cNvPr id="24" name="TextBox 23"/>
          <p:cNvSpPr txBox="1"/>
          <p:nvPr/>
        </p:nvSpPr>
        <p:spPr>
          <a:xfrm>
            <a:off x="8750808" y="4041648"/>
            <a:ext cx="2779776" cy="219456"/>
          </a:xfrm>
          <a:prstGeom prst="rect">
            <a:avLst/>
          </a:prstGeom>
          <a:noFill/>
        </p:spPr>
        <p:txBody>
          <a:bodyPr wrap="square" lIns="0" rIns="0" tIns="0" bIns="0">
            <a:spAutoFit/>
          </a:bodyPr>
          <a:lstStyle/>
          <a:p>
            <a:pPr algn="l"/>
            <a:r>
              <a:rPr sz="1100" b="0">
                <a:solidFill>
                  <a:srgbClr val="6C7A72"/>
                </a:solidFill>
                <a:latin typeface="Segoe UI"/>
              </a:rPr>
              <a:t>300 ton per bulan</a:t>
            </a:r>
          </a:p>
        </p:txBody>
      </p:sp>
      <p:sp>
        <p:nvSpPr>
          <p:cNvPr id="25" name="TextBox 24"/>
          <p:cNvSpPr txBox="1"/>
          <p:nvPr/>
        </p:nvSpPr>
        <p:spPr>
          <a:xfrm>
            <a:off x="859536" y="4352544"/>
            <a:ext cx="3657600" cy="256032"/>
          </a:xfrm>
          <a:prstGeom prst="rect">
            <a:avLst/>
          </a:prstGeom>
          <a:noFill/>
        </p:spPr>
        <p:txBody>
          <a:bodyPr wrap="square" lIns="0" rIns="0" tIns="0" bIns="0">
            <a:spAutoFit/>
          </a:bodyPr>
          <a:lstStyle/>
          <a:p>
            <a:pPr algn="l"/>
            <a:r>
              <a:rPr sz="1600" b="1">
                <a:solidFill>
                  <a:srgbClr val="141D18"/>
                </a:solidFill>
                <a:latin typeface="Segoe UI"/>
              </a:rPr>
              <a:t>Kakao</a:t>
            </a:r>
          </a:p>
        </p:txBody>
      </p:sp>
      <p:sp>
        <p:nvSpPr>
          <p:cNvPr id="26" name="TextBox 25"/>
          <p:cNvSpPr txBox="1"/>
          <p:nvPr/>
        </p:nvSpPr>
        <p:spPr>
          <a:xfrm>
            <a:off x="4590288" y="4370832"/>
            <a:ext cx="3886200" cy="237744"/>
          </a:xfrm>
          <a:prstGeom prst="rect">
            <a:avLst/>
          </a:prstGeom>
          <a:noFill/>
        </p:spPr>
        <p:txBody>
          <a:bodyPr wrap="square" lIns="0" rIns="0" tIns="0" bIns="0">
            <a:spAutoFit/>
          </a:bodyPr>
          <a:lstStyle/>
          <a:p>
            <a:pPr algn="l"/>
            <a:r>
              <a:rPr sz="1600" b="0">
                <a:solidFill>
                  <a:srgbClr val="3D4A43"/>
                </a:solidFill>
                <a:latin typeface="Segoe UI"/>
              </a:rPr>
              <a:t>Biji, bubuk dan nib</a:t>
            </a:r>
          </a:p>
        </p:txBody>
      </p:sp>
      <p:sp>
        <p:nvSpPr>
          <p:cNvPr id="27" name="TextBox 26"/>
          <p:cNvSpPr txBox="1"/>
          <p:nvPr/>
        </p:nvSpPr>
        <p:spPr>
          <a:xfrm>
            <a:off x="8750808" y="4334256"/>
            <a:ext cx="2779776" cy="219456"/>
          </a:xfrm>
          <a:prstGeom prst="rect">
            <a:avLst/>
          </a:prstGeom>
          <a:noFill/>
        </p:spPr>
        <p:txBody>
          <a:bodyPr wrap="square" lIns="0" rIns="0" tIns="0" bIns="0">
            <a:spAutoFit/>
          </a:bodyPr>
          <a:lstStyle/>
          <a:p>
            <a:pPr algn="l"/>
            <a:r>
              <a:rPr sz="1100" b="1" spc="100">
                <a:solidFill>
                  <a:srgbClr val="1F4034"/>
                </a:solidFill>
                <a:latin typeface="Segoe UI"/>
              </a:rPr>
              <a:t>TERSEDIA</a:t>
            </a:r>
          </a:p>
        </p:txBody>
      </p:sp>
      <p:sp>
        <p:nvSpPr>
          <p:cNvPr id="28" name="TextBox 27"/>
          <p:cNvSpPr txBox="1"/>
          <p:nvPr/>
        </p:nvSpPr>
        <p:spPr>
          <a:xfrm>
            <a:off x="8750808" y="4553712"/>
            <a:ext cx="2779776" cy="219456"/>
          </a:xfrm>
          <a:prstGeom prst="rect">
            <a:avLst/>
          </a:prstGeom>
          <a:noFill/>
        </p:spPr>
        <p:txBody>
          <a:bodyPr wrap="square" lIns="0" rIns="0" tIns="0" bIns="0">
            <a:spAutoFit/>
          </a:bodyPr>
          <a:lstStyle/>
          <a:p>
            <a:pPr algn="l"/>
            <a:r>
              <a:rPr sz="1100" b="0">
                <a:solidFill>
                  <a:srgbClr val="6C7A72"/>
                </a:solidFill>
                <a:latin typeface="Segoe UI"/>
              </a:rPr>
              <a:t>Diolah sendiri</a:t>
            </a:r>
          </a:p>
        </p:txBody>
      </p:sp>
      <p:sp>
        <p:nvSpPr>
          <p:cNvPr id="29" name="Rectangle 28"/>
          <p:cNvSpPr/>
          <p:nvPr/>
        </p:nvSpPr>
        <p:spPr>
          <a:xfrm>
            <a:off x="658368" y="4800600"/>
            <a:ext cx="10872216" cy="51206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4864608"/>
            <a:ext cx="3657600" cy="256032"/>
          </a:xfrm>
          <a:prstGeom prst="rect">
            <a:avLst/>
          </a:prstGeom>
          <a:noFill/>
        </p:spPr>
        <p:txBody>
          <a:bodyPr wrap="square" lIns="0" rIns="0" tIns="0" bIns="0">
            <a:spAutoFit/>
          </a:bodyPr>
          <a:lstStyle/>
          <a:p>
            <a:pPr algn="l"/>
            <a:r>
              <a:rPr sz="1600" b="1">
                <a:solidFill>
                  <a:srgbClr val="141D18"/>
                </a:solidFill>
                <a:latin typeface="Segoe UI"/>
              </a:rPr>
              <a:t>Cengkih</a:t>
            </a:r>
          </a:p>
        </p:txBody>
      </p:sp>
      <p:sp>
        <p:nvSpPr>
          <p:cNvPr id="31" name="TextBox 30"/>
          <p:cNvSpPr txBox="1"/>
          <p:nvPr/>
        </p:nvSpPr>
        <p:spPr>
          <a:xfrm>
            <a:off x="4590288" y="4882896"/>
            <a:ext cx="3886200" cy="237744"/>
          </a:xfrm>
          <a:prstGeom prst="rect">
            <a:avLst/>
          </a:prstGeom>
          <a:noFill/>
        </p:spPr>
        <p:txBody>
          <a:bodyPr wrap="square" lIns="0" rIns="0" tIns="0" bIns="0">
            <a:spAutoFit/>
          </a:bodyPr>
          <a:lstStyle/>
          <a:p>
            <a:pPr algn="l"/>
            <a:r>
              <a:rPr sz="1600" b="0">
                <a:solidFill>
                  <a:srgbClr val="3D4A43"/>
                </a:solidFill>
                <a:latin typeface="Segoe UI"/>
              </a:rPr>
              <a:t>Kering utuh</a:t>
            </a:r>
          </a:p>
        </p:txBody>
      </p:sp>
      <p:sp>
        <p:nvSpPr>
          <p:cNvPr id="32" name="TextBox 31"/>
          <p:cNvSpPr txBox="1"/>
          <p:nvPr/>
        </p:nvSpPr>
        <p:spPr>
          <a:xfrm>
            <a:off x="8750808" y="4846320"/>
            <a:ext cx="2779776" cy="219456"/>
          </a:xfrm>
          <a:prstGeom prst="rect">
            <a:avLst/>
          </a:prstGeom>
          <a:noFill/>
        </p:spPr>
        <p:txBody>
          <a:bodyPr wrap="square" lIns="0" rIns="0" tIns="0" bIns="0">
            <a:spAutoFit/>
          </a:bodyPr>
          <a:lstStyle/>
          <a:p>
            <a:pPr algn="l"/>
            <a:r>
              <a:rPr sz="1100" b="1" spc="100">
                <a:solidFill>
                  <a:srgbClr val="6C7A72"/>
                </a:solidFill>
                <a:latin typeface="Segoe UI"/>
              </a:rPr>
              <a:t>SESUAI PESANAN</a:t>
            </a:r>
          </a:p>
        </p:txBody>
      </p:sp>
      <p:sp>
        <p:nvSpPr>
          <p:cNvPr id="33" name="TextBox 32"/>
          <p:cNvSpPr txBox="1"/>
          <p:nvPr/>
        </p:nvSpPr>
        <p:spPr>
          <a:xfrm>
            <a:off x="8750808" y="5065776"/>
            <a:ext cx="2779776" cy="219456"/>
          </a:xfrm>
          <a:prstGeom prst="rect">
            <a:avLst/>
          </a:prstGeom>
          <a:noFill/>
        </p:spPr>
        <p:txBody>
          <a:bodyPr wrap="square" lIns="0" rIns="0" tIns="0" bIns="0">
            <a:spAutoFit/>
          </a:bodyPr>
          <a:lstStyle/>
          <a:p>
            <a:pPr algn="l"/>
            <a:r>
              <a:rPr sz="1100" b="0">
                <a:solidFill>
                  <a:srgbClr val="6C7A72"/>
                </a:solidFill>
                <a:latin typeface="Segoe UI"/>
              </a:rPr>
              <a:t>Volume atas permintaan</a:t>
            </a:r>
          </a:p>
        </p:txBody>
      </p:sp>
      <p:sp>
        <p:nvSpPr>
          <p:cNvPr id="34" name="TextBox 33"/>
          <p:cNvSpPr txBox="1"/>
          <p:nvPr/>
        </p:nvSpPr>
        <p:spPr>
          <a:xfrm>
            <a:off x="859536" y="5376672"/>
            <a:ext cx="3657600" cy="256032"/>
          </a:xfrm>
          <a:prstGeom prst="rect">
            <a:avLst/>
          </a:prstGeom>
          <a:noFill/>
        </p:spPr>
        <p:txBody>
          <a:bodyPr wrap="square" lIns="0" rIns="0" tIns="0" bIns="0">
            <a:spAutoFit/>
          </a:bodyPr>
          <a:lstStyle/>
          <a:p>
            <a:pPr algn="l"/>
            <a:r>
              <a:rPr sz="1600" b="1">
                <a:solidFill>
                  <a:srgbClr val="141D18"/>
                </a:solidFill>
                <a:latin typeface="Segoe UI"/>
              </a:rPr>
              <a:t>Cabe jawa, kemukus</a:t>
            </a:r>
          </a:p>
        </p:txBody>
      </p:sp>
      <p:sp>
        <p:nvSpPr>
          <p:cNvPr id="35" name="TextBox 34"/>
          <p:cNvSpPr txBox="1"/>
          <p:nvPr/>
        </p:nvSpPr>
        <p:spPr>
          <a:xfrm>
            <a:off x="4590288" y="5394960"/>
            <a:ext cx="3886200" cy="237744"/>
          </a:xfrm>
          <a:prstGeom prst="rect">
            <a:avLst/>
          </a:prstGeom>
          <a:noFill/>
        </p:spPr>
        <p:txBody>
          <a:bodyPr wrap="square" lIns="0" rIns="0" tIns="0" bIns="0">
            <a:spAutoFit/>
          </a:bodyPr>
          <a:lstStyle/>
          <a:p>
            <a:pPr algn="l"/>
            <a:r>
              <a:rPr sz="1600" b="0">
                <a:solidFill>
                  <a:srgbClr val="3D4A43"/>
                </a:solidFill>
                <a:latin typeface="Segoe UI"/>
              </a:rPr>
              <a:t>Kering utuh, spesialti</a:t>
            </a:r>
          </a:p>
        </p:txBody>
      </p:sp>
      <p:sp>
        <p:nvSpPr>
          <p:cNvPr id="36" name="TextBox 35"/>
          <p:cNvSpPr txBox="1"/>
          <p:nvPr/>
        </p:nvSpPr>
        <p:spPr>
          <a:xfrm>
            <a:off x="8750808" y="5358384"/>
            <a:ext cx="2779776" cy="219456"/>
          </a:xfrm>
          <a:prstGeom prst="rect">
            <a:avLst/>
          </a:prstGeom>
          <a:noFill/>
        </p:spPr>
        <p:txBody>
          <a:bodyPr wrap="square" lIns="0" rIns="0" tIns="0" bIns="0">
            <a:spAutoFit/>
          </a:bodyPr>
          <a:lstStyle/>
          <a:p>
            <a:pPr algn="l"/>
            <a:r>
              <a:rPr sz="1100" b="1" spc="100">
                <a:solidFill>
                  <a:srgbClr val="6C7A72"/>
                </a:solidFill>
                <a:latin typeface="Segoe UI"/>
              </a:rPr>
              <a:t>SESUAI PESANAN</a:t>
            </a:r>
          </a:p>
        </p:txBody>
      </p:sp>
      <p:sp>
        <p:nvSpPr>
          <p:cNvPr id="37" name="TextBox 36"/>
          <p:cNvSpPr txBox="1"/>
          <p:nvPr/>
        </p:nvSpPr>
        <p:spPr>
          <a:xfrm>
            <a:off x="8750808" y="5577840"/>
            <a:ext cx="2779776" cy="219456"/>
          </a:xfrm>
          <a:prstGeom prst="rect">
            <a:avLst/>
          </a:prstGeom>
          <a:noFill/>
        </p:spPr>
        <p:txBody>
          <a:bodyPr wrap="square" lIns="0" rIns="0" tIns="0" bIns="0">
            <a:spAutoFit/>
          </a:bodyPr>
          <a:lstStyle/>
          <a:p>
            <a:pPr algn="l"/>
            <a:r>
              <a:rPr sz="1100" b="0">
                <a:solidFill>
                  <a:srgbClr val="6C7A72"/>
                </a:solidFill>
                <a:latin typeface="Segoe UI"/>
              </a:rPr>
              <a:t>Volume atas permintaan</a:t>
            </a:r>
          </a:p>
        </p:txBody>
      </p:sp>
      <p:sp>
        <p:nvSpPr>
          <p:cNvPr id="38" name="TextBox 37"/>
          <p:cNvSpPr txBox="1"/>
          <p:nvPr/>
        </p:nvSpPr>
        <p:spPr>
          <a:xfrm>
            <a:off x="658368" y="5925312"/>
            <a:ext cx="10424160" cy="274320"/>
          </a:xfrm>
          <a:prstGeom prst="rect">
            <a:avLst/>
          </a:prstGeom>
          <a:noFill/>
        </p:spPr>
        <p:txBody>
          <a:bodyPr wrap="square" lIns="0" rIns="0" tIns="0" bIns="0">
            <a:spAutoFit/>
          </a:bodyPr>
          <a:lstStyle/>
          <a:p>
            <a:pPr algn="l"/>
            <a:r>
              <a:rPr sz="1300" b="0">
                <a:solidFill>
                  <a:srgbClr val="6C7A72"/>
                </a:solidFill>
                <a:latin typeface="Segoe UI"/>
              </a:rPr>
              <a:t>Pengolahan kakao menjadi bubuk dan nib dilakukan di Lampung, bukan dikirim keluar sebagai biji mentah.</a:t>
            </a:r>
          </a:p>
        </p:txBody>
      </p:sp>
      <p:sp>
        <p:nvSpPr>
          <p:cNvPr id="39" name="TextBox 38"/>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40" name="TextBox 39"/>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08   OPERASI</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200" b="1">
                <a:solidFill>
                  <a:srgbClr val="141D18"/>
                </a:solidFill>
                <a:latin typeface="Georgia"/>
              </a:rPr>
              <a:t>Sudah berjalan, bukan rencana.</a:t>
            </a:r>
          </a:p>
        </p:txBody>
      </p:sp>
      <p:pic>
        <p:nvPicPr>
          <p:cNvPr id="7" name="Picture 6" descr="ops_natar_warehouse.jpg"/>
          <p:cNvPicPr>
            <a:picLocks noChangeAspect="1"/>
          </p:cNvPicPr>
          <p:nvPr/>
        </p:nvPicPr>
        <p:blipFill>
          <a:blip r:embed="rId2"/>
          <a:srcRect l="8754" r="8754"/>
          <a:stretch>
            <a:fillRect/>
          </a:stretch>
        </p:blipFill>
        <p:spPr>
          <a:xfrm>
            <a:off x="658368" y="2359152"/>
            <a:ext cx="3529584" cy="1700784"/>
          </a:xfrm>
          <a:prstGeom prst="rect">
            <a:avLst/>
          </a:prstGeom>
        </p:spPr>
      </p:pic>
      <p:sp>
        <p:nvSpPr>
          <p:cNvPr id="8" name="Rectangle 7"/>
          <p:cNvSpPr/>
          <p:nvPr/>
        </p:nvSpPr>
        <p:spPr>
          <a:xfrm>
            <a:off x="658368"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3835908"/>
            <a:ext cx="3310128" cy="201168"/>
          </a:xfrm>
          <a:prstGeom prst="rect">
            <a:avLst/>
          </a:prstGeom>
          <a:noFill/>
        </p:spPr>
        <p:txBody>
          <a:bodyPr wrap="square" lIns="0" rIns="0" tIns="0" bIns="0">
            <a:spAutoFit/>
          </a:bodyPr>
          <a:lstStyle/>
          <a:p>
            <a:pPr algn="l"/>
            <a:r>
              <a:rPr sz="1100" b="1" spc="90">
                <a:solidFill>
                  <a:srgbClr val="FFFFFF"/>
                </a:solidFill>
                <a:latin typeface="Segoe UI"/>
              </a:rPr>
              <a:t>GUDANG NATAR, 2.000 TON</a:t>
            </a:r>
          </a:p>
        </p:txBody>
      </p:sp>
      <p:pic>
        <p:nvPicPr>
          <p:cNvPr id="10" name="Picture 9" descr="ops_cleaning_grading.jpg"/>
          <p:cNvPicPr>
            <a:picLocks noChangeAspect="1"/>
          </p:cNvPicPr>
          <p:nvPr/>
        </p:nvPicPr>
        <p:blipFill>
          <a:blip r:embed="rId3"/>
          <a:srcRect t="6392" b="6392"/>
          <a:stretch>
            <a:fillRect/>
          </a:stretch>
        </p:blipFill>
        <p:spPr>
          <a:xfrm>
            <a:off x="4334255" y="2359152"/>
            <a:ext cx="3529584" cy="1700784"/>
          </a:xfrm>
          <a:prstGeom prst="rect">
            <a:avLst/>
          </a:prstGeom>
        </p:spPr>
      </p:pic>
      <p:sp>
        <p:nvSpPr>
          <p:cNvPr id="11" name="Rectangle 10"/>
          <p:cNvSpPr/>
          <p:nvPr/>
        </p:nvSpPr>
        <p:spPr>
          <a:xfrm>
            <a:off x="4334255"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3" y="3835908"/>
            <a:ext cx="3310128" cy="201168"/>
          </a:xfrm>
          <a:prstGeom prst="rect">
            <a:avLst/>
          </a:prstGeom>
          <a:noFill/>
        </p:spPr>
        <p:txBody>
          <a:bodyPr wrap="square" lIns="0" rIns="0" tIns="0" bIns="0">
            <a:spAutoFit/>
          </a:bodyPr>
          <a:lstStyle/>
          <a:p>
            <a:pPr algn="l"/>
            <a:r>
              <a:rPr sz="1100" b="1" spc="90">
                <a:solidFill>
                  <a:srgbClr val="FFFFFF"/>
                </a:solidFill>
                <a:latin typeface="Segoe UI"/>
              </a:rPr>
              <a:t>LINI PEMBERSIHAN DAN SORTASI</a:t>
            </a:r>
          </a:p>
        </p:txBody>
      </p:sp>
      <p:pic>
        <p:nvPicPr>
          <p:cNvPr id="13" name="Picture 12" descr="ops_quality_control.jpg"/>
          <p:cNvPicPr>
            <a:picLocks noChangeAspect="1"/>
          </p:cNvPicPr>
          <p:nvPr/>
        </p:nvPicPr>
        <p:blipFill>
          <a:blip r:embed="rId4"/>
          <a:srcRect t="30557" b="30557"/>
          <a:stretch>
            <a:fillRect/>
          </a:stretch>
        </p:blipFill>
        <p:spPr>
          <a:xfrm>
            <a:off x="8010144" y="2359152"/>
            <a:ext cx="3529584" cy="1700784"/>
          </a:xfrm>
          <a:prstGeom prst="rect">
            <a:avLst/>
          </a:prstGeom>
        </p:spPr>
      </p:pic>
      <p:sp>
        <p:nvSpPr>
          <p:cNvPr id="14" name="Rectangle 13"/>
          <p:cNvSpPr/>
          <p:nvPr/>
        </p:nvSpPr>
        <p:spPr>
          <a:xfrm>
            <a:off x="8010144"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1" y="3835908"/>
            <a:ext cx="3310128" cy="201168"/>
          </a:xfrm>
          <a:prstGeom prst="rect">
            <a:avLst/>
          </a:prstGeom>
          <a:noFill/>
        </p:spPr>
        <p:txBody>
          <a:bodyPr wrap="square" lIns="0" rIns="0" tIns="0" bIns="0">
            <a:spAutoFit/>
          </a:bodyPr>
          <a:lstStyle/>
          <a:p>
            <a:pPr algn="l"/>
            <a:r>
              <a:rPr sz="1100" b="1" spc="90">
                <a:solidFill>
                  <a:srgbClr val="FFFFFF"/>
                </a:solidFill>
                <a:latin typeface="Segoe UI"/>
              </a:rPr>
              <a:t>KENDALI MUTU</a:t>
            </a:r>
          </a:p>
        </p:txBody>
      </p:sp>
      <p:pic>
        <p:nvPicPr>
          <p:cNvPr id="16" name="Picture 15" descr="ops_cacao_roasting.jpg"/>
          <p:cNvPicPr>
            <a:picLocks noChangeAspect="1"/>
          </p:cNvPicPr>
          <p:nvPr/>
        </p:nvPicPr>
        <p:blipFill>
          <a:blip r:embed="rId5"/>
          <a:srcRect t="30557" b="30557"/>
          <a:stretch>
            <a:fillRect/>
          </a:stretch>
        </p:blipFill>
        <p:spPr>
          <a:xfrm>
            <a:off x="658368" y="4206240"/>
            <a:ext cx="3529584" cy="1700784"/>
          </a:xfrm>
          <a:prstGeom prst="rect">
            <a:avLst/>
          </a:prstGeom>
        </p:spPr>
      </p:pic>
      <p:sp>
        <p:nvSpPr>
          <p:cNvPr id="17" name="Rectangle 16"/>
          <p:cNvSpPr/>
          <p:nvPr/>
        </p:nvSpPr>
        <p:spPr>
          <a:xfrm>
            <a:off x="658368"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682996"/>
            <a:ext cx="3310128" cy="201168"/>
          </a:xfrm>
          <a:prstGeom prst="rect">
            <a:avLst/>
          </a:prstGeom>
          <a:noFill/>
        </p:spPr>
        <p:txBody>
          <a:bodyPr wrap="square" lIns="0" rIns="0" tIns="0" bIns="0">
            <a:spAutoFit/>
          </a:bodyPr>
          <a:lstStyle/>
          <a:p>
            <a:pPr algn="l"/>
            <a:r>
              <a:rPr sz="1100" b="1" spc="90">
                <a:solidFill>
                  <a:srgbClr val="FFFFFF"/>
                </a:solidFill>
                <a:latin typeface="Segoe UI"/>
              </a:rPr>
              <a:t>PENYANGRAIAN KAKAO</a:t>
            </a:r>
          </a:p>
        </p:txBody>
      </p:sp>
      <p:pic>
        <p:nvPicPr>
          <p:cNvPr id="19" name="Picture 18" descr="ops_cacao_winnowing.jpg"/>
          <p:cNvPicPr>
            <a:picLocks noChangeAspect="1"/>
          </p:cNvPicPr>
          <p:nvPr/>
        </p:nvPicPr>
        <p:blipFill>
          <a:blip r:embed="rId6"/>
          <a:srcRect t="6392" b="6392"/>
          <a:stretch>
            <a:fillRect/>
          </a:stretch>
        </p:blipFill>
        <p:spPr>
          <a:xfrm>
            <a:off x="4334255" y="4206240"/>
            <a:ext cx="3529584" cy="1700784"/>
          </a:xfrm>
          <a:prstGeom prst="rect">
            <a:avLst/>
          </a:prstGeom>
        </p:spPr>
      </p:pic>
      <p:sp>
        <p:nvSpPr>
          <p:cNvPr id="20" name="Rectangle 19"/>
          <p:cNvSpPr/>
          <p:nvPr/>
        </p:nvSpPr>
        <p:spPr>
          <a:xfrm>
            <a:off x="4334255"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3983" y="5682996"/>
            <a:ext cx="3310128" cy="201168"/>
          </a:xfrm>
          <a:prstGeom prst="rect">
            <a:avLst/>
          </a:prstGeom>
          <a:noFill/>
        </p:spPr>
        <p:txBody>
          <a:bodyPr wrap="square" lIns="0" rIns="0" tIns="0" bIns="0">
            <a:spAutoFit/>
          </a:bodyPr>
          <a:lstStyle/>
          <a:p>
            <a:pPr algn="l"/>
            <a:r>
              <a:rPr sz="1100" b="1" spc="90">
                <a:solidFill>
                  <a:srgbClr val="FFFFFF"/>
                </a:solidFill>
                <a:latin typeface="Segoe UI"/>
              </a:rPr>
              <a:t>PEMISAHAN KULIT KAKAO</a:t>
            </a:r>
          </a:p>
        </p:txBody>
      </p:sp>
      <p:pic>
        <p:nvPicPr>
          <p:cNvPr id="22" name="Picture 21" descr="ops_field_school.jpg"/>
          <p:cNvPicPr>
            <a:picLocks noChangeAspect="1"/>
          </p:cNvPicPr>
          <p:nvPr/>
        </p:nvPicPr>
        <p:blipFill>
          <a:blip r:embed="rId7"/>
          <a:srcRect t="6392" b="6392"/>
          <a:stretch>
            <a:fillRect/>
          </a:stretch>
        </p:blipFill>
        <p:spPr>
          <a:xfrm>
            <a:off x="8010144" y="4206240"/>
            <a:ext cx="3529584" cy="1700784"/>
          </a:xfrm>
          <a:prstGeom prst="rect">
            <a:avLst/>
          </a:prstGeom>
        </p:spPr>
      </p:pic>
      <p:sp>
        <p:nvSpPr>
          <p:cNvPr id="23" name="Rectangle 22"/>
          <p:cNvSpPr/>
          <p:nvPr/>
        </p:nvSpPr>
        <p:spPr>
          <a:xfrm>
            <a:off x="8010144"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19871" y="5682996"/>
            <a:ext cx="3310128" cy="201168"/>
          </a:xfrm>
          <a:prstGeom prst="rect">
            <a:avLst/>
          </a:prstGeom>
          <a:noFill/>
        </p:spPr>
        <p:txBody>
          <a:bodyPr wrap="square" lIns="0" rIns="0" tIns="0" bIns="0">
            <a:spAutoFit/>
          </a:bodyPr>
          <a:lstStyle/>
          <a:p>
            <a:pPr algn="l"/>
            <a:r>
              <a:rPr sz="1100" b="1" spc="90">
                <a:solidFill>
                  <a:srgbClr val="FFFFFF"/>
                </a:solidFill>
                <a:latin typeface="Segoe UI"/>
              </a:rPr>
              <a:t>SEKOLAH LAPANG</a:t>
            </a:r>
          </a:p>
        </p:txBody>
      </p:sp>
      <p:sp>
        <p:nvSpPr>
          <p:cNvPr id="25" name="TextBox 24"/>
          <p:cNvSpPr txBox="1"/>
          <p:nvPr/>
        </p:nvSpPr>
        <p:spPr>
          <a:xfrm>
            <a:off x="658368" y="6053328"/>
            <a:ext cx="10424160" cy="365760"/>
          </a:xfrm>
          <a:prstGeom prst="rect">
            <a:avLst/>
          </a:prstGeom>
          <a:noFill/>
        </p:spPr>
        <p:txBody>
          <a:bodyPr wrap="square" lIns="0" rIns="0" tIns="0" bIns="0">
            <a:spAutoFit/>
          </a:bodyPr>
          <a:lstStyle/>
          <a:p>
            <a:pPr algn="l"/>
            <a:r>
              <a:rPr sz="1300" b="0" spc="60">
                <a:solidFill>
                  <a:srgbClr val="6C7A72"/>
                </a:solidFill>
                <a:latin typeface="Segoe UI"/>
              </a:rPr>
              <a:t>Gudang Natar: kapasitas 2.000 ton  ·  rumah pengering  ·  mesin ayak  ·  mesin suton  ·  oven</a:t>
            </a:r>
          </a:p>
        </p:txBody>
      </p:sp>
      <p:sp>
        <p:nvSpPr>
          <p:cNvPr id="26" name="TextBox 25"/>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27" name="TextBox 26"/>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09   LEGALITAS DAN KEPATUHAN</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Apa yang sudah, dan apa yang belum.</a:t>
            </a:r>
          </a:p>
        </p:txBody>
      </p:sp>
      <p:sp>
        <p:nvSpPr>
          <p:cNvPr id="7" name="Rectangle 6"/>
          <p:cNvSpPr/>
          <p:nvPr/>
        </p:nvSpPr>
        <p:spPr>
          <a:xfrm>
            <a:off x="658368" y="2340864"/>
            <a:ext cx="10872216" cy="42062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414016"/>
            <a:ext cx="6766560" cy="292608"/>
          </a:xfrm>
          <a:prstGeom prst="rect">
            <a:avLst/>
          </a:prstGeom>
          <a:noFill/>
        </p:spPr>
        <p:txBody>
          <a:bodyPr wrap="square" lIns="0" rIns="0" tIns="0" bIns="0">
            <a:spAutoFit/>
          </a:bodyPr>
          <a:lstStyle/>
          <a:p>
            <a:pPr algn="l"/>
            <a:r>
              <a:rPr sz="1600" b="0">
                <a:solidFill>
                  <a:srgbClr val="141D18"/>
                </a:solidFill>
                <a:latin typeface="Segoe UI"/>
              </a:rPr>
              <a:t>Penelusuran sampai titik kebun</a:t>
            </a:r>
          </a:p>
        </p:txBody>
      </p:sp>
      <p:sp>
        <p:nvSpPr>
          <p:cNvPr id="9" name="TextBox 8"/>
          <p:cNvSpPr txBox="1"/>
          <p:nvPr/>
        </p:nvSpPr>
        <p:spPr>
          <a:xfrm>
            <a:off x="7973568" y="2432304"/>
            <a:ext cx="3383280" cy="274320"/>
          </a:xfrm>
          <a:prstGeom prst="rect">
            <a:avLst/>
          </a:prstGeom>
          <a:noFill/>
        </p:spPr>
        <p:txBody>
          <a:bodyPr wrap="square" lIns="0" rIns="0" tIns="0" bIns="0">
            <a:spAutoFit/>
          </a:bodyPr>
          <a:lstStyle/>
          <a:p>
            <a:pPr algn="l"/>
            <a:r>
              <a:rPr sz="1300" b="1" spc="90">
                <a:solidFill>
                  <a:srgbClr val="1F4034"/>
                </a:solidFill>
                <a:latin typeface="Segoe UI"/>
              </a:rPr>
              <a:t>BERJALAN</a:t>
            </a:r>
          </a:p>
        </p:txBody>
      </p:sp>
      <p:sp>
        <p:nvSpPr>
          <p:cNvPr id="10" name="TextBox 9"/>
          <p:cNvSpPr txBox="1"/>
          <p:nvPr/>
        </p:nvSpPr>
        <p:spPr>
          <a:xfrm>
            <a:off x="859536" y="2862072"/>
            <a:ext cx="6766560" cy="292608"/>
          </a:xfrm>
          <a:prstGeom prst="rect">
            <a:avLst/>
          </a:prstGeom>
          <a:noFill/>
        </p:spPr>
        <p:txBody>
          <a:bodyPr wrap="square" lIns="0" rIns="0" tIns="0" bIns="0">
            <a:spAutoFit/>
          </a:bodyPr>
          <a:lstStyle/>
          <a:p>
            <a:pPr algn="l"/>
            <a:r>
              <a:rPr sz="1600" b="0">
                <a:solidFill>
                  <a:srgbClr val="141D18"/>
                </a:solidFill>
                <a:latin typeface="Segoe UI"/>
              </a:rPr>
              <a:t>SOP K3 dan limbah, Gudang Natar</a:t>
            </a:r>
          </a:p>
        </p:txBody>
      </p:sp>
      <p:sp>
        <p:nvSpPr>
          <p:cNvPr id="11" name="TextBox 10"/>
          <p:cNvSpPr txBox="1"/>
          <p:nvPr/>
        </p:nvSpPr>
        <p:spPr>
          <a:xfrm>
            <a:off x="7973568" y="2880360"/>
            <a:ext cx="3383280" cy="274320"/>
          </a:xfrm>
          <a:prstGeom prst="rect">
            <a:avLst/>
          </a:prstGeom>
          <a:noFill/>
        </p:spPr>
        <p:txBody>
          <a:bodyPr wrap="square" lIns="0" rIns="0" tIns="0" bIns="0">
            <a:spAutoFit/>
          </a:bodyPr>
          <a:lstStyle/>
          <a:p>
            <a:pPr algn="l"/>
            <a:r>
              <a:rPr sz="1300" b="1" spc="90">
                <a:solidFill>
                  <a:srgbClr val="1F4034"/>
                </a:solidFill>
                <a:latin typeface="Segoe UI"/>
              </a:rPr>
              <a:t>TERPASANG</a:t>
            </a:r>
          </a:p>
        </p:txBody>
      </p:sp>
      <p:sp>
        <p:nvSpPr>
          <p:cNvPr id="12" name="Rectangle 11"/>
          <p:cNvSpPr/>
          <p:nvPr/>
        </p:nvSpPr>
        <p:spPr>
          <a:xfrm>
            <a:off x="658368" y="3236976"/>
            <a:ext cx="10872216" cy="42062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310128"/>
            <a:ext cx="6766560" cy="292608"/>
          </a:xfrm>
          <a:prstGeom prst="rect">
            <a:avLst/>
          </a:prstGeom>
          <a:noFill/>
        </p:spPr>
        <p:txBody>
          <a:bodyPr wrap="square" lIns="0" rIns="0" tIns="0" bIns="0">
            <a:spAutoFit/>
          </a:bodyPr>
          <a:lstStyle/>
          <a:p>
            <a:pPr algn="l"/>
            <a:r>
              <a:rPr sz="1600" b="0">
                <a:solidFill>
                  <a:srgbClr val="141D18"/>
                </a:solidFill>
                <a:latin typeface="Segoe UI"/>
              </a:rPr>
              <a:t>BPJS dan kepatuhan penggajian</a:t>
            </a:r>
          </a:p>
        </p:txBody>
      </p:sp>
      <p:sp>
        <p:nvSpPr>
          <p:cNvPr id="14" name="TextBox 13"/>
          <p:cNvSpPr txBox="1"/>
          <p:nvPr/>
        </p:nvSpPr>
        <p:spPr>
          <a:xfrm>
            <a:off x="7973568" y="3328416"/>
            <a:ext cx="3383280" cy="274320"/>
          </a:xfrm>
          <a:prstGeom prst="rect">
            <a:avLst/>
          </a:prstGeom>
          <a:noFill/>
        </p:spPr>
        <p:txBody>
          <a:bodyPr wrap="square" lIns="0" rIns="0" tIns="0" bIns="0">
            <a:spAutoFit/>
          </a:bodyPr>
          <a:lstStyle/>
          <a:p>
            <a:pPr algn="l"/>
            <a:r>
              <a:rPr sz="1300" b="1" spc="90">
                <a:solidFill>
                  <a:srgbClr val="1F4034"/>
                </a:solidFill>
                <a:latin typeface="Segoe UI"/>
              </a:rPr>
              <a:t>LUNAS DAN AKTIF</a:t>
            </a:r>
          </a:p>
        </p:txBody>
      </p:sp>
      <p:sp>
        <p:nvSpPr>
          <p:cNvPr id="15" name="TextBox 14"/>
          <p:cNvSpPr txBox="1"/>
          <p:nvPr/>
        </p:nvSpPr>
        <p:spPr>
          <a:xfrm>
            <a:off x="859536" y="3758184"/>
            <a:ext cx="6766560" cy="292608"/>
          </a:xfrm>
          <a:prstGeom prst="rect">
            <a:avLst/>
          </a:prstGeom>
          <a:noFill/>
        </p:spPr>
        <p:txBody>
          <a:bodyPr wrap="square" lIns="0" rIns="0" tIns="0" bIns="0">
            <a:spAutoFit/>
          </a:bodyPr>
          <a:lstStyle/>
          <a:p>
            <a:pPr algn="l"/>
            <a:r>
              <a:rPr sz="1600" b="0">
                <a:solidFill>
                  <a:srgbClr val="141D18"/>
                </a:solidFill>
                <a:latin typeface="Segoe UI"/>
              </a:rPr>
              <a:t>Izin usaha dan penambahan KBLI</a:t>
            </a:r>
          </a:p>
        </p:txBody>
      </p:sp>
      <p:sp>
        <p:nvSpPr>
          <p:cNvPr id="16" name="TextBox 15"/>
          <p:cNvSpPr txBox="1"/>
          <p:nvPr/>
        </p:nvSpPr>
        <p:spPr>
          <a:xfrm>
            <a:off x="7973568" y="3776472"/>
            <a:ext cx="3383280" cy="274320"/>
          </a:xfrm>
          <a:prstGeom prst="rect">
            <a:avLst/>
          </a:prstGeom>
          <a:noFill/>
        </p:spPr>
        <p:txBody>
          <a:bodyPr wrap="square" lIns="0" rIns="0" tIns="0" bIns="0">
            <a:spAutoFit/>
          </a:bodyPr>
          <a:lstStyle/>
          <a:p>
            <a:pPr algn="l"/>
            <a:r>
              <a:rPr sz="1300" b="1" spc="90">
                <a:solidFill>
                  <a:srgbClr val="9A7526"/>
                </a:solidFill>
                <a:latin typeface="Segoe UI"/>
              </a:rPr>
              <a:t>PROSES PEMBARUAN</a:t>
            </a:r>
          </a:p>
        </p:txBody>
      </p:sp>
      <p:sp>
        <p:nvSpPr>
          <p:cNvPr id="17" name="Rectangle 16"/>
          <p:cNvSpPr/>
          <p:nvPr/>
        </p:nvSpPr>
        <p:spPr>
          <a:xfrm>
            <a:off x="658368" y="4133088"/>
            <a:ext cx="10872216" cy="42062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4206240"/>
            <a:ext cx="6766560" cy="292608"/>
          </a:xfrm>
          <a:prstGeom prst="rect">
            <a:avLst/>
          </a:prstGeom>
          <a:noFill/>
        </p:spPr>
        <p:txBody>
          <a:bodyPr wrap="square" lIns="0" rIns="0" tIns="0" bIns="0">
            <a:spAutoFit/>
          </a:bodyPr>
          <a:lstStyle/>
          <a:p>
            <a:pPr algn="l"/>
            <a:r>
              <a:rPr sz="1600" b="0">
                <a:solidFill>
                  <a:srgbClr val="141D18"/>
                </a:solidFill>
                <a:latin typeface="Segoe UI"/>
              </a:rPr>
              <a:t>Sertifikasi halal</a:t>
            </a:r>
          </a:p>
        </p:txBody>
      </p:sp>
      <p:sp>
        <p:nvSpPr>
          <p:cNvPr id="19" name="TextBox 18"/>
          <p:cNvSpPr txBox="1"/>
          <p:nvPr/>
        </p:nvSpPr>
        <p:spPr>
          <a:xfrm>
            <a:off x="7973568" y="4224528"/>
            <a:ext cx="3383280" cy="274320"/>
          </a:xfrm>
          <a:prstGeom prst="rect">
            <a:avLst/>
          </a:prstGeom>
          <a:noFill/>
        </p:spPr>
        <p:txBody>
          <a:bodyPr wrap="square" lIns="0" rIns="0" tIns="0" bIns="0">
            <a:spAutoFit/>
          </a:bodyPr>
          <a:lstStyle/>
          <a:p>
            <a:pPr algn="l"/>
            <a:r>
              <a:rPr sz="1300" b="1" spc="90">
                <a:solidFill>
                  <a:srgbClr val="9A7526"/>
                </a:solidFill>
                <a:latin typeface="Segoe UI"/>
              </a:rPr>
              <a:t>DALAM PROSES</a:t>
            </a:r>
          </a:p>
        </p:txBody>
      </p:sp>
      <p:sp>
        <p:nvSpPr>
          <p:cNvPr id="20" name="TextBox 19"/>
          <p:cNvSpPr txBox="1"/>
          <p:nvPr/>
        </p:nvSpPr>
        <p:spPr>
          <a:xfrm>
            <a:off x="859536" y="4654296"/>
            <a:ext cx="6766560" cy="292608"/>
          </a:xfrm>
          <a:prstGeom prst="rect">
            <a:avLst/>
          </a:prstGeom>
          <a:noFill/>
        </p:spPr>
        <p:txBody>
          <a:bodyPr wrap="square" lIns="0" rIns="0" tIns="0" bIns="0">
            <a:spAutoFit/>
          </a:bodyPr>
          <a:lstStyle/>
          <a:p>
            <a:pPr algn="l"/>
            <a:r>
              <a:rPr sz="1600" b="0">
                <a:solidFill>
                  <a:srgbClr val="141D18"/>
                </a:solidFill>
                <a:latin typeface="Segoe UI"/>
              </a:rPr>
              <a:t>Uji tuntas deforestasi Uni Eropa</a:t>
            </a:r>
          </a:p>
        </p:txBody>
      </p:sp>
      <p:sp>
        <p:nvSpPr>
          <p:cNvPr id="21" name="TextBox 20"/>
          <p:cNvSpPr txBox="1"/>
          <p:nvPr/>
        </p:nvSpPr>
        <p:spPr>
          <a:xfrm>
            <a:off x="7973568" y="4672584"/>
            <a:ext cx="3383280" cy="274320"/>
          </a:xfrm>
          <a:prstGeom prst="rect">
            <a:avLst/>
          </a:prstGeom>
          <a:noFill/>
        </p:spPr>
        <p:txBody>
          <a:bodyPr wrap="square" lIns="0" rIns="0" tIns="0" bIns="0">
            <a:spAutoFit/>
          </a:bodyPr>
          <a:lstStyle/>
          <a:p>
            <a:pPr algn="l"/>
            <a:r>
              <a:rPr sz="1300" b="1" spc="90">
                <a:solidFill>
                  <a:srgbClr val="9A7526"/>
                </a:solidFill>
                <a:latin typeface="Segoe UI"/>
              </a:rPr>
              <a:t>DALAM PENYIAPAN</a:t>
            </a:r>
          </a:p>
        </p:txBody>
      </p:sp>
      <p:sp>
        <p:nvSpPr>
          <p:cNvPr id="22" name="Rectangle 21"/>
          <p:cNvSpPr/>
          <p:nvPr/>
        </p:nvSpPr>
        <p:spPr>
          <a:xfrm>
            <a:off x="658368" y="5029200"/>
            <a:ext cx="10872216" cy="42062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102352"/>
            <a:ext cx="6766560" cy="292608"/>
          </a:xfrm>
          <a:prstGeom prst="rect">
            <a:avLst/>
          </a:prstGeom>
          <a:noFill/>
        </p:spPr>
        <p:txBody>
          <a:bodyPr wrap="square" lIns="0" rIns="0" tIns="0" bIns="0">
            <a:spAutoFit/>
          </a:bodyPr>
          <a:lstStyle/>
          <a:p>
            <a:pPr algn="l"/>
            <a:r>
              <a:rPr sz="1600" b="0">
                <a:solidFill>
                  <a:srgbClr val="141D18"/>
                </a:solidFill>
                <a:latin typeface="Segoe UI"/>
              </a:rPr>
              <a:t>Sertifikasi organik</a:t>
            </a:r>
          </a:p>
        </p:txBody>
      </p:sp>
      <p:sp>
        <p:nvSpPr>
          <p:cNvPr id="24" name="TextBox 23"/>
          <p:cNvSpPr txBox="1"/>
          <p:nvPr/>
        </p:nvSpPr>
        <p:spPr>
          <a:xfrm>
            <a:off x="7973568" y="5120640"/>
            <a:ext cx="3383280" cy="274320"/>
          </a:xfrm>
          <a:prstGeom prst="rect">
            <a:avLst/>
          </a:prstGeom>
          <a:noFill/>
        </p:spPr>
        <p:txBody>
          <a:bodyPr wrap="square" lIns="0" rIns="0" tIns="0" bIns="0">
            <a:spAutoFit/>
          </a:bodyPr>
          <a:lstStyle/>
          <a:p>
            <a:pPr algn="l"/>
            <a:r>
              <a:rPr sz="1300" b="1" spc="90">
                <a:solidFill>
                  <a:srgbClr val="6C7A72"/>
                </a:solidFill>
                <a:latin typeface="Segoe UI"/>
              </a:rPr>
              <a:t>BELUM, LAHAN MASIH TRANSISI</a:t>
            </a:r>
          </a:p>
        </p:txBody>
      </p:sp>
      <p:sp>
        <p:nvSpPr>
          <p:cNvPr id="25" name="TextBox 24"/>
          <p:cNvSpPr txBox="1"/>
          <p:nvPr/>
        </p:nvSpPr>
        <p:spPr>
          <a:xfrm>
            <a:off x="658368" y="5623560"/>
            <a:ext cx="10424160" cy="274320"/>
          </a:xfrm>
          <a:prstGeom prst="rect">
            <a:avLst/>
          </a:prstGeom>
          <a:noFill/>
        </p:spPr>
        <p:txBody>
          <a:bodyPr wrap="square" lIns="0" rIns="0" tIns="0" bIns="0">
            <a:spAutoFit/>
          </a:bodyPr>
          <a:lstStyle/>
          <a:p>
            <a:pPr algn="l"/>
            <a:r>
              <a:rPr sz="1600" b="1">
                <a:solidFill>
                  <a:srgbClr val="1F4034"/>
                </a:solidFill>
                <a:latin typeface="Segoe UI"/>
              </a:rPr>
              <a:t>Kami menyebut tiap butir pada tahap yang benar-benar dicapai.</a:t>
            </a:r>
          </a:p>
        </p:txBody>
      </p:sp>
      <p:sp>
        <p:nvSpPr>
          <p:cNvPr id="26" name="Rectangle 25"/>
          <p:cNvSpPr/>
          <p:nvPr/>
        </p:nvSpPr>
        <p:spPr>
          <a:xfrm>
            <a:off x="658368" y="5961888"/>
            <a:ext cx="7863840" cy="310896"/>
          </a:xfrm>
          <a:prstGeom prst="rect">
            <a:avLst/>
          </a:prstGeom>
          <a:solidFill>
            <a:srgbClr val="FDF3D8"/>
          </a:solidFill>
          <a:ln w="9525">
            <a:solidFill>
              <a:srgbClr val="9A7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6025896"/>
            <a:ext cx="7607808" cy="219456"/>
          </a:xfrm>
          <a:prstGeom prst="rect">
            <a:avLst/>
          </a:prstGeom>
          <a:noFill/>
        </p:spPr>
        <p:txBody>
          <a:bodyPr wrap="square" lIns="0" rIns="0" tIns="0" bIns="0">
            <a:spAutoFit/>
          </a:bodyPr>
          <a:lstStyle/>
          <a:p>
            <a:pPr algn="l"/>
            <a:r>
              <a:rPr sz="1100" b="1" spc="60">
                <a:solidFill>
                  <a:srgbClr val="9A7526"/>
                </a:solidFill>
                <a:latin typeface="Segoe UI"/>
              </a:rPr>
              <a:t>[ LENGKAPI: NIB, NPWP, dan omzet tahun berjalan sesuai format formulir ]</a:t>
            </a:r>
          </a:p>
        </p:txBody>
      </p:sp>
      <p:sp>
        <p:nvSpPr>
          <p:cNvPr id="28" name="TextBox 27"/>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29" name="TextBox 28"/>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10   TIM</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Orang-orang yang menjalankannya.</a:t>
            </a:r>
          </a:p>
        </p:txBody>
      </p:sp>
      <p:pic>
        <p:nvPicPr>
          <p:cNvPr id="7" name="Picture 6" descr="team_1_faizal.png"/>
          <p:cNvPicPr>
            <a:picLocks noChangeAspect="1"/>
          </p:cNvPicPr>
          <p:nvPr/>
        </p:nvPicPr>
        <p:blipFill>
          <a:blip r:embed="rId2"/>
          <a:srcRect/>
          <a:stretch>
            <a:fillRect/>
          </a:stretch>
        </p:blipFill>
        <p:spPr>
          <a:xfrm>
            <a:off x="1828799" y="2395728"/>
            <a:ext cx="1188720" cy="1188720"/>
          </a:xfrm>
          <a:prstGeom prst="rect">
            <a:avLst/>
          </a:prstGeom>
        </p:spPr>
      </p:pic>
      <p:sp>
        <p:nvSpPr>
          <p:cNvPr id="8" name="TextBox 7"/>
          <p:cNvSpPr txBox="1"/>
          <p:nvPr/>
        </p:nvSpPr>
        <p:spPr>
          <a:xfrm>
            <a:off x="658368" y="3675887"/>
            <a:ext cx="3529584" cy="256032"/>
          </a:xfrm>
          <a:prstGeom prst="rect">
            <a:avLst/>
          </a:prstGeom>
          <a:noFill/>
        </p:spPr>
        <p:txBody>
          <a:bodyPr wrap="square" lIns="0" rIns="0" tIns="0" bIns="0">
            <a:spAutoFit/>
          </a:bodyPr>
          <a:lstStyle/>
          <a:p>
            <a:pPr algn="ctr"/>
            <a:r>
              <a:rPr sz="1600" b="1">
                <a:solidFill>
                  <a:srgbClr val="141D18"/>
                </a:solidFill>
                <a:latin typeface="Segoe UI"/>
              </a:rPr>
              <a:t>Faizal Riza</a:t>
            </a:r>
          </a:p>
        </p:txBody>
      </p:sp>
      <p:sp>
        <p:nvSpPr>
          <p:cNvPr id="9" name="TextBox 8"/>
          <p:cNvSpPr txBox="1"/>
          <p:nvPr/>
        </p:nvSpPr>
        <p:spPr>
          <a:xfrm>
            <a:off x="658368" y="3931920"/>
            <a:ext cx="3529584" cy="237744"/>
          </a:xfrm>
          <a:prstGeom prst="rect">
            <a:avLst/>
          </a:prstGeom>
          <a:noFill/>
        </p:spPr>
        <p:txBody>
          <a:bodyPr wrap="square" lIns="0" rIns="0" tIns="0" bIns="0">
            <a:spAutoFit/>
          </a:bodyPr>
          <a:lstStyle/>
          <a:p>
            <a:pPr algn="ctr"/>
            <a:r>
              <a:rPr sz="1100" b="0" spc="80">
                <a:solidFill>
                  <a:srgbClr val="6C7A72"/>
                </a:solidFill>
                <a:latin typeface="Segoe UI"/>
              </a:rPr>
              <a:t>DIREKTUR UTAMA</a:t>
            </a:r>
          </a:p>
        </p:txBody>
      </p:sp>
      <p:pic>
        <p:nvPicPr>
          <p:cNvPr id="10" name="Picture 9" descr="team_2_arif.png"/>
          <p:cNvPicPr>
            <a:picLocks noChangeAspect="1"/>
          </p:cNvPicPr>
          <p:nvPr/>
        </p:nvPicPr>
        <p:blipFill>
          <a:blip r:embed="rId3"/>
          <a:srcRect/>
          <a:stretch>
            <a:fillRect/>
          </a:stretch>
        </p:blipFill>
        <p:spPr>
          <a:xfrm>
            <a:off x="5504688" y="2395728"/>
            <a:ext cx="1188720" cy="1188720"/>
          </a:xfrm>
          <a:prstGeom prst="rect">
            <a:avLst/>
          </a:prstGeom>
        </p:spPr>
      </p:pic>
      <p:sp>
        <p:nvSpPr>
          <p:cNvPr id="11" name="TextBox 10"/>
          <p:cNvSpPr txBox="1"/>
          <p:nvPr/>
        </p:nvSpPr>
        <p:spPr>
          <a:xfrm>
            <a:off x="4334255" y="3675887"/>
            <a:ext cx="3529584" cy="256032"/>
          </a:xfrm>
          <a:prstGeom prst="rect">
            <a:avLst/>
          </a:prstGeom>
          <a:noFill/>
        </p:spPr>
        <p:txBody>
          <a:bodyPr wrap="square" lIns="0" rIns="0" tIns="0" bIns="0">
            <a:spAutoFit/>
          </a:bodyPr>
          <a:lstStyle/>
          <a:p>
            <a:pPr algn="ctr"/>
            <a:r>
              <a:rPr sz="1600" b="1">
                <a:solidFill>
                  <a:srgbClr val="141D18"/>
                </a:solidFill>
                <a:latin typeface="Segoe UI"/>
              </a:rPr>
              <a:t>Arif Rachman</a:t>
            </a:r>
          </a:p>
        </p:txBody>
      </p:sp>
      <p:sp>
        <p:nvSpPr>
          <p:cNvPr id="12" name="TextBox 11"/>
          <p:cNvSpPr txBox="1"/>
          <p:nvPr/>
        </p:nvSpPr>
        <p:spPr>
          <a:xfrm>
            <a:off x="4334255" y="3931920"/>
            <a:ext cx="3529584" cy="237744"/>
          </a:xfrm>
          <a:prstGeom prst="rect">
            <a:avLst/>
          </a:prstGeom>
          <a:noFill/>
        </p:spPr>
        <p:txBody>
          <a:bodyPr wrap="square" lIns="0" rIns="0" tIns="0" bIns="0">
            <a:spAutoFit/>
          </a:bodyPr>
          <a:lstStyle/>
          <a:p>
            <a:pPr algn="ctr"/>
            <a:r>
              <a:rPr sz="1100" b="0" spc="80">
                <a:solidFill>
                  <a:srgbClr val="6C7A72"/>
                </a:solidFill>
                <a:latin typeface="Segoe UI"/>
              </a:rPr>
              <a:t>DIREKTUR OPERASIONAL</a:t>
            </a:r>
          </a:p>
        </p:txBody>
      </p:sp>
      <p:pic>
        <p:nvPicPr>
          <p:cNvPr id="13" name="Picture 12" descr="team_3_rafiq.png"/>
          <p:cNvPicPr>
            <a:picLocks noChangeAspect="1"/>
          </p:cNvPicPr>
          <p:nvPr/>
        </p:nvPicPr>
        <p:blipFill>
          <a:blip r:embed="rId4"/>
          <a:srcRect/>
          <a:stretch>
            <a:fillRect/>
          </a:stretch>
        </p:blipFill>
        <p:spPr>
          <a:xfrm>
            <a:off x="9180576" y="2395728"/>
            <a:ext cx="1188720" cy="1188720"/>
          </a:xfrm>
          <a:prstGeom prst="rect">
            <a:avLst/>
          </a:prstGeom>
        </p:spPr>
      </p:pic>
      <p:sp>
        <p:nvSpPr>
          <p:cNvPr id="14" name="TextBox 13"/>
          <p:cNvSpPr txBox="1"/>
          <p:nvPr/>
        </p:nvSpPr>
        <p:spPr>
          <a:xfrm>
            <a:off x="8010144" y="3675887"/>
            <a:ext cx="3529584" cy="256032"/>
          </a:xfrm>
          <a:prstGeom prst="rect">
            <a:avLst/>
          </a:prstGeom>
          <a:noFill/>
        </p:spPr>
        <p:txBody>
          <a:bodyPr wrap="square" lIns="0" rIns="0" tIns="0" bIns="0">
            <a:spAutoFit/>
          </a:bodyPr>
          <a:lstStyle/>
          <a:p>
            <a:pPr algn="ctr"/>
            <a:r>
              <a:rPr sz="1600" b="1">
                <a:solidFill>
                  <a:srgbClr val="141D18"/>
                </a:solidFill>
                <a:latin typeface="Segoe UI"/>
              </a:rPr>
              <a:t>Muhammad Rafiq</a:t>
            </a:r>
          </a:p>
        </p:txBody>
      </p:sp>
      <p:sp>
        <p:nvSpPr>
          <p:cNvPr id="15" name="TextBox 14"/>
          <p:cNvSpPr txBox="1"/>
          <p:nvPr/>
        </p:nvSpPr>
        <p:spPr>
          <a:xfrm>
            <a:off x="8010144" y="3931920"/>
            <a:ext cx="3529584" cy="237744"/>
          </a:xfrm>
          <a:prstGeom prst="rect">
            <a:avLst/>
          </a:prstGeom>
          <a:noFill/>
        </p:spPr>
        <p:txBody>
          <a:bodyPr wrap="square" lIns="0" rIns="0" tIns="0" bIns="0">
            <a:spAutoFit/>
          </a:bodyPr>
          <a:lstStyle/>
          <a:p>
            <a:pPr algn="ctr"/>
            <a:r>
              <a:rPr sz="1100" b="0" spc="80">
                <a:solidFill>
                  <a:srgbClr val="6C7A72"/>
                </a:solidFill>
                <a:latin typeface="Segoe UI"/>
              </a:rPr>
              <a:t>MANAJER TEKNIS</a:t>
            </a:r>
          </a:p>
        </p:txBody>
      </p:sp>
      <p:pic>
        <p:nvPicPr>
          <p:cNvPr id="16" name="Picture 15" descr="team_4_heri.png"/>
          <p:cNvPicPr>
            <a:picLocks noChangeAspect="1"/>
          </p:cNvPicPr>
          <p:nvPr/>
        </p:nvPicPr>
        <p:blipFill>
          <a:blip r:embed="rId5"/>
          <a:srcRect/>
          <a:stretch>
            <a:fillRect/>
          </a:stretch>
        </p:blipFill>
        <p:spPr>
          <a:xfrm>
            <a:off x="1828799" y="4297680"/>
            <a:ext cx="1188720" cy="1188720"/>
          </a:xfrm>
          <a:prstGeom prst="rect">
            <a:avLst/>
          </a:prstGeom>
        </p:spPr>
      </p:pic>
      <p:sp>
        <p:nvSpPr>
          <p:cNvPr id="17" name="TextBox 16"/>
          <p:cNvSpPr txBox="1"/>
          <p:nvPr/>
        </p:nvSpPr>
        <p:spPr>
          <a:xfrm>
            <a:off x="658368" y="5577840"/>
            <a:ext cx="3529584" cy="256032"/>
          </a:xfrm>
          <a:prstGeom prst="rect">
            <a:avLst/>
          </a:prstGeom>
          <a:noFill/>
        </p:spPr>
        <p:txBody>
          <a:bodyPr wrap="square" lIns="0" rIns="0" tIns="0" bIns="0">
            <a:spAutoFit/>
          </a:bodyPr>
          <a:lstStyle/>
          <a:p>
            <a:pPr algn="ctr"/>
            <a:r>
              <a:rPr sz="1600" b="1">
                <a:solidFill>
                  <a:srgbClr val="141D18"/>
                </a:solidFill>
                <a:latin typeface="Segoe UI"/>
              </a:rPr>
              <a:t>Heri Adi Prasetya</a:t>
            </a:r>
          </a:p>
        </p:txBody>
      </p:sp>
      <p:sp>
        <p:nvSpPr>
          <p:cNvPr id="18" name="TextBox 17"/>
          <p:cNvSpPr txBox="1"/>
          <p:nvPr/>
        </p:nvSpPr>
        <p:spPr>
          <a:xfrm>
            <a:off x="658368" y="5833872"/>
            <a:ext cx="3529584" cy="237744"/>
          </a:xfrm>
          <a:prstGeom prst="rect">
            <a:avLst/>
          </a:prstGeom>
          <a:noFill/>
        </p:spPr>
        <p:txBody>
          <a:bodyPr wrap="square" lIns="0" rIns="0" tIns="0" bIns="0">
            <a:spAutoFit/>
          </a:bodyPr>
          <a:lstStyle/>
          <a:p>
            <a:pPr algn="ctr"/>
            <a:r>
              <a:rPr sz="1100" b="0" spc="80">
                <a:solidFill>
                  <a:srgbClr val="6C7A72"/>
                </a:solidFill>
                <a:latin typeface="Segoe UI"/>
              </a:rPr>
              <a:t>MANAJER OPERASIONAL</a:t>
            </a:r>
          </a:p>
        </p:txBody>
      </p:sp>
      <p:pic>
        <p:nvPicPr>
          <p:cNvPr id="19" name="Picture 18" descr="team_5_nico.png"/>
          <p:cNvPicPr>
            <a:picLocks noChangeAspect="1"/>
          </p:cNvPicPr>
          <p:nvPr/>
        </p:nvPicPr>
        <p:blipFill>
          <a:blip r:embed="rId6"/>
          <a:srcRect/>
          <a:stretch>
            <a:fillRect/>
          </a:stretch>
        </p:blipFill>
        <p:spPr>
          <a:xfrm>
            <a:off x="5504688" y="4297680"/>
            <a:ext cx="1188720" cy="1188720"/>
          </a:xfrm>
          <a:prstGeom prst="rect">
            <a:avLst/>
          </a:prstGeom>
        </p:spPr>
      </p:pic>
      <p:sp>
        <p:nvSpPr>
          <p:cNvPr id="20" name="TextBox 19"/>
          <p:cNvSpPr txBox="1"/>
          <p:nvPr/>
        </p:nvSpPr>
        <p:spPr>
          <a:xfrm>
            <a:off x="4334255" y="5577840"/>
            <a:ext cx="3529584" cy="256032"/>
          </a:xfrm>
          <a:prstGeom prst="rect">
            <a:avLst/>
          </a:prstGeom>
          <a:noFill/>
        </p:spPr>
        <p:txBody>
          <a:bodyPr wrap="square" lIns="0" rIns="0" tIns="0" bIns="0">
            <a:spAutoFit/>
          </a:bodyPr>
          <a:lstStyle/>
          <a:p>
            <a:pPr algn="ctr"/>
            <a:r>
              <a:rPr sz="1600" b="1">
                <a:solidFill>
                  <a:srgbClr val="141D18"/>
                </a:solidFill>
                <a:latin typeface="Segoe UI"/>
              </a:rPr>
              <a:t>Nico Setyo Utomo</a:t>
            </a:r>
          </a:p>
        </p:txBody>
      </p:sp>
      <p:sp>
        <p:nvSpPr>
          <p:cNvPr id="21" name="TextBox 20"/>
          <p:cNvSpPr txBox="1"/>
          <p:nvPr/>
        </p:nvSpPr>
        <p:spPr>
          <a:xfrm>
            <a:off x="4334255" y="5833872"/>
            <a:ext cx="3529584" cy="237744"/>
          </a:xfrm>
          <a:prstGeom prst="rect">
            <a:avLst/>
          </a:prstGeom>
          <a:noFill/>
        </p:spPr>
        <p:txBody>
          <a:bodyPr wrap="square" lIns="0" rIns="0" tIns="0" bIns="0">
            <a:spAutoFit/>
          </a:bodyPr>
          <a:lstStyle/>
          <a:p>
            <a:pPr algn="ctr"/>
            <a:r>
              <a:rPr sz="1100" b="0" spc="80">
                <a:solidFill>
                  <a:srgbClr val="6C7A72"/>
                </a:solidFill>
                <a:latin typeface="Segoe UI"/>
              </a:rPr>
              <a:t>DATA DAN MANAJEMEN</a:t>
            </a:r>
          </a:p>
        </p:txBody>
      </p:sp>
      <p:pic>
        <p:nvPicPr>
          <p:cNvPr id="22" name="Picture 21" descr="team_6_yanfa.png"/>
          <p:cNvPicPr>
            <a:picLocks noChangeAspect="1"/>
          </p:cNvPicPr>
          <p:nvPr/>
        </p:nvPicPr>
        <p:blipFill>
          <a:blip r:embed="rId7"/>
          <a:srcRect/>
          <a:stretch>
            <a:fillRect/>
          </a:stretch>
        </p:blipFill>
        <p:spPr>
          <a:xfrm>
            <a:off x="9180576" y="4297680"/>
            <a:ext cx="1188720" cy="1188720"/>
          </a:xfrm>
          <a:prstGeom prst="rect">
            <a:avLst/>
          </a:prstGeom>
        </p:spPr>
      </p:pic>
      <p:sp>
        <p:nvSpPr>
          <p:cNvPr id="23" name="TextBox 22"/>
          <p:cNvSpPr txBox="1"/>
          <p:nvPr/>
        </p:nvSpPr>
        <p:spPr>
          <a:xfrm>
            <a:off x="8010144" y="5577840"/>
            <a:ext cx="3529584" cy="256032"/>
          </a:xfrm>
          <a:prstGeom prst="rect">
            <a:avLst/>
          </a:prstGeom>
          <a:noFill/>
        </p:spPr>
        <p:txBody>
          <a:bodyPr wrap="square" lIns="0" rIns="0" tIns="0" bIns="0">
            <a:spAutoFit/>
          </a:bodyPr>
          <a:lstStyle/>
          <a:p>
            <a:pPr algn="ctr"/>
            <a:r>
              <a:rPr sz="1600" b="1">
                <a:solidFill>
                  <a:srgbClr val="141D18"/>
                </a:solidFill>
                <a:latin typeface="Segoe UI"/>
              </a:rPr>
              <a:t>Yanfa Ghiyats Ghifari</a:t>
            </a:r>
          </a:p>
        </p:txBody>
      </p:sp>
      <p:sp>
        <p:nvSpPr>
          <p:cNvPr id="24" name="TextBox 23"/>
          <p:cNvSpPr txBox="1"/>
          <p:nvPr/>
        </p:nvSpPr>
        <p:spPr>
          <a:xfrm>
            <a:off x="8010144" y="5833872"/>
            <a:ext cx="3529584" cy="237744"/>
          </a:xfrm>
          <a:prstGeom prst="rect">
            <a:avLst/>
          </a:prstGeom>
          <a:noFill/>
        </p:spPr>
        <p:txBody>
          <a:bodyPr wrap="square" lIns="0" rIns="0" tIns="0" bIns="0">
            <a:spAutoFit/>
          </a:bodyPr>
          <a:lstStyle/>
          <a:p>
            <a:pPr algn="ctr"/>
            <a:r>
              <a:rPr sz="1100" b="0" spc="80">
                <a:solidFill>
                  <a:srgbClr val="6C7A72"/>
                </a:solidFill>
                <a:latin typeface="Segoe UI"/>
              </a:rPr>
              <a:t>FASILITATOR SENIOR</a:t>
            </a:r>
          </a:p>
        </p:txBody>
      </p:sp>
      <p:sp>
        <p:nvSpPr>
          <p:cNvPr id="25" name="TextBox 24"/>
          <p:cNvSpPr txBox="1"/>
          <p:nvPr/>
        </p:nvSpPr>
        <p:spPr>
          <a:xfrm>
            <a:off x="658368" y="6126480"/>
            <a:ext cx="10424160" cy="237744"/>
          </a:xfrm>
          <a:prstGeom prst="rect">
            <a:avLst/>
          </a:prstGeom>
          <a:noFill/>
        </p:spPr>
        <p:txBody>
          <a:bodyPr wrap="square" lIns="0" rIns="0" tIns="0" bIns="0">
            <a:spAutoFit/>
          </a:bodyPr>
          <a:lstStyle/>
          <a:p>
            <a:pPr algn="l"/>
            <a:r>
              <a:rPr sz="1300" b="0">
                <a:solidFill>
                  <a:srgbClr val="6C7A72"/>
                </a:solidFill>
                <a:latin typeface="Segoe UI"/>
              </a:rPr>
              <a:t>15 karyawan tetap, termasuk lima fasilitator lapangan yang bekerja langsung dengan kelompok tani di tiga kabupaten.</a:t>
            </a:r>
          </a:p>
        </p:txBody>
      </p:sp>
      <p:sp>
        <p:nvSpPr>
          <p:cNvPr id="26" name="TextBox 25"/>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27" name="TextBox 26"/>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11   HARAPAN DARI PROGRAM</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200" b="1">
                <a:solidFill>
                  <a:srgbClr val="141D18"/>
                </a:solidFill>
                <a:latin typeface="Georgia"/>
              </a:rPr>
              <a:t>Yang kami butuhkan, bukan yang kami punya.</a:t>
            </a:r>
          </a:p>
        </p:txBody>
      </p:sp>
      <p:sp>
        <p:nvSpPr>
          <p:cNvPr id="7" name="TextBox 6"/>
          <p:cNvSpPr txBox="1"/>
          <p:nvPr/>
        </p:nvSpPr>
        <p:spPr>
          <a:xfrm>
            <a:off x="658368" y="2359152"/>
            <a:ext cx="10424160" cy="731520"/>
          </a:xfrm>
          <a:prstGeom prst="rect">
            <a:avLst/>
          </a:prstGeom>
          <a:noFill/>
        </p:spPr>
        <p:txBody>
          <a:bodyPr wrap="square" lIns="0" rIns="0" tIns="0" bIns="0">
            <a:spAutoFit/>
          </a:bodyPr>
          <a:lstStyle/>
          <a:p>
            <a:pPr algn="l">
              <a:lnSpc>
                <a:spcPct val="138000"/>
              </a:lnSpc>
            </a:pPr>
            <a:r>
              <a:rPr sz="1600" b="0">
                <a:solidFill>
                  <a:srgbClr val="3D4A43"/>
                </a:solidFill>
                <a:latin typeface="Segoe UI"/>
              </a:rPr>
              <a:t>Kami datang bukan karena belum berjalan, tetapi karena tahu di titik mana kami tersendat. Empat hal berikut yang paling menahan pertumbuhan kami saat ini.</a:t>
            </a:r>
          </a:p>
        </p:txBody>
      </p:sp>
      <p:sp>
        <p:nvSpPr>
          <p:cNvPr id="8" name="Oval 7"/>
          <p:cNvSpPr/>
          <p:nvPr/>
        </p:nvSpPr>
        <p:spPr>
          <a:xfrm>
            <a:off x="658368" y="3310128"/>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1</a:t>
            </a:r>
          </a:p>
        </p:txBody>
      </p:sp>
      <p:sp>
        <p:nvSpPr>
          <p:cNvPr id="9" name="TextBox 8"/>
          <p:cNvSpPr txBox="1"/>
          <p:nvPr/>
        </p:nvSpPr>
        <p:spPr>
          <a:xfrm>
            <a:off x="1280160" y="3328416"/>
            <a:ext cx="3657600" cy="310896"/>
          </a:xfrm>
          <a:prstGeom prst="rect">
            <a:avLst/>
          </a:prstGeom>
          <a:noFill/>
        </p:spPr>
        <p:txBody>
          <a:bodyPr wrap="square" lIns="0" rIns="0" tIns="0" bIns="0">
            <a:spAutoFit/>
          </a:bodyPr>
          <a:lstStyle/>
          <a:p>
            <a:pPr algn="l"/>
            <a:r>
              <a:rPr sz="1600" b="1">
                <a:solidFill>
                  <a:srgbClr val="141D18"/>
                </a:solidFill>
                <a:latin typeface="Segoe UI"/>
              </a:rPr>
              <a:t>Pencatatan keuangan dan kesiapan permodalan</a:t>
            </a:r>
          </a:p>
        </p:txBody>
      </p:sp>
      <p:sp>
        <p:nvSpPr>
          <p:cNvPr id="10" name="TextBox 9"/>
          <p:cNvSpPr txBox="1"/>
          <p:nvPr/>
        </p:nvSpPr>
        <p:spPr>
          <a:xfrm>
            <a:off x="5138928" y="3328416"/>
            <a:ext cx="6126480" cy="658368"/>
          </a:xfrm>
          <a:prstGeom prst="rect">
            <a:avLst/>
          </a:prstGeom>
          <a:noFill/>
        </p:spPr>
        <p:txBody>
          <a:bodyPr wrap="square" lIns="0" rIns="0" tIns="0" bIns="0">
            <a:spAutoFit/>
          </a:bodyPr>
          <a:lstStyle/>
          <a:p>
            <a:pPr algn="l">
              <a:lnSpc>
                <a:spcPct val="130000"/>
              </a:lnSpc>
            </a:pPr>
            <a:r>
              <a:rPr sz="1600" b="0">
                <a:solidFill>
                  <a:srgbClr val="3D4A43"/>
                </a:solidFill>
                <a:latin typeface="Segoe UI"/>
              </a:rPr>
              <a:t>Angka penjualan kami masih tercatat seadanya. Kami perlu pembukuan yang layak diperiksa lembaga pembiayaan.</a:t>
            </a:r>
          </a:p>
        </p:txBody>
      </p:sp>
      <p:sp>
        <p:nvSpPr>
          <p:cNvPr id="11" name="Oval 10"/>
          <p:cNvSpPr/>
          <p:nvPr/>
        </p:nvSpPr>
        <p:spPr>
          <a:xfrm>
            <a:off x="658368" y="4023360"/>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2</a:t>
            </a:r>
          </a:p>
        </p:txBody>
      </p:sp>
      <p:sp>
        <p:nvSpPr>
          <p:cNvPr id="12" name="TextBox 11"/>
          <p:cNvSpPr txBox="1"/>
          <p:nvPr/>
        </p:nvSpPr>
        <p:spPr>
          <a:xfrm>
            <a:off x="1280160" y="4041648"/>
            <a:ext cx="3657600" cy="310896"/>
          </a:xfrm>
          <a:prstGeom prst="rect">
            <a:avLst/>
          </a:prstGeom>
          <a:noFill/>
        </p:spPr>
        <p:txBody>
          <a:bodyPr wrap="square" lIns="0" rIns="0" tIns="0" bIns="0">
            <a:spAutoFit/>
          </a:bodyPr>
          <a:lstStyle/>
          <a:p>
            <a:pPr algn="l"/>
            <a:r>
              <a:rPr sz="1600" b="1">
                <a:solidFill>
                  <a:srgbClr val="141D18"/>
                </a:solidFill>
                <a:latin typeface="Segoe UI"/>
              </a:rPr>
              <a:t>Perluasan pasar dalam negeri</a:t>
            </a:r>
          </a:p>
        </p:txBody>
      </p:sp>
      <p:sp>
        <p:nvSpPr>
          <p:cNvPr id="13" name="TextBox 12"/>
          <p:cNvSpPr txBox="1"/>
          <p:nvPr/>
        </p:nvSpPr>
        <p:spPr>
          <a:xfrm>
            <a:off x="5138928" y="4041648"/>
            <a:ext cx="6126480" cy="658368"/>
          </a:xfrm>
          <a:prstGeom prst="rect">
            <a:avLst/>
          </a:prstGeom>
          <a:noFill/>
        </p:spPr>
        <p:txBody>
          <a:bodyPr wrap="square" lIns="0" rIns="0" tIns="0" bIns="0">
            <a:spAutoFit/>
          </a:bodyPr>
          <a:lstStyle/>
          <a:p>
            <a:pPr algn="l">
              <a:lnSpc>
                <a:spcPct val="130000"/>
              </a:lnSpc>
            </a:pPr>
            <a:r>
              <a:rPr sz="1600" b="0">
                <a:solidFill>
                  <a:srgbClr val="3D4A43"/>
                </a:solidFill>
                <a:latin typeface="Segoe UI"/>
              </a:rPr>
              <a:t>Ekspor sudah jalan, pasar domestik belum digarap. Kanal daring dan pembeli dalam negeri masih kosong.</a:t>
            </a:r>
          </a:p>
        </p:txBody>
      </p:sp>
      <p:sp>
        <p:nvSpPr>
          <p:cNvPr id="14" name="Oval 13"/>
          <p:cNvSpPr/>
          <p:nvPr/>
        </p:nvSpPr>
        <p:spPr>
          <a:xfrm>
            <a:off x="658368" y="4736592"/>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3</a:t>
            </a:r>
          </a:p>
        </p:txBody>
      </p:sp>
      <p:sp>
        <p:nvSpPr>
          <p:cNvPr id="15" name="TextBox 14"/>
          <p:cNvSpPr txBox="1"/>
          <p:nvPr/>
        </p:nvSpPr>
        <p:spPr>
          <a:xfrm>
            <a:off x="1280160" y="4754880"/>
            <a:ext cx="3657600" cy="310896"/>
          </a:xfrm>
          <a:prstGeom prst="rect">
            <a:avLst/>
          </a:prstGeom>
          <a:noFill/>
        </p:spPr>
        <p:txBody>
          <a:bodyPr wrap="square" lIns="0" rIns="0" tIns="0" bIns="0">
            <a:spAutoFit/>
          </a:bodyPr>
          <a:lstStyle/>
          <a:p>
            <a:pPr algn="l"/>
            <a:r>
              <a:rPr sz="1600" b="1">
                <a:solidFill>
                  <a:srgbClr val="141D18"/>
                </a:solidFill>
                <a:latin typeface="Segoe UI"/>
              </a:rPr>
              <a:t>Sertifikasi yang belum kami pegang</a:t>
            </a:r>
          </a:p>
        </p:txBody>
      </p:sp>
      <p:sp>
        <p:nvSpPr>
          <p:cNvPr id="16" name="TextBox 15"/>
          <p:cNvSpPr txBox="1"/>
          <p:nvPr/>
        </p:nvSpPr>
        <p:spPr>
          <a:xfrm>
            <a:off x="5138928" y="4754880"/>
            <a:ext cx="6126480" cy="658368"/>
          </a:xfrm>
          <a:prstGeom prst="rect">
            <a:avLst/>
          </a:prstGeom>
          <a:noFill/>
        </p:spPr>
        <p:txBody>
          <a:bodyPr wrap="square" lIns="0" rIns="0" tIns="0" bIns="0">
            <a:spAutoFit/>
          </a:bodyPr>
          <a:lstStyle/>
          <a:p>
            <a:pPr algn="l">
              <a:lnSpc>
                <a:spcPct val="130000"/>
              </a:lnSpc>
            </a:pPr>
            <a:r>
              <a:rPr sz="1600" b="0">
                <a:solidFill>
                  <a:srgbClr val="3D4A43"/>
                </a:solidFill>
                <a:latin typeface="Segoe UI"/>
              </a:rPr>
              <a:t>Halal dan keamanan pangan menjadi syarat pembeli baru, dan prosesnya belum kami kuasai.</a:t>
            </a:r>
          </a:p>
        </p:txBody>
      </p:sp>
      <p:sp>
        <p:nvSpPr>
          <p:cNvPr id="17" name="Oval 16"/>
          <p:cNvSpPr/>
          <p:nvPr/>
        </p:nvSpPr>
        <p:spPr>
          <a:xfrm>
            <a:off x="658368" y="5449824"/>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4</a:t>
            </a:r>
          </a:p>
        </p:txBody>
      </p:sp>
      <p:sp>
        <p:nvSpPr>
          <p:cNvPr id="18" name="TextBox 17"/>
          <p:cNvSpPr txBox="1"/>
          <p:nvPr/>
        </p:nvSpPr>
        <p:spPr>
          <a:xfrm>
            <a:off x="1280160" y="5468112"/>
            <a:ext cx="3657600" cy="310896"/>
          </a:xfrm>
          <a:prstGeom prst="rect">
            <a:avLst/>
          </a:prstGeom>
          <a:noFill/>
        </p:spPr>
        <p:txBody>
          <a:bodyPr wrap="square" lIns="0" rIns="0" tIns="0" bIns="0">
            <a:spAutoFit/>
          </a:bodyPr>
          <a:lstStyle/>
          <a:p>
            <a:pPr algn="l"/>
            <a:r>
              <a:rPr sz="1600" b="1">
                <a:solidFill>
                  <a:srgbClr val="141D18"/>
                </a:solidFill>
                <a:latin typeface="Segoe UI"/>
              </a:rPr>
              <a:t>Kemitraan antar pelaku UMK</a:t>
            </a:r>
          </a:p>
        </p:txBody>
      </p:sp>
      <p:sp>
        <p:nvSpPr>
          <p:cNvPr id="19" name="TextBox 18"/>
          <p:cNvSpPr txBox="1"/>
          <p:nvPr/>
        </p:nvSpPr>
        <p:spPr>
          <a:xfrm>
            <a:off x="5138928" y="5468112"/>
            <a:ext cx="6126480" cy="658368"/>
          </a:xfrm>
          <a:prstGeom prst="rect">
            <a:avLst/>
          </a:prstGeom>
          <a:noFill/>
        </p:spPr>
        <p:txBody>
          <a:bodyPr wrap="square" lIns="0" rIns="0" tIns="0" bIns="0">
            <a:spAutoFit/>
          </a:bodyPr>
          <a:lstStyle/>
          <a:p>
            <a:pPr algn="l">
              <a:lnSpc>
                <a:spcPct val="130000"/>
              </a:lnSpc>
            </a:pPr>
            <a:r>
              <a:rPr sz="1600" b="0">
                <a:solidFill>
                  <a:srgbClr val="3D4A43"/>
                </a:solidFill>
                <a:latin typeface="Segoe UI"/>
              </a:rPr>
              <a:t>Kapasitas gudang dan mesin kami masih longgar dan bisa dipakai bersama pelaku lain di Lampung.</a:t>
            </a:r>
          </a:p>
        </p:txBody>
      </p:sp>
      <p:sp>
        <p:nvSpPr>
          <p:cNvPr id="20" name="TextBox 19"/>
          <p:cNvSpPr txBox="1"/>
          <p:nvPr/>
        </p:nvSpPr>
        <p:spPr>
          <a:xfrm>
            <a:off x="658368" y="6419088"/>
            <a:ext cx="786384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PERTAMINA UMK ACADEMY 2026</a:t>
            </a:r>
          </a:p>
        </p:txBody>
      </p:sp>
      <p:sp>
        <p:nvSpPr>
          <p:cNvPr id="21" name="TextBox 20"/>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osing_bg.jpg"/>
          <p:cNvPicPr>
            <a:picLocks noChangeAspect="1"/>
          </p:cNvPicPr>
          <p:nvPr/>
        </p:nvPicPr>
        <p:blipFill>
          <a:blip r:embed="rId2"/>
          <a:srcRect t="9596" b="9596"/>
          <a:stretch>
            <a:fillRect/>
          </a:stretch>
        </p:blipFill>
        <p:spPr>
          <a:xfrm>
            <a:off x="5852160" y="0"/>
            <a:ext cx="6336792" cy="6858000"/>
          </a:xfrm>
          <a:prstGeom prst="rect">
            <a:avLst/>
          </a:prstGeom>
        </p:spPr>
      </p:pic>
      <p:pic>
        <p:nvPicPr>
          <p:cNvPr id="5" name="Picture 4" descr="logo_small.png"/>
          <p:cNvPicPr>
            <a:picLocks noChangeAspect="1"/>
          </p:cNvPicPr>
          <p:nvPr/>
        </p:nvPicPr>
        <p:blipFill>
          <a:blip r:embed="rId3"/>
          <a:srcRect/>
          <a:stretch>
            <a:fillRect/>
          </a:stretch>
        </p:blipFill>
        <p:spPr>
          <a:xfrm>
            <a:off x="374904" y="274320"/>
            <a:ext cx="694944" cy="694944"/>
          </a:xfrm>
          <a:prstGeom prst="rect">
            <a:avLst/>
          </a:prstGeom>
        </p:spPr>
      </p:pic>
      <p:sp>
        <p:nvSpPr>
          <p:cNvPr id="6" name="TextBox 5"/>
          <p:cNvSpPr txBox="1"/>
          <p:nvPr/>
        </p:nvSpPr>
        <p:spPr>
          <a:xfrm>
            <a:off x="658368" y="1874519"/>
            <a:ext cx="4754880" cy="1325880"/>
          </a:xfrm>
          <a:prstGeom prst="rect">
            <a:avLst/>
          </a:prstGeom>
          <a:noFill/>
        </p:spPr>
        <p:txBody>
          <a:bodyPr wrap="square" lIns="0" rIns="0" tIns="0" bIns="0">
            <a:spAutoFit/>
          </a:bodyPr>
          <a:lstStyle/>
          <a:p>
            <a:pPr algn="l">
              <a:lnSpc>
                <a:spcPct val="110000"/>
              </a:lnSpc>
            </a:pPr>
            <a:r>
              <a:rPr sz="3600" b="1">
                <a:solidFill>
                  <a:srgbClr val="FFFFFF"/>
                </a:solidFill>
                <a:latin typeface="Georgia"/>
              </a:rPr>
              <a:t>Silakan datang</a:t>
            </a:r>
          </a:p>
          <a:p>
            <a:pPr algn="l">
              <a:lnSpc>
                <a:spcPct val="110000"/>
              </a:lnSpc>
            </a:pPr>
            <a:r>
              <a:rPr sz="3600" b="1">
                <a:solidFill>
                  <a:srgbClr val="FFFFFF"/>
                </a:solidFill>
                <a:latin typeface="Georgia"/>
              </a:rPr>
              <a:t>melihat kebunnya.</a:t>
            </a:r>
          </a:p>
        </p:txBody>
      </p:sp>
      <p:sp>
        <p:nvSpPr>
          <p:cNvPr id="7" name="TextBox 6"/>
          <p:cNvSpPr txBox="1"/>
          <p:nvPr/>
        </p:nvSpPr>
        <p:spPr>
          <a:xfrm>
            <a:off x="658368" y="3520440"/>
            <a:ext cx="4572000" cy="384048"/>
          </a:xfrm>
          <a:prstGeom prst="rect">
            <a:avLst/>
          </a:prstGeom>
          <a:noFill/>
        </p:spPr>
        <p:txBody>
          <a:bodyPr wrap="square" lIns="0" rIns="0" tIns="0" bIns="0">
            <a:spAutoFit/>
          </a:bodyPr>
          <a:lstStyle/>
          <a:p>
            <a:pPr algn="l"/>
            <a:r>
              <a:rPr sz="2000" b="1">
                <a:solidFill>
                  <a:srgbClr val="C7D8CD"/>
                </a:solidFill>
                <a:latin typeface="Segoe UI"/>
              </a:rPr>
              <a:t>PT Klumbayan Gold Farm</a:t>
            </a:r>
          </a:p>
        </p:txBody>
      </p:sp>
      <p:sp>
        <p:nvSpPr>
          <p:cNvPr id="8" name="Rectangle 7"/>
          <p:cNvSpPr/>
          <p:nvPr/>
        </p:nvSpPr>
        <p:spPr>
          <a:xfrm>
            <a:off x="658368" y="4041648"/>
            <a:ext cx="4572000" cy="10972"/>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251960"/>
            <a:ext cx="4754880" cy="1051560"/>
          </a:xfrm>
          <a:prstGeom prst="rect">
            <a:avLst/>
          </a:prstGeom>
          <a:noFill/>
        </p:spPr>
        <p:txBody>
          <a:bodyPr wrap="square" lIns="0" rIns="0" tIns="0" bIns="0">
            <a:spAutoFit/>
          </a:bodyPr>
          <a:lstStyle/>
          <a:p>
            <a:pPr algn="l">
              <a:lnSpc>
                <a:spcPct val="140000"/>
              </a:lnSpc>
            </a:pPr>
            <a:r>
              <a:rPr sz="1600" b="0">
                <a:solidFill>
                  <a:srgbClr val="D9E1DA"/>
                </a:solidFill>
                <a:latin typeface="Segoe UI"/>
              </a:rPr>
              <a:t>Jln. Wolter Monginsidi No. 159</a:t>
            </a:r>
          </a:p>
          <a:p>
            <a:pPr algn="l">
              <a:lnSpc>
                <a:spcPct val="140000"/>
              </a:lnSpc>
            </a:pPr>
            <a:r>
              <a:rPr sz="1600" b="0">
                <a:solidFill>
                  <a:srgbClr val="D9E1DA"/>
                </a:solidFill>
                <a:latin typeface="Segoe UI"/>
              </a:rPr>
              <a:t>Bandar Lampung, Lampung</a:t>
            </a:r>
          </a:p>
          <a:p>
            <a:pPr algn="l">
              <a:lnSpc>
                <a:spcPct val="140000"/>
              </a:lnSpc>
            </a:pPr>
            <a:r>
              <a:rPr sz="1600" b="0">
                <a:solidFill>
                  <a:srgbClr val="D9E1DA"/>
                </a:solidFill>
                <a:latin typeface="Segoe UI"/>
              </a:rPr>
              <a:t>Gudang: Natar, Lampung Selatan</a:t>
            </a:r>
          </a:p>
        </p:txBody>
      </p:sp>
      <p:sp>
        <p:nvSpPr>
          <p:cNvPr id="10" name="TextBox 9"/>
          <p:cNvSpPr txBox="1"/>
          <p:nvPr/>
        </p:nvSpPr>
        <p:spPr>
          <a:xfrm>
            <a:off x="658368" y="5440680"/>
            <a:ext cx="4754880" cy="960120"/>
          </a:xfrm>
          <a:prstGeom prst="rect">
            <a:avLst/>
          </a:prstGeom>
          <a:noFill/>
        </p:spPr>
        <p:txBody>
          <a:bodyPr wrap="square" lIns="0" rIns="0" tIns="0" bIns="0">
            <a:spAutoFit/>
          </a:bodyPr>
          <a:lstStyle/>
          <a:p>
            <a:pPr algn="l">
              <a:lnSpc>
                <a:spcPct val="140000"/>
              </a:lnSpc>
            </a:pPr>
            <a:r>
              <a:rPr sz="1600" b="0">
                <a:solidFill>
                  <a:srgbClr val="FFFFFF"/>
                </a:solidFill>
                <a:latin typeface="Segoe UI"/>
              </a:rPr>
              <a:t>Arif Rachman, Direktur Operasional</a:t>
            </a:r>
          </a:p>
          <a:p>
            <a:pPr algn="l">
              <a:lnSpc>
                <a:spcPct val="140000"/>
              </a:lnSpc>
            </a:pPr>
            <a:r>
              <a:rPr sz="1600" b="0">
                <a:solidFill>
                  <a:srgbClr val="FFFFFF"/>
                </a:solidFill>
                <a:latin typeface="Segoe UI"/>
              </a:rPr>
              <a:t>arif@klumbayanfarm.com</a:t>
            </a:r>
          </a:p>
          <a:p>
            <a:pPr algn="l">
              <a:lnSpc>
                <a:spcPct val="140000"/>
              </a:lnSpc>
            </a:pPr>
            <a:r>
              <a:rPr sz="1600" b="0">
                <a:solidFill>
                  <a:srgbClr val="FFFFFF"/>
                </a:solidFill>
                <a:latin typeface="Segoe UI"/>
              </a:rPr>
              <a:t>+62 853 7887 0007</a:t>
            </a:r>
          </a:p>
        </p:txBody>
      </p:sp>
      <p:sp>
        <p:nvSpPr>
          <p:cNvPr id="11" name="TextBox 10"/>
          <p:cNvSpPr txBox="1"/>
          <p:nvPr/>
        </p:nvSpPr>
        <p:spPr>
          <a:xfrm>
            <a:off x="658368" y="6382512"/>
            <a:ext cx="4754880" cy="274320"/>
          </a:xfrm>
          <a:prstGeom prst="rect">
            <a:avLst/>
          </a:prstGeom>
          <a:noFill/>
        </p:spPr>
        <p:txBody>
          <a:bodyPr wrap="square" lIns="0" rIns="0" tIns="0" bIns="0">
            <a:spAutoFit/>
          </a:bodyPr>
          <a:lstStyle/>
          <a:p>
            <a:pPr algn="l"/>
            <a:r>
              <a:rPr sz="1300" b="1" spc="160">
                <a:solidFill>
                  <a:srgbClr val="9A7526"/>
                </a:solidFill>
                <a:latin typeface="Segoe UI"/>
              </a:rPr>
              <a:t>KLUMBAYANFARM.COM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