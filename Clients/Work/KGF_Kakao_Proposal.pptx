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77" r:id="rId9"/>
    <p:sldId id="278" r:id="rId10"/>
    <p:sldId id="279"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27" y="3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3E2723"/>
                </a:solidFill>
                <a:latin typeface="Calibri"/>
              </a:defRPr>
            </a:pPr>
            <a:r>
              <a:rPr lang="en-ID" sz="1250" b="0" i="0" u="none" strike="noStrike">
                <a:solidFill>
                  <a:srgbClr val="3E2723"/>
                </a:solidFill>
                <a:latin typeface="Calibri"/>
              </a:rPr>
              <a:t>Sensitivitas Skenario Harga Jual Bubuk Kakao</a:t>
            </a:r>
          </a:p>
        </c:rich>
      </c:tx>
      <c:overlay val="0"/>
    </c:title>
    <c:autoTitleDeleted val="0"/>
    <c:plotArea>
      <c:layout/>
      <c:barChart>
        <c:barDir val="col"/>
        <c:grouping val="clustered"/>
        <c:varyColors val="0"/>
        <c:ser>
          <c:idx val="0"/>
          <c:order val="0"/>
          <c:tx>
            <c:strRef>
              <c:f>Sheet1!$B$1</c:f>
              <c:strCache>
                <c:ptCount val="1"/>
                <c:pt idx="0">
                  <c:v>Pendapatan/bulan (Rp)</c:v>
                </c:pt>
              </c:strCache>
            </c:strRef>
          </c:tx>
          <c:spPr>
            <a:solidFill>
              <a:srgbClr val="D97B29"/>
            </a:solidFill>
            <a:effectLst/>
          </c:spPr>
          <c:invertIfNegative val="0"/>
          <c:dLbls>
            <c:numFmt formatCode="#,##0,,&quot;jt&quot;" sourceLinked="0"/>
            <c:spPr>
              <a:noFill/>
              <a:ln>
                <a:noFill/>
              </a:ln>
              <a:effectLst/>
            </c:spPr>
            <c:txPr>
              <a:bodyPr/>
              <a:lstStyle/>
              <a:p>
                <a:pPr>
                  <a:defRPr sz="1000" b="0" i="0" u="none" strike="noStrike">
                    <a:solidFill>
                      <a:srgbClr val="3E272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Curah
komoditas</c:v>
                </c:pt>
                <c:pt idx="1">
                  <c:v>B2B kecil
(bawah)</c:v>
                </c:pt>
                <c:pt idx="2">
                  <c:v>B2B kecil
(atas)</c:v>
                </c:pt>
              </c:strCache>
            </c:strRef>
          </c:cat>
          <c:val>
            <c:numRef>
              <c:f>Sheet1!$B$2:$B$4</c:f>
              <c:numCache>
                <c:formatCode>General</c:formatCode>
                <c:ptCount val="3"/>
                <c:pt idx="0">
                  <c:v>156252915</c:v>
                </c:pt>
                <c:pt idx="1">
                  <c:v>185921190</c:v>
                </c:pt>
                <c:pt idx="2">
                  <c:v>249127515</c:v>
                </c:pt>
              </c:numCache>
            </c:numRef>
          </c:val>
          <c:extLst>
            <c:ext xmlns:c16="http://schemas.microsoft.com/office/drawing/2014/chart" uri="{C3380CC4-5D6E-409C-BE32-E72D297353CC}">
              <c16:uniqueId val="{00000000-D78A-4C84-BB35-8337C073826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6D4C4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3E2723"/>
                </a:solidFill>
                <a:latin typeface="Calibri"/>
              </a:defRPr>
            </a:pPr>
            <a:r>
              <a:rPr lang="it-IT" sz="1250" b="0" i="0" u="none" strike="noStrike">
                <a:solidFill>
                  <a:srgbClr val="3E2723"/>
                </a:solidFill>
                <a:latin typeface="Calibri"/>
              </a:rPr>
              <a:t>Dari Pendapatan menjadi Laba Bersih</a:t>
            </a:r>
          </a:p>
        </c:rich>
      </c:tx>
      <c:overlay val="0"/>
    </c:title>
    <c:autoTitleDeleted val="0"/>
    <c:plotArea>
      <c:layout/>
      <c:barChart>
        <c:barDir val="col"/>
        <c:grouping val="clustered"/>
        <c:varyColors val="0"/>
        <c:ser>
          <c:idx val="0"/>
          <c:order val="0"/>
          <c:tx>
            <c:strRef>
              <c:f>Sheet1!$B$1</c:f>
              <c:strCache>
                <c:ptCount val="1"/>
                <c:pt idx="0">
                  <c:v>Rp</c:v>
                </c:pt>
              </c:strCache>
            </c:strRef>
          </c:tx>
          <c:spPr>
            <a:solidFill>
              <a:srgbClr val="D97B29"/>
            </a:solidFill>
            <a:effectLst/>
          </c:spPr>
          <c:invertIfNegative val="0"/>
          <c:dPt>
            <c:idx val="0"/>
            <c:invertIfNegative val="0"/>
            <c:bubble3D val="0"/>
            <c:extLst>
              <c:ext xmlns:c16="http://schemas.microsoft.com/office/drawing/2014/chart" uri="{C3380CC4-5D6E-409C-BE32-E72D297353CC}">
                <c16:uniqueId val="{00000001-6A59-442E-BD91-FDD423105236}"/>
              </c:ext>
            </c:extLst>
          </c:dPt>
          <c:dPt>
            <c:idx val="1"/>
            <c:invertIfNegative val="0"/>
            <c:bubble3D val="0"/>
            <c:spPr>
              <a:solidFill>
                <a:srgbClr val="B23A2E"/>
              </a:solidFill>
              <a:effectLst/>
            </c:spPr>
            <c:extLst>
              <c:ext xmlns:c16="http://schemas.microsoft.com/office/drawing/2014/chart" uri="{C3380CC4-5D6E-409C-BE32-E72D297353CC}">
                <c16:uniqueId val="{00000003-6A59-442E-BD91-FDD423105236}"/>
              </c:ext>
            </c:extLst>
          </c:dPt>
          <c:dPt>
            <c:idx val="2"/>
            <c:invertIfNegative val="0"/>
            <c:bubble3D val="0"/>
            <c:spPr>
              <a:solidFill>
                <a:srgbClr val="B23A2E"/>
              </a:solidFill>
              <a:effectLst/>
            </c:spPr>
            <c:extLst>
              <c:ext xmlns:c16="http://schemas.microsoft.com/office/drawing/2014/chart" uri="{C3380CC4-5D6E-409C-BE32-E72D297353CC}">
                <c16:uniqueId val="{00000005-6A59-442E-BD91-FDD423105236}"/>
              </c:ext>
            </c:extLst>
          </c:dPt>
          <c:dPt>
            <c:idx val="3"/>
            <c:invertIfNegative val="0"/>
            <c:bubble3D val="0"/>
            <c:extLst>
              <c:ext xmlns:c16="http://schemas.microsoft.com/office/drawing/2014/chart" uri="{C3380CC4-5D6E-409C-BE32-E72D297353CC}">
                <c16:uniqueId val="{00000007-6A59-442E-BD91-FDD423105236}"/>
              </c:ext>
            </c:extLst>
          </c:dPt>
          <c:dLbls>
            <c:numFmt formatCode="#,##0,,&quot;jt&quot;;\-#,##0,,&quot;jt&quot;" sourceLinked="0"/>
            <c:spPr>
              <a:noFill/>
              <a:ln>
                <a:noFill/>
              </a:ln>
              <a:effectLst/>
            </c:spPr>
            <c:txPr>
              <a:bodyPr/>
              <a:lstStyle/>
              <a:p>
                <a:pPr>
                  <a:defRPr sz="950" b="0" i="0" u="none" strike="noStrike">
                    <a:solidFill>
                      <a:srgbClr val="3E272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Pendapatan</c:v>
                </c:pt>
                <c:pt idx="1">
                  <c:v>Biaya Biji
Kakao</c:v>
                </c:pt>
                <c:pt idx="2">
                  <c:v>Biaya
Operasional</c:v>
                </c:pt>
                <c:pt idx="3">
                  <c:v>Laba
Bersih</c:v>
                </c:pt>
              </c:strCache>
            </c:strRef>
          </c:cat>
          <c:val>
            <c:numRef>
              <c:f>Sheet1!$B$2:$B$5</c:f>
              <c:numCache>
                <c:formatCode>General</c:formatCode>
                <c:ptCount val="4"/>
                <c:pt idx="0">
                  <c:v>156252915</c:v>
                </c:pt>
                <c:pt idx="1">
                  <c:v>-106250000</c:v>
                </c:pt>
                <c:pt idx="2">
                  <c:v>-34127500</c:v>
                </c:pt>
                <c:pt idx="3">
                  <c:v>15875415</c:v>
                </c:pt>
              </c:numCache>
            </c:numRef>
          </c:val>
          <c:extLst>
            <c:ext xmlns:c16="http://schemas.microsoft.com/office/drawing/2014/chart" uri="{C3380CC4-5D6E-409C-BE32-E72D297353CC}">
              <c16:uniqueId val="{00000008-6A59-442E-BD91-FDD42310523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D4C4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3E2723"/>
                </a:solidFill>
                <a:latin typeface="Calibri"/>
              </a:defRPr>
            </a:pPr>
            <a:r>
              <a:rPr lang="en-ID" sz="1300" b="0" i="0" u="none" strike="noStrike">
                <a:solidFill>
                  <a:srgbClr val="3E2723"/>
                </a:solidFill>
                <a:latin typeface="Calibri"/>
              </a:rPr>
              <a:t>Perbandingan Harga per Kg Biji Kakao Kering (Rp)</a:t>
            </a:r>
          </a:p>
        </c:rich>
      </c:tx>
      <c:overlay val="0"/>
    </c:title>
    <c:autoTitleDeleted val="0"/>
    <c:plotArea>
      <c:layout/>
      <c:barChart>
        <c:barDir val="col"/>
        <c:grouping val="clustered"/>
        <c:varyColors val="0"/>
        <c:ser>
          <c:idx val="0"/>
          <c:order val="0"/>
          <c:tx>
            <c:strRef>
              <c:f>Sheet1!$B$1</c:f>
              <c:strCache>
                <c:ptCount val="1"/>
                <c:pt idx="0">
                  <c:v>Rp/kg</c:v>
                </c:pt>
              </c:strCache>
            </c:strRef>
          </c:tx>
          <c:spPr>
            <a:solidFill>
              <a:srgbClr val="C8A165"/>
            </a:solidFill>
            <a:effectLst/>
          </c:spPr>
          <c:invertIfNegative val="0"/>
          <c:dPt>
            <c:idx val="0"/>
            <c:invertIfNegative val="0"/>
            <c:bubble3D val="0"/>
            <c:extLst>
              <c:ext xmlns:c16="http://schemas.microsoft.com/office/drawing/2014/chart" uri="{C3380CC4-5D6E-409C-BE32-E72D297353CC}">
                <c16:uniqueId val="{00000001-43FC-4345-9C71-3E26FF7154C6}"/>
              </c:ext>
            </c:extLst>
          </c:dPt>
          <c:dPt>
            <c:idx val="1"/>
            <c:invertIfNegative val="0"/>
            <c:bubble3D val="0"/>
            <c:spPr>
              <a:solidFill>
                <a:srgbClr val="D97B29"/>
              </a:solidFill>
              <a:effectLst/>
            </c:spPr>
            <c:extLst>
              <c:ext xmlns:c16="http://schemas.microsoft.com/office/drawing/2014/chart" uri="{C3380CC4-5D6E-409C-BE32-E72D297353CC}">
                <c16:uniqueId val="{00000003-43FC-4345-9C71-3E26FF7154C6}"/>
              </c:ext>
            </c:extLst>
          </c:dPt>
          <c:dPt>
            <c:idx val="2"/>
            <c:invertIfNegative val="0"/>
            <c:bubble3D val="0"/>
            <c:spPr>
              <a:solidFill>
                <a:srgbClr val="3E2723"/>
              </a:solidFill>
              <a:effectLst/>
            </c:spPr>
            <c:extLst>
              <c:ext xmlns:c16="http://schemas.microsoft.com/office/drawing/2014/chart" uri="{C3380CC4-5D6E-409C-BE32-E72D297353CC}">
                <c16:uniqueId val="{00000005-43FC-4345-9C71-3E26FF7154C6}"/>
              </c:ext>
            </c:extLst>
          </c:dPt>
          <c:dLbls>
            <c:numFmt formatCode="#,##0" sourceLinked="0"/>
            <c:spPr>
              <a:noFill/>
              <a:ln>
                <a:noFill/>
              </a:ln>
              <a:effectLst/>
            </c:spPr>
            <c:txPr>
              <a:bodyPr/>
              <a:lstStyle/>
              <a:p>
                <a:pPr>
                  <a:defRPr sz="1100" b="0" i="0" u="none" strike="noStrike">
                    <a:solidFill>
                      <a:srgbClr val="3E272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HPE Kemendag
Agustus 2026</c:v>
                </c:pt>
                <c:pt idx="1">
                  <c:v>Rekomendasi
(skenario dasar)</c:v>
                </c:pt>
                <c:pt idx="2">
                  <c:v>Batas atas
(B2B lot kecil)</c:v>
                </c:pt>
              </c:strCache>
            </c:strRef>
          </c:cat>
          <c:val>
            <c:numRef>
              <c:f>Sheet1!$B$2:$B$4</c:f>
              <c:numCache>
                <c:formatCode>General</c:formatCode>
                <c:ptCount val="3"/>
                <c:pt idx="0">
                  <c:v>79000</c:v>
                </c:pt>
                <c:pt idx="1">
                  <c:v>85200</c:v>
                </c:pt>
                <c:pt idx="2">
                  <c:v>152070</c:v>
                </c:pt>
              </c:numCache>
            </c:numRef>
          </c:val>
          <c:extLst>
            <c:ext xmlns:c16="http://schemas.microsoft.com/office/drawing/2014/chart" uri="{C3380CC4-5D6E-409C-BE32-E72D297353CC}">
              <c16:uniqueId val="{00000006-43FC-4345-9C71-3E26FF7154C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D4C4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3E2723"/>
                </a:solidFill>
                <a:latin typeface="Calibri"/>
              </a:defRPr>
            </a:pPr>
            <a:r>
              <a:rPr lang="en-ID" sz="1250" b="0" i="0" u="none" strike="noStrike">
                <a:solidFill>
                  <a:srgbClr val="3E2723"/>
                </a:solidFill>
                <a:latin typeface="Calibri"/>
              </a:rPr>
              <a:t>Kapasitas Terpakai terhadap Target Penuh (%)</a:t>
            </a:r>
          </a:p>
        </c:rich>
      </c:tx>
      <c:overlay val="0"/>
    </c:title>
    <c:autoTitleDeleted val="0"/>
    <c:plotArea>
      <c:layout/>
      <c:barChart>
        <c:barDir val="col"/>
        <c:grouping val="clustered"/>
        <c:varyColors val="0"/>
        <c:ser>
          <c:idx val="0"/>
          <c:order val="0"/>
          <c:tx>
            <c:strRef>
              <c:f>Sheet1!$B$1</c:f>
              <c:strCache>
                <c:ptCount val="1"/>
                <c:pt idx="0">
                  <c:v>Stabilitas Operasional (%)</c:v>
                </c:pt>
              </c:strCache>
            </c:strRef>
          </c:tx>
          <c:spPr>
            <a:solidFill>
              <a:srgbClr val="D97B29"/>
            </a:solidFill>
            <a:effectLst/>
          </c:spPr>
          <c:invertIfNegative val="0"/>
          <c:dLbls>
            <c:numFmt formatCode="0&quot;%&quot;" sourceLinked="0"/>
            <c:spPr>
              <a:noFill/>
              <a:ln>
                <a:noFill/>
              </a:ln>
              <a:effectLst/>
            </c:spPr>
            <c:txPr>
              <a:bodyPr/>
              <a:lstStyle/>
              <a:p>
                <a:pPr>
                  <a:defRPr sz="1100" b="0" i="0" u="none" strike="noStrike">
                    <a:solidFill>
                      <a:srgbClr val="3E272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Bulan 1</c:v>
                </c:pt>
                <c:pt idx="1">
                  <c:v>Bulan 2</c:v>
                </c:pt>
                <c:pt idx="2">
                  <c:v>Bulan 3</c:v>
                </c:pt>
                <c:pt idx="3">
                  <c:v>Bulan 4</c:v>
                </c:pt>
                <c:pt idx="4">
                  <c:v>Bulan 5</c:v>
                </c:pt>
                <c:pt idx="5">
                  <c:v>Bulan 6</c:v>
                </c:pt>
              </c:strCache>
            </c:strRef>
          </c:cat>
          <c:val>
            <c:numRef>
              <c:f>Sheet1!$B$2:$B$7</c:f>
              <c:numCache>
                <c:formatCode>General</c:formatCode>
                <c:ptCount val="6"/>
                <c:pt idx="0">
                  <c:v>45</c:v>
                </c:pt>
                <c:pt idx="1">
                  <c:v>53</c:v>
                </c:pt>
                <c:pt idx="2">
                  <c:v>62</c:v>
                </c:pt>
                <c:pt idx="3">
                  <c:v>73</c:v>
                </c:pt>
                <c:pt idx="4">
                  <c:v>86</c:v>
                </c:pt>
                <c:pt idx="5">
                  <c:v>100</c:v>
                </c:pt>
              </c:numCache>
            </c:numRef>
          </c:val>
          <c:extLst>
            <c:ext xmlns:c16="http://schemas.microsoft.com/office/drawing/2014/chart" uri="{C3380CC4-5D6E-409C-BE32-E72D297353CC}">
              <c16:uniqueId val="{00000000-71E8-45FD-95EA-7C6E3E693FB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D4C41"/>
                </a:solidFill>
                <a:latin typeface="Arial"/>
              </a:defRPr>
            </a:pPr>
            <a:endParaRPr lang="en-US"/>
          </a:p>
        </c:txPr>
        <c:crossAx val="2094734552"/>
        <c:crosses val="autoZero"/>
        <c:auto val="1"/>
        <c:lblAlgn val="ctr"/>
        <c:lblOffset val="100"/>
        <c:noMultiLvlLbl val="1"/>
      </c:catAx>
      <c:valAx>
        <c:axId val="2094734552"/>
        <c:scaling>
          <c:orientation val="minMax"/>
          <c:max val="115"/>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3E2723"/>
                </a:solidFill>
                <a:latin typeface="Calibri"/>
              </a:defRPr>
            </a:pPr>
            <a:r>
              <a:rPr lang="sv-SE" sz="1200" b="0" i="0" u="none" strike="noStrike">
                <a:solidFill>
                  <a:srgbClr val="3E2723"/>
                </a:solidFill>
                <a:latin typeface="Calibri"/>
              </a:rPr>
              <a:t>Laba/Rugi Bersih Bulanan (Rp juta) — Harga Biji Rp85.000/kg</a:t>
            </a:r>
          </a:p>
        </c:rich>
      </c:tx>
      <c:overlay val="0"/>
    </c:title>
    <c:autoTitleDeleted val="0"/>
    <c:plotArea>
      <c:layout/>
      <c:barChart>
        <c:barDir val="col"/>
        <c:grouping val="clustered"/>
        <c:varyColors val="0"/>
        <c:ser>
          <c:idx val="0"/>
          <c:order val="0"/>
          <c:tx>
            <c:strRef>
              <c:f>Sheet1!$B$1</c:f>
              <c:strCache>
                <c:ptCount val="1"/>
                <c:pt idx="0">
                  <c:v>Laba/Rugi Bersih (Rp juta)</c:v>
                </c:pt>
              </c:strCache>
            </c:strRef>
          </c:tx>
          <c:spPr>
            <a:solidFill>
              <a:srgbClr val="D97B29"/>
            </a:solidFill>
            <a:effectLst/>
          </c:spPr>
          <c:invertIfNegative val="0"/>
          <c:dPt>
            <c:idx val="0"/>
            <c:invertIfNegative val="0"/>
            <c:bubble3D val="0"/>
            <c:spPr>
              <a:solidFill>
                <a:srgbClr val="B23A2E"/>
              </a:solidFill>
              <a:effectLst/>
            </c:spPr>
            <c:extLst>
              <c:ext xmlns:c16="http://schemas.microsoft.com/office/drawing/2014/chart" uri="{C3380CC4-5D6E-409C-BE32-E72D297353CC}">
                <c16:uniqueId val="{00000001-FFBE-4477-BA36-E607B5074E60}"/>
              </c:ext>
            </c:extLst>
          </c:dPt>
          <c:dPt>
            <c:idx val="1"/>
            <c:invertIfNegative val="0"/>
            <c:bubble3D val="0"/>
            <c:spPr>
              <a:solidFill>
                <a:srgbClr val="B23A2E"/>
              </a:solidFill>
              <a:effectLst/>
            </c:spPr>
            <c:extLst>
              <c:ext xmlns:c16="http://schemas.microsoft.com/office/drawing/2014/chart" uri="{C3380CC4-5D6E-409C-BE32-E72D297353CC}">
                <c16:uniqueId val="{00000003-FFBE-4477-BA36-E607B5074E60}"/>
              </c:ext>
            </c:extLst>
          </c:dPt>
          <c:dPt>
            <c:idx val="2"/>
            <c:invertIfNegative val="0"/>
            <c:bubble3D val="0"/>
            <c:spPr>
              <a:solidFill>
                <a:srgbClr val="B23A2E"/>
              </a:solidFill>
              <a:effectLst/>
            </c:spPr>
            <c:extLst>
              <c:ext xmlns:c16="http://schemas.microsoft.com/office/drawing/2014/chart" uri="{C3380CC4-5D6E-409C-BE32-E72D297353CC}">
                <c16:uniqueId val="{00000005-FFBE-4477-BA36-E607B5074E60}"/>
              </c:ext>
            </c:extLst>
          </c:dPt>
          <c:dPt>
            <c:idx val="3"/>
            <c:invertIfNegative val="0"/>
            <c:bubble3D val="0"/>
            <c:extLst>
              <c:ext xmlns:c16="http://schemas.microsoft.com/office/drawing/2014/chart" uri="{C3380CC4-5D6E-409C-BE32-E72D297353CC}">
                <c16:uniqueId val="{00000007-FFBE-4477-BA36-E607B5074E60}"/>
              </c:ext>
            </c:extLst>
          </c:dPt>
          <c:dPt>
            <c:idx val="4"/>
            <c:invertIfNegative val="0"/>
            <c:bubble3D val="0"/>
            <c:extLst>
              <c:ext xmlns:c16="http://schemas.microsoft.com/office/drawing/2014/chart" uri="{C3380CC4-5D6E-409C-BE32-E72D297353CC}">
                <c16:uniqueId val="{00000009-FFBE-4477-BA36-E607B5074E60}"/>
              </c:ext>
            </c:extLst>
          </c:dPt>
          <c:dPt>
            <c:idx val="5"/>
            <c:invertIfNegative val="0"/>
            <c:bubble3D val="0"/>
            <c:extLst>
              <c:ext xmlns:c16="http://schemas.microsoft.com/office/drawing/2014/chart" uri="{C3380CC4-5D6E-409C-BE32-E72D297353CC}">
                <c16:uniqueId val="{0000000B-FFBE-4477-BA36-E607B5074E60}"/>
              </c:ext>
            </c:extLst>
          </c:dPt>
          <c:dLbls>
            <c:numFmt formatCode="0.0;\-0.0" sourceLinked="0"/>
            <c:spPr>
              <a:noFill/>
              <a:ln>
                <a:noFill/>
              </a:ln>
              <a:effectLst/>
            </c:spPr>
            <c:txPr>
              <a:bodyPr/>
              <a:lstStyle/>
              <a:p>
                <a:pPr>
                  <a:defRPr sz="1050" b="0" i="0" u="none" strike="noStrike">
                    <a:solidFill>
                      <a:srgbClr val="3E272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Bulan 1</c:v>
                </c:pt>
                <c:pt idx="1">
                  <c:v>Bulan 2</c:v>
                </c:pt>
                <c:pt idx="2">
                  <c:v>Bulan 3</c:v>
                </c:pt>
                <c:pt idx="3">
                  <c:v>Bulan 4</c:v>
                </c:pt>
                <c:pt idx="4">
                  <c:v>Bulan 5</c:v>
                </c:pt>
                <c:pt idx="5">
                  <c:v>Bulan 6</c:v>
                </c:pt>
              </c:strCache>
            </c:strRef>
          </c:cat>
          <c:val>
            <c:numRef>
              <c:f>Sheet1!$B$2:$B$7</c:f>
              <c:numCache>
                <c:formatCode>General</c:formatCode>
                <c:ptCount val="6"/>
                <c:pt idx="0">
                  <c:v>-11.63</c:v>
                </c:pt>
                <c:pt idx="1">
                  <c:v>-7.63</c:v>
                </c:pt>
                <c:pt idx="2">
                  <c:v>-3.13</c:v>
                </c:pt>
                <c:pt idx="3">
                  <c:v>2.37</c:v>
                </c:pt>
                <c:pt idx="4">
                  <c:v>8.8800000000000008</c:v>
                </c:pt>
                <c:pt idx="5">
                  <c:v>15.88</c:v>
                </c:pt>
              </c:numCache>
            </c:numRef>
          </c:val>
          <c:extLst>
            <c:ext xmlns:c16="http://schemas.microsoft.com/office/drawing/2014/chart" uri="{C3380CC4-5D6E-409C-BE32-E72D297353CC}">
              <c16:uniqueId val="{0000000C-FFBE-4477-BA36-E607B5074E6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D4C4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8281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2.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3.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2.png"/><Relationship Id="rId6"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4.xml"/><Relationship Id="rId4" Type="http://schemas.openxmlformats.org/officeDocument/2006/relationships/image" Target="../media/image17.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hart" Target="../charts/chart5.xml"/><Relationship Id="rId4" Type="http://schemas.openxmlformats.org/officeDocument/2006/relationships/image" Target="../media/image11.png"/><Relationship Id="rId5"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21.png"/><Relationship Id="rId7"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E2723"/>
        </a:solidFill>
        <a:effectLst/>
      </p:bgPr>
    </p:bg>
    <p:spTree>
      <p:nvGrpSpPr>
        <p:cNvPr id="1" name=""/>
        <p:cNvGrpSpPr/>
        <p:nvPr/>
      </p:nvGrpSpPr>
      <p:grpSpPr>
        <a:xfrm>
          <a:off x="0" y="0"/>
          <a:ext cx="0" cy="0"/>
          <a:chOff x="0" y="0"/>
          <a:chExt cx="0" cy="0"/>
        </a:xfrm>
      </p:grpSpPr>
      <p:sp>
        <p:nvSpPr>
          <p:cNvPr id="2" name="Shape 0"/>
          <p:cNvSpPr/>
          <p:nvPr/>
        </p:nvSpPr>
        <p:spPr>
          <a:xfrm>
            <a:off x="9052560" y="4114800"/>
            <a:ext cx="3840480" cy="3840480"/>
          </a:xfrm>
          <a:prstGeom prst="ellipse">
            <a:avLst/>
          </a:prstGeom>
          <a:solidFill>
            <a:srgbClr val="6D4C41"/>
          </a:solidFill>
          <a:ln/>
        </p:spPr>
      </p:sp>
      <p:sp>
        <p:nvSpPr>
          <p:cNvPr id="3" name="Shape 1"/>
          <p:cNvSpPr/>
          <p:nvPr/>
        </p:nvSpPr>
        <p:spPr>
          <a:xfrm>
            <a:off x="10332720" y="1005840"/>
            <a:ext cx="2377440" cy="2377440"/>
          </a:xfrm>
          <a:prstGeom prst="ellipse">
            <a:avLst/>
          </a:prstGeom>
          <a:solidFill>
            <a:srgbClr val="C8A165"/>
          </a:solidFill>
          <a:ln/>
        </p:spPr>
      </p:sp>
      <p:sp>
        <p:nvSpPr>
          <p:cNvPr id="4" name="Shape 2"/>
          <p:cNvSpPr/>
          <p:nvPr/>
        </p:nvSpPr>
        <p:spPr>
          <a:xfrm>
            <a:off x="10607040" y="1280160"/>
            <a:ext cx="1828800" cy="1828800"/>
          </a:xfrm>
          <a:prstGeom prst="ellipse">
            <a:avLst/>
          </a:prstGeom>
          <a:solidFill>
            <a:srgbClr val="3E2723"/>
          </a:solidFill>
          <a:ln/>
        </p:spPr>
      </p:sp>
      <p:sp>
        <p:nvSpPr>
          <p:cNvPr id="5" name="Shape 3"/>
          <p:cNvSpPr/>
          <p:nvPr/>
        </p:nvSpPr>
        <p:spPr>
          <a:xfrm>
            <a:off x="9464040" y="4526280"/>
            <a:ext cx="2468880" cy="2468880"/>
          </a:xfrm>
          <a:prstGeom prst="ellipse">
            <a:avLst/>
          </a:prstGeom>
          <a:solidFill>
            <a:srgbClr val="D97B29"/>
          </a:solidFill>
          <a:ln/>
        </p:spPr>
      </p:sp>
      <p:pic>
        <p:nvPicPr>
          <p:cNvPr id="6" name="Image 0" descr="/home/claude/ballmill_pptx/icons/cookie_white.png"/>
          <p:cNvPicPr>
            <a:picLocks noChangeAspect="1"/>
          </p:cNvPicPr>
          <p:nvPr/>
        </p:nvPicPr>
        <p:blipFill>
          <a:blip r:embed="rId3"/>
          <a:stretch>
            <a:fillRect/>
          </a:stretch>
        </p:blipFill>
        <p:spPr>
          <a:xfrm>
            <a:off x="10105949" y="5168189"/>
            <a:ext cx="1185062" cy="1185062"/>
          </a:xfrm>
          <a:prstGeom prst="rect">
            <a:avLst/>
          </a:prstGeom>
        </p:spPr>
      </p:pic>
      <p:sp>
        <p:nvSpPr>
          <p:cNvPr id="7" name="Text 4"/>
          <p:cNvSpPr txBox="1"/>
          <p:nvPr/>
        </p:nvSpPr>
        <p:spPr>
          <a:xfrm>
            <a:off x="640079" y="822959"/>
            <a:ext cx="9536127" cy="1645359"/>
          </a:xfrm>
          <a:prstGeom prst="rect">
            <a:avLst/>
          </a:prstGeom>
          <a:noFill/>
          <a:ln/>
        </p:spPr>
        <p:txBody>
          <a:bodyPr wrap="square" lIns="0" tIns="0" rIns="0" bIns="0" rtlCol="0" anchor="ctr"/>
          <a:lstStyle/>
          <a:p>
            <a:pPr marL="0" indent="0">
              <a:buNone/>
            </a:pPr>
            <a:r>
              <a:rPr lang="en-US" sz="3200" b="1" kern="0" spc="200" dirty="0">
                <a:solidFill>
                  <a:schemeClr val="bg1"/>
                </a:solidFill>
                <a:latin typeface="Calibri" pitchFamily="34" charset="0"/>
                <a:ea typeface="Calibri" pitchFamily="34" charset="-122"/>
                <a:cs typeface="Calibri" pitchFamily="34" charset="-120"/>
              </a:rPr>
              <a:t>ANALISIS KAPASITAS PRODUKSI &amp; PENDAPATAN · UNIT PENGOLAHAN COKELAT SKALA KECIL</a:t>
            </a:r>
            <a:endParaRPr lang="en-US" sz="3200" dirty="0">
              <a:solidFill>
                <a:schemeClr val="bg1"/>
              </a:solidFill>
            </a:endParaRPr>
          </a:p>
        </p:txBody>
      </p:sp>
      <p:sp>
        <p:nvSpPr>
          <p:cNvPr id="9" name="Text 6"/>
          <p:cNvSpPr txBox="1"/>
          <p:nvPr/>
        </p:nvSpPr>
        <p:spPr>
          <a:xfrm>
            <a:off x="640080" y="2264402"/>
            <a:ext cx="7772400" cy="822960"/>
          </a:xfrm>
          <a:prstGeom prst="rect">
            <a:avLst/>
          </a:prstGeom>
          <a:noFill/>
          <a:ln/>
        </p:spPr>
        <p:txBody>
          <a:bodyPr wrap="square" lIns="0" tIns="0" rIns="0" bIns="0" rtlCol="0" anchor="ctr"/>
          <a:lstStyle/>
          <a:p>
            <a:pPr marL="0" indent="0">
              <a:lnSpc>
                <a:spcPct val="120000"/>
              </a:lnSpc>
              <a:buNone/>
            </a:pPr>
            <a:r>
              <a:rPr lang="en-US" sz="1700" dirty="0">
                <a:solidFill>
                  <a:srgbClr val="F4ECE1"/>
                </a:solidFill>
                <a:latin typeface="Calibri" pitchFamily="34" charset="0"/>
                <a:ea typeface="Calibri" pitchFamily="34" charset="-122"/>
                <a:cs typeface="Calibri" pitchFamily="34" charset="-120"/>
              </a:rPr>
              <a:t>Kebutuhan bahan baku, hasil produk, estimasi pendapatan, dan harga beli biji kakao yang pantas agar margin bersih tetap ≥ 10%</a:t>
            </a:r>
            <a:endParaRPr lang="en-US" sz="1700" dirty="0"/>
          </a:p>
        </p:txBody>
      </p:sp>
      <p:sp>
        <p:nvSpPr>
          <p:cNvPr id="10" name="Text 7"/>
          <p:cNvSpPr txBox="1"/>
          <p:nvPr/>
        </p:nvSpPr>
        <p:spPr>
          <a:xfrm>
            <a:off x="640080" y="6126480"/>
            <a:ext cx="5486400" cy="320040"/>
          </a:xfrm>
          <a:prstGeom prst="rect">
            <a:avLst/>
          </a:prstGeom>
          <a:noFill/>
          <a:ln/>
        </p:spPr>
        <p:txBody>
          <a:bodyPr wrap="square" lIns="0" tIns="0" rIns="0" bIns="0" rtlCol="0" anchor="ctr"/>
          <a:lstStyle/>
          <a:p>
            <a:pPr marL="0" indent="0">
              <a:buNone/>
            </a:pPr>
            <a:r>
              <a:rPr lang="en-US" sz="1200" dirty="0">
                <a:solidFill>
                  <a:srgbClr val="C8A165"/>
                </a:solidFill>
                <a:latin typeface="Calibri" pitchFamily="34" charset="0"/>
                <a:ea typeface="Calibri" pitchFamily="34" charset="-122"/>
                <a:cs typeface="Calibri" pitchFamily="34" charset="-120"/>
              </a:rPr>
              <a:t>Dokumen kerja  ·  28 Agustus 2026</a:t>
            </a:r>
            <a:endParaRPr lang="en-US" sz="1200" dirty="0"/>
          </a:p>
        </p:txBody>
      </p:sp>
      <p:pic>
        <p:nvPicPr>
          <p:cNvPr id="11" name="Picture 10">
            <a:extLst>
              <a:ext uri="{FF2B5EF4-FFF2-40B4-BE49-F238E27FC236}">
                <a16:creationId xmlns:a16="http://schemas.microsoft.com/office/drawing/2014/main" id="{0D6F75AB-381C-D9C8-2710-E1B8B6875E32}"/>
              </a:ext>
            </a:extLst>
          </p:cNvPr>
          <p:cNvPicPr>
            <a:picLocks noChangeAspect="1"/>
          </p:cNvPicPr>
          <p:nvPr/>
        </p:nvPicPr>
        <p:blipFill>
          <a:blip r:embed="rId4"/>
          <a:stretch>
            <a:fillRect/>
          </a:stretch>
        </p:blipFill>
        <p:spPr>
          <a:xfrm>
            <a:off x="2133388" y="3893835"/>
            <a:ext cx="1259246" cy="1274354"/>
          </a:xfrm>
          <a:prstGeom prst="rect">
            <a:avLst/>
          </a:prstGeom>
        </p:spPr>
      </p:pic>
      <p:pic>
        <p:nvPicPr>
          <p:cNvPr id="13" name="Picture 12">
            <a:extLst>
              <a:ext uri="{FF2B5EF4-FFF2-40B4-BE49-F238E27FC236}">
                <a16:creationId xmlns:a16="http://schemas.microsoft.com/office/drawing/2014/main" id="{907DF62E-C7CE-E9EB-32D0-86901E442AAF}"/>
              </a:ext>
            </a:extLst>
          </p:cNvPr>
          <p:cNvPicPr>
            <a:picLocks noChangeAspect="1"/>
          </p:cNvPicPr>
          <p:nvPr/>
        </p:nvPicPr>
        <p:blipFill>
          <a:blip r:embed="rId5"/>
          <a:stretch>
            <a:fillRect/>
          </a:stretch>
        </p:blipFill>
        <p:spPr>
          <a:xfrm>
            <a:off x="666352" y="3893835"/>
            <a:ext cx="1264889" cy="1264889"/>
          </a:xfrm>
          <a:prstGeom prst="rect">
            <a:avLst/>
          </a:prstGeom>
          <a:solidFill>
            <a:schemeClr val="bg1"/>
          </a:solidFill>
          <a:ln>
            <a:solidFill>
              <a:schemeClr val="bg1"/>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RINGKASAN EKSEKUTIF</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Gambaran Umum Skenario Dasar (per Bulan)</a:t>
            </a:r>
            <a:endParaRPr lang="en-US" sz="3000" dirty="0"/>
          </a:p>
        </p:txBody>
      </p:sp>
      <p:sp>
        <p:nvSpPr>
          <p:cNvPr id="4" name="Shape 2"/>
          <p:cNvSpPr/>
          <p:nvPr/>
        </p:nvSpPr>
        <p:spPr>
          <a:xfrm>
            <a:off x="548640" y="1600200"/>
            <a:ext cx="3520440" cy="1874520"/>
          </a:xfrm>
          <a:prstGeom prst="roundRect">
            <a:avLst>
              <a:gd name="adj" fmla="val 4390"/>
            </a:avLst>
          </a:prstGeom>
          <a:solidFill>
            <a:srgbClr val="F4ECE1"/>
          </a:solidFill>
          <a:ln/>
          <a:effectLst>
            <a:outerShdw blurRad="76200" dist="25400" dir="5400000" algn="bl" rotWithShape="0">
              <a:srgbClr val="9C8E80">
                <a:alpha val="18000"/>
              </a:srgbClr>
            </a:outerShdw>
          </a:effectLst>
        </p:spPr>
      </p:sp>
      <p:sp>
        <p:nvSpPr>
          <p:cNvPr id="5" name="Shape 3"/>
          <p:cNvSpPr/>
          <p:nvPr/>
        </p:nvSpPr>
        <p:spPr>
          <a:xfrm>
            <a:off x="768096" y="1819656"/>
            <a:ext cx="566928" cy="566928"/>
          </a:xfrm>
          <a:prstGeom prst="ellipse">
            <a:avLst/>
          </a:prstGeom>
          <a:solidFill>
            <a:srgbClr val="D97B29"/>
          </a:solidFill>
          <a:ln/>
        </p:spPr>
      </p:sp>
      <p:pic>
        <p:nvPicPr>
          <p:cNvPr id="6" name="Image 0" descr="/home/claude/ballmill_pptx/icons/seedling_white.png"/>
          <p:cNvPicPr>
            <a:picLocks noChangeAspect="1"/>
          </p:cNvPicPr>
          <p:nvPr/>
        </p:nvPicPr>
        <p:blipFill>
          <a:blip r:embed="rId3"/>
          <a:stretch>
            <a:fillRect/>
          </a:stretch>
        </p:blipFill>
        <p:spPr>
          <a:xfrm>
            <a:off x="915497" y="1967057"/>
            <a:ext cx="272125" cy="272125"/>
          </a:xfrm>
          <a:prstGeom prst="rect">
            <a:avLst/>
          </a:prstGeom>
        </p:spPr>
      </p:pic>
      <p:sp>
        <p:nvSpPr>
          <p:cNvPr id="7" name="Text 4"/>
          <p:cNvSpPr txBox="1"/>
          <p:nvPr/>
        </p:nvSpPr>
        <p:spPr>
          <a:xfrm>
            <a:off x="768096" y="2459736"/>
            <a:ext cx="3081528"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1.250 kg</a:t>
            </a:r>
            <a:endParaRPr lang="en-US" sz="2200" dirty="0"/>
          </a:p>
        </p:txBody>
      </p:sp>
      <p:sp>
        <p:nvSpPr>
          <p:cNvPr id="8" name="Text 5"/>
          <p:cNvSpPr txBox="1"/>
          <p:nvPr/>
        </p:nvSpPr>
        <p:spPr>
          <a:xfrm>
            <a:off x="768096" y="2916936"/>
            <a:ext cx="3081528" cy="44805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Biji kakao kering dibutuhkan / bulan</a:t>
            </a:r>
            <a:endParaRPr lang="en-US" sz="1150" dirty="0"/>
          </a:p>
        </p:txBody>
      </p:sp>
      <p:sp>
        <p:nvSpPr>
          <p:cNvPr id="9" name="Shape 6"/>
          <p:cNvSpPr/>
          <p:nvPr/>
        </p:nvSpPr>
        <p:spPr>
          <a:xfrm>
            <a:off x="4325112" y="1600200"/>
            <a:ext cx="3520440" cy="1874520"/>
          </a:xfrm>
          <a:prstGeom prst="roundRect">
            <a:avLst>
              <a:gd name="adj" fmla="val 4390"/>
            </a:avLst>
          </a:prstGeom>
          <a:solidFill>
            <a:srgbClr val="F4ECE1"/>
          </a:solidFill>
          <a:ln/>
          <a:effectLst>
            <a:outerShdw blurRad="76200" dist="25400" dir="5400000" algn="bl" rotWithShape="0">
              <a:srgbClr val="9C8E80">
                <a:alpha val="18000"/>
              </a:srgbClr>
            </a:outerShdw>
          </a:effectLst>
        </p:spPr>
      </p:sp>
      <p:sp>
        <p:nvSpPr>
          <p:cNvPr id="10" name="Shape 7"/>
          <p:cNvSpPr/>
          <p:nvPr/>
        </p:nvSpPr>
        <p:spPr>
          <a:xfrm>
            <a:off x="4544568" y="1819656"/>
            <a:ext cx="566928" cy="566928"/>
          </a:xfrm>
          <a:prstGeom prst="ellipse">
            <a:avLst/>
          </a:prstGeom>
          <a:solidFill>
            <a:srgbClr val="D97B29"/>
          </a:solidFill>
          <a:ln/>
        </p:spPr>
      </p:sp>
      <p:pic>
        <p:nvPicPr>
          <p:cNvPr id="11" name="Image 1" descr="/home/claude/ballmill_pptx/icons/flask_white.png"/>
          <p:cNvPicPr>
            <a:picLocks noChangeAspect="1"/>
          </p:cNvPicPr>
          <p:nvPr/>
        </p:nvPicPr>
        <p:blipFill>
          <a:blip r:embed="rId4"/>
          <a:stretch>
            <a:fillRect/>
          </a:stretch>
        </p:blipFill>
        <p:spPr>
          <a:xfrm>
            <a:off x="4691969" y="1967057"/>
            <a:ext cx="272125" cy="272125"/>
          </a:xfrm>
          <a:prstGeom prst="rect">
            <a:avLst/>
          </a:prstGeom>
        </p:spPr>
      </p:pic>
      <p:sp>
        <p:nvSpPr>
          <p:cNvPr id="12" name="Text 8"/>
          <p:cNvSpPr txBox="1"/>
          <p:nvPr/>
        </p:nvSpPr>
        <p:spPr>
          <a:xfrm>
            <a:off x="4544568" y="2459736"/>
            <a:ext cx="3081528"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980 kg</a:t>
            </a:r>
            <a:endParaRPr lang="en-US" sz="2200" dirty="0"/>
          </a:p>
        </p:txBody>
      </p:sp>
      <p:sp>
        <p:nvSpPr>
          <p:cNvPr id="13" name="Text 9"/>
          <p:cNvSpPr txBox="1"/>
          <p:nvPr/>
        </p:nvSpPr>
        <p:spPr>
          <a:xfrm>
            <a:off x="4544568" y="2916936"/>
            <a:ext cx="3081528" cy="44805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Cocoa liquor dihasilkan / bulan</a:t>
            </a:r>
            <a:endParaRPr lang="en-US" sz="1150" dirty="0"/>
          </a:p>
        </p:txBody>
      </p:sp>
      <p:sp>
        <p:nvSpPr>
          <p:cNvPr id="14" name="Shape 10"/>
          <p:cNvSpPr/>
          <p:nvPr/>
        </p:nvSpPr>
        <p:spPr>
          <a:xfrm>
            <a:off x="8101584" y="1600200"/>
            <a:ext cx="3520440" cy="1874520"/>
          </a:xfrm>
          <a:prstGeom prst="roundRect">
            <a:avLst>
              <a:gd name="adj" fmla="val 4390"/>
            </a:avLst>
          </a:prstGeom>
          <a:solidFill>
            <a:srgbClr val="F4ECE1"/>
          </a:solidFill>
          <a:ln/>
          <a:effectLst>
            <a:outerShdw blurRad="76200" dist="25400" dir="5400000" algn="bl" rotWithShape="0">
              <a:srgbClr val="9C8E80">
                <a:alpha val="18000"/>
              </a:srgbClr>
            </a:outerShdw>
          </a:effectLst>
        </p:spPr>
      </p:sp>
      <p:sp>
        <p:nvSpPr>
          <p:cNvPr id="15" name="Shape 11"/>
          <p:cNvSpPr/>
          <p:nvPr/>
        </p:nvSpPr>
        <p:spPr>
          <a:xfrm>
            <a:off x="8321040" y="1819656"/>
            <a:ext cx="566928" cy="566928"/>
          </a:xfrm>
          <a:prstGeom prst="ellipse">
            <a:avLst/>
          </a:prstGeom>
          <a:solidFill>
            <a:srgbClr val="D97B29"/>
          </a:solidFill>
          <a:ln/>
        </p:spPr>
      </p:sp>
      <p:pic>
        <p:nvPicPr>
          <p:cNvPr id="16" name="Image 2" descr="/home/claude/ballmill_pptx/icons/cookie_white.png"/>
          <p:cNvPicPr>
            <a:picLocks noChangeAspect="1"/>
          </p:cNvPicPr>
          <p:nvPr/>
        </p:nvPicPr>
        <p:blipFill>
          <a:blip r:embed="rId5"/>
          <a:stretch>
            <a:fillRect/>
          </a:stretch>
        </p:blipFill>
        <p:spPr>
          <a:xfrm>
            <a:off x="8468441" y="1967057"/>
            <a:ext cx="272125" cy="272125"/>
          </a:xfrm>
          <a:prstGeom prst="rect">
            <a:avLst/>
          </a:prstGeom>
        </p:spPr>
      </p:pic>
      <p:sp>
        <p:nvSpPr>
          <p:cNvPr id="17" name="Text 12"/>
          <p:cNvSpPr txBox="1"/>
          <p:nvPr/>
        </p:nvSpPr>
        <p:spPr>
          <a:xfrm>
            <a:off x="8321040" y="2459736"/>
            <a:ext cx="3081528"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428,75 kg</a:t>
            </a:r>
            <a:endParaRPr lang="en-US" sz="2200" dirty="0"/>
          </a:p>
        </p:txBody>
      </p:sp>
      <p:sp>
        <p:nvSpPr>
          <p:cNvPr id="18" name="Text 13"/>
          <p:cNvSpPr txBox="1"/>
          <p:nvPr/>
        </p:nvSpPr>
        <p:spPr>
          <a:xfrm>
            <a:off x="8321040" y="2916936"/>
            <a:ext cx="3081528" cy="44805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Lemak kakao dihasilkan / bulan</a:t>
            </a:r>
            <a:endParaRPr lang="en-US" sz="1150" dirty="0"/>
          </a:p>
        </p:txBody>
      </p:sp>
      <p:sp>
        <p:nvSpPr>
          <p:cNvPr id="19" name="Shape 14"/>
          <p:cNvSpPr/>
          <p:nvPr/>
        </p:nvSpPr>
        <p:spPr>
          <a:xfrm>
            <a:off x="548640" y="3730752"/>
            <a:ext cx="3520440" cy="1874520"/>
          </a:xfrm>
          <a:prstGeom prst="roundRect">
            <a:avLst>
              <a:gd name="adj" fmla="val 4390"/>
            </a:avLst>
          </a:prstGeom>
          <a:solidFill>
            <a:srgbClr val="F4ECE1"/>
          </a:solidFill>
          <a:ln/>
          <a:effectLst>
            <a:outerShdw blurRad="76200" dist="25400" dir="5400000" algn="bl" rotWithShape="0">
              <a:srgbClr val="9C8E80">
                <a:alpha val="18000"/>
              </a:srgbClr>
            </a:outerShdw>
          </a:effectLst>
        </p:spPr>
      </p:sp>
      <p:sp>
        <p:nvSpPr>
          <p:cNvPr id="20" name="Shape 15"/>
          <p:cNvSpPr/>
          <p:nvPr/>
        </p:nvSpPr>
        <p:spPr>
          <a:xfrm>
            <a:off x="768096" y="3950208"/>
            <a:ext cx="566928" cy="566928"/>
          </a:xfrm>
          <a:prstGeom prst="ellipse">
            <a:avLst/>
          </a:prstGeom>
          <a:solidFill>
            <a:srgbClr val="D97B29"/>
          </a:solidFill>
          <a:ln/>
        </p:spPr>
      </p:sp>
      <p:pic>
        <p:nvPicPr>
          <p:cNvPr id="21" name="Image 3" descr="/home/claude/ballmill_pptx/icons/box_white.png"/>
          <p:cNvPicPr>
            <a:picLocks noChangeAspect="1"/>
          </p:cNvPicPr>
          <p:nvPr/>
        </p:nvPicPr>
        <p:blipFill>
          <a:blip r:embed="rId6"/>
          <a:stretch>
            <a:fillRect/>
          </a:stretch>
        </p:blipFill>
        <p:spPr>
          <a:xfrm>
            <a:off x="915497" y="4097609"/>
            <a:ext cx="272125" cy="272125"/>
          </a:xfrm>
          <a:prstGeom prst="rect">
            <a:avLst/>
          </a:prstGeom>
        </p:spPr>
      </p:pic>
      <p:sp>
        <p:nvSpPr>
          <p:cNvPr id="22" name="Text 16"/>
          <p:cNvSpPr txBox="1"/>
          <p:nvPr/>
        </p:nvSpPr>
        <p:spPr>
          <a:xfrm>
            <a:off x="768096" y="4590288"/>
            <a:ext cx="3081528"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551,25 kg</a:t>
            </a:r>
            <a:endParaRPr lang="en-US" sz="2200" dirty="0"/>
          </a:p>
        </p:txBody>
      </p:sp>
      <p:sp>
        <p:nvSpPr>
          <p:cNvPr id="23" name="Text 17"/>
          <p:cNvSpPr txBox="1"/>
          <p:nvPr/>
        </p:nvSpPr>
        <p:spPr>
          <a:xfrm>
            <a:off x="768096" y="5047488"/>
            <a:ext cx="3081528" cy="44805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Bubuk kakao dihasilkan / bulan</a:t>
            </a:r>
            <a:endParaRPr lang="en-US" sz="1150" dirty="0"/>
          </a:p>
        </p:txBody>
      </p:sp>
      <p:sp>
        <p:nvSpPr>
          <p:cNvPr id="24" name="Shape 18"/>
          <p:cNvSpPr/>
          <p:nvPr/>
        </p:nvSpPr>
        <p:spPr>
          <a:xfrm>
            <a:off x="4325112" y="3730752"/>
            <a:ext cx="3520440" cy="1874520"/>
          </a:xfrm>
          <a:prstGeom prst="roundRect">
            <a:avLst>
              <a:gd name="adj" fmla="val 4390"/>
            </a:avLst>
          </a:prstGeom>
          <a:solidFill>
            <a:srgbClr val="F4ECE1"/>
          </a:solidFill>
          <a:ln/>
          <a:effectLst>
            <a:outerShdw blurRad="76200" dist="25400" dir="5400000" algn="bl" rotWithShape="0">
              <a:srgbClr val="9C8E80">
                <a:alpha val="18000"/>
              </a:srgbClr>
            </a:outerShdw>
          </a:effectLst>
        </p:spPr>
      </p:sp>
      <p:sp>
        <p:nvSpPr>
          <p:cNvPr id="25" name="Shape 19"/>
          <p:cNvSpPr/>
          <p:nvPr/>
        </p:nvSpPr>
        <p:spPr>
          <a:xfrm>
            <a:off x="4544568" y="3950208"/>
            <a:ext cx="566928" cy="566928"/>
          </a:xfrm>
          <a:prstGeom prst="ellipse">
            <a:avLst/>
          </a:prstGeom>
          <a:solidFill>
            <a:srgbClr val="D97B29"/>
          </a:solidFill>
          <a:ln/>
        </p:spPr>
      </p:sp>
      <p:pic>
        <p:nvPicPr>
          <p:cNvPr id="26" name="Image 4" descr="/home/claude/ballmill_pptx/icons/moneybill_white.png"/>
          <p:cNvPicPr>
            <a:picLocks noChangeAspect="1"/>
          </p:cNvPicPr>
          <p:nvPr/>
        </p:nvPicPr>
        <p:blipFill>
          <a:blip r:embed="rId7"/>
          <a:stretch>
            <a:fillRect/>
          </a:stretch>
        </p:blipFill>
        <p:spPr>
          <a:xfrm>
            <a:off x="4691969" y="4097609"/>
            <a:ext cx="272125" cy="272125"/>
          </a:xfrm>
          <a:prstGeom prst="rect">
            <a:avLst/>
          </a:prstGeom>
        </p:spPr>
      </p:pic>
      <p:sp>
        <p:nvSpPr>
          <p:cNvPr id="27" name="Text 20"/>
          <p:cNvSpPr txBox="1"/>
          <p:nvPr/>
        </p:nvSpPr>
        <p:spPr>
          <a:xfrm>
            <a:off x="4544568" y="4590288"/>
            <a:ext cx="3081528"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Rp156,3–249,1 jt</a:t>
            </a:r>
            <a:endParaRPr lang="en-US" sz="2200" dirty="0"/>
          </a:p>
        </p:txBody>
      </p:sp>
      <p:sp>
        <p:nvSpPr>
          <p:cNvPr id="28" name="Text 21"/>
          <p:cNvSpPr txBox="1"/>
          <p:nvPr/>
        </p:nvSpPr>
        <p:spPr>
          <a:xfrm>
            <a:off x="4544568" y="5047488"/>
            <a:ext cx="3081528" cy="44805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Estimasi pendapatan kotor / bulan</a:t>
            </a:r>
            <a:endParaRPr lang="en-US" sz="1150" dirty="0"/>
          </a:p>
        </p:txBody>
      </p:sp>
      <p:sp>
        <p:nvSpPr>
          <p:cNvPr id="29" name="Shape 22"/>
          <p:cNvSpPr/>
          <p:nvPr/>
        </p:nvSpPr>
        <p:spPr>
          <a:xfrm>
            <a:off x="8101584" y="3730752"/>
            <a:ext cx="3520440" cy="1874520"/>
          </a:xfrm>
          <a:prstGeom prst="roundRect">
            <a:avLst>
              <a:gd name="adj" fmla="val 4390"/>
            </a:avLst>
          </a:prstGeom>
          <a:solidFill>
            <a:srgbClr val="F4ECE1"/>
          </a:solidFill>
          <a:ln/>
          <a:effectLst>
            <a:outerShdw blurRad="76200" dist="25400" dir="5400000" algn="bl" rotWithShape="0">
              <a:srgbClr val="9C8E80">
                <a:alpha val="18000"/>
              </a:srgbClr>
            </a:outerShdw>
          </a:effectLst>
        </p:spPr>
      </p:sp>
      <p:sp>
        <p:nvSpPr>
          <p:cNvPr id="30" name="Shape 23"/>
          <p:cNvSpPr/>
          <p:nvPr/>
        </p:nvSpPr>
        <p:spPr>
          <a:xfrm>
            <a:off x="8321040" y="3950208"/>
            <a:ext cx="566928" cy="566928"/>
          </a:xfrm>
          <a:prstGeom prst="ellipse">
            <a:avLst/>
          </a:prstGeom>
          <a:solidFill>
            <a:srgbClr val="D97B29"/>
          </a:solidFill>
          <a:ln/>
        </p:spPr>
      </p:sp>
      <p:pic>
        <p:nvPicPr>
          <p:cNvPr id="31" name="Image 5" descr="/home/claude/ballmill_pptx/icons/users_white.png"/>
          <p:cNvPicPr>
            <a:picLocks noChangeAspect="1"/>
          </p:cNvPicPr>
          <p:nvPr/>
        </p:nvPicPr>
        <p:blipFill>
          <a:blip r:embed="rId8"/>
          <a:stretch>
            <a:fillRect/>
          </a:stretch>
        </p:blipFill>
        <p:spPr>
          <a:xfrm>
            <a:off x="8468441" y="4097609"/>
            <a:ext cx="272125" cy="272125"/>
          </a:xfrm>
          <a:prstGeom prst="rect">
            <a:avLst/>
          </a:prstGeom>
        </p:spPr>
      </p:pic>
      <p:sp>
        <p:nvSpPr>
          <p:cNvPr id="32" name="Text 24"/>
          <p:cNvSpPr txBox="1"/>
          <p:nvPr/>
        </p:nvSpPr>
        <p:spPr>
          <a:xfrm>
            <a:off x="8321040" y="4590288"/>
            <a:ext cx="3081528"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25 petani</a:t>
            </a:r>
            <a:endParaRPr lang="en-US" sz="2200" dirty="0"/>
          </a:p>
        </p:txBody>
      </p:sp>
      <p:sp>
        <p:nvSpPr>
          <p:cNvPr id="33" name="Text 25"/>
          <p:cNvSpPr txBox="1"/>
          <p:nvPr/>
        </p:nvSpPr>
        <p:spPr>
          <a:xfrm>
            <a:off x="8321040" y="5047488"/>
            <a:ext cx="3081528" cy="44805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Potensi petani penerima manfaat</a:t>
            </a:r>
            <a:endParaRPr lang="en-US" sz="1150" dirty="0"/>
          </a:p>
        </p:txBody>
      </p:sp>
      <p:sp>
        <p:nvSpPr>
          <p:cNvPr id="34" name="Shape 26"/>
          <p:cNvSpPr/>
          <p:nvPr/>
        </p:nvSpPr>
        <p:spPr>
          <a:xfrm>
            <a:off x="548640" y="5752672"/>
            <a:ext cx="11091672" cy="1058509"/>
          </a:xfrm>
          <a:prstGeom prst="roundRect">
            <a:avLst>
              <a:gd name="adj" fmla="val 11429"/>
            </a:avLst>
          </a:prstGeom>
          <a:solidFill>
            <a:srgbClr val="FBEFE0"/>
          </a:solidFill>
          <a:ln/>
        </p:spPr>
      </p:sp>
      <p:sp>
        <p:nvSpPr>
          <p:cNvPr id="35" name="Shape 27"/>
          <p:cNvSpPr/>
          <p:nvPr/>
        </p:nvSpPr>
        <p:spPr>
          <a:xfrm>
            <a:off x="749808" y="5888736"/>
            <a:ext cx="475488" cy="475488"/>
          </a:xfrm>
          <a:prstGeom prst="ellipse">
            <a:avLst/>
          </a:prstGeom>
          <a:solidFill>
            <a:srgbClr val="B23A2E"/>
          </a:solidFill>
          <a:ln/>
        </p:spPr>
      </p:sp>
      <p:pic>
        <p:nvPicPr>
          <p:cNvPr id="36" name="Image 6" descr="/home/claude/ballmill_pptx/icons/warning_white.png"/>
          <p:cNvPicPr>
            <a:picLocks noChangeAspect="1"/>
          </p:cNvPicPr>
          <p:nvPr/>
        </p:nvPicPr>
        <p:blipFill>
          <a:blip r:embed="rId9"/>
          <a:stretch>
            <a:fillRect/>
          </a:stretch>
        </p:blipFill>
        <p:spPr>
          <a:xfrm>
            <a:off x="873435" y="6012363"/>
            <a:ext cx="228234" cy="228234"/>
          </a:xfrm>
          <a:prstGeom prst="rect">
            <a:avLst/>
          </a:prstGeom>
        </p:spPr>
      </p:pic>
      <p:sp>
        <p:nvSpPr>
          <p:cNvPr id="37" name="Text 28"/>
          <p:cNvSpPr txBox="1"/>
          <p:nvPr/>
        </p:nvSpPr>
        <p:spPr>
          <a:xfrm>
            <a:off x="1444752" y="5775922"/>
            <a:ext cx="9939528" cy="978408"/>
          </a:xfrm>
          <a:prstGeom prst="rect">
            <a:avLst/>
          </a:prstGeom>
          <a:noFill/>
          <a:ln/>
        </p:spPr>
        <p:txBody>
          <a:bodyPr wrap="square" lIns="0" tIns="0" rIns="0" bIns="0" rtlCol="0" anchor="ctr"/>
          <a:lstStyle/>
          <a:p>
            <a:pPr marL="285750" indent="-285750">
              <a:lnSpc>
                <a:spcPct val="118000"/>
              </a:lnSpc>
              <a:buFont typeface="Arial" panose="020B0604020202020204" pitchFamily="34" charset="0"/>
              <a:buChar char="•"/>
            </a:pPr>
            <a:r>
              <a:rPr lang="en-US" sz="1250" dirty="0">
                <a:latin typeface="Calibri" pitchFamily="34" charset="0"/>
                <a:ea typeface="Calibri" pitchFamily="34" charset="-122"/>
                <a:cs typeface="Calibri" pitchFamily="34" charset="-120"/>
              </a:rPr>
              <a:t>Angka di atas adalah PENDAPATAN KOTOR (revenue) pada skenario dasar — belum dikurangi biaya bahan baku dan operasional. Analisis harga beli biji kakao yang menjaga margin bersih ada pada bagian akhir dokumen </a:t>
            </a:r>
            <a:r>
              <a:rPr lang="en-US" sz="1250" dirty="0" err="1">
                <a:latin typeface="Calibri" pitchFamily="34" charset="0"/>
                <a:ea typeface="Calibri" pitchFamily="34" charset="-122"/>
                <a:cs typeface="Calibri" pitchFamily="34" charset="-120"/>
              </a:rPr>
              <a:t>ini</a:t>
            </a:r>
            <a:r>
              <a:rPr lang="en-US" sz="1250" dirty="0">
                <a:latin typeface="Calibri" pitchFamily="34" charset="0"/>
                <a:ea typeface="Calibri" pitchFamily="34" charset="-122"/>
                <a:cs typeface="Calibri" pitchFamily="34" charset="-120"/>
              </a:rPr>
              <a:t>.</a:t>
            </a:r>
          </a:p>
          <a:p>
            <a:pPr marL="285750" indent="-285750">
              <a:lnSpc>
                <a:spcPct val="118000"/>
              </a:lnSpc>
              <a:buFont typeface="Arial" panose="020B0604020202020204" pitchFamily="34" charset="0"/>
              <a:buChar char="•"/>
            </a:pPr>
            <a:r>
              <a:rPr lang="en-US" sz="1250" dirty="0" err="1">
                <a:latin typeface="Calibri" pitchFamily="34" charset="0"/>
                <a:ea typeface="Calibri" pitchFamily="34" charset="-122"/>
                <a:cs typeface="Calibri" pitchFamily="34" charset="-120"/>
              </a:rPr>
              <a:t>Untuk</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menjaga</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stabilitas</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pasokan</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serta</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mempertimbangkan</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fluktuasi</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produktifitas</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kebun</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maka</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jumlah</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petani</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sebaiknya</a:t>
            </a:r>
            <a:r>
              <a:rPr lang="en-US" sz="1250" dirty="0">
                <a:latin typeface="Calibri" pitchFamily="34" charset="0"/>
                <a:ea typeface="Calibri" pitchFamily="34" charset="-122"/>
                <a:cs typeface="Calibri" pitchFamily="34" charset="-120"/>
              </a:rPr>
              <a:t> </a:t>
            </a:r>
            <a:r>
              <a:rPr lang="en-US" sz="1250" dirty="0" err="1">
                <a:latin typeface="Calibri" pitchFamily="34" charset="0"/>
                <a:ea typeface="Calibri" pitchFamily="34" charset="-122"/>
                <a:cs typeface="Calibri" pitchFamily="34" charset="-120"/>
              </a:rPr>
              <a:t>ditingkatkan</a:t>
            </a:r>
            <a:r>
              <a:rPr lang="en-US" sz="1250" dirty="0">
                <a:latin typeface="Calibri" pitchFamily="34" charset="0"/>
                <a:ea typeface="Calibri" pitchFamily="34" charset="-122"/>
                <a:cs typeface="Calibri" pitchFamily="34" charset="-120"/>
              </a:rPr>
              <a:t> 4x </a:t>
            </a:r>
            <a:r>
              <a:rPr lang="en-US" sz="1250" dirty="0" err="1">
                <a:latin typeface="Calibri" pitchFamily="34" charset="0"/>
                <a:ea typeface="Calibri" pitchFamily="34" charset="-122"/>
                <a:cs typeface="Calibri" pitchFamily="34" charset="-120"/>
              </a:rPr>
              <a:t>menjadi</a:t>
            </a:r>
            <a:r>
              <a:rPr lang="en-US" sz="1250" dirty="0">
                <a:latin typeface="Calibri" pitchFamily="34" charset="0"/>
                <a:ea typeface="Calibri" pitchFamily="34" charset="-122"/>
                <a:cs typeface="Calibri" pitchFamily="34" charset="-120"/>
              </a:rPr>
              <a:t> 100 </a:t>
            </a:r>
            <a:r>
              <a:rPr lang="en-US" sz="1250" dirty="0" err="1">
                <a:latin typeface="Calibri" pitchFamily="34" charset="0"/>
                <a:ea typeface="Calibri" pitchFamily="34" charset="-122"/>
                <a:cs typeface="Calibri" pitchFamily="34" charset="-120"/>
              </a:rPr>
              <a:t>petani</a:t>
            </a:r>
            <a:endParaRPr lang="en-US" sz="1250" dirty="0"/>
          </a:p>
        </p:txBody>
      </p:sp>
      <p:sp>
        <p:nvSpPr>
          <p:cNvPr id="38" name="Text 29"/>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DASAR PERHITUNGAN</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Asumsi Teknis dan Sumber Data</a:t>
            </a:r>
            <a:endParaRPr lang="en-US" sz="3000" dirty="0"/>
          </a:p>
        </p:txBody>
      </p:sp>
      <p:sp>
        <p:nvSpPr>
          <p:cNvPr id="4" name="Text 2"/>
          <p:cNvSpPr txBox="1"/>
          <p:nvPr/>
        </p:nvSpPr>
        <p:spPr>
          <a:xfrm>
            <a:off x="548640" y="1325880"/>
            <a:ext cx="11064240" cy="548640"/>
          </a:xfrm>
          <a:prstGeom prst="rect">
            <a:avLst/>
          </a:prstGeom>
          <a:noFill/>
          <a:ln/>
        </p:spPr>
        <p:txBody>
          <a:bodyPr wrap="square" lIns="0" tIns="0" rIns="0" bIns="0" rtlCol="0" anchor="ctr"/>
          <a:lstStyle/>
          <a:p>
            <a:pPr marL="0" indent="0">
              <a:lnSpc>
                <a:spcPct val="120000"/>
              </a:lnSpc>
              <a:buNone/>
            </a:pPr>
            <a:r>
              <a:rPr lang="en-US" sz="1250" dirty="0">
                <a:solidFill>
                  <a:srgbClr val="8A776A"/>
                </a:solidFill>
                <a:latin typeface="Calibri" pitchFamily="34" charset="0"/>
                <a:ea typeface="Calibri" pitchFamily="34" charset="-122"/>
                <a:cs typeface="Calibri" pitchFamily="34" charset="-120"/>
              </a:rPr>
              <a:t>Data awal tidak mencakup rasio konversi biji→nibs→liquor→lemak/bubuk maupun harga jual produk curah. Angka berikut adalah asumsi kerja bersumber dari literatur industri kakao skala kecil-menengah — sebaiknya divalidasi terhadap data aktual supplier mesin.</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3520440"/>
        </p:xfrm>
        <a:graphic>
          <a:graphicData uri="http://schemas.openxmlformats.org/drawingml/2006/table">
            <a:tbl>
              <a:tblPr/>
              <a:tblGrid>
                <a:gridCol w="3291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056632">
                  <a:extLst>
                    <a:ext uri="{9D8B030D-6E8A-4147-A177-3AD203B41FA5}">
                      <a16:colId xmlns:a16="http://schemas.microsoft.com/office/drawing/2014/main" val="20002"/>
                    </a:ext>
                  </a:extLst>
                </a:gridCol>
              </a:tblGrid>
              <a:tr h="50292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Tahapan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Asumsi</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Sumber / Dasar</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50292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Biji kering → Nibs</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Rendemen 80%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Kehilangan kulit (husk) khas 17–25% dari berat biji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Nibs → Cocoa liquor</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Rendemen 98%</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Proses penggilingan mempertahankan massa; residu kecil di mesin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50292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Lemak dalam liquor</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55% (rentang 50–58%)</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Nibs sangrai umumnya mengandung 50–58% lemak kakao</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Lemak sisa di bubuk — Skenario A (dasar)</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Realistis untuk press skala kecil/koperasi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4"/>
                  </a:ext>
                </a:extLst>
              </a:tr>
              <a:tr h="50292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Harga lemak kakao (curah)</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US$17,64/kg ≈ Rp275.000/kg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Nilai unit ekspor lemak kakao Indonesia, Jan 2025</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Harga bubuk kakao (curah)</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US$4,45/kg ≈ Rp69.000/kg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Referensi pasar komoditas skala ton, 2026</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6"/>
                  </a:ext>
                </a:extLst>
              </a:tr>
            </a:tbl>
          </a:graphicData>
        </a:graphic>
      </p:graphicFrame>
      <p:sp>
        <p:nvSpPr>
          <p:cNvPr id="6" name="Shape 3"/>
          <p:cNvSpPr/>
          <p:nvPr/>
        </p:nvSpPr>
        <p:spPr>
          <a:xfrm>
            <a:off x="548640" y="5806440"/>
            <a:ext cx="11091672" cy="621792"/>
          </a:xfrm>
          <a:prstGeom prst="roundRect">
            <a:avLst>
              <a:gd name="adj" fmla="val 11765"/>
            </a:avLst>
          </a:prstGeom>
          <a:solidFill>
            <a:srgbClr val="F4ECE1"/>
          </a:solidFill>
          <a:ln/>
        </p:spPr>
      </p:sp>
      <p:sp>
        <p:nvSpPr>
          <p:cNvPr id="7" name="Shape 4"/>
          <p:cNvSpPr/>
          <p:nvPr/>
        </p:nvSpPr>
        <p:spPr>
          <a:xfrm>
            <a:off x="749808" y="5879592"/>
            <a:ext cx="475488" cy="475488"/>
          </a:xfrm>
          <a:prstGeom prst="ellipse">
            <a:avLst/>
          </a:prstGeom>
          <a:solidFill>
            <a:srgbClr val="6D4C41"/>
          </a:solidFill>
          <a:ln/>
        </p:spPr>
      </p:sp>
      <p:pic>
        <p:nvPicPr>
          <p:cNvPr id="8" name="Image 0" descr="/home/claude/ballmill_pptx/icons/clipboard_white.png"/>
          <p:cNvPicPr>
            <a:picLocks noChangeAspect="1"/>
          </p:cNvPicPr>
          <p:nvPr/>
        </p:nvPicPr>
        <p:blipFill>
          <a:blip r:embed="rId3"/>
          <a:stretch>
            <a:fillRect/>
          </a:stretch>
        </p:blipFill>
        <p:spPr>
          <a:xfrm>
            <a:off x="873435" y="6003219"/>
            <a:ext cx="228234" cy="228234"/>
          </a:xfrm>
          <a:prstGeom prst="rect">
            <a:avLst/>
          </a:prstGeom>
        </p:spPr>
      </p:pic>
      <p:sp>
        <p:nvSpPr>
          <p:cNvPr id="9" name="Text 5"/>
          <p:cNvSpPr txBox="1"/>
          <p:nvPr/>
        </p:nvSpPr>
        <p:spPr>
          <a:xfrm>
            <a:off x="1444752" y="5916168"/>
            <a:ext cx="9939528" cy="402336"/>
          </a:xfrm>
          <a:prstGeom prst="rect">
            <a:avLst/>
          </a:prstGeom>
          <a:noFill/>
          <a:ln/>
        </p:spPr>
        <p:txBody>
          <a:bodyPr wrap="square" lIns="0" tIns="0" rIns="0" bIns="0" rtlCol="0" anchor="ctr"/>
          <a:lstStyle/>
          <a:p>
            <a:pPr marL="0" indent="0">
              <a:lnSpc>
                <a:spcPct val="118000"/>
              </a:lnSpc>
              <a:buNone/>
            </a:pPr>
            <a:r>
              <a:rPr lang="en-US" sz="1200" dirty="0">
                <a:solidFill>
                  <a:srgbClr val="3E2723"/>
                </a:solidFill>
                <a:latin typeface="Calibri" pitchFamily="34" charset="0"/>
                <a:ea typeface="Calibri" pitchFamily="34" charset="-122"/>
                <a:cs typeface="Calibri" pitchFamily="34" charset="-120"/>
              </a:rPr>
              <a:t>KURS — Rp15.600/US$ dipakai konsisten di seluruh dokumen ini untuk kemudahan perbandingan; sesuaikan dengan kurs aktual saat digunakan untuk keputusan bisnis nyata.</a:t>
            </a:r>
            <a:endParaRPr lang="en-US" sz="1200" dirty="0"/>
          </a:p>
        </p:txBody>
      </p:sp>
      <p:sp>
        <p:nvSpPr>
          <p:cNvPr id="10" name="Text 6"/>
          <p:cNvSpPr txBox="1"/>
          <p:nvPr/>
        </p:nvSpPr>
        <p:spPr>
          <a:xfrm>
            <a:off x="548640" y="6473952"/>
            <a:ext cx="8686800" cy="274320"/>
          </a:xfrm>
          <a:prstGeom prst="rect">
            <a:avLst/>
          </a:prstGeom>
          <a:noFill/>
          <a:ln/>
        </p:spPr>
        <p:txBody>
          <a:bodyPr wrap="square" lIns="0" tIns="0" rIns="0" bIns="0" rtlCol="0" anchor="ctr"/>
          <a:lstStyle/>
          <a:p>
            <a:pPr marL="0" indent="0" algn="l">
              <a:buNone/>
            </a:pPr>
            <a:r>
              <a:rPr lang="en-US" sz="900" i="1" dirty="0">
                <a:solidFill>
                  <a:srgbClr val="8A776A"/>
                </a:solidFill>
                <a:latin typeface="Calibri" pitchFamily="34" charset="0"/>
                <a:ea typeface="Calibri" pitchFamily="34" charset="-122"/>
                <a:cs typeface="Calibri" pitchFamily="34" charset="-120"/>
              </a:rPr>
              <a:t>Sumber: Analisis Kapasitas Ballmill Kakao (dokumen internal)</a:t>
            </a:r>
            <a:endParaRPr lang="en-US" sz="900" dirty="0"/>
          </a:p>
        </p:txBody>
      </p:sp>
      <p:sp>
        <p:nvSpPr>
          <p:cNvPr id="11" name="Text 7"/>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BAGIAN 1</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Kebutuhan Biji Kakao dan Produksi Liquor</a:t>
            </a:r>
            <a:endParaRPr lang="en-US" sz="30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marL="0" indent="0">
              <a:buNone/>
            </a:pPr>
            <a:r>
              <a:rPr lang="en-US" sz="1250" dirty="0">
                <a:solidFill>
                  <a:srgbClr val="8A776A"/>
                </a:solidFill>
                <a:latin typeface="Calibri" pitchFamily="34" charset="0"/>
                <a:ea typeface="Calibri" pitchFamily="34" charset="-122"/>
                <a:cs typeface="Calibri" pitchFamily="34" charset="-120"/>
              </a:rPr>
              <a:t>Parameter dasar: ballmill 10 kg nibs/siklus × 4 siklus/hari (2 jam/siklus = 8 jam kerja/hari) × 25 hari kerja/bulan.</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949440" cy="2743200"/>
        </p:xfrm>
        <a:graphic>
          <a:graphicData uri="http://schemas.openxmlformats.org/drawingml/2006/table">
            <a:tbl>
              <a:tblPr/>
              <a:tblGrid>
                <a:gridCol w="32918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48640">
                <a:tc>
                  <a:txBody>
                    <a:bodyPr/>
                    <a:lstStyle/>
                    <a:p>
                      <a:pPr marL="0" indent="0" algn="l">
                        <a:buNone/>
                      </a:pP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Per Hari</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Per Bulan (25 hari)</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54864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Nibs dibutuhkan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40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1.000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200" b="1" dirty="0">
                          <a:solidFill>
                            <a:srgbClr val="3E2723"/>
                          </a:solidFill>
                          <a:latin typeface="Calibri" pitchFamily="34" charset="0"/>
                          <a:ea typeface="Calibri" pitchFamily="34" charset="-122"/>
                          <a:cs typeface="Calibri" pitchFamily="34" charset="-120"/>
                        </a:rPr>
                        <a:t>Biji kakao kering (rendemen 80%)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50,00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1.250,00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extLst>
                  <a:ext uri="{0D108BD9-81ED-4DB2-BD59-A6C34878D82A}">
                    <a16:rowId xmlns:a16="http://schemas.microsoft.com/office/drawing/2014/main" val="10002"/>
                  </a:ext>
                </a:extLst>
              </a:tr>
              <a:tr h="54864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Biji kakao kering (rendemen 83%, optimal)</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48,19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1.204,82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Cocoa liquor dihasilkan (rendemen 98%)</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39,20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980,00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4"/>
                  </a:ext>
                </a:extLst>
              </a:tr>
            </a:tbl>
          </a:graphicData>
        </a:graphic>
      </p:graphicFrame>
      <p:sp>
        <p:nvSpPr>
          <p:cNvPr id="6" name="Shape 3"/>
          <p:cNvSpPr/>
          <p:nvPr/>
        </p:nvSpPr>
        <p:spPr>
          <a:xfrm>
            <a:off x="7772400" y="1828800"/>
            <a:ext cx="3867912" cy="1600200"/>
          </a:xfrm>
          <a:prstGeom prst="roundRect">
            <a:avLst>
              <a:gd name="adj" fmla="val 4571"/>
            </a:avLst>
          </a:prstGeom>
          <a:solidFill>
            <a:srgbClr val="FBEFE0"/>
          </a:solidFill>
          <a:ln/>
        </p:spPr>
      </p:sp>
      <p:sp>
        <p:nvSpPr>
          <p:cNvPr id="7" name="Shape 4"/>
          <p:cNvSpPr/>
          <p:nvPr/>
        </p:nvSpPr>
        <p:spPr>
          <a:xfrm>
            <a:off x="7973568" y="2391156"/>
            <a:ext cx="475488" cy="475488"/>
          </a:xfrm>
          <a:prstGeom prst="ellipse">
            <a:avLst/>
          </a:prstGeom>
          <a:solidFill>
            <a:srgbClr val="D97B29"/>
          </a:solidFill>
          <a:ln/>
        </p:spPr>
      </p:sp>
      <p:pic>
        <p:nvPicPr>
          <p:cNvPr id="8" name="Image 0" descr="/home/claude/ballmill_pptx/icons/clipboard_white.png"/>
          <p:cNvPicPr>
            <a:picLocks noChangeAspect="1"/>
          </p:cNvPicPr>
          <p:nvPr/>
        </p:nvPicPr>
        <p:blipFill>
          <a:blip r:embed="rId3"/>
          <a:stretch>
            <a:fillRect/>
          </a:stretch>
        </p:blipFill>
        <p:spPr>
          <a:xfrm>
            <a:off x="8097195" y="2514783"/>
            <a:ext cx="228234" cy="228234"/>
          </a:xfrm>
          <a:prstGeom prst="rect">
            <a:avLst/>
          </a:prstGeom>
        </p:spPr>
      </p:pic>
      <p:sp>
        <p:nvSpPr>
          <p:cNvPr id="9" name="Text 5"/>
          <p:cNvSpPr txBox="1"/>
          <p:nvPr/>
        </p:nvSpPr>
        <p:spPr>
          <a:xfrm>
            <a:off x="8668512" y="1938528"/>
            <a:ext cx="2715768" cy="1380744"/>
          </a:xfrm>
          <a:prstGeom prst="rect">
            <a:avLst/>
          </a:prstGeom>
          <a:noFill/>
          <a:ln/>
        </p:spPr>
        <p:txBody>
          <a:bodyPr wrap="square" lIns="0" tIns="0" rIns="0" bIns="0" rtlCol="0" anchor="ctr"/>
          <a:lstStyle/>
          <a:p>
            <a:pPr marL="0" indent="0">
              <a:lnSpc>
                <a:spcPct val="118000"/>
              </a:lnSpc>
              <a:buNone/>
            </a:pPr>
            <a:r>
              <a:rPr lang="en-US" sz="1150" dirty="0">
                <a:solidFill>
                  <a:srgbClr val="3E2723"/>
                </a:solidFill>
                <a:latin typeface="Calibri" pitchFamily="34" charset="0"/>
                <a:ea typeface="Calibri" pitchFamily="34" charset="-122"/>
                <a:cs typeface="Calibri" pitchFamily="34" charset="-120"/>
              </a:rPr>
              <a:t>ANGKA UNTUK PERENCANAAN</a:t>
            </a:r>
            <a:endParaRPr lang="en-US" sz="1150" dirty="0"/>
          </a:p>
          <a:p>
            <a:pPr marL="0" indent="0">
              <a:lnSpc>
                <a:spcPct val="118000"/>
              </a:lnSpc>
              <a:buNone/>
            </a:pPr>
            <a:endParaRPr lang="en-US" sz="1150" dirty="0"/>
          </a:p>
          <a:p>
            <a:pPr marL="0" indent="0">
              <a:lnSpc>
                <a:spcPct val="118000"/>
              </a:lnSpc>
              <a:buNone/>
            </a:pPr>
            <a:r>
              <a:rPr lang="en-US" sz="1150" dirty="0">
                <a:solidFill>
                  <a:srgbClr val="3E2723"/>
                </a:solidFill>
                <a:latin typeface="Calibri" pitchFamily="34" charset="0"/>
                <a:ea typeface="Calibri" pitchFamily="34" charset="-122"/>
                <a:cs typeface="Calibri" pitchFamily="34" charset="-120"/>
              </a:rPr>
              <a:t>50 kg biji kering/hari, atau 1.250 kg/bulan — memakai rendemen 80% yang lebih konservatif agar pasokan tidak kurang.</a:t>
            </a:r>
            <a:endParaRPr lang="en-US" sz="1150" dirty="0"/>
          </a:p>
        </p:txBody>
      </p:sp>
      <p:sp>
        <p:nvSpPr>
          <p:cNvPr id="10" name="Shape 6"/>
          <p:cNvSpPr/>
          <p:nvPr/>
        </p:nvSpPr>
        <p:spPr>
          <a:xfrm>
            <a:off x="7772400" y="3611880"/>
            <a:ext cx="3867912" cy="1234440"/>
          </a:xfrm>
          <a:prstGeom prst="roundRect">
            <a:avLst>
              <a:gd name="adj" fmla="val 5926"/>
            </a:avLst>
          </a:prstGeom>
          <a:solidFill>
            <a:srgbClr val="F4ECE1"/>
          </a:solidFill>
          <a:ln/>
        </p:spPr>
      </p:sp>
      <p:sp>
        <p:nvSpPr>
          <p:cNvPr id="11" name="Shape 7"/>
          <p:cNvSpPr/>
          <p:nvPr/>
        </p:nvSpPr>
        <p:spPr>
          <a:xfrm>
            <a:off x="7973568" y="3991356"/>
            <a:ext cx="475488" cy="475488"/>
          </a:xfrm>
          <a:prstGeom prst="ellipse">
            <a:avLst/>
          </a:prstGeom>
          <a:solidFill>
            <a:srgbClr val="6D4C41"/>
          </a:solidFill>
          <a:ln/>
        </p:spPr>
      </p:sp>
      <p:pic>
        <p:nvPicPr>
          <p:cNvPr id="12" name="Image 1" descr="/home/claude/ballmill_pptx/icons/balance_white.png"/>
          <p:cNvPicPr>
            <a:picLocks noChangeAspect="1"/>
          </p:cNvPicPr>
          <p:nvPr/>
        </p:nvPicPr>
        <p:blipFill>
          <a:blip r:embed="rId4"/>
          <a:stretch>
            <a:fillRect/>
          </a:stretch>
        </p:blipFill>
        <p:spPr>
          <a:xfrm>
            <a:off x="8097195" y="4114983"/>
            <a:ext cx="228234" cy="228234"/>
          </a:xfrm>
          <a:prstGeom prst="rect">
            <a:avLst/>
          </a:prstGeom>
        </p:spPr>
      </p:pic>
      <p:sp>
        <p:nvSpPr>
          <p:cNvPr id="13" name="Text 8"/>
          <p:cNvSpPr txBox="1"/>
          <p:nvPr/>
        </p:nvSpPr>
        <p:spPr>
          <a:xfrm>
            <a:off x="8668512" y="3721608"/>
            <a:ext cx="2715768" cy="1014984"/>
          </a:xfrm>
          <a:prstGeom prst="rect">
            <a:avLst/>
          </a:prstGeom>
          <a:noFill/>
          <a:ln/>
        </p:spPr>
        <p:txBody>
          <a:bodyPr wrap="square" lIns="0" tIns="0" rIns="0" bIns="0" rtlCol="0" anchor="ctr"/>
          <a:lstStyle/>
          <a:p>
            <a:pPr marL="0" indent="0">
              <a:lnSpc>
                <a:spcPct val="118000"/>
              </a:lnSpc>
              <a:buNone/>
            </a:pPr>
            <a:r>
              <a:rPr lang="en-US" sz="1150" dirty="0">
                <a:solidFill>
                  <a:srgbClr val="3E2723"/>
                </a:solidFill>
                <a:latin typeface="Calibri" pitchFamily="34" charset="0"/>
                <a:ea typeface="Calibri" pitchFamily="34" charset="-122"/>
                <a:cs typeface="Calibri" pitchFamily="34" charset="-120"/>
              </a:rPr>
              <a:t>CEK KONSISTENSI</a:t>
            </a:r>
            <a:endParaRPr lang="en-US" sz="1150" dirty="0"/>
          </a:p>
          <a:p>
            <a:pPr marL="0" indent="0">
              <a:lnSpc>
                <a:spcPct val="118000"/>
              </a:lnSpc>
              <a:buNone/>
            </a:pPr>
            <a:endParaRPr lang="en-US" sz="1150" dirty="0"/>
          </a:p>
          <a:p>
            <a:pPr marL="0" indent="0">
              <a:lnSpc>
                <a:spcPct val="118000"/>
              </a:lnSpc>
              <a:buNone/>
            </a:pPr>
            <a:r>
              <a:rPr lang="en-US" sz="1150" dirty="0">
                <a:solidFill>
                  <a:srgbClr val="3E2723"/>
                </a:solidFill>
                <a:latin typeface="Calibri" pitchFamily="34" charset="0"/>
                <a:ea typeface="Calibri" pitchFamily="34" charset="-122"/>
                <a:cs typeface="Calibri" pitchFamily="34" charset="-120"/>
              </a:rPr>
              <a:t>4 siklus × 2 jam = 8 jam kerja/hari — skenario “8 jam/hari” identik dengan skenario dasar, bukan tambahan.</a:t>
            </a:r>
            <a:endParaRPr lang="en-US" sz="1150" dirty="0"/>
          </a:p>
        </p:txBody>
      </p:sp>
      <p:sp>
        <p:nvSpPr>
          <p:cNvPr id="14" name="Text 9"/>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BAGIAN 2</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Lemak Kakao dan Bubuk Kakao dari Cocoa Liquor</a:t>
            </a:r>
            <a:endParaRPr lang="en-US" sz="3000" dirty="0"/>
          </a:p>
        </p:txBody>
      </p:sp>
      <p:sp>
        <p:nvSpPr>
          <p:cNvPr id="4" name="Shape 2"/>
          <p:cNvSpPr/>
          <p:nvPr/>
        </p:nvSpPr>
        <p:spPr>
          <a:xfrm>
            <a:off x="548640" y="1874520"/>
            <a:ext cx="5349240" cy="3429000"/>
          </a:xfrm>
          <a:prstGeom prst="roundRect">
            <a:avLst>
              <a:gd name="adj" fmla="val 2667"/>
            </a:avLst>
          </a:prstGeom>
          <a:solidFill>
            <a:srgbClr val="FBEFE0"/>
          </a:solidFill>
          <a:ln w="15875">
            <a:solidFill>
              <a:srgbClr val="D97B29"/>
            </a:solidFill>
            <a:prstDash val="solid"/>
          </a:ln>
        </p:spPr>
      </p:sp>
      <p:sp>
        <p:nvSpPr>
          <p:cNvPr id="5" name="Text 3"/>
          <p:cNvSpPr txBox="1"/>
          <p:nvPr/>
        </p:nvSpPr>
        <p:spPr>
          <a:xfrm>
            <a:off x="822960" y="2075688"/>
            <a:ext cx="4800600" cy="320040"/>
          </a:xfrm>
          <a:prstGeom prst="rect">
            <a:avLst/>
          </a:prstGeom>
          <a:noFill/>
          <a:ln/>
        </p:spPr>
        <p:txBody>
          <a:bodyPr wrap="square" lIns="0" tIns="0" rIns="0" bIns="0" rtlCol="0" anchor="ctr"/>
          <a:lstStyle/>
          <a:p>
            <a:pPr marL="0" indent="0">
              <a:buNone/>
            </a:pPr>
            <a:r>
              <a:rPr lang="en-US" sz="1300" b="1" kern="0" spc="100" dirty="0">
                <a:solidFill>
                  <a:srgbClr val="D97B29"/>
                </a:solidFill>
                <a:latin typeface="Calibri" pitchFamily="34" charset="0"/>
                <a:ea typeface="Calibri" pitchFamily="34" charset="-122"/>
                <a:cs typeface="Calibri" pitchFamily="34" charset="-120"/>
              </a:rPr>
              <a:t>SKENARIO A — DASAR UTAMA</a:t>
            </a:r>
            <a:endParaRPr lang="en-US" sz="1300" dirty="0"/>
          </a:p>
        </p:txBody>
      </p:sp>
      <p:sp>
        <p:nvSpPr>
          <p:cNvPr id="6" name="Text 4"/>
          <p:cNvSpPr txBox="1"/>
          <p:nvPr/>
        </p:nvSpPr>
        <p:spPr>
          <a:xfrm>
            <a:off x="822960" y="2404872"/>
            <a:ext cx="4800600" cy="274320"/>
          </a:xfrm>
          <a:prstGeom prst="rect">
            <a:avLst/>
          </a:prstGeom>
          <a:noFill/>
          <a:ln/>
        </p:spPr>
        <p:txBody>
          <a:bodyPr wrap="square" lIns="0" tIns="0" rIns="0" bIns="0" rtlCol="0" anchor="ctr"/>
          <a:lstStyle/>
          <a:p>
            <a:pPr marL="0" indent="0">
              <a:buNone/>
            </a:pPr>
            <a:r>
              <a:rPr lang="en-US" sz="1200" i="1" dirty="0">
                <a:solidFill>
                  <a:srgbClr val="8A776A"/>
                </a:solidFill>
                <a:latin typeface="Calibri" pitchFamily="34" charset="0"/>
                <a:ea typeface="Calibri" pitchFamily="34" charset="-122"/>
                <a:cs typeface="Calibri" pitchFamily="34" charset="-120"/>
              </a:rPr>
              <a:t>Bubuk lemak tinggi · 20% sisa lemak</a:t>
            </a:r>
            <a:endParaRPr lang="en-US" sz="1200" dirty="0"/>
          </a:p>
        </p:txBody>
      </p:sp>
      <p:sp>
        <p:nvSpPr>
          <p:cNvPr id="7" name="Text 5"/>
          <p:cNvSpPr txBox="1"/>
          <p:nvPr/>
        </p:nvSpPr>
        <p:spPr>
          <a:xfrm>
            <a:off x="822960" y="2834640"/>
            <a:ext cx="2377440" cy="502920"/>
          </a:xfrm>
          <a:prstGeom prst="rect">
            <a:avLst/>
          </a:prstGeom>
          <a:noFill/>
          <a:ln/>
        </p:spPr>
        <p:txBody>
          <a:bodyPr wrap="square" lIns="0" tIns="0" rIns="0" bIns="0" rtlCol="0" anchor="ctr"/>
          <a:lstStyle/>
          <a:p>
            <a:pPr marL="0" indent="0">
              <a:buNone/>
            </a:pPr>
            <a:r>
              <a:rPr lang="en-US" sz="2600" b="1" dirty="0">
                <a:solidFill>
                  <a:srgbClr val="3E2723"/>
                </a:solidFill>
                <a:latin typeface="Cambria" pitchFamily="34" charset="0"/>
                <a:ea typeface="Cambria" pitchFamily="34" charset="-122"/>
                <a:cs typeface="Cambria" pitchFamily="34" charset="-120"/>
              </a:rPr>
              <a:t>17,15 kg</a:t>
            </a:r>
            <a:endParaRPr lang="en-US" sz="2600" dirty="0"/>
          </a:p>
        </p:txBody>
      </p:sp>
      <p:sp>
        <p:nvSpPr>
          <p:cNvPr id="8" name="Text 6"/>
          <p:cNvSpPr txBox="1"/>
          <p:nvPr/>
        </p:nvSpPr>
        <p:spPr>
          <a:xfrm>
            <a:off x="822960" y="3355848"/>
            <a:ext cx="2377440" cy="548640"/>
          </a:xfrm>
          <a:prstGeom prst="rect">
            <a:avLst/>
          </a:prstGeom>
          <a:noFill/>
          <a:ln/>
        </p:spPr>
        <p:txBody>
          <a:bodyPr wrap="square" lIns="0" tIns="0" rIns="0" bIns="0" rtlCol="0" anchor="ctr"/>
          <a:lstStyle/>
          <a:p>
            <a:pPr marL="0" indent="0">
              <a:buNone/>
            </a:pPr>
            <a:r>
              <a:rPr lang="en-US" sz="1100" dirty="0">
                <a:solidFill>
                  <a:srgbClr val="8A776A"/>
                </a:solidFill>
                <a:latin typeface="Calibri" pitchFamily="34" charset="0"/>
                <a:ea typeface="Calibri" pitchFamily="34" charset="-122"/>
                <a:cs typeface="Calibri" pitchFamily="34" charset="-120"/>
              </a:rPr>
              <a:t>Lemak kakao / hari</a:t>
            </a:r>
            <a:endParaRPr lang="en-US" sz="1100" dirty="0"/>
          </a:p>
          <a:p>
            <a:pPr marL="0" indent="0">
              <a:buNone/>
            </a:pPr>
            <a:r>
              <a:rPr lang="en-US" sz="1100" dirty="0">
                <a:solidFill>
                  <a:srgbClr val="8A776A"/>
                </a:solidFill>
                <a:latin typeface="Calibri" pitchFamily="34" charset="0"/>
                <a:ea typeface="Calibri" pitchFamily="34" charset="-122"/>
                <a:cs typeface="Calibri" pitchFamily="34" charset="-120"/>
              </a:rPr>
              <a:t>428,75 kg / bulan</a:t>
            </a:r>
            <a:endParaRPr lang="en-US" sz="1100" dirty="0"/>
          </a:p>
        </p:txBody>
      </p:sp>
      <p:sp>
        <p:nvSpPr>
          <p:cNvPr id="9" name="Text 7"/>
          <p:cNvSpPr txBox="1"/>
          <p:nvPr/>
        </p:nvSpPr>
        <p:spPr>
          <a:xfrm>
            <a:off x="3200400" y="2834640"/>
            <a:ext cx="2377440" cy="502920"/>
          </a:xfrm>
          <a:prstGeom prst="rect">
            <a:avLst/>
          </a:prstGeom>
          <a:noFill/>
          <a:ln/>
        </p:spPr>
        <p:txBody>
          <a:bodyPr wrap="square" lIns="0" tIns="0" rIns="0" bIns="0" rtlCol="0" anchor="ctr"/>
          <a:lstStyle/>
          <a:p>
            <a:pPr marL="0" indent="0">
              <a:buNone/>
            </a:pPr>
            <a:r>
              <a:rPr lang="en-US" sz="2600" b="1" dirty="0">
                <a:solidFill>
                  <a:srgbClr val="3E2723"/>
                </a:solidFill>
                <a:latin typeface="Cambria" pitchFamily="34" charset="0"/>
                <a:ea typeface="Cambria" pitchFamily="34" charset="-122"/>
                <a:cs typeface="Cambria" pitchFamily="34" charset="-120"/>
              </a:rPr>
              <a:t>22,05 kg</a:t>
            </a:r>
            <a:endParaRPr lang="en-US" sz="2600" dirty="0"/>
          </a:p>
        </p:txBody>
      </p:sp>
      <p:sp>
        <p:nvSpPr>
          <p:cNvPr id="10" name="Text 8"/>
          <p:cNvSpPr txBox="1"/>
          <p:nvPr/>
        </p:nvSpPr>
        <p:spPr>
          <a:xfrm>
            <a:off x="3200400" y="3355848"/>
            <a:ext cx="2377440" cy="548640"/>
          </a:xfrm>
          <a:prstGeom prst="rect">
            <a:avLst/>
          </a:prstGeom>
          <a:noFill/>
          <a:ln/>
        </p:spPr>
        <p:txBody>
          <a:bodyPr wrap="square" lIns="0" tIns="0" rIns="0" bIns="0" rtlCol="0" anchor="ctr"/>
          <a:lstStyle/>
          <a:p>
            <a:pPr marL="0" indent="0">
              <a:buNone/>
            </a:pPr>
            <a:r>
              <a:rPr lang="en-US" sz="1100" dirty="0">
                <a:solidFill>
                  <a:srgbClr val="8A776A"/>
                </a:solidFill>
                <a:latin typeface="Calibri" pitchFamily="34" charset="0"/>
                <a:ea typeface="Calibri" pitchFamily="34" charset="-122"/>
                <a:cs typeface="Calibri" pitchFamily="34" charset="-120"/>
              </a:rPr>
              <a:t>Bubuk kakao / hari</a:t>
            </a:r>
            <a:endParaRPr lang="en-US" sz="1100" dirty="0"/>
          </a:p>
          <a:p>
            <a:pPr marL="0" indent="0">
              <a:buNone/>
            </a:pPr>
            <a:r>
              <a:rPr lang="en-US" sz="1100" dirty="0">
                <a:solidFill>
                  <a:srgbClr val="8A776A"/>
                </a:solidFill>
                <a:latin typeface="Calibri" pitchFamily="34" charset="0"/>
                <a:ea typeface="Calibri" pitchFamily="34" charset="-122"/>
                <a:cs typeface="Calibri" pitchFamily="34" charset="-120"/>
              </a:rPr>
              <a:t>551,25 kg / bulan</a:t>
            </a:r>
            <a:endParaRPr lang="en-US" sz="1100" dirty="0"/>
          </a:p>
        </p:txBody>
      </p:sp>
      <p:sp>
        <p:nvSpPr>
          <p:cNvPr id="11" name="Text 9"/>
          <p:cNvSpPr txBox="1"/>
          <p:nvPr/>
        </p:nvSpPr>
        <p:spPr>
          <a:xfrm>
            <a:off x="822960" y="4206240"/>
            <a:ext cx="4800600" cy="914400"/>
          </a:xfrm>
          <a:prstGeom prst="rect">
            <a:avLst/>
          </a:prstGeom>
          <a:noFill/>
          <a:ln/>
        </p:spPr>
        <p:txBody>
          <a:bodyPr wrap="square" lIns="0" tIns="0" rIns="0" bIns="0" rtlCol="0" anchor="ctr"/>
          <a:lstStyle/>
          <a:p>
            <a:pPr marL="0" indent="0">
              <a:lnSpc>
                <a:spcPct val="120000"/>
              </a:lnSpc>
              <a:buNone/>
            </a:pPr>
            <a:r>
              <a:rPr lang="en-US" sz="1150" dirty="0">
                <a:solidFill>
                  <a:srgbClr val="3E2723"/>
                </a:solidFill>
                <a:latin typeface="Calibri" pitchFamily="34" charset="0"/>
                <a:ea typeface="Calibri" pitchFamily="34" charset="-122"/>
                <a:cs typeface="Calibri" pitchFamily="34" charset="-120"/>
              </a:rPr>
              <a:t>Dipakai sebagai dasar perhitungan pendapatan (Bagian 3) — realistis untuk mesin press skala koperasi/kecil.</a:t>
            </a:r>
            <a:endParaRPr lang="en-US" sz="1150" dirty="0"/>
          </a:p>
        </p:txBody>
      </p:sp>
      <p:sp>
        <p:nvSpPr>
          <p:cNvPr id="12" name="Shape 10"/>
          <p:cNvSpPr/>
          <p:nvPr/>
        </p:nvSpPr>
        <p:spPr>
          <a:xfrm>
            <a:off x="6263640" y="1874520"/>
            <a:ext cx="5349240" cy="3429000"/>
          </a:xfrm>
          <a:prstGeom prst="roundRect">
            <a:avLst>
              <a:gd name="adj" fmla="val 2667"/>
            </a:avLst>
          </a:prstGeom>
          <a:solidFill>
            <a:srgbClr val="F4ECE1"/>
          </a:solidFill>
          <a:ln/>
        </p:spPr>
      </p:sp>
      <p:sp>
        <p:nvSpPr>
          <p:cNvPr id="13" name="Text 11"/>
          <p:cNvSpPr txBox="1"/>
          <p:nvPr/>
        </p:nvSpPr>
        <p:spPr>
          <a:xfrm>
            <a:off x="6537960" y="2075688"/>
            <a:ext cx="4800600" cy="320040"/>
          </a:xfrm>
          <a:prstGeom prst="rect">
            <a:avLst/>
          </a:prstGeom>
          <a:noFill/>
          <a:ln/>
        </p:spPr>
        <p:txBody>
          <a:bodyPr wrap="square" lIns="0" tIns="0" rIns="0" bIns="0" rtlCol="0" anchor="ctr"/>
          <a:lstStyle/>
          <a:p>
            <a:pPr marL="0" indent="0">
              <a:buNone/>
            </a:pPr>
            <a:r>
              <a:rPr lang="en-US" sz="1300" b="1" kern="0" spc="100" dirty="0">
                <a:solidFill>
                  <a:srgbClr val="6D4C41"/>
                </a:solidFill>
                <a:latin typeface="Calibri" pitchFamily="34" charset="0"/>
                <a:ea typeface="Calibri" pitchFamily="34" charset="-122"/>
                <a:cs typeface="Calibri" pitchFamily="34" charset="-120"/>
              </a:rPr>
              <a:t>SKENARIO B — PEMBANDING</a:t>
            </a:r>
            <a:endParaRPr lang="en-US" sz="1300" dirty="0"/>
          </a:p>
        </p:txBody>
      </p:sp>
      <p:sp>
        <p:nvSpPr>
          <p:cNvPr id="14" name="Text 12"/>
          <p:cNvSpPr txBox="1"/>
          <p:nvPr/>
        </p:nvSpPr>
        <p:spPr>
          <a:xfrm>
            <a:off x="6537960" y="2404872"/>
            <a:ext cx="4800600" cy="274320"/>
          </a:xfrm>
          <a:prstGeom prst="rect">
            <a:avLst/>
          </a:prstGeom>
          <a:noFill/>
          <a:ln/>
        </p:spPr>
        <p:txBody>
          <a:bodyPr wrap="square" lIns="0" tIns="0" rIns="0" bIns="0" rtlCol="0" anchor="ctr"/>
          <a:lstStyle/>
          <a:p>
            <a:pPr marL="0" indent="0">
              <a:buNone/>
            </a:pPr>
            <a:r>
              <a:rPr lang="en-US" sz="1200" i="1" dirty="0">
                <a:solidFill>
                  <a:srgbClr val="8A776A"/>
                </a:solidFill>
                <a:latin typeface="Calibri" pitchFamily="34" charset="0"/>
                <a:ea typeface="Calibri" pitchFamily="34" charset="-122"/>
                <a:cs typeface="Calibri" pitchFamily="34" charset="-120"/>
              </a:rPr>
              <a:t>Bubuk rendah lemak · 11% sisa lemak</a:t>
            </a:r>
            <a:endParaRPr lang="en-US" sz="1200" dirty="0"/>
          </a:p>
        </p:txBody>
      </p:sp>
      <p:sp>
        <p:nvSpPr>
          <p:cNvPr id="15" name="Text 13"/>
          <p:cNvSpPr txBox="1"/>
          <p:nvPr/>
        </p:nvSpPr>
        <p:spPr>
          <a:xfrm>
            <a:off x="6537960" y="2834640"/>
            <a:ext cx="2377440" cy="502920"/>
          </a:xfrm>
          <a:prstGeom prst="rect">
            <a:avLst/>
          </a:prstGeom>
          <a:noFill/>
          <a:ln/>
        </p:spPr>
        <p:txBody>
          <a:bodyPr wrap="square" lIns="0" tIns="0" rIns="0" bIns="0" rtlCol="0" anchor="ctr"/>
          <a:lstStyle/>
          <a:p>
            <a:pPr marL="0" indent="0">
              <a:buNone/>
            </a:pPr>
            <a:r>
              <a:rPr lang="en-US" sz="2600" b="1" dirty="0">
                <a:solidFill>
                  <a:srgbClr val="3E2723"/>
                </a:solidFill>
                <a:latin typeface="Cambria" pitchFamily="34" charset="0"/>
                <a:ea typeface="Cambria" pitchFamily="34" charset="-122"/>
                <a:cs typeface="Cambria" pitchFamily="34" charset="-120"/>
              </a:rPr>
              <a:t>484,49 kg</a:t>
            </a:r>
            <a:endParaRPr lang="en-US" sz="2600" dirty="0"/>
          </a:p>
        </p:txBody>
      </p:sp>
      <p:sp>
        <p:nvSpPr>
          <p:cNvPr id="16" name="Text 14"/>
          <p:cNvSpPr txBox="1"/>
          <p:nvPr/>
        </p:nvSpPr>
        <p:spPr>
          <a:xfrm>
            <a:off x="6537960" y="3355848"/>
            <a:ext cx="2377440" cy="548640"/>
          </a:xfrm>
          <a:prstGeom prst="rect">
            <a:avLst/>
          </a:prstGeom>
          <a:noFill/>
          <a:ln/>
        </p:spPr>
        <p:txBody>
          <a:bodyPr wrap="square" lIns="0" tIns="0" rIns="0" bIns="0" rtlCol="0" anchor="ctr"/>
          <a:lstStyle/>
          <a:p>
            <a:pPr marL="0" indent="0">
              <a:buNone/>
            </a:pPr>
            <a:r>
              <a:rPr lang="en-US" sz="1100" dirty="0">
                <a:solidFill>
                  <a:srgbClr val="8A776A"/>
                </a:solidFill>
                <a:latin typeface="Calibri" pitchFamily="34" charset="0"/>
                <a:ea typeface="Calibri" pitchFamily="34" charset="-122"/>
                <a:cs typeface="Calibri" pitchFamily="34" charset="-120"/>
              </a:rPr>
              <a:t>Lemak kakao / bulan</a:t>
            </a:r>
            <a:endParaRPr lang="en-US" sz="1100" dirty="0"/>
          </a:p>
        </p:txBody>
      </p:sp>
      <p:sp>
        <p:nvSpPr>
          <p:cNvPr id="17" name="Text 15"/>
          <p:cNvSpPr txBox="1"/>
          <p:nvPr/>
        </p:nvSpPr>
        <p:spPr>
          <a:xfrm>
            <a:off x="8915400" y="2834640"/>
            <a:ext cx="2377440" cy="502920"/>
          </a:xfrm>
          <a:prstGeom prst="rect">
            <a:avLst/>
          </a:prstGeom>
          <a:noFill/>
          <a:ln/>
        </p:spPr>
        <p:txBody>
          <a:bodyPr wrap="square" lIns="0" tIns="0" rIns="0" bIns="0" rtlCol="0" anchor="ctr"/>
          <a:lstStyle/>
          <a:p>
            <a:pPr marL="0" indent="0">
              <a:buNone/>
            </a:pPr>
            <a:r>
              <a:rPr lang="en-US" sz="2600" b="1" dirty="0">
                <a:solidFill>
                  <a:srgbClr val="3E2723"/>
                </a:solidFill>
                <a:latin typeface="Cambria" pitchFamily="34" charset="0"/>
                <a:ea typeface="Cambria" pitchFamily="34" charset="-122"/>
                <a:cs typeface="Cambria" pitchFamily="34" charset="-120"/>
              </a:rPr>
              <a:t>495,51 kg</a:t>
            </a:r>
            <a:endParaRPr lang="en-US" sz="2600" dirty="0"/>
          </a:p>
        </p:txBody>
      </p:sp>
      <p:sp>
        <p:nvSpPr>
          <p:cNvPr id="18" name="Text 16"/>
          <p:cNvSpPr txBox="1"/>
          <p:nvPr/>
        </p:nvSpPr>
        <p:spPr>
          <a:xfrm>
            <a:off x="8915400" y="3355848"/>
            <a:ext cx="2377440" cy="548640"/>
          </a:xfrm>
          <a:prstGeom prst="rect">
            <a:avLst/>
          </a:prstGeom>
          <a:noFill/>
          <a:ln/>
        </p:spPr>
        <p:txBody>
          <a:bodyPr wrap="square" lIns="0" tIns="0" rIns="0" bIns="0" rtlCol="0" anchor="ctr"/>
          <a:lstStyle/>
          <a:p>
            <a:pPr marL="0" indent="0">
              <a:buNone/>
            </a:pPr>
            <a:r>
              <a:rPr lang="en-US" sz="1100" dirty="0">
                <a:solidFill>
                  <a:srgbClr val="8A776A"/>
                </a:solidFill>
                <a:latin typeface="Calibri" pitchFamily="34" charset="0"/>
                <a:ea typeface="Calibri" pitchFamily="34" charset="-122"/>
                <a:cs typeface="Calibri" pitchFamily="34" charset="-120"/>
              </a:rPr>
              <a:t>Bubuk kakao / bulan</a:t>
            </a:r>
            <a:endParaRPr lang="en-US" sz="1100" dirty="0"/>
          </a:p>
        </p:txBody>
      </p:sp>
      <p:sp>
        <p:nvSpPr>
          <p:cNvPr id="19" name="Text 17"/>
          <p:cNvSpPr txBox="1"/>
          <p:nvPr/>
        </p:nvSpPr>
        <p:spPr>
          <a:xfrm>
            <a:off x="6537960" y="4206240"/>
            <a:ext cx="4800600" cy="914400"/>
          </a:xfrm>
          <a:prstGeom prst="rect">
            <a:avLst/>
          </a:prstGeom>
          <a:noFill/>
          <a:ln/>
        </p:spPr>
        <p:txBody>
          <a:bodyPr wrap="square" lIns="0" tIns="0" rIns="0" bIns="0" rtlCol="0" anchor="ctr"/>
          <a:lstStyle/>
          <a:p>
            <a:pPr marL="0" indent="0">
              <a:lnSpc>
                <a:spcPct val="120000"/>
              </a:lnSpc>
              <a:buNone/>
            </a:pPr>
            <a:r>
              <a:rPr lang="en-US" sz="1150" dirty="0">
                <a:solidFill>
                  <a:srgbClr val="3E2723"/>
                </a:solidFill>
                <a:latin typeface="Calibri" pitchFamily="34" charset="0"/>
                <a:ea typeface="Calibri" pitchFamily="34" charset="-122"/>
                <a:cs typeface="Calibri" pitchFamily="34" charset="-120"/>
              </a:rPr>
              <a:t>Butuh press hidrolik bertekanan lebih tinggi untuk mencapai kadar lemak sisa 10–12% — perlu dicek terhadap spesifikasi mesin aktual.</a:t>
            </a:r>
            <a:endParaRPr lang="en-US" sz="1150" dirty="0"/>
          </a:p>
        </p:txBody>
      </p:sp>
      <p:sp>
        <p:nvSpPr>
          <p:cNvPr id="20" name="Text 18"/>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BAGIAN 3</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Estimasi Pendapatan Kotor (Skenario Dasar)</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943600" cy="1737360"/>
        </p:xfrm>
        <a:graphic>
          <a:graphicData uri="http://schemas.openxmlformats.org/drawingml/2006/table">
            <a:tbl>
              <a:tblPr/>
              <a:tblGrid>
                <a:gridCol w="22860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3434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Produk</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Volume/bln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Harga (curah)</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Pendapatan/bln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43434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Lemak kakao (cocoa butter)</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428,75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Rp275.184/kg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Rp117.985.140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434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Bubuk kakao — curah komoditas</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551,25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Rp69.420/kg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Rp38.267.775</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434340">
                <a:tc>
                  <a:txBody>
                    <a:bodyPr/>
                    <a:lstStyle/>
                    <a:p>
                      <a:pPr marL="0" indent="0" algn="l">
                        <a:buNone/>
                      </a:pPr>
                      <a:r>
                        <a:rPr lang="en-US" sz="1200" b="1" dirty="0">
                          <a:solidFill>
                            <a:srgbClr val="3E2723"/>
                          </a:solidFill>
                          <a:latin typeface="Calibri" pitchFamily="34" charset="0"/>
                          <a:ea typeface="Calibri" pitchFamily="34" charset="-122"/>
                          <a:cs typeface="Calibri" pitchFamily="34" charset="-120"/>
                        </a:rPr>
                        <a:t>TOTAL (harga curah komoditas)</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Rp156.252.915</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extLst>
                  <a:ext uri="{0D108BD9-81ED-4DB2-BD59-A6C34878D82A}">
                    <a16:rowId xmlns:a16="http://schemas.microsoft.com/office/drawing/2014/main" val="10003"/>
                  </a:ext>
                </a:extLst>
              </a:tr>
            </a:tbl>
          </a:graphicData>
        </a:graphic>
      </p:graphicFrame>
      <p:graphicFrame>
        <p:nvGraphicFramePr>
          <p:cNvPr id="5" name="Chart 0"/>
          <p:cNvGraphicFramePr/>
          <p:nvPr/>
        </p:nvGraphicFramePr>
        <p:xfrm>
          <a:off x="6720840" y="1783080"/>
          <a:ext cx="493776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548640" y="3794760"/>
            <a:ext cx="5943600" cy="1600200"/>
          </a:xfrm>
          <a:prstGeom prst="roundRect">
            <a:avLst>
              <a:gd name="adj" fmla="val 4571"/>
            </a:avLst>
          </a:prstGeom>
          <a:solidFill>
            <a:srgbClr val="FBEFE0"/>
          </a:solidFill>
          <a:ln/>
        </p:spPr>
      </p:sp>
      <p:sp>
        <p:nvSpPr>
          <p:cNvPr id="4" name="Shape 3"/>
          <p:cNvSpPr/>
          <p:nvPr/>
        </p:nvSpPr>
        <p:spPr>
          <a:xfrm>
            <a:off x="749808" y="4357116"/>
            <a:ext cx="475488" cy="475488"/>
          </a:xfrm>
          <a:prstGeom prst="ellipse">
            <a:avLst/>
          </a:prstGeom>
          <a:solidFill>
            <a:srgbClr val="B23A2E"/>
          </a:solidFill>
          <a:ln/>
        </p:spPr>
      </p:sp>
      <p:pic>
        <p:nvPicPr>
          <p:cNvPr id="8" name="Image 0" descr="/home/claude/ballmill_pptx/icons/warning_white.png"/>
          <p:cNvPicPr>
            <a:picLocks noChangeAspect="1"/>
          </p:cNvPicPr>
          <p:nvPr/>
        </p:nvPicPr>
        <p:blipFill>
          <a:blip r:embed="rId4"/>
          <a:stretch>
            <a:fillRect/>
          </a:stretch>
        </p:blipFill>
        <p:spPr>
          <a:xfrm>
            <a:off x="873435" y="4480743"/>
            <a:ext cx="228234" cy="228234"/>
          </a:xfrm>
          <a:prstGeom prst="rect">
            <a:avLst/>
          </a:prstGeom>
        </p:spPr>
      </p:pic>
      <p:sp>
        <p:nvSpPr>
          <p:cNvPr id="9" name="Text 4"/>
          <p:cNvSpPr txBox="1"/>
          <p:nvPr/>
        </p:nvSpPr>
        <p:spPr>
          <a:xfrm>
            <a:off x="1444752" y="3904488"/>
            <a:ext cx="4791456" cy="1380744"/>
          </a:xfrm>
          <a:prstGeom prst="rect">
            <a:avLst/>
          </a:prstGeom>
          <a:noFill/>
          <a:ln/>
        </p:spPr>
        <p:txBody>
          <a:bodyPr wrap="square" lIns="0" tIns="0" rIns="0" bIns="0" rtlCol="0" anchor="ctr"/>
          <a:lstStyle/>
          <a:p>
            <a:pPr marL="0" indent="0">
              <a:lnSpc>
                <a:spcPct val="118000"/>
              </a:lnSpc>
              <a:buNone/>
            </a:pPr>
            <a:r>
              <a:rPr lang="en-US" sz="1200" dirty="0">
                <a:solidFill>
                  <a:srgbClr val="3E2723"/>
                </a:solidFill>
                <a:latin typeface="Calibri" pitchFamily="34" charset="0"/>
                <a:ea typeface="Calibri" pitchFamily="34" charset="-122"/>
                <a:cs typeface="Calibri" pitchFamily="34" charset="-120"/>
              </a:rPr>
              <a:t>INI PENDAPATAN KOTOR, BUKAN LABA</a:t>
            </a:r>
            <a:endParaRPr lang="en-US" sz="1200" dirty="0"/>
          </a:p>
          <a:p>
            <a:pPr marL="0" indent="0">
              <a:lnSpc>
                <a:spcPct val="118000"/>
              </a:lnSpc>
              <a:buNone/>
            </a:pPr>
            <a:endParaRPr lang="en-US" sz="1200" dirty="0"/>
          </a:p>
          <a:p>
            <a:pPr marL="0" indent="0">
              <a:lnSpc>
                <a:spcPct val="118000"/>
              </a:lnSpc>
              <a:buNone/>
            </a:pPr>
            <a:r>
              <a:rPr lang="en-US" sz="1200" dirty="0">
                <a:solidFill>
                  <a:srgbClr val="3E2723"/>
                </a:solidFill>
                <a:latin typeface="Calibri" pitchFamily="34" charset="0"/>
                <a:ea typeface="Calibri" pitchFamily="34" charset="-122"/>
                <a:cs typeface="Calibri" pitchFamily="34" charset="-120"/>
              </a:rPr>
              <a:t>Belum dikurangi biaya bahan baku biji kakao, operasional (listrik, tenaga kerja, pemeliharaan), kemasan, dan distribusi.</a:t>
            </a:r>
            <a:endParaRPr lang="en-US" sz="1200" dirty="0"/>
          </a:p>
        </p:txBody>
      </p:sp>
      <p:sp>
        <p:nvSpPr>
          <p:cNvPr id="10" name="Text 5"/>
          <p:cNvSpPr txBox="1"/>
          <p:nvPr/>
        </p:nvSpPr>
        <p:spPr>
          <a:xfrm>
            <a:off x="6720840" y="5257800"/>
            <a:ext cx="4937760" cy="365760"/>
          </a:xfrm>
          <a:prstGeom prst="rect">
            <a:avLst/>
          </a:prstGeom>
          <a:noFill/>
          <a:ln/>
        </p:spPr>
        <p:txBody>
          <a:bodyPr wrap="square" lIns="0" tIns="0" rIns="0" bIns="0" rtlCol="0" anchor="ctr"/>
          <a:lstStyle/>
          <a:p>
            <a:pPr marL="0" indent="0" algn="ctr">
              <a:buNone/>
            </a:pPr>
            <a:r>
              <a:rPr lang="en-US" sz="1250" i="1" dirty="0">
                <a:solidFill>
                  <a:srgbClr val="8A776A"/>
                </a:solidFill>
                <a:latin typeface="Calibri" pitchFamily="34" charset="0"/>
                <a:ea typeface="Calibri" pitchFamily="34" charset="-122"/>
                <a:cs typeface="Calibri" pitchFamily="34" charset="-120"/>
              </a:rPr>
              <a:t>≈ Rp1,88 miliar/tahun pada skenario dasar</a:t>
            </a:r>
            <a:endParaRPr lang="en-US" sz="1250" dirty="0"/>
          </a:p>
        </p:txBody>
      </p:sp>
      <p:sp>
        <p:nvSpPr>
          <p:cNvPr id="11" name="Text 6"/>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BAGIAN 4</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Potensi Jumlah Petani Penerima Manfaat</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7040880" cy="1920240"/>
        </p:xfrm>
        <a:graphic>
          <a:graphicData uri="http://schemas.openxmlformats.org/drawingml/2006/table">
            <a:tbl>
              <a:tblPr/>
              <a:tblGrid>
                <a:gridCol w="3749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800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Dasar Perhitungan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Kebutuhan/bulan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Jumlah Petani (@50 kg/bln)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48006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Interpretasi harfiah (1.000 kg nibs dari soal)</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1.000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20 petani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006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Kebutuhan biji kakao aktual (rendemen 80%)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1.250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25 petani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48006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Kebutuhan biji kakao aktual (rendemen 83%, optimal)</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1.204,82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≈24 petani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7955280" y="1828800"/>
            <a:ext cx="3685032" cy="1920240"/>
          </a:xfrm>
          <a:prstGeom prst="roundRect">
            <a:avLst>
              <a:gd name="adj" fmla="val 4286"/>
            </a:avLst>
          </a:prstGeom>
          <a:solidFill>
            <a:srgbClr val="F4ECE1"/>
          </a:solidFill>
          <a:ln/>
          <a:effectLst>
            <a:outerShdw blurRad="76200" dist="25400" dir="5400000" algn="bl" rotWithShape="0">
              <a:srgbClr val="9C8E80">
                <a:alpha val="18000"/>
              </a:srgbClr>
            </a:outerShdw>
          </a:effectLst>
        </p:spPr>
      </p:sp>
      <p:sp>
        <p:nvSpPr>
          <p:cNvPr id="6" name="Shape 3"/>
          <p:cNvSpPr/>
          <p:nvPr/>
        </p:nvSpPr>
        <p:spPr>
          <a:xfrm>
            <a:off x="8174736" y="2048256"/>
            <a:ext cx="566928" cy="566928"/>
          </a:xfrm>
          <a:prstGeom prst="ellipse">
            <a:avLst/>
          </a:prstGeom>
          <a:solidFill>
            <a:srgbClr val="D97B29"/>
          </a:solidFill>
          <a:ln/>
        </p:spPr>
      </p:sp>
      <p:pic>
        <p:nvPicPr>
          <p:cNvPr id="7" name="Image 0" descr="/home/claude/ballmill_pptx/icons/users_white.png"/>
          <p:cNvPicPr>
            <a:picLocks noChangeAspect="1"/>
          </p:cNvPicPr>
          <p:nvPr/>
        </p:nvPicPr>
        <p:blipFill>
          <a:blip r:embed="rId3"/>
          <a:stretch>
            <a:fillRect/>
          </a:stretch>
        </p:blipFill>
        <p:spPr>
          <a:xfrm>
            <a:off x="8322137" y="2195657"/>
            <a:ext cx="272125" cy="272125"/>
          </a:xfrm>
          <a:prstGeom prst="rect">
            <a:avLst/>
          </a:prstGeom>
        </p:spPr>
      </p:pic>
      <p:sp>
        <p:nvSpPr>
          <p:cNvPr id="4" name="Text 4"/>
          <p:cNvSpPr txBox="1"/>
          <p:nvPr/>
        </p:nvSpPr>
        <p:spPr>
          <a:xfrm>
            <a:off x="8174736" y="2688336"/>
            <a:ext cx="3246120"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25 petani</a:t>
            </a:r>
            <a:endParaRPr lang="en-US" sz="2200" dirty="0"/>
          </a:p>
        </p:txBody>
      </p:sp>
      <p:sp>
        <p:nvSpPr>
          <p:cNvPr id="9" name="Text 5"/>
          <p:cNvSpPr txBox="1"/>
          <p:nvPr/>
        </p:nvSpPr>
        <p:spPr>
          <a:xfrm>
            <a:off x="8174736" y="3145536"/>
            <a:ext cx="3246120" cy="49377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Angka yang direkomendasikan untuk pelaporan ke mitra/donor</a:t>
            </a:r>
            <a:endParaRPr lang="en-US" sz="1150" dirty="0"/>
          </a:p>
        </p:txBody>
      </p:sp>
      <p:sp>
        <p:nvSpPr>
          <p:cNvPr id="10" name="Shape 6"/>
          <p:cNvSpPr/>
          <p:nvPr/>
        </p:nvSpPr>
        <p:spPr>
          <a:xfrm>
            <a:off x="548640" y="4023360"/>
            <a:ext cx="11091672" cy="1554480"/>
          </a:xfrm>
          <a:prstGeom prst="roundRect">
            <a:avLst>
              <a:gd name="adj" fmla="val 4706"/>
            </a:avLst>
          </a:prstGeom>
          <a:solidFill>
            <a:srgbClr val="F4ECE1"/>
          </a:solidFill>
          <a:ln/>
        </p:spPr>
      </p:sp>
      <p:sp>
        <p:nvSpPr>
          <p:cNvPr id="11" name="Shape 7"/>
          <p:cNvSpPr/>
          <p:nvPr/>
        </p:nvSpPr>
        <p:spPr>
          <a:xfrm>
            <a:off x="749808" y="4562856"/>
            <a:ext cx="475488" cy="475488"/>
          </a:xfrm>
          <a:prstGeom prst="ellipse">
            <a:avLst/>
          </a:prstGeom>
          <a:solidFill>
            <a:srgbClr val="6D4C41"/>
          </a:solidFill>
          <a:ln/>
        </p:spPr>
      </p:sp>
      <p:pic>
        <p:nvPicPr>
          <p:cNvPr id="12" name="Image 1" descr="/home/claude/ballmill_pptx/icons/handshake_white.png"/>
          <p:cNvPicPr>
            <a:picLocks noChangeAspect="1"/>
          </p:cNvPicPr>
          <p:nvPr/>
        </p:nvPicPr>
        <p:blipFill>
          <a:blip r:embed="rId4"/>
          <a:stretch>
            <a:fillRect/>
          </a:stretch>
        </p:blipFill>
        <p:spPr>
          <a:xfrm>
            <a:off x="873435" y="4686483"/>
            <a:ext cx="228234" cy="228234"/>
          </a:xfrm>
          <a:prstGeom prst="rect">
            <a:avLst/>
          </a:prstGeom>
        </p:spPr>
      </p:pic>
      <p:sp>
        <p:nvSpPr>
          <p:cNvPr id="13" name="Text 8"/>
          <p:cNvSpPr txBox="1"/>
          <p:nvPr/>
        </p:nvSpPr>
        <p:spPr>
          <a:xfrm>
            <a:off x="1444752" y="4133088"/>
            <a:ext cx="9939528" cy="1335024"/>
          </a:xfrm>
          <a:prstGeom prst="rect">
            <a:avLst/>
          </a:prstGeom>
          <a:noFill/>
          <a:ln/>
        </p:spPr>
        <p:txBody>
          <a:bodyPr wrap="square" lIns="0" tIns="0" rIns="0" bIns="0" rtlCol="0" anchor="ctr"/>
          <a:lstStyle/>
          <a:p>
            <a:pPr marL="0" indent="0">
              <a:lnSpc>
                <a:spcPct val="118000"/>
              </a:lnSpc>
              <a:buNone/>
            </a:pPr>
            <a:r>
              <a:rPr lang="en-US" sz="1250" dirty="0">
                <a:solidFill>
                  <a:srgbClr val="3E2723"/>
                </a:solidFill>
                <a:latin typeface="Calibri" pitchFamily="34" charset="0"/>
                <a:ea typeface="Calibri" pitchFamily="34" charset="-122"/>
                <a:cs typeface="Calibri" pitchFamily="34" charset="-120"/>
              </a:rPr>
              <a:t>1.000 kg pada soal adalah berat NIBS (hasil olahan), bukan biji mentah yang dibeli dari petani. Kebutuhan biji kakao aktual yang dibeli — setelah memperhitungkan susut kulit ~20% saat sangrai/pemisahan kulit — adalah 1.250 kg/bulan, setara 25 petani. Menggunakan angka 20 petani berisiko meremehkan basis petani yang dibutuhkan untuk memasok unit ini secara berkelanjutan.</a:t>
            </a:r>
            <a:endParaRPr lang="en-US" sz="1250" dirty="0"/>
          </a:p>
        </p:txBody>
      </p:sp>
      <p:sp>
        <p:nvSpPr>
          <p:cNvPr id="14" name="Text 9"/>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3E2723"/>
        </a:solidFill>
        <a:effectLst/>
      </p:bgPr>
    </p:bg>
    <p:spTree>
      <p:nvGrpSpPr>
        <p:cNvPr id="1" name=""/>
        <p:cNvGrpSpPr/>
        <p:nvPr/>
      </p:nvGrpSpPr>
      <p:grpSpPr>
        <a:xfrm>
          <a:off x="0" y="0"/>
          <a:ext cx="0" cy="0"/>
          <a:chOff x="0" y="0"/>
          <a:chExt cx="0" cy="0"/>
        </a:xfrm>
      </p:grpSpPr>
      <p:sp>
        <p:nvSpPr>
          <p:cNvPr id="2" name="Text 0"/>
          <p:cNvSpPr txBox="1"/>
          <p:nvPr/>
        </p:nvSpPr>
        <p:spPr>
          <a:xfrm>
            <a:off x="640080" y="1005840"/>
            <a:ext cx="7315200" cy="274320"/>
          </a:xfrm>
          <a:prstGeom prst="rect">
            <a:avLst/>
          </a:prstGeom>
          <a:noFill/>
          <a:ln/>
        </p:spPr>
        <p:txBody>
          <a:bodyPr wrap="square" lIns="0" tIns="0" rIns="0" bIns="0" rtlCol="0" anchor="ctr"/>
          <a:lstStyle/>
          <a:p>
            <a:pPr marL="0" indent="0">
              <a:buNone/>
            </a:pPr>
            <a:r>
              <a:rPr lang="en-US" sz="1200" b="1" kern="0" spc="200" dirty="0">
                <a:solidFill>
                  <a:srgbClr val="C8A165"/>
                </a:solidFill>
                <a:latin typeface="Calibri" pitchFamily="34" charset="0"/>
                <a:ea typeface="Calibri" pitchFamily="34" charset="-122"/>
                <a:cs typeface="Calibri" pitchFamily="34" charset="-120"/>
              </a:rPr>
              <a:t>STRATEGI PENGEMBANGAN PROGRAM</a:t>
            </a:r>
            <a:endParaRPr lang="en-US" sz="1200" dirty="0"/>
          </a:p>
        </p:txBody>
      </p:sp>
      <p:sp>
        <p:nvSpPr>
          <p:cNvPr id="3" name="Text 1"/>
          <p:cNvSpPr txBox="1"/>
          <p:nvPr/>
        </p:nvSpPr>
        <p:spPr>
          <a:xfrm>
            <a:off x="640080" y="1554480"/>
            <a:ext cx="9875520" cy="1554480"/>
          </a:xfrm>
          <a:prstGeom prst="rect">
            <a:avLst/>
          </a:prstGeom>
          <a:noFill/>
          <a:ln/>
        </p:spPr>
        <p:txBody>
          <a:bodyPr wrap="square" lIns="0" tIns="0" rIns="0" bIns="0" rtlCol="0" anchor="ctr"/>
          <a:lstStyle/>
          <a:p>
            <a:pPr marL="0" indent="0">
              <a:lnSpc>
                <a:spcPct val="108000"/>
              </a:lnSpc>
              <a:buNone/>
            </a:pPr>
            <a:r>
              <a:rPr lang="en-US" sz="3600" b="1" dirty="0">
                <a:solidFill>
                  <a:srgbClr val="FFFFFF"/>
                </a:solidFill>
                <a:latin typeface="Cambria" pitchFamily="34" charset="0"/>
                <a:ea typeface="Cambria" pitchFamily="34" charset="-122"/>
                <a:cs typeface="Cambria" pitchFamily="34" charset="-120"/>
              </a:rPr>
              <a:t>Petani Champion, Motor Penggerak</a:t>
            </a:r>
            <a:endParaRPr lang="en-US" sz="3600" dirty="0"/>
          </a:p>
          <a:p>
            <a:pPr marL="0" indent="0">
              <a:lnSpc>
                <a:spcPct val="108000"/>
              </a:lnSpc>
              <a:buNone/>
            </a:pPr>
            <a:r>
              <a:rPr lang="en-US" sz="3600" b="1" dirty="0">
                <a:solidFill>
                  <a:srgbClr val="FFFFFF"/>
                </a:solidFill>
                <a:latin typeface="Cambria" pitchFamily="34" charset="0"/>
                <a:ea typeface="Cambria" pitchFamily="34" charset="-122"/>
                <a:cs typeface="Cambria" pitchFamily="34" charset="-120"/>
              </a:rPr>
              <a:t>Klaster Kakao Berkualitas</a:t>
            </a:r>
            <a:endParaRPr lang="en-US" sz="3600" dirty="0"/>
          </a:p>
        </p:txBody>
      </p:sp>
      <p:sp>
        <p:nvSpPr>
          <p:cNvPr id="4" name="Text 2"/>
          <p:cNvSpPr txBox="1"/>
          <p:nvPr/>
        </p:nvSpPr>
        <p:spPr>
          <a:xfrm>
            <a:off x="640080" y="3063240"/>
            <a:ext cx="9326880" cy="1005840"/>
          </a:xfrm>
          <a:prstGeom prst="rect">
            <a:avLst/>
          </a:prstGeom>
          <a:noFill/>
          <a:ln/>
        </p:spPr>
        <p:txBody>
          <a:bodyPr wrap="square" lIns="0" tIns="0" rIns="0" bIns="0" rtlCol="0" anchor="ctr"/>
          <a:lstStyle/>
          <a:p>
            <a:pPr marL="0" indent="0">
              <a:lnSpc>
                <a:spcPct val="128000"/>
              </a:lnSpc>
              <a:buNone/>
            </a:pPr>
            <a:r>
              <a:rPr lang="en-US" sz="1550" dirty="0">
                <a:solidFill>
                  <a:srgbClr val="F4ECE1"/>
                </a:solidFill>
                <a:latin typeface="Calibri" pitchFamily="34" charset="0"/>
                <a:ea typeface="Calibri" pitchFamily="34" charset="-122"/>
                <a:cs typeface="Calibri" pitchFamily="34" charset="-120"/>
              </a:rPr>
              <a:t>Untuk meningkatkan akses masyarakat terhadap peningkatan kapasitas budidaya kakao agar menghasilkan produk berkualitas, program ini melatih 25 petani champion yang disiapkan sebagai koordinator klaster. Dalam 3 tahun, jaringan pasokan ini direncanakan tumbuh dari 25 champion menjadi 1.250 petani yang terhimpun dalam 125 kelompok tani.</a:t>
            </a:r>
            <a:endParaRPr lang="en-US" sz="1550" dirty="0"/>
          </a:p>
        </p:txBody>
      </p:sp>
      <p:sp>
        <p:nvSpPr>
          <p:cNvPr id="5" name="Shape 5"/>
          <p:cNvSpPr/>
          <p:nvPr/>
        </p:nvSpPr>
        <p:spPr>
          <a:xfrm>
            <a:off x="640080" y="4434840"/>
            <a:ext cx="3454400" cy="960120"/>
          </a:xfrm>
          <a:prstGeom prst="roundRect">
            <a:avLst>
              <a:gd name="adj" fmla="val 7619"/>
            </a:avLst>
          </a:prstGeom>
          <a:solidFill>
            <a:srgbClr val="4E362C"/>
          </a:solidFill>
          <a:ln/>
        </p:spPr>
      </p:sp>
      <p:sp>
        <p:nvSpPr>
          <p:cNvPr id="6" name="Shape 6"/>
          <p:cNvSpPr/>
          <p:nvPr/>
        </p:nvSpPr>
        <p:spPr>
          <a:xfrm>
            <a:off x="822960" y="4636008"/>
            <a:ext cx="438912" cy="438912"/>
          </a:xfrm>
          <a:prstGeom prst="ellipse">
            <a:avLst/>
          </a:prstGeom>
          <a:solidFill>
            <a:srgbClr val="D97B29"/>
          </a:solidFill>
          <a:ln/>
        </p:spPr>
      </p:sp>
      <p:pic>
        <p:nvPicPr>
          <p:cNvPr id="7" name="Image 7" descr="/home/claude/ballmill_pptx/icons/seedling_white.png"/>
          <p:cNvPicPr>
            <a:picLocks noChangeAspect="1"/>
          </p:cNvPicPr>
          <p:nvPr/>
        </p:nvPicPr>
        <p:blipFill>
          <a:blip r:embed="rId2"/>
          <a:stretch>
            <a:fillRect/>
          </a:stretch>
        </p:blipFill>
        <p:spPr>
          <a:xfrm>
            <a:off x="937077" y="4750125"/>
            <a:ext cx="210678" cy="210678"/>
          </a:xfrm>
          <a:prstGeom prst="rect">
            <a:avLst/>
          </a:prstGeom>
        </p:spPr>
      </p:pic>
      <p:sp>
        <p:nvSpPr>
          <p:cNvPr id="8" name="Text 8"/>
          <p:cNvSpPr txBox="1"/>
          <p:nvPr/>
        </p:nvSpPr>
        <p:spPr>
          <a:xfrm>
            <a:off x="822960" y="5120640"/>
            <a:ext cx="3088640" cy="400000"/>
          </a:xfrm>
          <a:prstGeom prst="rect">
            <a:avLst/>
          </a:prstGeom>
          <a:noFill/>
          <a:ln/>
        </p:spPr>
        <p:txBody>
          <a:bodyPr wrap="square" lIns="0" tIns="0" rIns="0" bIns="0" rtlCol="0" anchor="ctr"/>
          <a:lstStyle/>
          <a:p>
            <a:pPr marL="0" indent="0">
              <a:lnSpc>
                <a:spcPct val="115000"/>
              </a:lnSpc>
              <a:buNone/>
            </a:pPr>
            <a:r>
              <a:rPr lang="en-US" sz="1100" b="1" dirty="0">
                <a:solidFill>
                  <a:srgbClr val="FFFFFF"/>
                </a:solidFill>
                <a:latin typeface="Calibri" pitchFamily="34" charset="0"/>
                <a:ea typeface="Calibri" pitchFamily="34" charset="-122"/>
                <a:cs typeface="Calibri" pitchFamily="34" charset="-120"/>
              </a:rPr>
              <a:t>Tahun 1 — Champion Jadi Pemasok</a:t>
            </a:r>
            <a:endParaRPr lang="en-US" sz="1100" dirty="0"/>
          </a:p>
        </p:txBody>
      </p:sp>
      <p:sp>
        <p:nvSpPr>
          <p:cNvPr id="9" name="Shape 9"/>
          <p:cNvSpPr/>
          <p:nvPr/>
        </p:nvSpPr>
        <p:spPr>
          <a:xfrm>
            <a:off x="4368800" y="4434840"/>
            <a:ext cx="3454400" cy="960120"/>
          </a:xfrm>
          <a:prstGeom prst="roundRect">
            <a:avLst>
              <a:gd name="adj" fmla="val 7619"/>
            </a:avLst>
          </a:prstGeom>
          <a:solidFill>
            <a:srgbClr val="4E362C"/>
          </a:solidFill>
          <a:ln/>
        </p:spPr>
      </p:sp>
      <p:sp>
        <p:nvSpPr>
          <p:cNvPr id="10" name="Shape 10"/>
          <p:cNvSpPr/>
          <p:nvPr/>
        </p:nvSpPr>
        <p:spPr>
          <a:xfrm>
            <a:off x="4551680" y="4636008"/>
            <a:ext cx="438912" cy="438912"/>
          </a:xfrm>
          <a:prstGeom prst="ellipse">
            <a:avLst/>
          </a:prstGeom>
          <a:solidFill>
            <a:srgbClr val="D97B29"/>
          </a:solidFill>
          <a:ln/>
        </p:spPr>
      </p:sp>
      <p:pic>
        <p:nvPicPr>
          <p:cNvPr id="11" name="Image 11" descr="/home/claude/ballmill_pptx/icons/users_white.png"/>
          <p:cNvPicPr>
            <a:picLocks noChangeAspect="1"/>
          </p:cNvPicPr>
          <p:nvPr/>
        </p:nvPicPr>
        <p:blipFill>
          <a:blip r:embed="rId3"/>
          <a:stretch>
            <a:fillRect/>
          </a:stretch>
        </p:blipFill>
        <p:spPr>
          <a:xfrm>
            <a:off x="4665797" y="4750125"/>
            <a:ext cx="210678" cy="210678"/>
          </a:xfrm>
          <a:prstGeom prst="rect">
            <a:avLst/>
          </a:prstGeom>
        </p:spPr>
      </p:pic>
      <p:sp>
        <p:nvSpPr>
          <p:cNvPr id="12" name="Text 12"/>
          <p:cNvSpPr txBox="1"/>
          <p:nvPr/>
        </p:nvSpPr>
        <p:spPr>
          <a:xfrm>
            <a:off x="4551680" y="5120640"/>
            <a:ext cx="3088640" cy="400000"/>
          </a:xfrm>
          <a:prstGeom prst="rect">
            <a:avLst/>
          </a:prstGeom>
          <a:noFill/>
          <a:ln/>
        </p:spPr>
        <p:txBody>
          <a:bodyPr wrap="square" lIns="0" tIns="0" rIns="0" bIns="0" rtlCol="0" anchor="ctr"/>
          <a:lstStyle/>
          <a:p>
            <a:pPr marL="0" indent="0">
              <a:lnSpc>
                <a:spcPct val="115000"/>
              </a:lnSpc>
              <a:buNone/>
            </a:pPr>
            <a:r>
              <a:rPr lang="en-US" sz="1100" b="1" dirty="0">
                <a:solidFill>
                  <a:srgbClr val="FFFFFF"/>
                </a:solidFill>
                <a:latin typeface="Calibri" pitchFamily="34" charset="0"/>
                <a:ea typeface="Calibri" pitchFamily="34" charset="-122"/>
                <a:cs typeface="Calibri" pitchFamily="34" charset="-120"/>
              </a:rPr>
              <a:t>Tahun 2 — Bentuk Kelompok Tani</a:t>
            </a:r>
            <a:endParaRPr lang="en-US" sz="1100" dirty="0"/>
          </a:p>
        </p:txBody>
      </p:sp>
      <p:sp>
        <p:nvSpPr>
          <p:cNvPr id="13" name="Shape 13"/>
          <p:cNvSpPr/>
          <p:nvPr/>
        </p:nvSpPr>
        <p:spPr>
          <a:xfrm>
            <a:off x="8097520" y="4434840"/>
            <a:ext cx="3454400" cy="960120"/>
          </a:xfrm>
          <a:prstGeom prst="roundRect">
            <a:avLst>
              <a:gd name="adj" fmla="val 7619"/>
            </a:avLst>
          </a:prstGeom>
          <a:solidFill>
            <a:srgbClr val="4E362C"/>
          </a:solidFill>
          <a:ln/>
        </p:spPr>
      </p:sp>
      <p:sp>
        <p:nvSpPr>
          <p:cNvPr id="14" name="Shape 14"/>
          <p:cNvSpPr/>
          <p:nvPr/>
        </p:nvSpPr>
        <p:spPr>
          <a:xfrm>
            <a:off x="8280400" y="4636008"/>
            <a:ext cx="438912" cy="438912"/>
          </a:xfrm>
          <a:prstGeom prst="ellipse">
            <a:avLst/>
          </a:prstGeom>
          <a:solidFill>
            <a:srgbClr val="D97B29"/>
          </a:solidFill>
          <a:ln/>
        </p:spPr>
      </p:sp>
      <p:pic>
        <p:nvPicPr>
          <p:cNvPr id="15" name="Image 15" descr="/home/claude/ballmill_pptx/icons/chartline_white.png"/>
          <p:cNvPicPr>
            <a:picLocks noChangeAspect="1"/>
          </p:cNvPicPr>
          <p:nvPr/>
        </p:nvPicPr>
        <p:blipFill>
          <a:blip r:embed="rId4"/>
          <a:stretch>
            <a:fillRect/>
          </a:stretch>
        </p:blipFill>
        <p:spPr>
          <a:xfrm>
            <a:off x="8394517" y="4750125"/>
            <a:ext cx="210678" cy="210678"/>
          </a:xfrm>
          <a:prstGeom prst="rect">
            <a:avLst/>
          </a:prstGeom>
        </p:spPr>
      </p:pic>
      <p:sp>
        <p:nvSpPr>
          <p:cNvPr id="16" name="Text 16"/>
          <p:cNvSpPr txBox="1"/>
          <p:nvPr/>
        </p:nvSpPr>
        <p:spPr>
          <a:xfrm>
            <a:off x="8280400" y="5120640"/>
            <a:ext cx="3088640" cy="400000"/>
          </a:xfrm>
          <a:prstGeom prst="rect">
            <a:avLst/>
          </a:prstGeom>
          <a:noFill/>
          <a:ln/>
        </p:spPr>
        <p:txBody>
          <a:bodyPr wrap="square" lIns="0" tIns="0" rIns="0" bIns="0" rtlCol="0" anchor="ctr"/>
          <a:lstStyle/>
          <a:p>
            <a:pPr marL="0" indent="0">
              <a:lnSpc>
                <a:spcPct val="115000"/>
              </a:lnSpc>
              <a:buNone/>
            </a:pPr>
            <a:r>
              <a:rPr lang="en-US" sz="1100" b="1" dirty="0">
                <a:solidFill>
                  <a:srgbClr val="FFFFFF"/>
                </a:solidFill>
                <a:latin typeface="Calibri" pitchFamily="34" charset="0"/>
                <a:ea typeface="Calibri" pitchFamily="34" charset="-122"/>
                <a:cs typeface="Calibri" pitchFamily="34" charset="-120"/>
              </a:rPr>
              <a:t>Tahun 3 — Ekspansi Klaster Kakao</a:t>
            </a:r>
            <a:endParaRPr lang="en-US" sz="1100" dirty="0"/>
          </a:p>
        </p:txBody>
      </p:sp>
      <p:sp>
        <p:nvSpPr>
          <p:cNvPr id="21" name="Text 15"/>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STRATEGI PENGEMBANGAN PROGRAM</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Peta Pertumbuhan Klaster Petani Champion</a:t>
            </a:r>
            <a:endParaRPr lang="en-US" sz="3000" dirty="0"/>
          </a:p>
        </p:txBody>
      </p:sp>
      <p:sp>
        <p:nvSpPr>
          <p:cNvPr id="4" name="Text 2"/>
          <p:cNvSpPr txBox="1"/>
          <p:nvPr/>
        </p:nvSpPr>
        <p:spPr>
          <a:xfrm>
            <a:off x="548640" y="1298448"/>
            <a:ext cx="11064240" cy="674784"/>
          </a:xfrm>
          <a:prstGeom prst="rect">
            <a:avLst/>
          </a:prstGeom>
          <a:noFill/>
          <a:ln/>
        </p:spPr>
        <p:txBody>
          <a:bodyPr wrap="square" lIns="0" tIns="0" rIns="0" bIns="0" rtlCol="0" anchor="ctr"/>
          <a:lstStyle/>
          <a:p>
            <a:pPr marL="0" indent="0">
              <a:lnSpc>
                <a:spcPct val="120000"/>
              </a:lnSpc>
              <a:buNone/>
            </a:pPr>
            <a:r>
              <a:rPr lang="en-US" sz="1200" dirty="0">
                <a:solidFill>
                  <a:srgbClr val="8A776A"/>
                </a:solidFill>
                <a:latin typeface="Calibri" pitchFamily="34" charset="0"/>
                <a:ea typeface="Calibri" pitchFamily="34" charset="-122"/>
                <a:cs typeface="Calibri" pitchFamily="34" charset="-120"/>
              </a:rPr>
              <a:t>Tabel berikut memproyeksikan pertumbuhan jaringan petani champion selama 3 tahun. Kapasitas Tahun 3 (6.050 kg/bulan) melampaui kapasitas ballmill saat ini (1.250 kg/bulan, Bagian 1) — perluasan kapasitas pengolahan perlu direncanakan seiring pertumbuhan klaster.</a:t>
            </a:r>
            <a:endParaRPr lang="en-US" sz="1200" dirty="0"/>
          </a:p>
        </p:txBody>
      </p:sp>
      <p:graphicFrame>
        <p:nvGraphicFramePr>
          <p:cNvPr id="17" name="Table 0"/>
          <p:cNvGraphicFramePr>
            <a:graphicFrameLocks noGrp="1"/>
          </p:cNvGraphicFramePr>
          <p:nvPr/>
        </p:nvGraphicFramePr>
        <p:xfrm>
          <a:off x="548640" y="2011680"/>
          <a:ext cx="11091672" cy="2820000"/>
        </p:xfrm>
        <a:graphic>
          <a:graphicData uri="http://schemas.openxmlformats.org/drawingml/2006/table">
            <a:tbl>
              <a:tblPr/>
              <a:tblGrid>
                <a:gridCol w="9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gridCol w="1450000">
                  <a:extLst>
                    <a:ext uri="{9D8B030D-6E8A-4147-A177-3AD203B41FA5}">
                      <a16:colId xmlns:a16="http://schemas.microsoft.com/office/drawing/2014/main" val="20002"/>
                    </a:ext>
                  </a:extLst>
                </a:gridCol>
                <a:gridCol w="1450000">
                  <a:extLst>
                    <a:ext uri="{9D8B030D-6E8A-4147-A177-3AD203B41FA5}">
                      <a16:colId xmlns:a16="http://schemas.microsoft.com/office/drawing/2014/main" val="20003"/>
                    </a:ext>
                  </a:extLst>
                </a:gridCol>
                <a:gridCol w="1450000">
                  <a:extLst>
                    <a:ext uri="{9D8B030D-6E8A-4147-A177-3AD203B41FA5}">
                      <a16:colId xmlns:a16="http://schemas.microsoft.com/office/drawing/2014/main" val="20004"/>
                    </a:ext>
                  </a:extLst>
                </a:gridCol>
                <a:gridCol w="2241672">
                  <a:extLst>
                    <a:ext uri="{9D8B030D-6E8A-4147-A177-3AD203B41FA5}">
                      <a16:colId xmlns:a16="http://schemas.microsoft.com/office/drawing/2014/main" val="20005"/>
                    </a:ext>
                  </a:extLst>
                </a:gridCol>
              </a:tblGrid>
              <a:tr h="6000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Tahun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Aktivitas Utama Champion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Kelompok Baru</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Total Kelompok</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Total Petani</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Kapasitas/Bulan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740000">
                <a:tc>
                  <a:txBody>
                    <a:bodyPr/>
                    <a:lstStyle/>
                    <a:p>
                      <a:pPr marL="0" indent="0" algn="l">
                        <a:buNone/>
                      </a:pPr>
                      <a:r>
                        <a:rPr lang="en-US" sz="1150" dirty="0">
                          <a:solidFill>
                            <a:srgbClr val="3E2723"/>
                          </a:solidFill>
                          <a:latin typeface="Calibri" pitchFamily="34" charset="0"/>
                          <a:ea typeface="Calibri" pitchFamily="34" charset="-122"/>
                          <a:cs typeface="Calibri" pitchFamily="34" charset="-120"/>
                        </a:rPr>
                        <a:t>Tahun 1</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E2723"/>
                          </a:solidFill>
                          <a:latin typeface="Calibri" pitchFamily="34" charset="0"/>
                          <a:ea typeface="Calibri" pitchFamily="34" charset="-122"/>
                          <a:cs typeface="Calibri" pitchFamily="34" charset="-120"/>
                        </a:rPr>
                        <a:t>25 champion dilatih sebagai koordinator klaster &amp; pemasok utama bahan baku.</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25 champion</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25 petani</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1.250 kg</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0000">
                <a:tc>
                  <a:txBody>
                    <a:bodyPr/>
                    <a:lstStyle/>
                    <a:p>
                      <a:pPr marL="0" indent="0" algn="l">
                        <a:buNone/>
                      </a:pPr>
                      <a:r>
                        <a:rPr lang="en-US" sz="1150" dirty="0">
                          <a:solidFill>
                            <a:srgbClr val="3E2723"/>
                          </a:solidFill>
                          <a:latin typeface="Calibri" pitchFamily="34" charset="0"/>
                          <a:ea typeface="Calibri" pitchFamily="34" charset="-122"/>
                          <a:cs typeface="Calibri" pitchFamily="34" charset="-120"/>
                        </a:rPr>
                        <a:t>Tahun 2</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E2723"/>
                          </a:solidFill>
                          <a:latin typeface="Calibri" pitchFamily="34" charset="0"/>
                          <a:ea typeface="Calibri" pitchFamily="34" charset="-122"/>
                          <a:cs typeface="Calibri" pitchFamily="34" charset="-120"/>
                        </a:rPr>
                        <a:t>Setiap champion membentuk 2 kelompok tani baru &amp; mulai membawahi satu klaster.</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50 kelompok</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≈500 petani*</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≈3.170 kg*</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0000">
                <a:tc>
                  <a:txBody>
                    <a:bodyPr/>
                    <a:lstStyle/>
                    <a:p>
                      <a:pPr marL="0" indent="0" algn="l">
                        <a:buNone/>
                      </a:pPr>
                      <a:r>
                        <a:rPr lang="en-US" sz="1150" dirty="0">
                          <a:solidFill>
                            <a:srgbClr val="3E2723"/>
                          </a:solidFill>
                          <a:latin typeface="Calibri" pitchFamily="34" charset="0"/>
                          <a:ea typeface="Calibri" pitchFamily="34" charset="-122"/>
                          <a:cs typeface="Calibri" pitchFamily="34" charset="-120"/>
                        </a:rPr>
                        <a:t>Tahun 3</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150" dirty="0">
                          <a:solidFill>
                            <a:srgbClr val="3E2723"/>
                          </a:solidFill>
                          <a:latin typeface="Calibri" pitchFamily="34" charset="0"/>
                          <a:ea typeface="Calibri" pitchFamily="34" charset="-122"/>
                          <a:cs typeface="Calibri" pitchFamily="34" charset="-120"/>
                        </a:rPr>
                        <a:t>Setiap champion membentuk 3 kelompok tambahan — klaster genap 5 kelompok/champion.</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125 kelompok</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1.250 petani</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150" dirty="0">
                          <a:solidFill>
                            <a:srgbClr val="3E2723"/>
                          </a:solidFill>
                          <a:latin typeface="Calibri" pitchFamily="34" charset="0"/>
                          <a:ea typeface="Calibri" pitchFamily="34" charset="-122"/>
                          <a:cs typeface="Calibri" pitchFamily="34" charset="-120"/>
                        </a:rPr>
                        <a:t>6.050 kg</a:t>
                      </a:r>
                      <a:endParaRPr lang="en-US" sz="11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txBox="1"/>
          <p:nvPr/>
        </p:nvSpPr>
        <p:spPr>
          <a:xfrm>
            <a:off x="548640" y="4891680"/>
            <a:ext cx="11091672" cy="330000"/>
          </a:xfrm>
          <a:prstGeom prst="rect">
            <a:avLst/>
          </a:prstGeom>
          <a:noFill/>
          <a:ln/>
        </p:spPr>
        <p:txBody>
          <a:bodyPr wrap="square" lIns="0" tIns="0" rIns="0" bIns="0" rtlCol="0" anchor="ctr"/>
          <a:lstStyle/>
          <a:p>
            <a:pPr marL="0" indent="0">
              <a:lnSpc>
                <a:spcPct val="115000"/>
              </a:lnSpc>
              <a:buNone/>
            </a:pPr>
            <a:r>
              <a:rPr lang="en-US" sz="1050" i="1" dirty="0">
                <a:solidFill>
                  <a:srgbClr val="8A776A"/>
                </a:solidFill>
                <a:latin typeface="Calibri" pitchFamily="34" charset="0"/>
                <a:ea typeface="Calibri" pitchFamily="34" charset="-122"/>
                <a:cs typeface="Calibri" pitchFamily="34" charset="-120"/>
              </a:rPr>
              <a:t>*Tahun 2: proyeksi proporsional (interpolasi linear antara Tahun 1 dan Tahun 3) — validasi terhadap realisasi pembentukan kelompok di lapangan. Setiap kelompok beranggotakan minimal 10 orang.</a:t>
            </a:r>
            <a:endParaRPr lang="en-US" sz="1050" i="1" dirty="0"/>
          </a:p>
        </p:txBody>
      </p:sp>
      <p:sp>
        <p:nvSpPr>
          <p:cNvPr id="7" name="Shape 7"/>
          <p:cNvSpPr/>
          <p:nvPr/>
        </p:nvSpPr>
        <p:spPr>
          <a:xfrm>
            <a:off x="548640" y="5486400"/>
            <a:ext cx="5394960" cy="960120"/>
          </a:xfrm>
          <a:prstGeom prst="roundRect">
            <a:avLst>
              <a:gd name="adj" fmla="val 7619"/>
            </a:avLst>
          </a:prstGeom>
          <a:solidFill>
            <a:srgbClr val="F4ECE1"/>
          </a:solidFill>
          <a:ln/>
        </p:spPr>
      </p:sp>
      <p:sp>
        <p:nvSpPr>
          <p:cNvPr id="8" name="Shape 8"/>
          <p:cNvSpPr/>
          <p:nvPr/>
        </p:nvSpPr>
        <p:spPr>
          <a:xfrm>
            <a:off x="768096" y="5623560"/>
            <a:ext cx="685800" cy="685800"/>
          </a:xfrm>
          <a:prstGeom prst="ellipse">
            <a:avLst/>
          </a:prstGeom>
          <a:solidFill>
            <a:srgbClr val="D97B29"/>
          </a:solidFill>
          <a:ln/>
        </p:spPr>
      </p:sp>
      <p:pic>
        <p:nvPicPr>
          <p:cNvPr id="9" name="Image 9" descr="/home/claude/ballmill_pptx/icons/users_white.png"/>
          <p:cNvPicPr>
            <a:picLocks noChangeAspect="1"/>
          </p:cNvPicPr>
          <p:nvPr/>
        </p:nvPicPr>
        <p:blipFill>
          <a:blip r:embed="rId2"/>
          <a:stretch>
            <a:fillRect/>
          </a:stretch>
        </p:blipFill>
        <p:spPr>
          <a:xfrm>
            <a:off x="946404" y="5801868"/>
            <a:ext cx="329184" cy="329184"/>
          </a:xfrm>
          <a:prstGeom prst="rect">
            <a:avLst/>
          </a:prstGeom>
        </p:spPr>
      </p:pic>
      <p:sp>
        <p:nvSpPr>
          <p:cNvPr id="10" name="Text 10"/>
          <p:cNvSpPr txBox="1"/>
          <p:nvPr/>
        </p:nvSpPr>
        <p:spPr>
          <a:xfrm>
            <a:off x="1673352" y="5614368"/>
            <a:ext cx="4133088" cy="422453"/>
          </a:xfrm>
          <a:prstGeom prst="rect">
            <a:avLst/>
          </a:prstGeom>
          <a:noFill/>
          <a:ln/>
        </p:spPr>
        <p:txBody>
          <a:bodyPr wrap="square" lIns="0" tIns="0" rIns="0" bIns="0" rtlCol="0" anchor="ctr"/>
          <a:lstStyle/>
          <a:p>
            <a:pPr marL="0" indent="0">
              <a:buNone/>
            </a:pPr>
            <a:r>
              <a:rPr lang="en-US" sz="2000" b="1" dirty="0">
                <a:solidFill>
                  <a:srgbClr val="3E2723"/>
                </a:solidFill>
                <a:latin typeface="Cambria" pitchFamily="34" charset="0"/>
                <a:ea typeface="Cambria" pitchFamily="34" charset="-122"/>
                <a:cs typeface="Cambria" pitchFamily="34" charset="-120"/>
              </a:rPr>
              <a:t>1.250 petani</a:t>
            </a:r>
            <a:endParaRPr lang="en-US" sz="2000" dirty="0"/>
          </a:p>
        </p:txBody>
      </p:sp>
      <p:sp>
        <p:nvSpPr>
          <p:cNvPr id="11" name="Text 11"/>
          <p:cNvSpPr txBox="1"/>
          <p:nvPr/>
        </p:nvSpPr>
        <p:spPr>
          <a:xfrm>
            <a:off x="1673352" y="5966444"/>
            <a:ext cx="4133088" cy="403250"/>
          </a:xfrm>
          <a:prstGeom prst="rect">
            <a:avLst/>
          </a:prstGeom>
          <a:noFill/>
          <a:ln/>
        </p:spPr>
        <p:txBody>
          <a:bodyPr wrap="square" lIns="0" tIns="0" rIns="0" bIns="0" rtlCol="0" anchor="ctr"/>
          <a:lstStyle/>
          <a:p>
            <a:pPr marL="0" indent="0">
              <a:lnSpc>
                <a:spcPct val="110000"/>
              </a:lnSpc>
              <a:buNone/>
            </a:pPr>
            <a:r>
              <a:rPr lang="en-US" sz="1050" dirty="0">
                <a:solidFill>
                  <a:srgbClr val="6D5C4D"/>
                </a:solidFill>
                <a:latin typeface="Calibri" pitchFamily="34" charset="0"/>
                <a:ea typeface="Calibri" pitchFamily="34" charset="-122"/>
                <a:cs typeface="Calibri" pitchFamily="34" charset="-120"/>
              </a:rPr>
              <a:t>Total petani terhimpun akhir Tahun 3 — 125 kelompok × min. 10 orang, dikoordinir 25 champion</a:t>
            </a:r>
            <a:endParaRPr lang="en-US" sz="1050" dirty="0"/>
          </a:p>
        </p:txBody>
      </p:sp>
      <p:sp>
        <p:nvSpPr>
          <p:cNvPr id="12" name="Shape 12"/>
          <p:cNvSpPr/>
          <p:nvPr/>
        </p:nvSpPr>
        <p:spPr>
          <a:xfrm>
            <a:off x="6080760" y="5486400"/>
            <a:ext cx="5559552" cy="960120"/>
          </a:xfrm>
          <a:prstGeom prst="roundRect">
            <a:avLst>
              <a:gd name="adj" fmla="val 7619"/>
            </a:avLst>
          </a:prstGeom>
          <a:solidFill>
            <a:srgbClr val="F4ECE1"/>
          </a:solidFill>
          <a:ln/>
        </p:spPr>
      </p:sp>
      <p:sp>
        <p:nvSpPr>
          <p:cNvPr id="13" name="Shape 13"/>
          <p:cNvSpPr/>
          <p:nvPr/>
        </p:nvSpPr>
        <p:spPr>
          <a:xfrm>
            <a:off x="6300216" y="5623560"/>
            <a:ext cx="685800" cy="685800"/>
          </a:xfrm>
          <a:prstGeom prst="ellipse">
            <a:avLst/>
          </a:prstGeom>
          <a:solidFill>
            <a:srgbClr val="6D4C41"/>
          </a:solidFill>
          <a:ln/>
        </p:spPr>
      </p:sp>
      <p:pic>
        <p:nvPicPr>
          <p:cNvPr id="14" name="Image 14" descr="/home/claude/ballmill_pptx/icons/chartline_white.png"/>
          <p:cNvPicPr>
            <a:picLocks noChangeAspect="1"/>
          </p:cNvPicPr>
          <p:nvPr/>
        </p:nvPicPr>
        <p:blipFill>
          <a:blip r:embed="rId3"/>
          <a:stretch>
            <a:fillRect/>
          </a:stretch>
        </p:blipFill>
        <p:spPr>
          <a:xfrm>
            <a:off x="6478524" y="5801868"/>
            <a:ext cx="329184" cy="329184"/>
          </a:xfrm>
          <a:prstGeom prst="rect">
            <a:avLst/>
          </a:prstGeom>
        </p:spPr>
      </p:pic>
      <p:sp>
        <p:nvSpPr>
          <p:cNvPr id="15" name="Text 15"/>
          <p:cNvSpPr txBox="1"/>
          <p:nvPr/>
        </p:nvSpPr>
        <p:spPr>
          <a:xfrm>
            <a:off x="7205472" y="5614368"/>
            <a:ext cx="4297680" cy="422453"/>
          </a:xfrm>
          <a:prstGeom prst="rect">
            <a:avLst/>
          </a:prstGeom>
          <a:noFill/>
          <a:ln/>
        </p:spPr>
        <p:txBody>
          <a:bodyPr wrap="square" lIns="0" tIns="0" rIns="0" bIns="0" rtlCol="0" anchor="ctr"/>
          <a:lstStyle/>
          <a:p>
            <a:pPr marL="0" indent="0">
              <a:buNone/>
            </a:pPr>
            <a:r>
              <a:rPr lang="en-US" sz="2000" b="1" dirty="0">
                <a:solidFill>
                  <a:srgbClr val="3E2723"/>
                </a:solidFill>
                <a:latin typeface="Cambria" pitchFamily="34" charset="0"/>
                <a:ea typeface="Cambria" pitchFamily="34" charset="-122"/>
                <a:cs typeface="Cambria" pitchFamily="34" charset="-120"/>
              </a:rPr>
              <a:t>6.050 kg/bulan</a:t>
            </a:r>
            <a:endParaRPr lang="en-US" sz="2000" dirty="0"/>
          </a:p>
        </p:txBody>
      </p:sp>
      <p:sp>
        <p:nvSpPr>
          <p:cNvPr id="16" name="Text 16"/>
          <p:cNvSpPr txBox="1"/>
          <p:nvPr/>
        </p:nvSpPr>
        <p:spPr>
          <a:xfrm>
            <a:off x="7205472" y="5966444"/>
            <a:ext cx="4297680" cy="403250"/>
          </a:xfrm>
          <a:prstGeom prst="rect">
            <a:avLst/>
          </a:prstGeom>
          <a:noFill/>
          <a:ln/>
        </p:spPr>
        <p:txBody>
          <a:bodyPr wrap="square" lIns="0" tIns="0" rIns="0" bIns="0" rtlCol="0" anchor="ctr"/>
          <a:lstStyle/>
          <a:p>
            <a:pPr marL="0" indent="0">
              <a:lnSpc>
                <a:spcPct val="110000"/>
              </a:lnSpc>
              <a:buNone/>
            </a:pPr>
            <a:r>
              <a:rPr lang="en-US" sz="1050" dirty="0">
                <a:solidFill>
                  <a:srgbClr val="6D5C4D"/>
                </a:solidFill>
                <a:latin typeface="Calibri" pitchFamily="34" charset="0"/>
                <a:ea typeface="Calibri" pitchFamily="34" charset="-122"/>
                <a:cs typeface="Calibri" pitchFamily="34" charset="-120"/>
              </a:rPr>
              <a:t>Proyeksi kapasitas pasokan biji kakao kering skala penuh — perlu tambahan kapasitas pengolahan</a:t>
            </a:r>
            <a:endParaRPr lang="en-US" sz="1050" dirty="0"/>
          </a:p>
        </p:txBody>
      </p:sp>
      <p:sp>
        <p:nvSpPr>
          <p:cNvPr id="5" name="Text 12"/>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STRATEGI PENGEMBANGAN PROGRAM</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Peran Petani Champion sebagai Koordinator Klaster</a:t>
            </a:r>
            <a:endParaRPr lang="en-US" sz="3000" dirty="0"/>
          </a:p>
        </p:txBody>
      </p:sp>
      <p:sp>
        <p:nvSpPr>
          <p:cNvPr id="4" name="Text 2"/>
          <p:cNvSpPr txBox="1"/>
          <p:nvPr/>
        </p:nvSpPr>
        <p:spPr>
          <a:xfrm>
            <a:off x="548640" y="1298448"/>
            <a:ext cx="11064240" cy="365760"/>
          </a:xfrm>
          <a:prstGeom prst="rect">
            <a:avLst/>
          </a:prstGeom>
          <a:noFill/>
          <a:ln/>
        </p:spPr>
        <p:txBody>
          <a:bodyPr wrap="square" lIns="0" tIns="0" rIns="0" bIns="0" rtlCol="0" anchor="ctr"/>
          <a:lstStyle/>
          <a:p>
            <a:pPr marL="0" indent="0">
              <a:buNone/>
            </a:pPr>
            <a:r>
              <a:rPr lang="en-US" sz="1250" dirty="0">
                <a:solidFill>
                  <a:srgbClr val="8A776A"/>
                </a:solidFill>
                <a:latin typeface="Calibri" pitchFamily="34" charset="0"/>
                <a:ea typeface="Calibri" pitchFamily="34" charset="-122"/>
                <a:cs typeface="Calibri" pitchFamily="34" charset="-120"/>
              </a:rPr>
              <a:t>Peran champion berkembang bertahap: dari pemasok bahan baku, menjadi pembina kelompok, lalu penjamin mutu di seluruh klaster.</a:t>
            </a:r>
            <a:endParaRPr lang="en-US" sz="1250" dirty="0"/>
          </a:p>
        </p:txBody>
      </p:sp>
      <p:sp>
        <p:nvSpPr>
          <p:cNvPr id="6" name="Shape 6"/>
          <p:cNvSpPr/>
          <p:nvPr/>
        </p:nvSpPr>
        <p:spPr>
          <a:xfrm>
            <a:off x="548640" y="1828800"/>
            <a:ext cx="11091672" cy="1219200"/>
          </a:xfrm>
          <a:prstGeom prst="roundRect">
            <a:avLst>
              <a:gd name="adj" fmla="val 5825"/>
            </a:avLst>
          </a:prstGeom>
          <a:solidFill>
            <a:srgbClr val="FBEFE0"/>
          </a:solidFill>
          <a:ln/>
        </p:spPr>
      </p:sp>
      <p:sp>
        <p:nvSpPr>
          <p:cNvPr id="7" name="Shape 7"/>
          <p:cNvSpPr/>
          <p:nvPr/>
        </p:nvSpPr>
        <p:spPr>
          <a:xfrm>
            <a:off x="777240" y="2200656"/>
            <a:ext cx="475488" cy="475488"/>
          </a:xfrm>
          <a:prstGeom prst="ellipse">
            <a:avLst/>
          </a:prstGeom>
          <a:solidFill>
            <a:srgbClr val="D97B29"/>
          </a:solidFill>
          <a:ln/>
        </p:spPr>
      </p:sp>
      <p:pic>
        <p:nvPicPr>
          <p:cNvPr id="8" name="Image 8" descr="/home/claude/ballmill_pptx/icons/seedling_white.png"/>
          <p:cNvPicPr>
            <a:picLocks noChangeAspect="1"/>
          </p:cNvPicPr>
          <p:nvPr/>
        </p:nvPicPr>
        <p:blipFill>
          <a:blip r:embed="rId2"/>
          <a:stretch>
            <a:fillRect/>
          </a:stretch>
        </p:blipFill>
        <p:spPr>
          <a:xfrm>
            <a:off x="900867" y="2324283"/>
            <a:ext cx="228234" cy="228234"/>
          </a:xfrm>
          <a:prstGeom prst="rect">
            <a:avLst/>
          </a:prstGeom>
        </p:spPr>
      </p:pic>
      <p:sp>
        <p:nvSpPr>
          <p:cNvPr id="9" name="Text 9"/>
          <p:cNvSpPr txBox="1"/>
          <p:nvPr/>
        </p:nvSpPr>
        <p:spPr>
          <a:xfrm>
            <a:off x="1527048" y="1918800"/>
            <a:ext cx="9838944" cy="1039200"/>
          </a:xfrm>
          <a:prstGeom prst="rect">
            <a:avLst/>
          </a:prstGeom>
          <a:noFill/>
          <a:ln/>
        </p:spPr>
        <p:txBody>
          <a:bodyPr wrap="square" lIns="0" tIns="0" rIns="0" bIns="0" rtlCol="0" anchor="ctr"/>
          <a:lstStyle/>
          <a:p>
            <a:pPr marL="0" indent="0">
              <a:lnSpc>
                <a:spcPct val="110000"/>
              </a:lnSpc>
              <a:spcAft>
                <a:spcPts val="400"/>
              </a:spcAft>
              <a:buNone/>
            </a:pPr>
            <a:r>
              <a:rPr lang="en-US" sz="1250" b="1" kern="0" spc="100" dirty="0">
                <a:solidFill>
                  <a:srgbClr val="3E2723"/>
                </a:solidFill>
                <a:latin typeface="Calibri" pitchFamily="34" charset="0"/>
                <a:ea typeface="Calibri" pitchFamily="34" charset="-122"/>
                <a:cs typeface="Calibri" pitchFamily="34" charset="-120"/>
              </a:rPr>
              <a:t>PENOPANG PASOKAN — TAHUN 1</a:t>
            </a:r>
          </a:p>
          <a:p>
            <a:pPr marL="0" indent="0">
              <a:lnSpc>
                <a:spcPct val="118000"/>
              </a:lnSpc>
              <a:buNone/>
            </a:pPr>
            <a:r>
              <a:rPr lang="en-US" sz="1200" dirty="0">
                <a:solidFill>
                  <a:srgbClr val="3E2723"/>
                </a:solidFill>
                <a:latin typeface="Calibri" pitchFamily="34" charset="0"/>
                <a:ea typeface="Calibri" pitchFamily="34" charset="-122"/>
                <a:cs typeface="Calibri" pitchFamily="34" charset="-120"/>
              </a:rPr>
              <a:t>Champion menjadi sumber utama biji kakao berkualitas bagi unit industri kabupaten, sekaligus role model praktik budidaya yang baik bagi petani di sekitarnya.</a:t>
            </a:r>
            <a:endParaRPr lang="en-US" sz="1200" dirty="0"/>
          </a:p>
        </p:txBody>
      </p:sp>
      <p:sp>
        <p:nvSpPr>
          <p:cNvPr id="10" name="Shape 10"/>
          <p:cNvSpPr/>
          <p:nvPr/>
        </p:nvSpPr>
        <p:spPr>
          <a:xfrm>
            <a:off x="548640" y="3276600"/>
            <a:ext cx="11091672" cy="1219200"/>
          </a:xfrm>
          <a:prstGeom prst="roundRect">
            <a:avLst>
              <a:gd name="adj" fmla="val 5825"/>
            </a:avLst>
          </a:prstGeom>
          <a:solidFill>
            <a:srgbClr val="F4ECE1"/>
          </a:solidFill>
          <a:ln/>
        </p:spPr>
      </p:sp>
      <p:sp>
        <p:nvSpPr>
          <p:cNvPr id="11" name="Shape 11"/>
          <p:cNvSpPr/>
          <p:nvPr/>
        </p:nvSpPr>
        <p:spPr>
          <a:xfrm>
            <a:off x="777240" y="3648456"/>
            <a:ext cx="475488" cy="475488"/>
          </a:xfrm>
          <a:prstGeom prst="ellipse">
            <a:avLst/>
          </a:prstGeom>
          <a:solidFill>
            <a:srgbClr val="6D4C41"/>
          </a:solidFill>
          <a:ln/>
        </p:spPr>
      </p:sp>
      <p:pic>
        <p:nvPicPr>
          <p:cNvPr id="12" name="Image 12" descr="/home/claude/ballmill_pptx/icons/handshake_white.png"/>
          <p:cNvPicPr>
            <a:picLocks noChangeAspect="1"/>
          </p:cNvPicPr>
          <p:nvPr/>
        </p:nvPicPr>
        <p:blipFill>
          <a:blip r:embed="rId3"/>
          <a:stretch>
            <a:fillRect/>
          </a:stretch>
        </p:blipFill>
        <p:spPr>
          <a:xfrm>
            <a:off x="900867" y="3772083"/>
            <a:ext cx="228234" cy="228234"/>
          </a:xfrm>
          <a:prstGeom prst="rect">
            <a:avLst/>
          </a:prstGeom>
        </p:spPr>
      </p:pic>
      <p:sp>
        <p:nvSpPr>
          <p:cNvPr id="13" name="Text 13"/>
          <p:cNvSpPr txBox="1"/>
          <p:nvPr/>
        </p:nvSpPr>
        <p:spPr>
          <a:xfrm>
            <a:off x="1527048" y="3366600"/>
            <a:ext cx="9838944" cy="1039200"/>
          </a:xfrm>
          <a:prstGeom prst="rect">
            <a:avLst/>
          </a:prstGeom>
          <a:noFill/>
          <a:ln/>
        </p:spPr>
        <p:txBody>
          <a:bodyPr wrap="square" lIns="0" tIns="0" rIns="0" bIns="0" rtlCol="0" anchor="ctr"/>
          <a:lstStyle/>
          <a:p>
            <a:pPr marL="0" indent="0">
              <a:lnSpc>
                <a:spcPct val="110000"/>
              </a:lnSpc>
              <a:spcAft>
                <a:spcPts val="400"/>
              </a:spcAft>
              <a:buNone/>
            </a:pPr>
            <a:r>
              <a:rPr lang="en-US" sz="1250" b="1" kern="0" spc="100" dirty="0">
                <a:solidFill>
                  <a:srgbClr val="3E2723"/>
                </a:solidFill>
                <a:latin typeface="Calibri" pitchFamily="34" charset="0"/>
                <a:ea typeface="Calibri" pitchFamily="34" charset="-122"/>
                <a:cs typeface="Calibri" pitchFamily="34" charset="-120"/>
              </a:rPr>
              <a:t>PEMBENTUK &amp; PEMBINA KELOMPOK — TAHUN 2–3</a:t>
            </a:r>
          </a:p>
          <a:p>
            <a:pPr marL="0" indent="0">
              <a:lnSpc>
                <a:spcPct val="118000"/>
              </a:lnSpc>
              <a:buNone/>
            </a:pPr>
            <a:r>
              <a:rPr lang="en-US" sz="1200" dirty="0">
                <a:solidFill>
                  <a:srgbClr val="3E2723"/>
                </a:solidFill>
                <a:latin typeface="Calibri" pitchFamily="34" charset="0"/>
                <a:ea typeface="Calibri" pitchFamily="34" charset="-122"/>
                <a:cs typeface="Calibri" pitchFamily="34" charset="-120"/>
              </a:rPr>
              <a:t>Champion merekrut, melatih, dan mendampingi anggota kelompok tani baru dalam praktik budidaya, pemangkasan, fermentasi, dan pengeringan kakao yang benar.</a:t>
            </a:r>
            <a:endParaRPr lang="en-US" sz="1200" dirty="0"/>
          </a:p>
        </p:txBody>
      </p:sp>
      <p:sp>
        <p:nvSpPr>
          <p:cNvPr id="14" name="Shape 14"/>
          <p:cNvSpPr/>
          <p:nvPr/>
        </p:nvSpPr>
        <p:spPr>
          <a:xfrm>
            <a:off x="548640" y="4724400"/>
            <a:ext cx="11091672" cy="1219200"/>
          </a:xfrm>
          <a:prstGeom prst="roundRect">
            <a:avLst>
              <a:gd name="adj" fmla="val 5825"/>
            </a:avLst>
          </a:prstGeom>
          <a:solidFill>
            <a:srgbClr val="FBEFE0"/>
          </a:solidFill>
          <a:ln/>
        </p:spPr>
      </p:sp>
      <p:sp>
        <p:nvSpPr>
          <p:cNvPr id="15" name="Shape 15"/>
          <p:cNvSpPr/>
          <p:nvPr/>
        </p:nvSpPr>
        <p:spPr>
          <a:xfrm>
            <a:off x="777240" y="5096256"/>
            <a:ext cx="475488" cy="475488"/>
          </a:xfrm>
          <a:prstGeom prst="ellipse">
            <a:avLst/>
          </a:prstGeom>
          <a:solidFill>
            <a:srgbClr val="D97B29"/>
          </a:solidFill>
          <a:ln/>
        </p:spPr>
      </p:sp>
      <p:pic>
        <p:nvPicPr>
          <p:cNvPr id="16" name="Image 16" descr="/home/claude/ballmill_pptx/icons/shield_white.png"/>
          <p:cNvPicPr>
            <a:picLocks noChangeAspect="1"/>
          </p:cNvPicPr>
          <p:nvPr/>
        </p:nvPicPr>
        <p:blipFill>
          <a:blip r:embed="rId4"/>
          <a:stretch>
            <a:fillRect/>
          </a:stretch>
        </p:blipFill>
        <p:spPr>
          <a:xfrm>
            <a:off x="900867" y="5219883"/>
            <a:ext cx="228234" cy="228234"/>
          </a:xfrm>
          <a:prstGeom prst="rect">
            <a:avLst/>
          </a:prstGeom>
        </p:spPr>
      </p:pic>
      <p:sp>
        <p:nvSpPr>
          <p:cNvPr id="17" name="Text 17"/>
          <p:cNvSpPr txBox="1"/>
          <p:nvPr/>
        </p:nvSpPr>
        <p:spPr>
          <a:xfrm>
            <a:off x="1527048" y="4814400"/>
            <a:ext cx="9838944" cy="1039200"/>
          </a:xfrm>
          <a:prstGeom prst="rect">
            <a:avLst/>
          </a:prstGeom>
          <a:noFill/>
          <a:ln/>
        </p:spPr>
        <p:txBody>
          <a:bodyPr wrap="square" lIns="0" tIns="0" rIns="0" bIns="0" rtlCol="0" anchor="ctr"/>
          <a:lstStyle/>
          <a:p>
            <a:pPr marL="0" indent="0">
              <a:lnSpc>
                <a:spcPct val="110000"/>
              </a:lnSpc>
              <a:spcAft>
                <a:spcPts val="400"/>
              </a:spcAft>
              <a:buNone/>
            </a:pPr>
            <a:r>
              <a:rPr lang="en-US" sz="1250" b="1" kern="0" spc="100" dirty="0">
                <a:solidFill>
                  <a:srgbClr val="3E2723"/>
                </a:solidFill>
                <a:latin typeface="Calibri" pitchFamily="34" charset="0"/>
                <a:ea typeface="Calibri" pitchFamily="34" charset="-122"/>
                <a:cs typeface="Calibri" pitchFamily="34" charset="-120"/>
              </a:rPr>
              <a:t>KOORDINATOR MUTU KLASTER</a:t>
            </a:r>
          </a:p>
          <a:p>
            <a:pPr marL="0" indent="0">
              <a:lnSpc>
                <a:spcPct val="118000"/>
              </a:lnSpc>
              <a:buNone/>
            </a:pPr>
            <a:r>
              <a:rPr lang="en-US" sz="1200" dirty="0">
                <a:solidFill>
                  <a:srgbClr val="3E2723"/>
                </a:solidFill>
                <a:latin typeface="Calibri" pitchFamily="34" charset="0"/>
                <a:ea typeface="Calibri" pitchFamily="34" charset="-122"/>
                <a:cs typeface="Calibri" pitchFamily="34" charset="-120"/>
              </a:rPr>
              <a:t>Champion menjadi titik kendali mutu di tingkat klaster — memastikan biji kakao dari seluruh kelompok memenuhi standar sebelum masuk unit pengolahan, sekaligus penghubung informasi harga &amp; pasar.</a:t>
            </a:r>
            <a:endParaRPr lang="en-US" sz="1200" dirty="0"/>
          </a:p>
        </p:txBody>
      </p:sp>
      <p:sp>
        <p:nvSpPr>
          <p:cNvPr id="5" name="Text 9"/>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3E2723"/>
        </a:solidFill>
        <a:effectLst/>
      </p:bgPr>
    </p:bg>
    <p:spTree>
      <p:nvGrpSpPr>
        <p:cNvPr id="1" name=""/>
        <p:cNvGrpSpPr/>
        <p:nvPr/>
      </p:nvGrpSpPr>
      <p:grpSpPr>
        <a:xfrm>
          <a:off x="0" y="0"/>
          <a:ext cx="0" cy="0"/>
          <a:chOff x="0" y="0"/>
          <a:chExt cx="0" cy="0"/>
        </a:xfrm>
      </p:grpSpPr>
      <p:sp>
        <p:nvSpPr>
          <p:cNvPr id="2" name="Text 0"/>
          <p:cNvSpPr txBox="1"/>
          <p:nvPr/>
        </p:nvSpPr>
        <p:spPr>
          <a:xfrm>
            <a:off x="640080" y="1005840"/>
            <a:ext cx="7315200" cy="274320"/>
          </a:xfrm>
          <a:prstGeom prst="rect">
            <a:avLst/>
          </a:prstGeom>
          <a:noFill/>
          <a:ln/>
        </p:spPr>
        <p:txBody>
          <a:bodyPr wrap="square" lIns="0" tIns="0" rIns="0" bIns="0" rtlCol="0" anchor="ctr"/>
          <a:lstStyle/>
          <a:p>
            <a:pPr marL="0" indent="0">
              <a:buNone/>
            </a:pPr>
            <a:r>
              <a:rPr lang="en-US" sz="1200" b="1" kern="0" spc="200" dirty="0">
                <a:solidFill>
                  <a:srgbClr val="C8A165"/>
                </a:solidFill>
                <a:latin typeface="Calibri" pitchFamily="34" charset="0"/>
                <a:ea typeface="Calibri" pitchFamily="34" charset="-122"/>
                <a:cs typeface="Calibri" pitchFamily="34" charset="-120"/>
              </a:rPr>
              <a:t>ANALISIS TAMBAHAN</a:t>
            </a:r>
            <a:endParaRPr lang="en-US" sz="1200" dirty="0"/>
          </a:p>
        </p:txBody>
      </p:sp>
      <p:sp>
        <p:nvSpPr>
          <p:cNvPr id="3" name="Text 1"/>
          <p:cNvSpPr txBox="1"/>
          <p:nvPr/>
        </p:nvSpPr>
        <p:spPr>
          <a:xfrm>
            <a:off x="640080" y="1554480"/>
            <a:ext cx="9601200" cy="1554480"/>
          </a:xfrm>
          <a:prstGeom prst="rect">
            <a:avLst/>
          </a:prstGeom>
          <a:noFill/>
          <a:ln/>
        </p:spPr>
        <p:txBody>
          <a:bodyPr wrap="square" lIns="0" tIns="0" rIns="0" bIns="0" rtlCol="0" anchor="ctr"/>
          <a:lstStyle/>
          <a:p>
            <a:pPr marL="0" indent="0">
              <a:lnSpc>
                <a:spcPct val="108000"/>
              </a:lnSpc>
              <a:buNone/>
            </a:pPr>
            <a:r>
              <a:rPr lang="en-US" sz="3600" b="1" dirty="0">
                <a:solidFill>
                  <a:srgbClr val="FFFFFF"/>
                </a:solidFill>
                <a:latin typeface="Cambria" pitchFamily="34" charset="0"/>
                <a:ea typeface="Cambria" pitchFamily="34" charset="-122"/>
                <a:cs typeface="Cambria" pitchFamily="34" charset="-120"/>
              </a:rPr>
              <a:t>Berapa Harga Beli Biji Kakao</a:t>
            </a:r>
            <a:endParaRPr lang="en-US" sz="3600" dirty="0"/>
          </a:p>
          <a:p>
            <a:pPr marL="0" indent="0">
              <a:lnSpc>
                <a:spcPct val="108000"/>
              </a:lnSpc>
              <a:buNone/>
            </a:pPr>
            <a:r>
              <a:rPr lang="en-US" sz="3600" b="1" dirty="0">
                <a:solidFill>
                  <a:srgbClr val="FFFFFF"/>
                </a:solidFill>
                <a:latin typeface="Cambria" pitchFamily="34" charset="0"/>
                <a:ea typeface="Cambria" pitchFamily="34" charset="-122"/>
                <a:cs typeface="Cambria" pitchFamily="34" charset="-120"/>
              </a:rPr>
              <a:t>yang Pantas?</a:t>
            </a:r>
            <a:endParaRPr lang="en-US" sz="3600" dirty="0"/>
          </a:p>
        </p:txBody>
      </p:sp>
      <p:sp>
        <p:nvSpPr>
          <p:cNvPr id="4" name="Text 2"/>
          <p:cNvSpPr txBox="1"/>
          <p:nvPr/>
        </p:nvSpPr>
        <p:spPr>
          <a:xfrm>
            <a:off x="640080" y="3063240"/>
            <a:ext cx="8412480" cy="731520"/>
          </a:xfrm>
          <a:prstGeom prst="rect">
            <a:avLst/>
          </a:prstGeom>
          <a:noFill/>
          <a:ln/>
        </p:spPr>
        <p:txBody>
          <a:bodyPr wrap="square" lIns="0" tIns="0" rIns="0" bIns="0" rtlCol="0" anchor="ctr"/>
          <a:lstStyle/>
          <a:p>
            <a:pPr marL="0" indent="0">
              <a:lnSpc>
                <a:spcPct val="125000"/>
              </a:lnSpc>
              <a:buNone/>
            </a:pPr>
            <a:r>
              <a:rPr lang="en-US" sz="1600" dirty="0">
                <a:solidFill>
                  <a:srgbClr val="F4ECE1"/>
                </a:solidFill>
                <a:latin typeface="Calibri" pitchFamily="34" charset="0"/>
                <a:ea typeface="Calibri" pitchFamily="34" charset="-122"/>
                <a:cs typeface="Calibri" pitchFamily="34" charset="-120"/>
              </a:rPr>
              <a:t>Menghitung harga beli maksimum biji kakao dari petani agar keuntungan bersih tetap ≥ 10% dari pendapatan penjualan lemak kakao dan kakao bubuk.</a:t>
            </a:r>
            <a:endParaRPr lang="en-US" sz="1600" dirty="0"/>
          </a:p>
        </p:txBody>
      </p:sp>
      <p:sp>
        <p:nvSpPr>
          <p:cNvPr id="5" name="Shape 3"/>
          <p:cNvSpPr/>
          <p:nvPr/>
        </p:nvSpPr>
        <p:spPr>
          <a:xfrm>
            <a:off x="640080" y="4114800"/>
            <a:ext cx="10881360" cy="1920240"/>
          </a:xfrm>
          <a:prstGeom prst="roundRect">
            <a:avLst>
              <a:gd name="adj" fmla="val 4762"/>
            </a:avLst>
          </a:prstGeom>
          <a:solidFill>
            <a:srgbClr val="4E362C"/>
          </a:solidFill>
          <a:ln/>
        </p:spPr>
      </p:sp>
      <p:sp>
        <p:nvSpPr>
          <p:cNvPr id="6" name="Text 4"/>
          <p:cNvSpPr txBox="1"/>
          <p:nvPr/>
        </p:nvSpPr>
        <p:spPr>
          <a:xfrm>
            <a:off x="1005840" y="4279392"/>
            <a:ext cx="10149840" cy="1600200"/>
          </a:xfrm>
          <a:prstGeom prst="rect">
            <a:avLst/>
          </a:prstGeom>
          <a:noFill/>
          <a:ln/>
        </p:spPr>
        <p:txBody>
          <a:bodyPr wrap="square" lIns="0" tIns="0" rIns="0" bIns="0" rtlCol="0" anchor="ctr"/>
          <a:lstStyle/>
          <a:p>
            <a:pPr marL="0" indent="0" algn="ctr">
              <a:lnSpc>
                <a:spcPct val="130000"/>
              </a:lnSpc>
              <a:buNone/>
            </a:pPr>
            <a:r>
              <a:rPr lang="en-US" sz="1500" b="1" dirty="0">
                <a:solidFill>
                  <a:srgbClr val="FFFFFF"/>
                </a:solidFill>
                <a:latin typeface="Calibri" pitchFamily="34" charset="0"/>
                <a:ea typeface="Calibri" pitchFamily="34" charset="-122"/>
                <a:cs typeface="Calibri" pitchFamily="34" charset="-120"/>
              </a:rPr>
              <a:t>Laba Bersih  =  Pendapatan − Biaya Biji Kakao − Biaya Operasional   ≥   10% × Pendapatan</a:t>
            </a:r>
            <a:endParaRPr lang="en-US" sz="1500" dirty="0"/>
          </a:p>
          <a:p>
            <a:pPr marL="0" indent="0" algn="ctr">
              <a:lnSpc>
                <a:spcPct val="130000"/>
              </a:lnSpc>
              <a:buNone/>
            </a:pPr>
            <a:r>
              <a:rPr lang="en-US" sz="1300" dirty="0">
                <a:solidFill>
                  <a:srgbClr val="C8A165"/>
                </a:solidFill>
                <a:latin typeface="Calibri" pitchFamily="34" charset="0"/>
                <a:ea typeface="Calibri" pitchFamily="34" charset="-122"/>
                <a:cs typeface="Calibri" pitchFamily="34" charset="-120"/>
              </a:rPr>
              <a:t>↓</a:t>
            </a:r>
            <a:endParaRPr lang="en-US" sz="1500" dirty="0"/>
          </a:p>
          <a:p>
            <a:pPr marL="0" indent="0" algn="ctr">
              <a:lnSpc>
                <a:spcPct val="130000"/>
              </a:lnSpc>
              <a:buNone/>
            </a:pPr>
            <a:r>
              <a:rPr lang="en-US" sz="1500" b="1" dirty="0">
                <a:solidFill>
                  <a:srgbClr val="FFFFFF"/>
                </a:solidFill>
                <a:latin typeface="Calibri" pitchFamily="34" charset="0"/>
                <a:ea typeface="Calibri" pitchFamily="34" charset="-122"/>
                <a:cs typeface="Calibri" pitchFamily="34" charset="-120"/>
              </a:rPr>
              <a:t>Biaya Biji Kakao Maksimum  =  90% × Pendapatan − Biaya Operasional</a:t>
            </a:r>
            <a:endParaRPr lang="en-US" sz="1500" dirty="0"/>
          </a:p>
          <a:p>
            <a:pPr marL="0" indent="0" algn="ctr">
              <a:lnSpc>
                <a:spcPct val="130000"/>
              </a:lnSpc>
              <a:buNone/>
            </a:pPr>
            <a:r>
              <a:rPr lang="en-US" sz="1300" dirty="0">
                <a:solidFill>
                  <a:srgbClr val="C8A165"/>
                </a:solidFill>
                <a:latin typeface="Calibri" pitchFamily="34" charset="0"/>
                <a:ea typeface="Calibri" pitchFamily="34" charset="-122"/>
                <a:cs typeface="Calibri" pitchFamily="34" charset="-120"/>
              </a:rPr>
              <a:t>↓</a:t>
            </a:r>
            <a:endParaRPr lang="en-US" sz="1500" dirty="0"/>
          </a:p>
          <a:p>
            <a:pPr marL="0" indent="0" algn="ctr">
              <a:lnSpc>
                <a:spcPct val="130000"/>
              </a:lnSpc>
              <a:buNone/>
            </a:pPr>
            <a:r>
              <a:rPr lang="en-US" sz="1500" b="1" dirty="0">
                <a:solidFill>
                  <a:srgbClr val="FFFFFF"/>
                </a:solidFill>
                <a:latin typeface="Calibri" pitchFamily="34" charset="0"/>
                <a:ea typeface="Calibri" pitchFamily="34" charset="-122"/>
                <a:cs typeface="Calibri" pitchFamily="34" charset="-120"/>
              </a:rPr>
              <a:t>Harga Beli Maksimum / kg  =  Biaya Biji Kakao Maksimum  ÷  Kebutuhan Biji (kg/bulan)</a:t>
            </a:r>
            <a:endParaRPr lang="en-US" sz="1500" dirty="0"/>
          </a:p>
        </p:txBody>
      </p:sp>
      <p:sp>
        <p:nvSpPr>
          <p:cNvPr id="7" name="Text 5"/>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ANALISIS TAMBAHAN</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Asumsi Biaya Operasional</a:t>
            </a:r>
            <a:endParaRPr lang="en-US" sz="3000" dirty="0"/>
          </a:p>
        </p:txBody>
      </p:sp>
      <p:sp>
        <p:nvSpPr>
          <p:cNvPr id="4" name="Text 2"/>
          <p:cNvSpPr txBox="1"/>
          <p:nvPr/>
        </p:nvSpPr>
        <p:spPr>
          <a:xfrm>
            <a:off x="548640" y="1298448"/>
            <a:ext cx="11064240" cy="548640"/>
          </a:xfrm>
          <a:prstGeom prst="rect">
            <a:avLst/>
          </a:prstGeom>
          <a:noFill/>
          <a:ln/>
        </p:spPr>
        <p:txBody>
          <a:bodyPr wrap="square" lIns="0" tIns="0" rIns="0" bIns="0" rtlCol="0" anchor="ctr"/>
          <a:lstStyle/>
          <a:p>
            <a:pPr marL="0" indent="0">
              <a:lnSpc>
                <a:spcPct val="120000"/>
              </a:lnSpc>
              <a:buNone/>
            </a:pPr>
            <a:r>
              <a:rPr lang="en-US" sz="1200" dirty="0">
                <a:solidFill>
                  <a:srgbClr val="8A776A"/>
                </a:solidFill>
                <a:latin typeface="Calibri" pitchFamily="34" charset="0"/>
                <a:ea typeface="Calibri" pitchFamily="34" charset="-122"/>
                <a:cs typeface="Calibri" pitchFamily="34" charset="-120"/>
              </a:rPr>
              <a:t>Data sumber tidak memuat rincian biaya operasional. Estimasi berikut adalah asumsi kerja untuk skala unit koperasi/UKM — perlu divalidasi dengan data aktual unit. Seluruh komponen di bawah ini, termasuk pembinaan petani, menjadi beban penyewa (mesin disediakan Pemkab Pesawaran).</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3977640"/>
        </p:xfrm>
        <a:graphic>
          <a:graphicData uri="http://schemas.openxmlformats.org/drawingml/2006/table">
            <a:tbl>
              <a:tblPr/>
              <a:tblGrid>
                <a:gridCol w="3108960">
                  <a:extLst>
                    <a:ext uri="{9D8B030D-6E8A-4147-A177-3AD203B41FA5}">
                      <a16:colId xmlns:a16="http://schemas.microsoft.com/office/drawing/2014/main" val="20000"/>
                    </a:ext>
                  </a:extLst>
                </a:gridCol>
                <a:gridCol w="5056632">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97764">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Komponen Biaya</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Detail / Asumsi</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Nilai/Bulan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397764">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Tenaga kerja</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3 orang × Rp3.500.000/bulan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Rp10.500.000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7764">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Listrik</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Ballmill, press &amp; roaster ±8 jam/hari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Rp3.000.000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397764">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Pemeliharaan mesin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Servis &amp; suku cadang rutin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Rp2.000.000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7764">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Kemasan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980 kg output × ±Rp3.000/kg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Rp2.940.000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4"/>
                  </a:ext>
                </a:extLst>
              </a:tr>
              <a:tr h="397764">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Distribusi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Logistik lokal/regional</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Rp2.500.000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7764">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Pendampingan petani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Sepenuhnya beban penyewa — 25 petani champion binaan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Rp7.500.000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6"/>
                  </a:ext>
                </a:extLst>
              </a:tr>
              <a:tr h="397764">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Pemasaran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Promosi &amp; pengembangan pasar</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7764">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Penyusutan aset mesin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6 mesin milik Pemkab, Rp450 jt, garis lurus 8 tahun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Rp4.687.500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8"/>
                  </a:ext>
                </a:extLst>
              </a:tr>
              <a:tr h="397764">
                <a:tc>
                  <a:txBody>
                    <a:bodyPr/>
                    <a:lstStyle/>
                    <a:p>
                      <a:pPr marL="0" indent="0" algn="l">
                        <a:buNone/>
                      </a:pPr>
                      <a:r>
                        <a:rPr lang="en-US" sz="1200" b="1" dirty="0">
                          <a:solidFill>
                            <a:srgbClr val="3E2723"/>
                          </a:solidFill>
                          <a:latin typeface="Calibri" pitchFamily="34" charset="0"/>
                          <a:ea typeface="Calibri" pitchFamily="34" charset="-122"/>
                          <a:cs typeface="Calibri" pitchFamily="34" charset="-120"/>
                        </a:rPr>
                        <a:t>TOTAL BIAYA OPERASIONAL / BULAN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l">
                        <a:buNone/>
                      </a:pP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Rp34.127.500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extLst>
                  <a:ext uri="{0D108BD9-81ED-4DB2-BD59-A6C34878D82A}">
                    <a16:rowId xmlns:a16="http://schemas.microsoft.com/office/drawing/2014/main" val="10009"/>
                  </a:ext>
                </a:extLst>
              </a:tr>
            </a:tbl>
          </a:graphicData>
        </a:graphic>
      </p:graphicFrame>
      <p:sp>
        <p:nvSpPr>
          <p:cNvPr id="6" name="Shape 3"/>
          <p:cNvSpPr/>
          <p:nvPr/>
        </p:nvSpPr>
        <p:spPr>
          <a:xfrm>
            <a:off x="548640" y="6016752"/>
            <a:ext cx="11091672" cy="402336"/>
          </a:xfrm>
          <a:prstGeom prst="roundRect">
            <a:avLst>
              <a:gd name="adj" fmla="val 18182"/>
            </a:avLst>
          </a:prstGeom>
          <a:solidFill>
            <a:srgbClr val="F4ECE1"/>
          </a:solidFill>
          <a:ln/>
        </p:spPr>
        <p:txBody>
          <a:bodyPr/>
          <a:p/>
        </p:txBody>
      </p:sp>
      <p:sp>
        <p:nvSpPr>
          <p:cNvPr id="7" name="Text 4"/>
          <p:cNvSpPr txBox="1"/>
          <p:nvPr/>
        </p:nvSpPr>
        <p:spPr>
          <a:xfrm>
            <a:off x="804672" y="6126480"/>
            <a:ext cx="10579608" cy="182880"/>
          </a:xfrm>
          <a:prstGeom prst="rect">
            <a:avLst/>
          </a:prstGeom>
          <a:noFill/>
          <a:ln/>
        </p:spPr>
        <p:txBody>
          <a:bodyPr wrap="square" lIns="0" tIns="0" rIns="0" bIns="0" rtlCol="0" anchor="ctr"/>
          <a:lstStyle/>
          <a:p>
            <a:pPr marL="0" indent="0">
              <a:lnSpc>
                <a:spcPct val="118000"/>
              </a:lnSpc>
              <a:buNone/>
            </a:pPr>
            <a:r>
              <a:rPr lang="en-US" sz="1050" dirty="0">
                <a:solidFill>
                  <a:srgbClr val="3E2723"/>
                </a:solidFill>
                <a:latin typeface="Calibri" pitchFamily="34" charset="0"/>
                <a:ea typeface="Calibri" pitchFamily="34" charset="-122"/>
                <a:cs typeface="Calibri" pitchFamily="34" charset="-120"/>
              </a:rPr>
              <a:t>Total opex ≈21,8% dari pendapatan skenario dasar (Rp156.252.915), sudah termasuk biaya pembinaan petani yang sepenuhnya menjadi tanggung jawab penyewa. Penyusutan bukan biaya kas — dipakai sebagai basis penyisihan dana peremajaan aset milik Pemkab Pesawaran.</a:t>
            </a:r>
            <a:endParaRPr lang="en-US" sz="1050" dirty="0"/>
          </a:p>
        </p:txBody>
      </p:sp>
      <p:sp>
        <p:nvSpPr>
          <p:cNvPr id="8" name="Text 5"/>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HASIL PERHITUNGAN</a:t>
            </a:r>
            <a:endParaRPr lang="en-US" sz="1200" dirty="0"/>
          </a:p>
        </p:txBody>
      </p:sp>
      <p:sp>
        <p:nvSpPr>
          <p:cNvPr id="3" name="Text 1"/>
          <p:cNvSpPr txBox="1"/>
          <p:nvPr/>
        </p:nvSpPr>
        <p:spPr>
          <a:xfrm>
            <a:off x="548640" y="621792"/>
            <a:ext cx="9601200" cy="1051560"/>
          </a:xfrm>
          <a:prstGeom prst="rect">
            <a:avLst/>
          </a:prstGeom>
          <a:noFill/>
          <a:ln/>
        </p:spPr>
        <p:txBody>
          <a:bodyPr wrap="square" lIns="0" tIns="0" rIns="0" bIns="0" rtlCol="0" anchor="ctr"/>
          <a:lstStyle/>
          <a:p>
            <a:pPr marL="0" indent="0">
              <a:lnSpc>
                <a:spcPct val="108000"/>
              </a:lnSpc>
              <a:buNone/>
            </a:pPr>
            <a:r>
              <a:rPr lang="en-US" sz="2800" b="1" dirty="0">
                <a:solidFill>
                  <a:srgbClr val="3E2723"/>
                </a:solidFill>
                <a:latin typeface="Cambria" pitchFamily="34" charset="0"/>
                <a:ea typeface="Cambria" pitchFamily="34" charset="-122"/>
                <a:cs typeface="Cambria" pitchFamily="34" charset="-120"/>
              </a:rPr>
              <a:t>Harga Beli Maksimum Biji Kakao</a:t>
            </a:r>
            <a:endParaRPr lang="en-US" sz="2800" dirty="0"/>
          </a:p>
          <a:p>
            <a:pPr marL="0" indent="0">
              <a:lnSpc>
                <a:spcPct val="108000"/>
              </a:lnSpc>
              <a:buNone/>
            </a:pPr>
            <a:r>
              <a:rPr lang="en-US" sz="2800" b="1" dirty="0">
                <a:solidFill>
                  <a:srgbClr val="3E2723"/>
                </a:solidFill>
                <a:latin typeface="Cambria" pitchFamily="34" charset="0"/>
                <a:ea typeface="Cambria" pitchFamily="34" charset="-122"/>
                <a:cs typeface="Cambria" pitchFamily="34" charset="-120"/>
              </a:rPr>
              <a:t>agar Margin Bersih ≥ 10%</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1672" cy="1691640"/>
        </p:xfrm>
        <a:graphic>
          <a:graphicData uri="http://schemas.openxmlformats.org/drawingml/2006/table">
            <a:tbl>
              <a:tblPr/>
              <a:tblGrid>
                <a:gridCol w="3227832">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42291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Skenario Pendapatan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Pendapatan/bulan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Batas Biaya Biji Kakao</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Harga Maks./kg</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422910">
                <a:tc>
                  <a:txBody>
                    <a:bodyPr/>
                    <a:lstStyle/>
                    <a:p>
                      <a:pPr marL="0" indent="0" algn="l">
                        <a:buNone/>
                      </a:pPr>
                      <a:r>
                        <a:rPr lang="en-US" sz="1200" b="1" dirty="0">
                          <a:solidFill>
                            <a:srgbClr val="3E2723"/>
                          </a:solidFill>
                          <a:latin typeface="Calibri" pitchFamily="34" charset="0"/>
                          <a:ea typeface="Calibri" pitchFamily="34" charset="-122"/>
                          <a:cs typeface="Calibri" pitchFamily="34" charset="-120"/>
                        </a:rPr>
                        <a:t>Curah komoditas (dasar)</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Rp156.252.915</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Rp106.500.124</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Rp85.200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extLst>
                  <a:ext uri="{0D108BD9-81ED-4DB2-BD59-A6C34878D82A}">
                    <a16:rowId xmlns:a16="http://schemas.microsoft.com/office/drawing/2014/main" val="10001"/>
                  </a:ext>
                </a:extLst>
              </a:tr>
              <a:tr h="42291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B2B lot kecil — batas bawah</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Rp185.921.190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Rp133.201.571</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Rp106.561</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42291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B2B lot kecil — batas atas</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Rp249.127.515</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Rp190.087.264</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Rp152.070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3977640"/>
            <a:ext cx="5349240" cy="2286000"/>
          </a:xfrm>
          <a:prstGeom prst="roundRect">
            <a:avLst>
              <a:gd name="adj" fmla="val 4800"/>
            </a:avLst>
          </a:prstGeom>
          <a:solidFill>
            <a:srgbClr val="3E2723"/>
          </a:solidFill>
          <a:ln/>
        </p:spPr>
        <p:txBody>
          <a:bodyPr/>
          <a:p/>
        </p:txBody>
      </p:sp>
      <p:sp>
        <p:nvSpPr>
          <p:cNvPr id="6" name="Text 3"/>
          <p:cNvSpPr txBox="1"/>
          <p:nvPr/>
        </p:nvSpPr>
        <p:spPr>
          <a:xfrm>
            <a:off x="868680" y="4187952"/>
            <a:ext cx="4754880" cy="320040"/>
          </a:xfrm>
          <a:prstGeom prst="rect">
            <a:avLst/>
          </a:prstGeom>
          <a:noFill/>
          <a:ln/>
        </p:spPr>
        <p:txBody>
          <a:bodyPr wrap="square" lIns="0" tIns="0" rIns="0" bIns="0" rtlCol="0" anchor="ctr"/>
          <a:lstStyle/>
          <a:p>
            <a:pPr marL="0" indent="0">
              <a:buNone/>
            </a:pPr>
            <a:r>
              <a:rPr lang="en-US" sz="1200" b="1" kern="0" spc="120" dirty="0">
                <a:solidFill>
                  <a:srgbClr val="C8A165"/>
                </a:solidFill>
                <a:latin typeface="Calibri" pitchFamily="34" charset="0"/>
                <a:ea typeface="Calibri" pitchFamily="34" charset="-122"/>
                <a:cs typeface="Calibri" pitchFamily="34" charset="-120"/>
              </a:rPr>
              <a:t>HARGA BELI DIREKOMENDASIKAN</a:t>
            </a:r>
            <a:endParaRPr lang="en-US" sz="1200" dirty="0"/>
          </a:p>
        </p:txBody>
      </p:sp>
      <p:sp>
        <p:nvSpPr>
          <p:cNvPr id="7" name="Text 4"/>
          <p:cNvSpPr txBox="1"/>
          <p:nvPr/>
        </p:nvSpPr>
        <p:spPr>
          <a:xfrm>
            <a:off x="868680" y="4498848"/>
            <a:ext cx="4754880" cy="8686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Rp85.000/kg</a:t>
            </a:r>
            <a:endParaRPr lang="en-US" sz="4400" dirty="0"/>
          </a:p>
        </p:txBody>
      </p:sp>
      <p:sp>
        <p:nvSpPr>
          <p:cNvPr id="8" name="Text 5"/>
          <p:cNvSpPr txBox="1"/>
          <p:nvPr/>
        </p:nvSpPr>
        <p:spPr>
          <a:xfrm>
            <a:off x="868680" y="5440680"/>
            <a:ext cx="4754880" cy="777240"/>
          </a:xfrm>
          <a:prstGeom prst="rect">
            <a:avLst/>
          </a:prstGeom>
          <a:noFill/>
          <a:ln/>
        </p:spPr>
        <p:txBody>
          <a:bodyPr wrap="square" lIns="0" tIns="0" rIns="0" bIns="0" rtlCol="0" anchor="ctr"/>
          <a:lstStyle/>
          <a:p>
            <a:pPr marL="0" indent="0">
              <a:lnSpc>
                <a:spcPct val="118000"/>
              </a:lnSpc>
              <a:buNone/>
            </a:pPr>
            <a:r>
              <a:rPr lang="en-US" sz="1100" dirty="0">
                <a:solidFill>
                  <a:srgbClr val="F4ECE1"/>
                </a:solidFill>
                <a:latin typeface="Calibri" pitchFamily="34" charset="0"/>
                <a:ea typeface="Calibri" pitchFamily="34" charset="-122"/>
                <a:cs typeface="Calibri" pitchFamily="34" charset="-120"/>
              </a:rPr>
              <a:t>Skenario dasar (harga curah komoditas) — memberi margin 10,16%. Harga ini berada di atas harga basis pemerintah (HPE ≈Rp79.000/kg), sesuai pokok kesepakatan bahwa penyewa membeli dari petani binaan dengan harga lebih tinggi.</a:t>
            </a:r>
            <a:endParaRPr lang="en-US" sz="1100" dirty="0"/>
          </a:p>
        </p:txBody>
      </p:sp>
      <p:sp>
        <p:nvSpPr>
          <p:cNvPr id="9" name="Shape 6"/>
          <p:cNvSpPr/>
          <p:nvPr/>
        </p:nvSpPr>
        <p:spPr>
          <a:xfrm>
            <a:off x="6108192" y="3977640"/>
            <a:ext cx="5532120" cy="2286000"/>
          </a:xfrm>
          <a:prstGeom prst="roundRect">
            <a:avLst>
              <a:gd name="adj" fmla="val 3200"/>
            </a:avLst>
          </a:prstGeom>
          <a:solidFill>
            <a:srgbClr val="F4ECE1"/>
          </a:solidFill>
          <a:ln/>
        </p:spPr>
        <p:txBody>
          <a:bodyPr/>
          <a:p/>
        </p:txBody>
      </p:sp>
      <p:sp>
        <p:nvSpPr>
          <p:cNvPr id="10" name="Shape 7"/>
          <p:cNvSpPr/>
          <p:nvPr/>
        </p:nvSpPr>
        <p:spPr>
          <a:xfrm>
            <a:off x="6309360" y="4882896"/>
            <a:ext cx="475488" cy="475488"/>
          </a:xfrm>
          <a:prstGeom prst="ellipse">
            <a:avLst/>
          </a:prstGeom>
          <a:solidFill>
            <a:srgbClr val="D97B29"/>
          </a:solidFill>
          <a:ln/>
        </p:spPr>
        <p:txBody>
          <a:bodyPr/>
          <a:p/>
        </p:txBody>
      </p:sp>
      <p:pic>
        <p:nvPicPr>
          <p:cNvPr id="4" name="Image 0" descr="/home/claude/ballmill_pptx/icons/chartline_white.png"/>
          <p:cNvPicPr>
            <a:picLocks noChangeAspect="1"/>
          </p:cNvPicPr>
          <p:nvPr/>
        </p:nvPicPr>
        <p:blipFill>
          <a:blip r:embed="rId3"/>
          <a:stretch>
            <a:fillRect/>
          </a:stretch>
        </p:blipFill>
        <p:spPr>
          <a:xfrm>
            <a:off x="6432987" y="5006523"/>
            <a:ext cx="228234" cy="228234"/>
          </a:xfrm>
          <a:prstGeom prst="rect">
            <a:avLst/>
          </a:prstGeom>
        </p:spPr>
      </p:pic>
      <p:sp>
        <p:nvSpPr>
          <p:cNvPr id="12" name="Text 8"/>
          <p:cNvSpPr txBox="1"/>
          <p:nvPr/>
        </p:nvSpPr>
        <p:spPr>
          <a:xfrm>
            <a:off x="7004304" y="4087368"/>
            <a:ext cx="4379976" cy="2066544"/>
          </a:xfrm>
          <a:prstGeom prst="rect">
            <a:avLst/>
          </a:prstGeom>
          <a:noFill/>
          <a:ln/>
        </p:spPr>
        <p:txBody>
          <a:bodyPr wrap="square" lIns="0" tIns="0" rIns="0" bIns="0" rtlCol="0" anchor="ctr"/>
          <a:lstStyle/>
          <a:p>
            <a:pPr marL="0" indent="0">
              <a:lnSpc>
                <a:spcPct val="118000"/>
              </a:lnSpc>
              <a:buNone/>
            </a:pPr>
            <a:r>
              <a:rPr lang="en-US" sz="1300" dirty="0">
                <a:solidFill>
                  <a:srgbClr val="3E2723"/>
                </a:solidFill>
                <a:latin typeface="Calibri" pitchFamily="34" charset="0"/>
                <a:ea typeface="Calibri" pitchFamily="34" charset="-122"/>
                <a:cs typeface="Calibri" pitchFamily="34" charset="-120"/>
              </a:rPr>
              <a:t>Jika sebagian bubuk kakao terjual melalui jalur B2B lot kecil (bakery/kafe/HORECA) dengan harga lebih tinggi, ruang harga beli biji kakao dapat naik hingga ≈Rp106.000–152.000/kg tanpa mengorbankan margin 10%.</a:t>
            </a:r>
            <a:endParaRPr lang="en-US" sz="1300" dirty="0"/>
          </a:p>
        </p:txBody>
      </p:sp>
      <p:sp>
        <p:nvSpPr>
          <p:cNvPr id="13" name="Text 9"/>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VERIFIKASI</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Struktur Biaya &amp; Laba pada Harga Rp85.000/kg</a:t>
            </a:r>
            <a:endParaRPr lang="en-US" sz="3000" dirty="0"/>
          </a:p>
        </p:txBody>
      </p:sp>
      <p:sp>
        <p:nvSpPr>
          <p:cNvPr id="4" name="Text 2"/>
          <p:cNvSpPr txBox="1"/>
          <p:nvPr/>
        </p:nvSpPr>
        <p:spPr>
          <a:xfrm>
            <a:off x="548640" y="1298448"/>
            <a:ext cx="9144000" cy="320040"/>
          </a:xfrm>
          <a:prstGeom prst="rect">
            <a:avLst/>
          </a:prstGeom>
          <a:noFill/>
          <a:ln/>
        </p:spPr>
        <p:txBody>
          <a:bodyPr wrap="square" lIns="0" tIns="0" rIns="0" bIns="0" rtlCol="0" anchor="ctr"/>
          <a:lstStyle/>
          <a:p>
            <a:pPr marL="0" indent="0">
              <a:buNone/>
            </a:pPr>
            <a:r>
              <a:rPr lang="en-US" sz="1250" dirty="0">
                <a:solidFill>
                  <a:srgbClr val="8A776A"/>
                </a:solidFill>
                <a:latin typeface="Calibri" pitchFamily="34" charset="0"/>
                <a:ea typeface="Calibri" pitchFamily="34" charset="-122"/>
                <a:cs typeface="Calibri" pitchFamily="34" charset="-120"/>
              </a:rPr>
              <a:t>Skenario dasar · kebutuhan biji kakao 1.250 kg/bulan</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035040" cy="3566157"/>
        </p:xfrm>
        <a:graphic>
          <a:graphicData uri="http://schemas.openxmlformats.org/drawingml/2006/table">
            <a:tbl>
              <a:tblPr/>
              <a:tblGrid>
                <a:gridCol w="38404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509451">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Komponen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Nilai</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509451">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Pendapatan (skenario dasar)</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Rp156.252.915</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9451">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Biaya biji kakao (1.250 kg × Rp85.000)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 Rp106.250.000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509451">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Biaya operasional (Slide 12, termasuk penyusutan)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 Rp34.127.500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9451">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Total biaya</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Rp140.377.500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4"/>
                  </a:ext>
                </a:extLst>
              </a:tr>
              <a:tr h="509451">
                <a:tc>
                  <a:txBody>
                    <a:bodyPr/>
                    <a:lstStyle/>
                    <a:p>
                      <a:pPr marL="0" indent="0" algn="l">
                        <a:buNone/>
                      </a:pPr>
                      <a:r>
                        <a:rPr lang="en-US" sz="1200" b="1" dirty="0">
                          <a:solidFill>
                            <a:srgbClr val="3E2723"/>
                          </a:solidFill>
                          <a:latin typeface="Calibri" pitchFamily="34" charset="0"/>
                          <a:ea typeface="Calibri" pitchFamily="34" charset="-122"/>
                          <a:cs typeface="Calibri" pitchFamily="34" charset="-120"/>
                        </a:rPr>
                        <a:t>Laba bersih</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Rp15.875.415</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extLst>
                  <a:ext uri="{0D108BD9-81ED-4DB2-BD59-A6C34878D82A}">
                    <a16:rowId xmlns:a16="http://schemas.microsoft.com/office/drawing/2014/main" val="10005"/>
                  </a:ext>
                </a:extLst>
              </a:tr>
              <a:tr h="509451">
                <a:tc>
                  <a:txBody>
                    <a:bodyPr/>
                    <a:lstStyle/>
                    <a:p>
                      <a:pPr marL="0" indent="0" algn="l">
                        <a:buNone/>
                      </a:pPr>
                      <a:r>
                        <a:rPr lang="en-US" sz="1200" b="1" dirty="0">
                          <a:solidFill>
                            <a:srgbClr val="3E2723"/>
                          </a:solidFill>
                          <a:latin typeface="Calibri" pitchFamily="34" charset="0"/>
                          <a:ea typeface="Calibri" pitchFamily="34" charset="-122"/>
                          <a:cs typeface="Calibri" pitchFamily="34" charset="-120"/>
                        </a:rPr>
                        <a:t>Margin laba bersih</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10,16%</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extLst>
                  <a:ext uri="{0D108BD9-81ED-4DB2-BD59-A6C34878D82A}">
                    <a16:rowId xmlns:a16="http://schemas.microsoft.com/office/drawing/2014/main" val="10006"/>
                  </a:ext>
                </a:extLst>
              </a:tr>
            </a:tbl>
          </a:graphicData>
        </a:graphic>
      </p:graphicFrame>
      <p:graphicFrame>
        <p:nvGraphicFramePr>
          <p:cNvPr id="6" name="Chart 0"/>
          <p:cNvGraphicFramePr/>
          <p:nvPr/>
        </p:nvGraphicFramePr>
        <p:xfrm>
          <a:off x="6903720" y="1828800"/>
          <a:ext cx="47548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548640" y="5623560"/>
            <a:ext cx="11091672" cy="777240"/>
          </a:xfrm>
          <a:prstGeom prst="roundRect">
            <a:avLst>
              <a:gd name="adj" fmla="val 9412"/>
            </a:avLst>
          </a:prstGeom>
          <a:solidFill>
            <a:srgbClr val="FBEFE0"/>
          </a:solidFill>
          <a:ln/>
        </p:spPr>
        <p:txBody>
          <a:bodyPr/>
          <a:p/>
        </p:txBody>
      </p:sp>
      <p:sp>
        <p:nvSpPr>
          <p:cNvPr id="8" name="Shape 4"/>
          <p:cNvSpPr/>
          <p:nvPr/>
        </p:nvSpPr>
        <p:spPr>
          <a:xfrm>
            <a:off x="749808" y="5774436"/>
            <a:ext cx="475488" cy="475488"/>
          </a:xfrm>
          <a:prstGeom prst="ellipse">
            <a:avLst/>
          </a:prstGeom>
          <a:solidFill>
            <a:srgbClr val="B23A2E"/>
          </a:solidFill>
          <a:ln/>
        </p:spPr>
        <p:txBody>
          <a:bodyPr/>
          <a:p/>
        </p:txBody>
      </p:sp>
      <p:pic>
        <p:nvPicPr>
          <p:cNvPr id="9" name="Image 0" descr="/home/claude/ballmill_pptx/icons/warning_white.png"/>
          <p:cNvPicPr>
            <a:picLocks noChangeAspect="1"/>
          </p:cNvPicPr>
          <p:nvPr/>
        </p:nvPicPr>
        <p:blipFill>
          <a:blip r:embed="rId4"/>
          <a:stretch>
            <a:fillRect/>
          </a:stretch>
        </p:blipFill>
        <p:spPr>
          <a:xfrm>
            <a:off x="873435" y="5898063"/>
            <a:ext cx="228234" cy="228234"/>
          </a:xfrm>
          <a:prstGeom prst="rect">
            <a:avLst/>
          </a:prstGeom>
        </p:spPr>
      </p:pic>
      <p:sp>
        <p:nvSpPr>
          <p:cNvPr id="10" name="Text 5"/>
          <p:cNvSpPr txBox="1"/>
          <p:nvPr/>
        </p:nvSpPr>
        <p:spPr>
          <a:xfrm>
            <a:off x="1444752" y="5733288"/>
            <a:ext cx="9939528" cy="557784"/>
          </a:xfrm>
          <a:prstGeom prst="rect">
            <a:avLst/>
          </a:prstGeom>
          <a:noFill/>
          <a:ln/>
        </p:spPr>
        <p:txBody>
          <a:bodyPr wrap="square" lIns="0" tIns="0" rIns="0" bIns="0" rtlCol="0" anchor="ctr"/>
          <a:lstStyle/>
          <a:p>
            <a:pPr marL="0" indent="0">
              <a:lnSpc>
                <a:spcPct val="118000"/>
              </a:lnSpc>
              <a:buNone/>
            </a:pPr>
            <a:r>
              <a:rPr lang="en-US" sz="1200" dirty="0">
                <a:solidFill>
                  <a:srgbClr val="3E2723"/>
                </a:solidFill>
                <a:latin typeface="Calibri" pitchFamily="34" charset="0"/>
                <a:ea typeface="Calibri" pitchFamily="34" charset="-122"/>
                <a:cs typeface="Calibri" pitchFamily="34" charset="-120"/>
              </a:rPr>
              <a:t>Margin 10,16% hanya sedikit di atas target minimum 10% — perlu kehati-hatian terhadap fluktuasi volume atau harga jual. Imbal bagi hasil 5% ke Pemkab (mulai Tahun 2) dihitung DARI laba bersih ini, yaitu ≈Rp794 ribu/bulan atau ≈Rp9,5 juta/tahun — merupakan pembagian laba, bukan tambahan biaya, sehingga margin bersih unit tetap 10,16%.</a:t>
            </a:r>
            <a:endParaRPr lang="en-US" sz="1200" dirty="0"/>
          </a:p>
        </p:txBody>
      </p:sp>
      <p:sp>
        <p:nvSpPr>
          <p:cNvPr id="11" name="Text 6"/>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KONTEKS PASAR</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Bagaimana Posisi Harga Ini terhadap Pasar Saat Ini?</a:t>
            </a:r>
            <a:endParaRPr lang="en-US" sz="3000" dirty="0"/>
          </a:p>
        </p:txBody>
      </p:sp>
      <p:sp>
        <p:nvSpPr>
          <p:cNvPr id="4" name="Text 2"/>
          <p:cNvSpPr txBox="1"/>
          <p:nvPr/>
        </p:nvSpPr>
        <p:spPr>
          <a:xfrm>
            <a:off x="548640" y="1325880"/>
            <a:ext cx="11064240" cy="685800"/>
          </a:xfrm>
          <a:prstGeom prst="rect">
            <a:avLst/>
          </a:prstGeom>
          <a:noFill/>
          <a:ln/>
        </p:spPr>
        <p:txBody>
          <a:bodyPr wrap="square" lIns="0" tIns="0" rIns="0" bIns="0" rtlCol="0" anchor="ctr"/>
          <a:lstStyle/>
          <a:p>
            <a:pPr marL="0" indent="0">
              <a:lnSpc>
                <a:spcPct val="125000"/>
              </a:lnSpc>
              <a:buNone/>
            </a:pPr>
            <a:r>
              <a:rPr lang="en-US" sz="1300" dirty="0">
                <a:solidFill>
                  <a:srgbClr val="8A776A"/>
                </a:solidFill>
                <a:latin typeface="Calibri" pitchFamily="34" charset="0"/>
                <a:ea typeface="Calibri" pitchFamily="34" charset="-122"/>
                <a:cs typeface="Calibri" pitchFamily="34" charset="-120"/>
              </a:rPr>
              <a:t>Kementerian Perdagangan menetapkan Harga Patokan Ekspor (HPE) biji kakao periode Agustus 2026 sebesar US$5.064/MT — naik 38,9% dari periode sebelumnya akibat lonjakan harga kakao dunia.</a:t>
            </a:r>
            <a:endParaRPr lang="en-US" sz="1300" dirty="0"/>
          </a:p>
        </p:txBody>
      </p:sp>
      <p:graphicFrame>
        <p:nvGraphicFramePr>
          <p:cNvPr id="5" name="Chart 0"/>
          <p:cNvGraphicFramePr/>
          <p:nvPr/>
        </p:nvGraphicFramePr>
        <p:xfrm>
          <a:off x="548640" y="2148840"/>
          <a:ext cx="676656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589520" y="2148840"/>
            <a:ext cx="4050792" cy="1737360"/>
          </a:xfrm>
          <a:prstGeom prst="roundRect">
            <a:avLst>
              <a:gd name="adj" fmla="val 4211"/>
            </a:avLst>
          </a:prstGeom>
          <a:solidFill>
            <a:srgbClr val="FBEFE0"/>
          </a:solidFill>
          <a:ln/>
        </p:spPr>
        <p:txBody>
          <a:bodyPr/>
          <a:p/>
        </p:txBody>
      </p:sp>
      <p:sp>
        <p:nvSpPr>
          <p:cNvPr id="7" name="Shape 4"/>
          <p:cNvSpPr/>
          <p:nvPr/>
        </p:nvSpPr>
        <p:spPr>
          <a:xfrm>
            <a:off x="7790688" y="2779776"/>
            <a:ext cx="475488" cy="475488"/>
          </a:xfrm>
          <a:prstGeom prst="ellipse">
            <a:avLst/>
          </a:prstGeom>
          <a:solidFill>
            <a:srgbClr val="B23A2E"/>
          </a:solidFill>
          <a:ln/>
        </p:spPr>
        <p:txBody>
          <a:bodyPr/>
          <a:p/>
        </p:txBody>
      </p:sp>
      <p:pic>
        <p:nvPicPr>
          <p:cNvPr id="8" name="Image 0" descr="/home/claude/ballmill_pptx/icons/warning_white.png"/>
          <p:cNvPicPr>
            <a:picLocks noChangeAspect="1"/>
          </p:cNvPicPr>
          <p:nvPr/>
        </p:nvPicPr>
        <p:blipFill>
          <a:blip r:embed="rId4"/>
          <a:stretch>
            <a:fillRect/>
          </a:stretch>
        </p:blipFill>
        <p:spPr>
          <a:xfrm>
            <a:off x="7914315" y="2903403"/>
            <a:ext cx="228234" cy="228234"/>
          </a:xfrm>
          <a:prstGeom prst="rect">
            <a:avLst/>
          </a:prstGeom>
        </p:spPr>
      </p:pic>
      <p:sp>
        <p:nvSpPr>
          <p:cNvPr id="9" name="Text 5"/>
          <p:cNvSpPr txBox="1"/>
          <p:nvPr/>
        </p:nvSpPr>
        <p:spPr>
          <a:xfrm>
            <a:off x="8485632" y="2258568"/>
            <a:ext cx="2898648" cy="1517904"/>
          </a:xfrm>
          <a:prstGeom prst="rect">
            <a:avLst/>
          </a:prstGeom>
          <a:noFill/>
          <a:ln/>
        </p:spPr>
        <p:txBody>
          <a:bodyPr wrap="square" lIns="0" tIns="0" rIns="0" bIns="0" rtlCol="0" anchor="ctr"/>
          <a:lstStyle/>
          <a:p>
            <a:pPr marL="0" indent="0">
              <a:lnSpc>
                <a:spcPct val="118000"/>
              </a:lnSpc>
              <a:buNone/>
            </a:pPr>
            <a:r>
              <a:rPr lang="en-US" sz="1200" dirty="0">
                <a:solidFill>
                  <a:srgbClr val="3E2723"/>
                </a:solidFill>
                <a:latin typeface="Calibri" pitchFamily="34" charset="0"/>
                <a:ea typeface="Calibri" pitchFamily="34" charset="-122"/>
                <a:cs typeface="Calibri" pitchFamily="34" charset="-120"/>
              </a:rPr>
              <a:t>Harga rekomendasi (Rp85.000–85.200/kg) berada ≈7,8% DI ATAS HPE Agustus 2026 (≈Rp79.000/kg) — memenuhi komitmen membeli dari petani binaan di atas harga basis pemerintah, meski menyisakan ruang margin yang tipis. Perlu evaluasi rutin.</a:t>
            </a:r>
            <a:endParaRPr lang="en-US" sz="1200" dirty="0"/>
          </a:p>
        </p:txBody>
      </p:sp>
      <p:sp>
        <p:nvSpPr>
          <p:cNvPr id="10" name="Shape 6"/>
          <p:cNvSpPr/>
          <p:nvPr/>
        </p:nvSpPr>
        <p:spPr>
          <a:xfrm>
            <a:off x="7589520" y="4023360"/>
            <a:ext cx="4050792" cy="1920240"/>
          </a:xfrm>
          <a:prstGeom prst="roundRect">
            <a:avLst>
              <a:gd name="adj" fmla="val 3810"/>
            </a:avLst>
          </a:prstGeom>
          <a:solidFill>
            <a:srgbClr val="F4ECE1"/>
          </a:solidFill>
          <a:ln/>
        </p:spPr>
        <p:txBody>
          <a:bodyPr/>
          <a:p/>
        </p:txBody>
      </p:sp>
      <p:sp>
        <p:nvSpPr>
          <p:cNvPr id="11" name="Shape 7"/>
          <p:cNvSpPr/>
          <p:nvPr/>
        </p:nvSpPr>
        <p:spPr>
          <a:xfrm>
            <a:off x="7790688" y="4745736"/>
            <a:ext cx="475488" cy="475488"/>
          </a:xfrm>
          <a:prstGeom prst="ellipse">
            <a:avLst/>
          </a:prstGeom>
          <a:solidFill>
            <a:srgbClr val="B23A2E"/>
          </a:solidFill>
          <a:ln/>
        </p:spPr>
        <p:txBody>
          <a:bodyPr/>
          <a:p/>
        </p:txBody>
      </p:sp>
      <p:pic>
        <p:nvPicPr>
          <p:cNvPr id="12" name="Image 1" descr="/home/claude/ballmill_pptx/icons/warning_white.png"/>
          <p:cNvPicPr>
            <a:picLocks noChangeAspect="1"/>
          </p:cNvPicPr>
          <p:nvPr/>
        </p:nvPicPr>
        <p:blipFill>
          <a:blip r:embed="rId4"/>
          <a:stretch>
            <a:fillRect/>
          </a:stretch>
        </p:blipFill>
        <p:spPr>
          <a:xfrm>
            <a:off x="7914315" y="4869363"/>
            <a:ext cx="228234" cy="228234"/>
          </a:xfrm>
          <a:prstGeom prst="rect">
            <a:avLst/>
          </a:prstGeom>
        </p:spPr>
      </p:pic>
      <p:sp>
        <p:nvSpPr>
          <p:cNvPr id="13" name="Text 8"/>
          <p:cNvSpPr txBox="1"/>
          <p:nvPr/>
        </p:nvSpPr>
        <p:spPr>
          <a:xfrm>
            <a:off x="8485632" y="4133088"/>
            <a:ext cx="2898648" cy="1700784"/>
          </a:xfrm>
          <a:prstGeom prst="rect">
            <a:avLst/>
          </a:prstGeom>
          <a:noFill/>
          <a:ln/>
        </p:spPr>
        <p:txBody>
          <a:bodyPr wrap="square" lIns="0" tIns="0" rIns="0" bIns="0" rtlCol="0" anchor="ctr"/>
          <a:lstStyle/>
          <a:p>
            <a:pPr marL="0" indent="0">
              <a:lnSpc>
                <a:spcPct val="118000"/>
              </a:lnSpc>
              <a:buNone/>
            </a:pPr>
            <a:r>
              <a:rPr lang="en-US" sz="1150" dirty="0">
                <a:solidFill>
                  <a:srgbClr val="3E2723"/>
                </a:solidFill>
                <a:latin typeface="Calibri" pitchFamily="34" charset="0"/>
                <a:ea typeface="Calibri" pitchFamily="34" charset="-122"/>
                <a:cs typeface="Calibri" pitchFamily="34" charset="-120"/>
              </a:rPr>
              <a:t>CATATAN</a:t>
            </a:r>
            <a:endParaRPr lang="en-US" sz="1150" dirty="0"/>
          </a:p>
          <a:p>
            <a:pPr marL="0" indent="0">
              <a:lnSpc>
                <a:spcPct val="118000"/>
              </a:lnSpc>
              <a:buNone/>
            </a:pPr>
            <a:endParaRPr lang="en-US" sz="1150" dirty="0"/>
          </a:p>
          <a:p>
            <a:pPr marL="0" indent="0">
              <a:lnSpc>
                <a:spcPct val="118000"/>
              </a:lnSpc>
              <a:buNone/>
            </a:pPr>
            <a:r>
              <a:rPr lang="en-US" sz="1150" dirty="0">
                <a:solidFill>
                  <a:srgbClr val="3E2723"/>
                </a:solidFill>
                <a:latin typeface="Calibri" pitchFamily="34" charset="0"/>
                <a:ea typeface="Calibri" pitchFamily="34" charset="-122"/>
                <a:cs typeface="Calibri" pitchFamily="34" charset="-120"/>
              </a:rPr>
              <a:t>HPE adalah harga acuan ekspor, bukan harga langsung ke petani (farmgate) — harga aktual di tingkat petani perlu dicek langsung dan biasanya sedikit di bawah HPE.</a:t>
            </a:r>
            <a:endParaRPr lang="en-US" sz="1150" dirty="0"/>
          </a:p>
        </p:txBody>
      </p:sp>
      <p:sp>
        <p:nvSpPr>
          <p:cNvPr id="14" name="Text 9"/>
          <p:cNvSpPr txBox="1"/>
          <p:nvPr/>
        </p:nvSpPr>
        <p:spPr>
          <a:xfrm>
            <a:off x="548640" y="6473952"/>
            <a:ext cx="8686800" cy="274320"/>
          </a:xfrm>
          <a:prstGeom prst="rect">
            <a:avLst/>
          </a:prstGeom>
          <a:noFill/>
          <a:ln/>
        </p:spPr>
        <p:txBody>
          <a:bodyPr wrap="square" lIns="0" tIns="0" rIns="0" bIns="0" rtlCol="0" anchor="ctr"/>
          <a:lstStyle/>
          <a:p>
            <a:pPr marL="0" indent="0" algn="l">
              <a:buNone/>
            </a:pPr>
            <a:r>
              <a:rPr lang="en-US" sz="900" i="1" dirty="0">
                <a:solidFill>
                  <a:srgbClr val="8A776A"/>
                </a:solidFill>
                <a:latin typeface="Calibri" pitchFamily="34" charset="0"/>
                <a:ea typeface="Calibri" pitchFamily="34" charset="-122"/>
                <a:cs typeface="Calibri" pitchFamily="34" charset="-120"/>
              </a:rPr>
              <a:t>Sumber: Kemendag — Harga Patokan Ekspor biji kakao, Agustus 2026 (wartaekonomi.co.id)</a:t>
            </a:r>
            <a:endParaRPr lang="en-US" sz="900" dirty="0"/>
          </a:p>
        </p:txBody>
      </p:sp>
      <p:sp>
        <p:nvSpPr>
          <p:cNvPr id="15" name="Text 10"/>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3E2723"/>
        </a:solidFill>
        <a:effectLst/>
      </p:bgPr>
    </p:bg>
    <p:spTree>
      <p:nvGrpSpPr>
        <p:cNvPr id="1" name=""/>
        <p:cNvGrpSpPr/>
        <p:nvPr/>
      </p:nvGrpSpPr>
      <p:grpSpPr>
        <a:xfrm>
          <a:off x="0" y="0"/>
          <a:ext cx="0" cy="0"/>
          <a:chOff x="0" y="0"/>
          <a:chExt cx="0" cy="0"/>
        </a:xfrm>
      </p:grpSpPr>
      <p:sp>
        <p:nvSpPr>
          <p:cNvPr id="2" name="Text 0"/>
          <p:cNvSpPr txBox="1"/>
          <p:nvPr/>
        </p:nvSpPr>
        <p:spPr>
          <a:xfrm>
            <a:off x="640080" y="1005840"/>
            <a:ext cx="7315200" cy="274320"/>
          </a:xfrm>
          <a:prstGeom prst="rect">
            <a:avLst/>
          </a:prstGeom>
          <a:noFill/>
          <a:ln/>
        </p:spPr>
        <p:txBody>
          <a:bodyPr wrap="square" lIns="0" tIns="0" rIns="0" bIns="0" rtlCol="0" anchor="ctr"/>
          <a:lstStyle/>
          <a:p>
            <a:pPr marL="0" indent="0">
              <a:buNone/>
            </a:pPr>
            <a:r>
              <a:rPr lang="en-US" sz="1200" b="1" kern="0" spc="200" dirty="0">
                <a:solidFill>
                  <a:srgbClr val="C8A165"/>
                </a:solidFill>
                <a:latin typeface="Calibri" pitchFamily="34" charset="0"/>
                <a:ea typeface="Calibri" pitchFamily="34" charset="-122"/>
                <a:cs typeface="Calibri" pitchFamily="34" charset="-120"/>
              </a:rPr>
              <a:t>RENCANA KERJA &amp; INVESTASI</a:t>
            </a:r>
            <a:endParaRPr lang="en-US" sz="1200" dirty="0"/>
          </a:p>
        </p:txBody>
      </p:sp>
      <p:sp>
        <p:nvSpPr>
          <p:cNvPr id="3" name="Text 1"/>
          <p:cNvSpPr txBox="1"/>
          <p:nvPr/>
        </p:nvSpPr>
        <p:spPr>
          <a:xfrm>
            <a:off x="640080" y="1554480"/>
            <a:ext cx="9875520" cy="1554480"/>
          </a:xfrm>
          <a:prstGeom prst="rect">
            <a:avLst/>
          </a:prstGeom>
          <a:noFill/>
          <a:ln/>
        </p:spPr>
        <p:txBody>
          <a:bodyPr wrap="square" lIns="0" tIns="0" rIns="0" bIns="0" rtlCol="0" anchor="ctr"/>
          <a:lstStyle/>
          <a:p>
            <a:pPr marL="0" indent="0">
              <a:lnSpc>
                <a:spcPct val="108000"/>
              </a:lnSpc>
              <a:buNone/>
            </a:pPr>
            <a:r>
              <a:rPr lang="en-US" sz="3600" b="1" dirty="0">
                <a:solidFill>
                  <a:srgbClr val="FFFFFF"/>
                </a:solidFill>
                <a:latin typeface="Cambria" pitchFamily="34" charset="0"/>
                <a:ea typeface="Cambria" pitchFamily="34" charset="-122"/>
                <a:cs typeface="Cambria" pitchFamily="34" charset="-120"/>
              </a:rPr>
              <a:t>Peta Jalan Menuju</a:t>
            </a:r>
            <a:endParaRPr lang="en-US" sz="3600" dirty="0"/>
          </a:p>
          <a:p>
            <a:pPr marL="0" indent="0">
              <a:lnSpc>
                <a:spcPct val="108000"/>
              </a:lnSpc>
              <a:buNone/>
            </a:pPr>
            <a:r>
              <a:rPr lang="en-US" sz="3600" b="1" dirty="0">
                <a:solidFill>
                  <a:srgbClr val="FFFFFF"/>
                </a:solidFill>
                <a:latin typeface="Cambria" pitchFamily="34" charset="0"/>
                <a:ea typeface="Cambria" pitchFamily="34" charset="-122"/>
                <a:cs typeface="Cambria" pitchFamily="34" charset="-120"/>
              </a:rPr>
              <a:t>Operasional Stabil</a:t>
            </a:r>
            <a:endParaRPr lang="en-US" sz="3600" dirty="0"/>
          </a:p>
        </p:txBody>
      </p:sp>
      <p:sp>
        <p:nvSpPr>
          <p:cNvPr id="4" name="Text 2"/>
          <p:cNvSpPr txBox="1"/>
          <p:nvPr/>
        </p:nvSpPr>
        <p:spPr>
          <a:xfrm>
            <a:off x="640080" y="3063240"/>
            <a:ext cx="9326880" cy="1005840"/>
          </a:xfrm>
          <a:prstGeom prst="rect">
            <a:avLst/>
          </a:prstGeom>
          <a:noFill/>
          <a:ln/>
        </p:spPr>
        <p:txBody>
          <a:bodyPr wrap="square" lIns="0" tIns="0" rIns="0" bIns="0" rtlCol="0" anchor="ctr"/>
          <a:lstStyle/>
          <a:p>
            <a:pPr marL="0" indent="0">
              <a:lnSpc>
                <a:spcPct val="128000"/>
              </a:lnSpc>
              <a:buNone/>
            </a:pPr>
            <a:r>
              <a:rPr lang="en-US" sz="1550" dirty="0">
                <a:solidFill>
                  <a:srgbClr val="F4ECE1"/>
                </a:solidFill>
                <a:latin typeface="Calibri" pitchFamily="34" charset="0"/>
                <a:ea typeface="Calibri" pitchFamily="34" charset="-122"/>
                <a:cs typeface="Calibri" pitchFamily="34" charset="-120"/>
              </a:rPr>
              <a:t>Rencana kerja 6 bulan pertama dan kebutuhan investasi awal agar unit mencapai target operasional stabil (100% kapasitas, 1.250 kg biji kakao/bulan) pada bulan ke-6 — dengan progres stabilitas operasional meningkat rata-rata 15–20% per bulan. Mesin produksi telah tersedia sebagai aset Pemkab Pesawaran.</a:t>
            </a:r>
            <a:endParaRPr lang="en-US" sz="1550" dirty="0"/>
          </a:p>
        </p:txBody>
      </p:sp>
      <p:sp>
        <p:nvSpPr>
          <p:cNvPr id="5" name="Shape 3"/>
          <p:cNvSpPr/>
          <p:nvPr/>
        </p:nvSpPr>
        <p:spPr>
          <a:xfrm>
            <a:off x="640080" y="4434840"/>
            <a:ext cx="2606040" cy="960120"/>
          </a:xfrm>
          <a:prstGeom prst="roundRect">
            <a:avLst>
              <a:gd name="adj" fmla="val 7619"/>
            </a:avLst>
          </a:prstGeom>
          <a:solidFill>
            <a:srgbClr val="4E362C"/>
          </a:solidFill>
          <a:ln/>
        </p:spPr>
        <p:txBody>
          <a:bodyPr/>
          <a:p/>
        </p:txBody>
      </p:sp>
      <p:sp>
        <p:nvSpPr>
          <p:cNvPr id="6" name="Shape 4"/>
          <p:cNvSpPr/>
          <p:nvPr/>
        </p:nvSpPr>
        <p:spPr>
          <a:xfrm>
            <a:off x="822960" y="4636008"/>
            <a:ext cx="438912" cy="438912"/>
          </a:xfrm>
          <a:prstGeom prst="ellipse">
            <a:avLst/>
          </a:prstGeom>
          <a:solidFill>
            <a:srgbClr val="D97B29"/>
          </a:solidFill>
          <a:ln/>
        </p:spPr>
        <p:txBody>
          <a:bodyPr/>
          <a:p/>
        </p:txBody>
      </p:sp>
      <p:pic>
        <p:nvPicPr>
          <p:cNvPr id="7" name="Image 0" descr="/home/claude/ballmill_pptx/icons/route_white.png"/>
          <p:cNvPicPr>
            <a:picLocks noChangeAspect="1"/>
          </p:cNvPicPr>
          <p:nvPr/>
        </p:nvPicPr>
        <p:blipFill>
          <a:blip r:embed="rId3"/>
          <a:stretch>
            <a:fillRect/>
          </a:stretch>
        </p:blipFill>
        <p:spPr>
          <a:xfrm>
            <a:off x="937077" y="4750125"/>
            <a:ext cx="210678" cy="210678"/>
          </a:xfrm>
          <a:prstGeom prst="rect">
            <a:avLst/>
          </a:prstGeom>
        </p:spPr>
      </p:pic>
      <p:sp>
        <p:nvSpPr>
          <p:cNvPr id="8" name="Text 5"/>
          <p:cNvSpPr txBox="1"/>
          <p:nvPr/>
        </p:nvSpPr>
        <p:spPr>
          <a:xfrm>
            <a:off x="822960" y="5120640"/>
            <a:ext cx="2240280" cy="365760"/>
          </a:xfrm>
          <a:prstGeom prst="rect">
            <a:avLst/>
          </a:prstGeom>
          <a:noFill/>
          <a:ln/>
        </p:spPr>
        <p:txBody>
          <a:bodyPr wrap="square" lIns="0" tIns="0" rIns="0" bIns="0" rtlCol="0" anchor="ctr"/>
          <a:lstStyle/>
          <a:p>
            <a:pPr marL="0" indent="0">
              <a:lnSpc>
                <a:spcPct val="110000"/>
              </a:lnSpc>
              <a:buNone/>
            </a:pPr>
            <a:r>
              <a:rPr lang="en-US" sz="1100" b="1" dirty="0">
                <a:solidFill>
                  <a:srgbClr val="FFFFFF"/>
                </a:solidFill>
                <a:latin typeface="Calibri" pitchFamily="34" charset="0"/>
                <a:ea typeface="Calibri" pitchFamily="34" charset="-122"/>
                <a:cs typeface="Calibri" pitchFamily="34" charset="-120"/>
              </a:rPr>
              <a:t>Rencana Kerja Bulanan</a:t>
            </a:r>
            <a:endParaRPr lang="en-US" sz="1100" dirty="0"/>
          </a:p>
        </p:txBody>
      </p:sp>
      <p:sp>
        <p:nvSpPr>
          <p:cNvPr id="9" name="Shape 6"/>
          <p:cNvSpPr/>
          <p:nvPr/>
        </p:nvSpPr>
        <p:spPr>
          <a:xfrm>
            <a:off x="3429000" y="4434840"/>
            <a:ext cx="2606040" cy="960120"/>
          </a:xfrm>
          <a:prstGeom prst="roundRect">
            <a:avLst>
              <a:gd name="adj" fmla="val 7619"/>
            </a:avLst>
          </a:prstGeom>
          <a:solidFill>
            <a:srgbClr val="4E362C"/>
          </a:solidFill>
          <a:ln/>
        </p:spPr>
        <p:txBody>
          <a:bodyPr/>
          <a:p/>
        </p:txBody>
      </p:sp>
      <p:sp>
        <p:nvSpPr>
          <p:cNvPr id="10" name="Shape 7"/>
          <p:cNvSpPr/>
          <p:nvPr/>
        </p:nvSpPr>
        <p:spPr>
          <a:xfrm>
            <a:off x="3611880" y="4636008"/>
            <a:ext cx="438912" cy="438912"/>
          </a:xfrm>
          <a:prstGeom prst="ellipse">
            <a:avLst/>
          </a:prstGeom>
          <a:solidFill>
            <a:srgbClr val="D97B29"/>
          </a:solidFill>
          <a:ln/>
        </p:spPr>
        <p:txBody>
          <a:bodyPr/>
          <a:p/>
        </p:txBody>
      </p:sp>
      <p:pic>
        <p:nvPicPr>
          <p:cNvPr id="11" name="Image 1" descr="/home/claude/ballmill_pptx/icons/landmark_white.png"/>
          <p:cNvPicPr>
            <a:picLocks noChangeAspect="1"/>
          </p:cNvPicPr>
          <p:nvPr/>
        </p:nvPicPr>
        <p:blipFill>
          <a:blip r:embed="rId4"/>
          <a:stretch>
            <a:fillRect/>
          </a:stretch>
        </p:blipFill>
        <p:spPr>
          <a:xfrm>
            <a:off x="3725997" y="4750125"/>
            <a:ext cx="210678" cy="210678"/>
          </a:xfrm>
          <a:prstGeom prst="rect">
            <a:avLst/>
          </a:prstGeom>
        </p:spPr>
      </p:pic>
      <p:sp>
        <p:nvSpPr>
          <p:cNvPr id="12" name="Text 8"/>
          <p:cNvSpPr txBox="1"/>
          <p:nvPr/>
        </p:nvSpPr>
        <p:spPr>
          <a:xfrm>
            <a:off x="3611880" y="5120640"/>
            <a:ext cx="2240280" cy="365760"/>
          </a:xfrm>
          <a:prstGeom prst="rect">
            <a:avLst/>
          </a:prstGeom>
          <a:noFill/>
          <a:ln/>
        </p:spPr>
        <p:txBody>
          <a:bodyPr wrap="square" lIns="0" tIns="0" rIns="0" bIns="0" rtlCol="0" anchor="ctr"/>
          <a:lstStyle/>
          <a:p>
            <a:pPr marL="0" indent="0">
              <a:lnSpc>
                <a:spcPct val="110000"/>
              </a:lnSpc>
              <a:buNone/>
            </a:pPr>
            <a:r>
              <a:rPr lang="en-US" sz="1100" b="1" dirty="0">
                <a:solidFill>
                  <a:srgbClr val="FFFFFF"/>
                </a:solidFill>
                <a:latin typeface="Calibri" pitchFamily="34" charset="0"/>
                <a:ea typeface="Calibri" pitchFamily="34" charset="-122"/>
                <a:cs typeface="Calibri" pitchFamily="34" charset="-120"/>
              </a:rPr>
              <a:t>Aset Mesin &amp; Penyusutan</a:t>
            </a:r>
            <a:endParaRPr lang="en-US" sz="1100" dirty="0"/>
          </a:p>
        </p:txBody>
      </p:sp>
      <p:sp>
        <p:nvSpPr>
          <p:cNvPr id="13" name="Shape 9"/>
          <p:cNvSpPr/>
          <p:nvPr/>
        </p:nvSpPr>
        <p:spPr>
          <a:xfrm>
            <a:off x="6217920" y="4434840"/>
            <a:ext cx="2606040" cy="960120"/>
          </a:xfrm>
          <a:prstGeom prst="roundRect">
            <a:avLst>
              <a:gd name="adj" fmla="val 7619"/>
            </a:avLst>
          </a:prstGeom>
          <a:solidFill>
            <a:srgbClr val="4E362C"/>
          </a:solidFill>
          <a:ln/>
        </p:spPr>
        <p:txBody>
          <a:bodyPr/>
          <a:p/>
        </p:txBody>
      </p:sp>
      <p:sp>
        <p:nvSpPr>
          <p:cNvPr id="14" name="Shape 10"/>
          <p:cNvSpPr/>
          <p:nvPr/>
        </p:nvSpPr>
        <p:spPr>
          <a:xfrm>
            <a:off x="6400800" y="4636008"/>
            <a:ext cx="438912" cy="438912"/>
          </a:xfrm>
          <a:prstGeom prst="ellipse">
            <a:avLst/>
          </a:prstGeom>
          <a:solidFill>
            <a:srgbClr val="D97B29"/>
          </a:solidFill>
          <a:ln/>
        </p:spPr>
        <p:txBody>
          <a:bodyPr/>
          <a:p/>
        </p:txBody>
      </p:sp>
      <p:pic>
        <p:nvPicPr>
          <p:cNvPr id="15" name="Image 2" descr="/home/claude/ballmill_pptx/icons/handshake_white.png"/>
          <p:cNvPicPr>
            <a:picLocks noChangeAspect="1"/>
          </p:cNvPicPr>
          <p:nvPr/>
        </p:nvPicPr>
        <p:blipFill>
          <a:blip r:embed="rId5"/>
          <a:stretch>
            <a:fillRect/>
          </a:stretch>
        </p:blipFill>
        <p:spPr>
          <a:xfrm>
            <a:off x="6514917" y="4750125"/>
            <a:ext cx="210678" cy="210678"/>
          </a:xfrm>
          <a:prstGeom prst="rect">
            <a:avLst/>
          </a:prstGeom>
        </p:spPr>
      </p:pic>
      <p:sp>
        <p:nvSpPr>
          <p:cNvPr id="16" name="Text 11"/>
          <p:cNvSpPr txBox="1"/>
          <p:nvPr/>
        </p:nvSpPr>
        <p:spPr>
          <a:xfrm>
            <a:off x="6400800" y="5120640"/>
            <a:ext cx="2240280" cy="365760"/>
          </a:xfrm>
          <a:prstGeom prst="rect">
            <a:avLst/>
          </a:prstGeom>
          <a:noFill/>
          <a:ln/>
        </p:spPr>
        <p:txBody>
          <a:bodyPr wrap="square" lIns="0" tIns="0" rIns="0" bIns="0" rtlCol="0" anchor="ctr"/>
          <a:lstStyle/>
          <a:p>
            <a:pPr marL="0" indent="0">
              <a:lnSpc>
                <a:spcPct val="110000"/>
              </a:lnSpc>
              <a:buNone/>
            </a:pPr>
            <a:r>
              <a:rPr lang="en-US" sz="1100" b="1" dirty="0">
                <a:solidFill>
                  <a:srgbClr val="FFFFFF"/>
                </a:solidFill>
                <a:latin typeface="Calibri" pitchFamily="34" charset="0"/>
                <a:ea typeface="Calibri" pitchFamily="34" charset="-122"/>
                <a:cs typeface="Calibri" pitchFamily="34" charset="-120"/>
              </a:rPr>
              <a:t>Skema Kerja Sama 5 Tahun</a:t>
            </a:r>
            <a:endParaRPr lang="en-US" sz="1100" dirty="0"/>
          </a:p>
        </p:txBody>
      </p:sp>
      <p:sp>
        <p:nvSpPr>
          <p:cNvPr id="17" name="Shape 12"/>
          <p:cNvSpPr/>
          <p:nvPr/>
        </p:nvSpPr>
        <p:spPr>
          <a:xfrm>
            <a:off x="9006840" y="4434840"/>
            <a:ext cx="2606040" cy="960120"/>
          </a:xfrm>
          <a:prstGeom prst="roundRect">
            <a:avLst>
              <a:gd name="adj" fmla="val 7619"/>
            </a:avLst>
          </a:prstGeom>
          <a:solidFill>
            <a:srgbClr val="4E362C"/>
          </a:solidFill>
          <a:ln/>
        </p:spPr>
        <p:txBody>
          <a:bodyPr/>
          <a:p/>
        </p:txBody>
      </p:sp>
      <p:sp>
        <p:nvSpPr>
          <p:cNvPr id="18" name="Shape 13"/>
          <p:cNvSpPr/>
          <p:nvPr/>
        </p:nvSpPr>
        <p:spPr>
          <a:xfrm>
            <a:off x="9189720" y="4636008"/>
            <a:ext cx="438912" cy="438912"/>
          </a:xfrm>
          <a:prstGeom prst="ellipse">
            <a:avLst/>
          </a:prstGeom>
          <a:solidFill>
            <a:srgbClr val="D97B29"/>
          </a:solidFill>
          <a:ln/>
        </p:spPr>
        <p:txBody>
          <a:bodyPr/>
          <a:p/>
        </p:txBody>
      </p:sp>
      <p:pic>
        <p:nvPicPr>
          <p:cNvPr id="19" name="Image 3" descr="/home/claude/ballmill_pptx/icons/chartline_white.png"/>
          <p:cNvPicPr>
            <a:picLocks noChangeAspect="1"/>
          </p:cNvPicPr>
          <p:nvPr/>
        </p:nvPicPr>
        <p:blipFill>
          <a:blip r:embed="rId6"/>
          <a:stretch>
            <a:fillRect/>
          </a:stretch>
        </p:blipFill>
        <p:spPr>
          <a:xfrm>
            <a:off x="9303837" y="4750125"/>
            <a:ext cx="210678" cy="210678"/>
          </a:xfrm>
          <a:prstGeom prst="rect">
            <a:avLst/>
          </a:prstGeom>
        </p:spPr>
      </p:pic>
      <p:sp>
        <p:nvSpPr>
          <p:cNvPr id="20" name="Text 14"/>
          <p:cNvSpPr txBox="1"/>
          <p:nvPr/>
        </p:nvSpPr>
        <p:spPr>
          <a:xfrm>
            <a:off x="9189720" y="5120640"/>
            <a:ext cx="2240280" cy="365760"/>
          </a:xfrm>
          <a:prstGeom prst="rect">
            <a:avLst/>
          </a:prstGeom>
          <a:noFill/>
          <a:ln/>
        </p:spPr>
        <p:txBody>
          <a:bodyPr wrap="square" lIns="0" tIns="0" rIns="0" bIns="0" rtlCol="0" anchor="ctr"/>
          <a:lstStyle/>
          <a:p>
            <a:pPr marL="0" indent="0">
              <a:lnSpc>
                <a:spcPct val="110000"/>
              </a:lnSpc>
              <a:buNone/>
            </a:pPr>
            <a:r>
              <a:rPr lang="en-US" sz="1100" b="1" dirty="0">
                <a:solidFill>
                  <a:srgbClr val="FFFFFF"/>
                </a:solidFill>
                <a:latin typeface="Calibri" pitchFamily="34" charset="0"/>
                <a:ea typeface="Calibri" pitchFamily="34" charset="-122"/>
                <a:cs typeface="Calibri" pitchFamily="34" charset="-120"/>
              </a:rPr>
              <a:t>Arus Kas &amp; Kebutuhan Dana</a:t>
            </a:r>
            <a:endParaRPr lang="en-US" sz="1100" dirty="0"/>
          </a:p>
        </p:txBody>
      </p:sp>
      <p:sp>
        <p:nvSpPr>
          <p:cNvPr id="21" name="Text 15"/>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RENCANA KERJA</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Progress Stabilitas Operasional (Bulan 1–6)</a:t>
            </a:r>
            <a:endParaRPr lang="en-US" sz="3000" dirty="0"/>
          </a:p>
        </p:txBody>
      </p:sp>
      <p:sp>
        <p:nvSpPr>
          <p:cNvPr id="4" name="Text 2"/>
          <p:cNvSpPr txBox="1"/>
          <p:nvPr/>
        </p:nvSpPr>
        <p:spPr>
          <a:xfrm>
            <a:off x="548640" y="1298448"/>
            <a:ext cx="11064240" cy="502920"/>
          </a:xfrm>
          <a:prstGeom prst="rect">
            <a:avLst/>
          </a:prstGeom>
          <a:noFill/>
          <a:ln/>
        </p:spPr>
        <p:txBody>
          <a:bodyPr wrap="square" lIns="0" tIns="0" rIns="0" bIns="0" rtlCol="0" anchor="ctr"/>
          <a:lstStyle/>
          <a:p>
            <a:pPr marL="0" indent="0">
              <a:lnSpc>
                <a:spcPct val="120000"/>
              </a:lnSpc>
              <a:buNone/>
            </a:pPr>
            <a:r>
              <a:rPr lang="en-US" sz="1250" dirty="0">
                <a:solidFill>
                  <a:srgbClr val="8A776A"/>
                </a:solidFill>
                <a:latin typeface="Calibri" pitchFamily="34" charset="0"/>
                <a:ea typeface="Calibri" pitchFamily="34" charset="-122"/>
                <a:cs typeface="Calibri" pitchFamily="34" charset="-120"/>
              </a:rPr>
              <a:t>Target: operasional mencapai stabilitas penuh (100% kapasitas) pada bulan ke-6. Sejak bulan pertama, capaian stabilitas operasional direncanakan meningkat rata-rata 15–20% per bulan. Kurva ini bersifat indikatif untuk perencanaan.</a:t>
            </a:r>
            <a:endParaRPr lang="en-US" sz="1250" dirty="0"/>
          </a:p>
        </p:txBody>
      </p:sp>
      <p:graphicFrame>
        <p:nvGraphicFramePr>
          <p:cNvPr id="5" name="Chart 0"/>
          <p:cNvGraphicFramePr/>
          <p:nvPr/>
        </p:nvGraphicFramePr>
        <p:xfrm>
          <a:off x="548640" y="1965960"/>
          <a:ext cx="68580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35240" y="1965960"/>
            <a:ext cx="4005072" cy="1920240"/>
          </a:xfrm>
          <a:prstGeom prst="roundRect">
            <a:avLst>
              <a:gd name="adj" fmla="val 4286"/>
            </a:avLst>
          </a:prstGeom>
          <a:solidFill>
            <a:srgbClr val="F4ECE1"/>
          </a:solidFill>
          <a:ln/>
          <a:effectLst>
            <a:outerShdw blurRad="76200" dist="25400" dir="5400000" algn="bl" rotWithShape="0">
              <a:srgbClr val="9C8E80">
                <a:alpha val="18000"/>
              </a:srgbClr>
            </a:outerShdw>
          </a:effectLst>
        </p:spPr>
      </p:sp>
      <p:sp>
        <p:nvSpPr>
          <p:cNvPr id="7" name="Shape 4"/>
          <p:cNvSpPr/>
          <p:nvPr/>
        </p:nvSpPr>
        <p:spPr>
          <a:xfrm>
            <a:off x="7854696" y="2185416"/>
            <a:ext cx="566928" cy="566928"/>
          </a:xfrm>
          <a:prstGeom prst="ellipse">
            <a:avLst/>
          </a:prstGeom>
          <a:solidFill>
            <a:srgbClr val="D97B29"/>
          </a:solidFill>
          <a:ln/>
        </p:spPr>
      </p:sp>
      <p:pic>
        <p:nvPicPr>
          <p:cNvPr id="8" name="Image 0" descr="/home/claude/ballmill_pptx/icons/flag_white.png"/>
          <p:cNvPicPr>
            <a:picLocks noChangeAspect="1"/>
          </p:cNvPicPr>
          <p:nvPr/>
        </p:nvPicPr>
        <p:blipFill>
          <a:blip r:embed="rId4"/>
          <a:stretch>
            <a:fillRect/>
          </a:stretch>
        </p:blipFill>
        <p:spPr>
          <a:xfrm>
            <a:off x="8002097" y="2332817"/>
            <a:ext cx="272125" cy="272125"/>
          </a:xfrm>
          <a:prstGeom prst="rect">
            <a:avLst/>
          </a:prstGeom>
        </p:spPr>
      </p:pic>
      <p:sp>
        <p:nvSpPr>
          <p:cNvPr id="9" name="Text 5"/>
          <p:cNvSpPr txBox="1"/>
          <p:nvPr/>
        </p:nvSpPr>
        <p:spPr>
          <a:xfrm>
            <a:off x="7854696" y="2825496"/>
            <a:ext cx="3566160"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100%</a:t>
            </a:r>
            <a:endParaRPr lang="en-US" sz="2200" dirty="0"/>
          </a:p>
        </p:txBody>
      </p:sp>
      <p:sp>
        <p:nvSpPr>
          <p:cNvPr id="10" name="Text 6"/>
          <p:cNvSpPr txBox="1"/>
          <p:nvPr/>
        </p:nvSpPr>
        <p:spPr>
          <a:xfrm>
            <a:off x="7854696" y="3282696"/>
            <a:ext cx="3566160" cy="49377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Target stabilitas operasional pada bulan ke-6 — setara 1.250 kg biji kakao/bulan</a:t>
            </a:r>
            <a:endParaRPr lang="en-US" sz="1150" dirty="0"/>
          </a:p>
        </p:txBody>
      </p:sp>
      <p:sp>
        <p:nvSpPr>
          <p:cNvPr id="11" name="Shape 7"/>
          <p:cNvSpPr/>
          <p:nvPr/>
        </p:nvSpPr>
        <p:spPr>
          <a:xfrm>
            <a:off x="7635240" y="4069080"/>
            <a:ext cx="4005072" cy="1920240"/>
          </a:xfrm>
          <a:prstGeom prst="roundRect">
            <a:avLst>
              <a:gd name="adj" fmla="val 4286"/>
            </a:avLst>
          </a:prstGeom>
          <a:solidFill>
            <a:srgbClr val="F4ECE1"/>
          </a:solidFill>
          <a:ln/>
          <a:effectLst>
            <a:outerShdw blurRad="76200" dist="25400" dir="5400000" algn="bl" rotWithShape="0">
              <a:srgbClr val="9C8E80">
                <a:alpha val="18000"/>
              </a:srgbClr>
            </a:outerShdw>
          </a:effectLst>
        </p:spPr>
      </p:sp>
      <p:sp>
        <p:nvSpPr>
          <p:cNvPr id="12" name="Shape 8"/>
          <p:cNvSpPr/>
          <p:nvPr/>
        </p:nvSpPr>
        <p:spPr>
          <a:xfrm>
            <a:off x="7854696" y="4288536"/>
            <a:ext cx="566928" cy="566928"/>
          </a:xfrm>
          <a:prstGeom prst="ellipse">
            <a:avLst/>
          </a:prstGeom>
          <a:solidFill>
            <a:srgbClr val="6D4C41"/>
          </a:solidFill>
          <a:ln/>
        </p:spPr>
      </p:sp>
      <p:pic>
        <p:nvPicPr>
          <p:cNvPr id="13" name="Image 1" descr="/home/claude/ballmill_pptx/icons/chartline_white.png"/>
          <p:cNvPicPr>
            <a:picLocks noChangeAspect="1"/>
          </p:cNvPicPr>
          <p:nvPr/>
        </p:nvPicPr>
        <p:blipFill>
          <a:blip r:embed="rId5"/>
          <a:stretch>
            <a:fillRect/>
          </a:stretch>
        </p:blipFill>
        <p:spPr>
          <a:xfrm>
            <a:off x="8002097" y="4435937"/>
            <a:ext cx="272125" cy="272125"/>
          </a:xfrm>
          <a:prstGeom prst="rect">
            <a:avLst/>
          </a:prstGeom>
        </p:spPr>
      </p:pic>
      <p:sp>
        <p:nvSpPr>
          <p:cNvPr id="14" name="Text 9"/>
          <p:cNvSpPr txBox="1"/>
          <p:nvPr/>
        </p:nvSpPr>
        <p:spPr>
          <a:xfrm>
            <a:off x="7854696" y="4928616"/>
            <a:ext cx="3566160"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15–20%</a:t>
            </a:r>
            <a:endParaRPr lang="en-US" sz="2200" dirty="0"/>
          </a:p>
        </p:txBody>
      </p:sp>
      <p:sp>
        <p:nvSpPr>
          <p:cNvPr id="15" name="Text 10"/>
          <p:cNvSpPr txBox="1"/>
          <p:nvPr/>
        </p:nvSpPr>
        <p:spPr>
          <a:xfrm>
            <a:off x="7854696" y="5385816"/>
            <a:ext cx="3566160" cy="49377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Rata-rata kenaikan stabilitas operasional per bulan, bulan 1 s.d. 5</a:t>
            </a:r>
            <a:endParaRPr lang="en-US" sz="1150" dirty="0"/>
          </a:p>
        </p:txBody>
      </p:sp>
      <p:sp>
        <p:nvSpPr>
          <p:cNvPr id="16" name="Text 11"/>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RENCANA KERJA</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Milestone dan Aktivitas Utama per Bulan</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4160520"/>
        </p:xfrm>
        <a:graphic>
          <a:graphicData uri="http://schemas.openxmlformats.org/drawingml/2006/table">
            <a:tbl>
              <a:tblPr/>
              <a:tblGrid>
                <a:gridCol w="9144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7525512">
                  <a:extLst>
                    <a:ext uri="{9D8B030D-6E8A-4147-A177-3AD203B41FA5}">
                      <a16:colId xmlns:a16="http://schemas.microsoft.com/office/drawing/2014/main" val="20003"/>
                    </a:ext>
                  </a:extLst>
                </a:gridCol>
              </a:tblGrid>
              <a:tr h="59436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Bulan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Stabilitas</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Biji/bulan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Aktivitas Utama</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59436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562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Serah terima &amp; komisioning mesin dari Pemkab Pesawaran; pelatihan awal operator; uji coba proses bersama ±10–12 petani mitra.</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53%</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662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Penyesuaian SOP produksi; evaluasi hasil uji coba; perluasan ke ±15 petani mitra; mulai penjualan awal skala kecil.</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59436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62%</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775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Ekspansi jaringan ke ±20 petani mitra; optimasi rendemen &amp; efisiensi mesin; penjajakan kerja sama distribusi/offtake.</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73%</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912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Konsolidasi rantai pasok (±23–25 petani); evaluasi &amp; perbaikan bottleneck operasional; uji pasar B2B lot kecil.</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4"/>
                  </a:ext>
                </a:extLst>
              </a:tr>
              <a:tr h="59436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86%</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1.075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Rantai pasok penuh 25 petani mitra; produksi mendekati kapasitas penuh; finalisasi kontrak penjualan/offtake.</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436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1.250 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Operasional stabil pada kapasitas penuh; evaluasi kinerja 6 bulan pertama; penyusunan rencana scale-up lanjutan.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5806440"/>
            <a:ext cx="11091672" cy="621792"/>
          </a:xfrm>
          <a:prstGeom prst="roundRect">
            <a:avLst>
              <a:gd name="adj" fmla="val 11765"/>
            </a:avLst>
          </a:prstGeom>
          <a:solidFill>
            <a:srgbClr val="F4ECE1"/>
          </a:solidFill>
          <a:ln/>
        </p:spPr>
      </p:sp>
      <p:sp>
        <p:nvSpPr>
          <p:cNvPr id="6" name="Shape 3"/>
          <p:cNvSpPr/>
          <p:nvPr/>
        </p:nvSpPr>
        <p:spPr>
          <a:xfrm>
            <a:off x="749808" y="5879592"/>
            <a:ext cx="475488" cy="475488"/>
          </a:xfrm>
          <a:prstGeom prst="ellipse">
            <a:avLst/>
          </a:prstGeom>
          <a:solidFill>
            <a:srgbClr val="6D4C41"/>
          </a:solidFill>
          <a:ln/>
        </p:spPr>
      </p:sp>
      <p:pic>
        <p:nvPicPr>
          <p:cNvPr id="7" name="Image 0" descr="/home/claude/ballmill_pptx/icons/handshake_white.png"/>
          <p:cNvPicPr>
            <a:picLocks noChangeAspect="1"/>
          </p:cNvPicPr>
          <p:nvPr/>
        </p:nvPicPr>
        <p:blipFill>
          <a:blip r:embed="rId3"/>
          <a:stretch>
            <a:fillRect/>
          </a:stretch>
        </p:blipFill>
        <p:spPr>
          <a:xfrm>
            <a:off x="873435" y="6003219"/>
            <a:ext cx="228234" cy="228234"/>
          </a:xfrm>
          <a:prstGeom prst="rect">
            <a:avLst/>
          </a:prstGeom>
        </p:spPr>
      </p:pic>
      <p:sp>
        <p:nvSpPr>
          <p:cNvPr id="8" name="Text 4"/>
          <p:cNvSpPr txBox="1"/>
          <p:nvPr/>
        </p:nvSpPr>
        <p:spPr>
          <a:xfrm>
            <a:off x="1444752" y="5916168"/>
            <a:ext cx="9939528" cy="402336"/>
          </a:xfrm>
          <a:prstGeom prst="rect">
            <a:avLst/>
          </a:prstGeom>
          <a:noFill/>
          <a:ln/>
        </p:spPr>
        <p:txBody>
          <a:bodyPr wrap="square" lIns="0" tIns="0" rIns="0" bIns="0" rtlCol="0" anchor="ctr"/>
          <a:lstStyle/>
          <a:p>
            <a:pPr marL="0" indent="0">
              <a:lnSpc>
                <a:spcPct val="118000"/>
              </a:lnSpc>
              <a:buNone/>
            </a:pPr>
            <a:r>
              <a:rPr lang="en-US" sz="1150" dirty="0">
                <a:solidFill>
                  <a:srgbClr val="3E2723"/>
                </a:solidFill>
                <a:latin typeface="Calibri" pitchFamily="34" charset="0"/>
                <a:ea typeface="Calibri" pitchFamily="34" charset="-122"/>
                <a:cs typeface="Calibri" pitchFamily="34" charset="-120"/>
              </a:rPr>
              <a:t>Jadwal ini adalah target indikatif untuk perencanaan, bukan komitmen tetap — jumlah petani mitra dan tempo ekspansi perlu disesuaikan dengan kondisi lapangan.</a:t>
            </a:r>
            <a:endParaRPr lang="en-US" sz="1150" dirty="0"/>
          </a:p>
        </p:txBody>
      </p:sp>
      <p:sp>
        <p:nvSpPr>
          <p:cNvPr id="9" name="Text 5"/>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RENCANA INVESTASI</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Aset Mesin yang Tersedia dan Nilai Penyusutan</a:t>
            </a:r>
            <a:endParaRPr lang="en-US" sz="3000" dirty="0"/>
          </a:p>
        </p:txBody>
      </p:sp>
      <p:sp>
        <p:nvSpPr>
          <p:cNvPr id="4" name="Text 2"/>
          <p:cNvSpPr txBox="1"/>
          <p:nvPr/>
        </p:nvSpPr>
        <p:spPr>
          <a:xfrm>
            <a:off x="548640" y="1298448"/>
            <a:ext cx="11064240" cy="594360"/>
          </a:xfrm>
          <a:prstGeom prst="rect">
            <a:avLst/>
          </a:prstGeom>
          <a:noFill/>
          <a:ln/>
        </p:spPr>
        <p:txBody>
          <a:bodyPr wrap="square" lIns="0" tIns="0" rIns="0" bIns="0" rtlCol="0" anchor="ctr"/>
          <a:lstStyle/>
          <a:p>
            <a:pPr marL="0" indent="0">
              <a:lnSpc>
                <a:spcPct val="120000"/>
              </a:lnSpc>
              <a:buNone/>
            </a:pPr>
            <a:r>
              <a:rPr lang="en-US" sz="1200" dirty="0">
                <a:solidFill>
                  <a:srgbClr val="8A776A"/>
                </a:solidFill>
                <a:latin typeface="Calibri" pitchFamily="34" charset="0"/>
                <a:ea typeface="Calibri" pitchFamily="34" charset="-122"/>
                <a:cs typeface="Calibri" pitchFamily="34" charset="-120"/>
              </a:rPr>
              <a:t>Keenam mesin ini adalah aset milik Pemerintah Kabupaten Pesawaran yang sudah tersedia untuk unit ini — sehingga TIDAK diperlukan belanja modal (CAPEX) untuk pengadaan mesin. Nilai penyusutan dihitung sebagai basis biaya produksi dan penyisihan dana cadangan peremajaan aset oleh penyewa.</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3017520"/>
        </p:xfrm>
        <a:graphic>
          <a:graphicData uri="http://schemas.openxmlformats.org/drawingml/2006/table">
            <a:tbl>
              <a:tblPr/>
              <a:tblGrid>
                <a:gridCol w="4142232">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7719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Mesin (Aset Pemkab Pesawaran)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Nilai Aset</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Penyusutan/Tahun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Penyusutan/Bulan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37719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Roaster (mesin sangrai, 10–15 kg/batch)</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Rp35.000.000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Rp4.375.000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Rp364.583</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719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Winnower (pemecah kulit &amp; pemisah biji)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Rp45.000.000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Rp5.625.000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Rp468.750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37719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Grinder kasar (pre-grinder / pemasta kasar)</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Rp60.000.000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Rp7.500.000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Rp625.000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719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Ballmill / refiner halus (10 kg nibs/siklus)</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Rp120.000.000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Rp15.000.000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Rp1.250.000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4"/>
                  </a:ext>
                </a:extLst>
              </a:tr>
              <a:tr h="37719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Fat presser (hydraulic press, pemisah lemak)</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Rp150.000.000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Rp18.750.000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Rp1.562.500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719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Grinder halus (penghalus bubuk / cake mill)</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Rp40.000.000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Rp5.000.000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Rp416.667</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6"/>
                  </a:ext>
                </a:extLst>
              </a:tr>
              <a:tr h="377190">
                <a:tc>
                  <a:txBody>
                    <a:bodyPr/>
                    <a:lstStyle/>
                    <a:p>
                      <a:pPr marL="0" indent="0" algn="l">
                        <a:buNone/>
                      </a:pPr>
                      <a:r>
                        <a:rPr lang="en-US" sz="1200" b="1" dirty="0">
                          <a:solidFill>
                            <a:srgbClr val="3E2723"/>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Rp450.000.000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Rp56.250.000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Rp4.687.500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extLst>
                  <a:ext uri="{0D108BD9-81ED-4DB2-BD59-A6C34878D82A}">
                    <a16:rowId xmlns:a16="http://schemas.microsoft.com/office/drawing/2014/main" val="10007"/>
                  </a:ext>
                </a:extLst>
              </a:tr>
            </a:tbl>
          </a:graphicData>
        </a:graphic>
      </p:graphicFrame>
      <p:sp>
        <p:nvSpPr>
          <p:cNvPr id="6" name="Text 3"/>
          <p:cNvSpPr txBox="1"/>
          <p:nvPr/>
        </p:nvSpPr>
        <p:spPr>
          <a:xfrm>
            <a:off x="548640" y="5120640"/>
            <a:ext cx="11091672" cy="292608"/>
          </a:xfrm>
          <a:prstGeom prst="rect">
            <a:avLst/>
          </a:prstGeom>
          <a:noFill/>
          <a:ln/>
        </p:spPr>
        <p:txBody>
          <a:bodyPr wrap="square" lIns="0" tIns="0" rIns="0" bIns="0" rtlCol="0" anchor="ctr"/>
          <a:lstStyle/>
          <a:p>
            <a:pPr marL="0" indent="0">
              <a:buNone/>
            </a:pPr>
            <a:r>
              <a:rPr lang="en-US" sz="1050" i="1" dirty="0">
                <a:solidFill>
                  <a:srgbClr val="8A776A"/>
                </a:solidFill>
                <a:latin typeface="Calibri" pitchFamily="34" charset="0"/>
                <a:ea typeface="Calibri" pitchFamily="34" charset="-122"/>
                <a:cs typeface="Calibri" pitchFamily="34" charset="-120"/>
              </a:rPr>
              <a:t>Asumsi: metode garis lurus, umur ekonomis 8 tahun, nilai residu 0% — perlu divalidasi terhadap kondisi &amp; usia aktual mesin.</a:t>
            </a:r>
            <a:endParaRPr lang="en-US" sz="1050" dirty="0"/>
          </a:p>
        </p:txBody>
      </p:sp>
      <p:sp>
        <p:nvSpPr>
          <p:cNvPr id="7" name="Shape 4"/>
          <p:cNvSpPr/>
          <p:nvPr/>
        </p:nvSpPr>
        <p:spPr>
          <a:xfrm>
            <a:off x="548640" y="5486400"/>
            <a:ext cx="5394960" cy="960120"/>
          </a:xfrm>
          <a:prstGeom prst="roundRect">
            <a:avLst>
              <a:gd name="adj" fmla="val 9524"/>
            </a:avLst>
          </a:prstGeom>
          <a:solidFill>
            <a:srgbClr val="3E2723"/>
          </a:solidFill>
          <a:ln/>
        </p:spPr>
        <p:txBody>
          <a:bodyPr/>
          <a:p/>
        </p:txBody>
      </p:sp>
      <p:sp>
        <p:nvSpPr>
          <p:cNvPr id="8" name="Shape 5"/>
          <p:cNvSpPr/>
          <p:nvPr/>
        </p:nvSpPr>
        <p:spPr>
          <a:xfrm>
            <a:off x="768096" y="5623560"/>
            <a:ext cx="685800" cy="685800"/>
          </a:xfrm>
          <a:prstGeom prst="ellipse">
            <a:avLst/>
          </a:prstGeom>
          <a:solidFill>
            <a:srgbClr val="C8A165"/>
          </a:solidFill>
          <a:ln/>
        </p:spPr>
        <p:txBody>
          <a:bodyPr/>
          <a:p/>
        </p:txBody>
      </p:sp>
      <p:pic>
        <p:nvPicPr>
          <p:cNvPr id="9" name="Image 0" descr="/home/claude/ballmill_pptx/icons/landmark_white.png"/>
          <p:cNvPicPr>
            <a:picLocks noChangeAspect="1"/>
          </p:cNvPicPr>
          <p:nvPr/>
        </p:nvPicPr>
        <p:blipFill>
          <a:blip r:embed="rId3"/>
          <a:stretch>
            <a:fillRect/>
          </a:stretch>
        </p:blipFill>
        <p:spPr>
          <a:xfrm>
            <a:off x="946404" y="5801868"/>
            <a:ext cx="329184" cy="329184"/>
          </a:xfrm>
          <a:prstGeom prst="rect">
            <a:avLst/>
          </a:prstGeom>
        </p:spPr>
      </p:pic>
      <p:sp>
        <p:nvSpPr>
          <p:cNvPr id="10" name="Text 6"/>
          <p:cNvSpPr txBox="1"/>
          <p:nvPr/>
        </p:nvSpPr>
        <p:spPr>
          <a:xfrm>
            <a:off x="1673352" y="5614416"/>
            <a:ext cx="4050792" cy="422453"/>
          </a:xfrm>
          <a:prstGeom prst="rect">
            <a:avLst/>
          </a:prstGeom>
          <a:noFill/>
          <a:ln/>
        </p:spPr>
        <p:txBody>
          <a:bodyPr wrap="square" lIns="0" tIns="0" rIns="0" bIns="0" rtlCol="0" anchor="b"/>
          <a:lstStyle/>
          <a:p>
            <a:pPr marL="0" indent="0">
              <a:buNone/>
            </a:pPr>
            <a:r>
              <a:rPr lang="en-US" sz="2200" b="1" dirty="0">
                <a:solidFill>
                  <a:srgbClr val="FFFFFF"/>
                </a:solidFill>
                <a:latin typeface="Cambria" pitchFamily="34" charset="0"/>
                <a:ea typeface="Cambria" pitchFamily="34" charset="-122"/>
                <a:cs typeface="Cambria" pitchFamily="34" charset="-120"/>
              </a:rPr>
              <a:t>Rp450 juta</a:t>
            </a:r>
            <a:endParaRPr lang="en-US" sz="2200" dirty="0"/>
          </a:p>
        </p:txBody>
      </p:sp>
      <p:sp>
        <p:nvSpPr>
          <p:cNvPr id="11" name="Text 7"/>
          <p:cNvSpPr txBox="1"/>
          <p:nvPr/>
        </p:nvSpPr>
        <p:spPr>
          <a:xfrm>
            <a:off x="1673352" y="5966460"/>
            <a:ext cx="4050792" cy="403250"/>
          </a:xfrm>
          <a:prstGeom prst="rect">
            <a:avLst/>
          </a:prstGeom>
          <a:noFill/>
          <a:ln/>
        </p:spPr>
        <p:txBody>
          <a:bodyPr wrap="square" lIns="0" tIns="0" rIns="0" bIns="0" rtlCol="0" anchor="t"/>
          <a:lstStyle/>
          <a:p>
            <a:pPr marL="0" indent="0">
              <a:lnSpc>
                <a:spcPct val="115000"/>
              </a:lnSpc>
              <a:buNone/>
            </a:pPr>
            <a:r>
              <a:rPr lang="en-US" sz="1100" dirty="0">
                <a:solidFill>
                  <a:srgbClr val="F4ECE1"/>
                </a:solidFill>
                <a:latin typeface="Calibri" pitchFamily="34" charset="0"/>
                <a:ea typeface="Calibri" pitchFamily="34" charset="-122"/>
                <a:cs typeface="Calibri" pitchFamily="34" charset="-120"/>
              </a:rPr>
              <a:t>Total nilai aset mesin — hibah pemanfaatan dari Pemkab Pesawaran, bukan belanja modal unit</a:t>
            </a:r>
            <a:endParaRPr lang="en-US" sz="1100" dirty="0"/>
          </a:p>
        </p:txBody>
      </p:sp>
      <p:sp>
        <p:nvSpPr>
          <p:cNvPr id="12" name="Shape 8"/>
          <p:cNvSpPr/>
          <p:nvPr/>
        </p:nvSpPr>
        <p:spPr>
          <a:xfrm>
            <a:off x="6080760" y="5486400"/>
            <a:ext cx="5559552" cy="960120"/>
          </a:xfrm>
          <a:prstGeom prst="roundRect">
            <a:avLst>
              <a:gd name="adj" fmla="val 9524"/>
            </a:avLst>
          </a:prstGeom>
          <a:solidFill>
            <a:srgbClr val="3E2723"/>
          </a:solidFill>
          <a:ln/>
        </p:spPr>
        <p:txBody>
          <a:bodyPr/>
          <a:p/>
        </p:txBody>
      </p:sp>
      <p:sp>
        <p:nvSpPr>
          <p:cNvPr id="13" name="Shape 9"/>
          <p:cNvSpPr/>
          <p:nvPr/>
        </p:nvSpPr>
        <p:spPr>
          <a:xfrm>
            <a:off x="6300216" y="5623560"/>
            <a:ext cx="685800" cy="685800"/>
          </a:xfrm>
          <a:prstGeom prst="ellipse">
            <a:avLst/>
          </a:prstGeom>
          <a:solidFill>
            <a:srgbClr val="D97B29"/>
          </a:solidFill>
          <a:ln/>
        </p:spPr>
        <p:txBody>
          <a:bodyPr/>
          <a:p/>
        </p:txBody>
      </p:sp>
      <p:pic>
        <p:nvPicPr>
          <p:cNvPr id="14" name="Image 1" descr="/home/claude/ballmill_pptx/icons/shield_white.png"/>
          <p:cNvPicPr>
            <a:picLocks noChangeAspect="1"/>
          </p:cNvPicPr>
          <p:nvPr/>
        </p:nvPicPr>
        <p:blipFill>
          <a:blip r:embed="rId4"/>
          <a:stretch>
            <a:fillRect/>
          </a:stretch>
        </p:blipFill>
        <p:spPr>
          <a:xfrm>
            <a:off x="6478524" y="5801868"/>
            <a:ext cx="329184" cy="329184"/>
          </a:xfrm>
          <a:prstGeom prst="rect">
            <a:avLst/>
          </a:prstGeom>
        </p:spPr>
      </p:pic>
      <p:sp>
        <p:nvSpPr>
          <p:cNvPr id="15" name="Text 10"/>
          <p:cNvSpPr txBox="1"/>
          <p:nvPr/>
        </p:nvSpPr>
        <p:spPr>
          <a:xfrm>
            <a:off x="7205472" y="5614416"/>
            <a:ext cx="4215384" cy="422453"/>
          </a:xfrm>
          <a:prstGeom prst="rect">
            <a:avLst/>
          </a:prstGeom>
          <a:noFill/>
          <a:ln/>
        </p:spPr>
        <p:txBody>
          <a:bodyPr wrap="square" lIns="0" tIns="0" rIns="0" bIns="0" rtlCol="0" anchor="b"/>
          <a:lstStyle/>
          <a:p>
            <a:pPr marL="0" indent="0">
              <a:buNone/>
            </a:pPr>
            <a:r>
              <a:rPr lang="en-US" sz="2200" b="1" dirty="0">
                <a:solidFill>
                  <a:srgbClr val="FFFFFF"/>
                </a:solidFill>
                <a:latin typeface="Cambria" pitchFamily="34" charset="0"/>
                <a:ea typeface="Cambria" pitchFamily="34" charset="-122"/>
                <a:cs typeface="Cambria" pitchFamily="34" charset="-120"/>
              </a:rPr>
              <a:t>Rp4,69 jt/bulan</a:t>
            </a:r>
            <a:endParaRPr lang="en-US" sz="2200" dirty="0"/>
          </a:p>
        </p:txBody>
      </p:sp>
      <p:sp>
        <p:nvSpPr>
          <p:cNvPr id="16" name="Text 11"/>
          <p:cNvSpPr txBox="1"/>
          <p:nvPr/>
        </p:nvSpPr>
        <p:spPr>
          <a:xfrm>
            <a:off x="7205472" y="5966460"/>
            <a:ext cx="4215384" cy="403250"/>
          </a:xfrm>
          <a:prstGeom prst="rect">
            <a:avLst/>
          </a:prstGeom>
          <a:noFill/>
          <a:ln/>
        </p:spPr>
        <p:txBody>
          <a:bodyPr wrap="square" lIns="0" tIns="0" rIns="0" bIns="0" rtlCol="0" anchor="t"/>
          <a:lstStyle/>
          <a:p>
            <a:pPr marL="0" indent="0">
              <a:lnSpc>
                <a:spcPct val="115000"/>
              </a:lnSpc>
              <a:buNone/>
            </a:pPr>
            <a:r>
              <a:rPr lang="en-US" sz="1100" dirty="0">
                <a:solidFill>
                  <a:srgbClr val="F4ECE1"/>
                </a:solidFill>
                <a:latin typeface="Calibri" pitchFamily="34" charset="0"/>
                <a:ea typeface="Calibri" pitchFamily="34" charset="-122"/>
                <a:cs typeface="Calibri" pitchFamily="34" charset="-120"/>
              </a:rPr>
              <a:t>Total penyusutan aset — dasar penyisihan dana cadangan peremajaan mesin oleh penyewa</a:t>
            </a:r>
            <a:endParaRPr lang="en-US" sz="1100" dirty="0"/>
          </a:p>
        </p:txBody>
      </p:sp>
      <p:sp>
        <p:nvSpPr>
          <p:cNvPr id="5" name="Text 12"/>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SKEMA KERJA SAMA</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Pokok-Pokok Kesepakatan Kerja Sama</a:t>
            </a:r>
            <a:endParaRPr lang="en-US" sz="3000" dirty="0"/>
          </a:p>
        </p:txBody>
      </p:sp>
      <p:sp>
        <p:nvSpPr>
          <p:cNvPr id="4" name="Text 2"/>
          <p:cNvSpPr txBox="1"/>
          <p:nvPr/>
        </p:nvSpPr>
        <p:spPr>
          <a:xfrm>
            <a:off x="548640" y="1298448"/>
            <a:ext cx="11064240" cy="457200"/>
          </a:xfrm>
          <a:prstGeom prst="rect">
            <a:avLst/>
          </a:prstGeom>
          <a:noFill/>
          <a:ln/>
        </p:spPr>
        <p:txBody>
          <a:bodyPr wrap="square" lIns="0" tIns="0" rIns="0" bIns="0" rtlCol="0" anchor="ctr"/>
          <a:lstStyle/>
          <a:p>
            <a:pPr marL="0" indent="0">
              <a:lnSpc>
                <a:spcPct val="120000"/>
              </a:lnSpc>
              <a:buNone/>
            </a:pPr>
            <a:r>
              <a:rPr lang="en-US" sz="1250" dirty="0">
                <a:solidFill>
                  <a:srgbClr val="8A776A"/>
                </a:solidFill>
                <a:latin typeface="Calibri" pitchFamily="34" charset="0"/>
                <a:ea typeface="Calibri" pitchFamily="34" charset="-122"/>
                <a:cs typeface="Calibri" pitchFamily="34" charset="-120"/>
              </a:rPr>
              <a:t>Kerja sama diusulkan berjangka 5 tahun antara Pemkab Pesawaran sebagai pemilik aset dan PT Klumbayan Gold Farm sebagai penyewa/pengelola unit. Empat pokok berikut menjadi dasar kesepakatan.</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842247422"/>
              </p:ext>
            </p:extLst>
          </p:nvPr>
        </p:nvGraphicFramePr>
        <p:xfrm>
          <a:off x="548640" y="1828800"/>
          <a:ext cx="11091672" cy="2400300"/>
        </p:xfrm>
        <a:graphic>
          <a:graphicData uri="http://schemas.openxmlformats.org/drawingml/2006/table">
            <a:tbl>
              <a:tblPr/>
              <a:tblGrid>
                <a:gridCol w="2651760">
                  <a:extLst>
                    <a:ext uri="{9D8B030D-6E8A-4147-A177-3AD203B41FA5}">
                      <a16:colId xmlns:a16="http://schemas.microsoft.com/office/drawing/2014/main" val="20000"/>
                    </a:ext>
                  </a:extLst>
                </a:gridCol>
                <a:gridCol w="5495832">
                  <a:extLst>
                    <a:ext uri="{9D8B030D-6E8A-4147-A177-3AD203B41FA5}">
                      <a16:colId xmlns:a16="http://schemas.microsoft.com/office/drawing/2014/main" val="20001"/>
                    </a:ext>
                  </a:extLst>
                </a:gridCol>
                <a:gridCol w="2944080">
                  <a:extLst>
                    <a:ext uri="{9D8B030D-6E8A-4147-A177-3AD203B41FA5}">
                      <a16:colId xmlns:a16="http://schemas.microsoft.com/office/drawing/2014/main" val="20002"/>
                    </a:ext>
                  </a:extLst>
                </a:gridCol>
              </a:tblGrid>
              <a:tr h="41148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Pokok Kesepakatan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Isi Kesepakatan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Catatan / Nilai</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Jangka &amp; Skema</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Kerja sama 5 tahun. Tahun 1 pinjam pakai — seluruh biaya pengoperasian dibebankan ke penyewa. Tahun 2 s/d 5 imbal bagi hasil 5%.</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Rincian per tahap: slide berikut</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Pasokan Bahan Baku</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Penyewa membeli biji kakao dari petani Pesawaran. Tahap awal 50 kg/bln/petani × 25 petani champion, berkembang ke target 1.250 petani.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Memenuhi kebutuhan 1.250 kg/bulan</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41148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Harga Beli ke Petani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Biji kakao dibeli dari petani binaan dengan harga lebih tinggi dari harga basis yang ditetapkan pemerintah.</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Rp85.000/kg vs HPE ≈Rp79.000/kg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411480">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Pembinaan Petani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Pembinaan petani kakao Pesawaran dan seluruh biayanya menjadi tanggung jawab penyewa sepenuhnya.</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Rp7,5 jt/bulan, sudah masuk opex</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bl>
          </a:graphicData>
        </a:graphic>
      </p:graphicFrame>
      <p:sp>
        <p:nvSpPr>
          <p:cNvPr id="7" name="Shape 4"/>
          <p:cNvSpPr/>
          <p:nvPr/>
        </p:nvSpPr>
        <p:spPr>
          <a:xfrm>
            <a:off x="548640" y="4663440"/>
            <a:ext cx="11091672" cy="1005840"/>
          </a:xfrm>
          <a:prstGeom prst="roundRect">
            <a:avLst>
              <a:gd name="adj" fmla="val 5161"/>
            </a:avLst>
          </a:prstGeom>
          <a:solidFill>
            <a:srgbClr val="F4ECE1"/>
          </a:solidFill>
          <a:ln/>
        </p:spPr>
      </p:sp>
      <p:sp>
        <p:nvSpPr>
          <p:cNvPr id="8" name="Shape 5"/>
          <p:cNvSpPr/>
          <p:nvPr/>
        </p:nvSpPr>
        <p:spPr>
          <a:xfrm>
            <a:off x="749808" y="4956048"/>
            <a:ext cx="475488" cy="475488"/>
          </a:xfrm>
          <a:prstGeom prst="ellipse">
            <a:avLst/>
          </a:prstGeom>
          <a:solidFill>
            <a:srgbClr val="6D4C41"/>
          </a:solidFill>
          <a:ln/>
        </p:spPr>
      </p:sp>
      <p:pic>
        <p:nvPicPr>
          <p:cNvPr id="9" name="Image 0" descr="/home/claude/ballmill_pptx/icons/landmark_white.png"/>
          <p:cNvPicPr>
            <a:picLocks noChangeAspect="1"/>
          </p:cNvPicPr>
          <p:nvPr/>
        </p:nvPicPr>
        <p:blipFill>
          <a:blip r:embed="rId3"/>
          <a:stretch>
            <a:fillRect/>
          </a:stretch>
        </p:blipFill>
        <p:spPr>
          <a:xfrm>
            <a:off x="873435" y="5079675"/>
            <a:ext cx="228234" cy="228234"/>
          </a:xfrm>
          <a:prstGeom prst="rect">
            <a:avLst/>
          </a:prstGeom>
        </p:spPr>
      </p:pic>
      <p:sp>
        <p:nvSpPr>
          <p:cNvPr id="10" name="Text 6"/>
          <p:cNvSpPr txBox="1"/>
          <p:nvPr/>
        </p:nvSpPr>
        <p:spPr>
          <a:xfrm>
            <a:off x="1444752" y="4754880"/>
            <a:ext cx="9939528" cy="822960"/>
          </a:xfrm>
          <a:prstGeom prst="rect">
            <a:avLst/>
          </a:prstGeom>
          <a:noFill/>
          <a:ln/>
        </p:spPr>
        <p:txBody>
          <a:bodyPr wrap="square" lIns="0" tIns="0" rIns="0" bIns="0" rtlCol="0" anchor="ctr"/>
          <a:lstStyle/>
          <a:p>
            <a:pPr marL="0" indent="0">
              <a:lnSpc>
                <a:spcPct val="118000"/>
              </a:lnSpc>
              <a:buNone/>
            </a:pPr>
            <a:r>
              <a:rPr lang="en-US" sz="1200" dirty="0">
                <a:solidFill>
                  <a:srgbClr val="3E2723"/>
                </a:solidFill>
                <a:latin typeface="Calibri" pitchFamily="34" charset="0"/>
                <a:ea typeface="Calibri" pitchFamily="34" charset="-122"/>
                <a:cs typeface="Calibri" pitchFamily="34" charset="-120"/>
              </a:rPr>
              <a:t>Mesin adalah Barang Milik Daerah (BMD) Pemkab Pesawaran, sehingga bentuk hukum perjanjian — pinjam pakai di Tahun 1 dan kerja sama pemanfaatan di Tahun 2 dst. — perlu dikonsultasikan dan difinalkan bersama BPKAD Pemkab Pesawaran.</a:t>
            </a:r>
            <a:endParaRPr lang="en-US" sz="1200" dirty="0"/>
          </a:p>
        </p:txBody>
      </p:sp>
      <p:sp>
        <p:nvSpPr>
          <p:cNvPr id="12" name="Text 8"/>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SKEMA KERJA SAMA</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Skema Kerja Sama 5 Tahun</a:t>
            </a:r>
            <a:endParaRPr lang="en-US" sz="3000" dirty="0"/>
          </a:p>
        </p:txBody>
      </p:sp>
      <p:sp>
        <p:nvSpPr>
          <p:cNvPr id="4" name="Shape 2"/>
          <p:cNvSpPr/>
          <p:nvPr/>
        </p:nvSpPr>
        <p:spPr>
          <a:xfrm>
            <a:off x="548640" y="1783080"/>
            <a:ext cx="5349240" cy="3520440"/>
          </a:xfrm>
          <a:prstGeom prst="roundRect">
            <a:avLst>
              <a:gd name="adj" fmla="val 2597"/>
            </a:avLst>
          </a:prstGeom>
          <a:solidFill>
            <a:srgbClr val="FBEFE0"/>
          </a:solidFill>
          <a:ln w="15875">
            <a:solidFill>
              <a:srgbClr val="D97B29"/>
            </a:solidFill>
            <a:prstDash val="solid"/>
          </a:ln>
        </p:spPr>
      </p:sp>
      <p:sp>
        <p:nvSpPr>
          <p:cNvPr id="5" name="Shape 3"/>
          <p:cNvSpPr/>
          <p:nvPr/>
        </p:nvSpPr>
        <p:spPr>
          <a:xfrm>
            <a:off x="822960" y="2039112"/>
            <a:ext cx="502920" cy="502920"/>
          </a:xfrm>
          <a:prstGeom prst="ellipse">
            <a:avLst/>
          </a:prstGeom>
          <a:solidFill>
            <a:srgbClr val="D97B29"/>
          </a:solidFill>
          <a:ln/>
        </p:spPr>
      </p:sp>
      <p:pic>
        <p:nvPicPr>
          <p:cNvPr id="6" name="Image 0" descr="/home/claude/ballmill_pptx/icons/route_white.png"/>
          <p:cNvPicPr>
            <a:picLocks noChangeAspect="1"/>
          </p:cNvPicPr>
          <p:nvPr/>
        </p:nvPicPr>
        <p:blipFill>
          <a:blip r:embed="rId3"/>
          <a:stretch>
            <a:fillRect/>
          </a:stretch>
        </p:blipFill>
        <p:spPr>
          <a:xfrm>
            <a:off x="953719" y="2169871"/>
            <a:ext cx="241402" cy="241402"/>
          </a:xfrm>
          <a:prstGeom prst="rect">
            <a:avLst/>
          </a:prstGeom>
        </p:spPr>
      </p:pic>
      <p:sp>
        <p:nvSpPr>
          <p:cNvPr id="7" name="Text 4"/>
          <p:cNvSpPr txBox="1"/>
          <p:nvPr/>
        </p:nvSpPr>
        <p:spPr>
          <a:xfrm>
            <a:off x="1508760" y="2057400"/>
            <a:ext cx="4434840" cy="274320"/>
          </a:xfrm>
          <a:prstGeom prst="rect">
            <a:avLst/>
          </a:prstGeom>
          <a:noFill/>
          <a:ln/>
        </p:spPr>
        <p:txBody>
          <a:bodyPr wrap="square" lIns="0" tIns="0" rIns="0" bIns="0" rtlCol="0" anchor="ctr"/>
          <a:lstStyle/>
          <a:p>
            <a:pPr marL="0" indent="0">
              <a:buNone/>
            </a:pPr>
            <a:r>
              <a:rPr lang="en-US" sz="1250" b="1" kern="0" spc="80" dirty="0">
                <a:solidFill>
                  <a:srgbClr val="D97B29"/>
                </a:solidFill>
                <a:latin typeface="Calibri" pitchFamily="34" charset="0"/>
                <a:ea typeface="Calibri" pitchFamily="34" charset="-122"/>
                <a:cs typeface="Calibri" pitchFamily="34" charset="-120"/>
              </a:rPr>
              <a:t>TAHAP 1 — TAHUN 1</a:t>
            </a:r>
            <a:endParaRPr lang="en-US" sz="1250" dirty="0"/>
          </a:p>
        </p:txBody>
      </p:sp>
      <p:sp>
        <p:nvSpPr>
          <p:cNvPr id="8" name="Text 5"/>
          <p:cNvSpPr txBox="1"/>
          <p:nvPr/>
        </p:nvSpPr>
        <p:spPr>
          <a:xfrm>
            <a:off x="822960" y="2651760"/>
            <a:ext cx="4800600" cy="365760"/>
          </a:xfrm>
          <a:prstGeom prst="rect">
            <a:avLst/>
          </a:prstGeom>
          <a:noFill/>
          <a:ln/>
        </p:spPr>
        <p:txBody>
          <a:bodyPr wrap="square" lIns="0" tIns="0" rIns="0" bIns="0" rtlCol="0" anchor="ctr"/>
          <a:lstStyle/>
          <a:p>
            <a:pPr marL="0" indent="0">
              <a:buNone/>
            </a:pPr>
            <a:r>
              <a:rPr lang="en-US" sz="1900" b="1" dirty="0">
                <a:solidFill>
                  <a:srgbClr val="3E2723"/>
                </a:solidFill>
                <a:latin typeface="Cambria" pitchFamily="34" charset="0"/>
                <a:ea typeface="Cambria" pitchFamily="34" charset="-122"/>
                <a:cs typeface="Cambria" pitchFamily="34" charset="-120"/>
              </a:rPr>
              <a:t>Pinjam Pakai</a:t>
            </a:r>
            <a:endParaRPr lang="en-US" sz="1900" dirty="0"/>
          </a:p>
        </p:txBody>
      </p:sp>
      <p:sp>
        <p:nvSpPr>
          <p:cNvPr id="9" name="Text 6"/>
          <p:cNvSpPr txBox="1"/>
          <p:nvPr/>
        </p:nvSpPr>
        <p:spPr>
          <a:xfrm>
            <a:off x="822960" y="3108960"/>
            <a:ext cx="4800600" cy="2011680"/>
          </a:xfrm>
          <a:prstGeom prst="rect">
            <a:avLst/>
          </a:prstGeom>
          <a:noFill/>
          <a:ln/>
        </p:spPr>
        <p:txBody>
          <a:bodyPr wrap="square" lIns="0" tIns="0" rIns="0" bIns="0" rtlCol="0" anchor="ctr"/>
          <a:lstStyle/>
          <a:p>
            <a:pPr marL="0" indent="0">
              <a:lnSpc>
                <a:spcPct val="125000"/>
              </a:lnSpc>
              <a:buNone/>
            </a:pPr>
            <a:r>
              <a:rPr lang="en-US" sz="1200" dirty="0">
                <a:solidFill>
                  <a:srgbClr val="3E2723"/>
                </a:solidFill>
                <a:latin typeface="Calibri" pitchFamily="34" charset="0"/>
                <a:ea typeface="Calibri" pitchFamily="34" charset="-122"/>
                <a:cs typeface="Calibri" pitchFamily="34" charset="-120"/>
              </a:rPr>
              <a:t>Seluruh biaya pengoperasian unit — tenaga kerja, listrik, pemeliharaan mesin, kemasan, distribusi, dan pembinaan petani — dibebankan sepenuhnya kepada penyewa.</a:t>
            </a:r>
            <a:endParaRPr lang="en-US" sz="1200" dirty="0"/>
          </a:p>
          <a:p>
            <a:pPr marL="0" indent="0">
              <a:lnSpc>
                <a:spcPct val="125000"/>
              </a:lnSpc>
              <a:buNone/>
            </a:pPr>
            <a:endParaRPr lang="en-US" sz="1200" dirty="0"/>
          </a:p>
          <a:p>
            <a:pPr marL="0" indent="0">
              <a:lnSpc>
                <a:spcPct val="125000"/>
              </a:lnSpc>
              <a:buNone/>
            </a:pPr>
            <a:r>
              <a:rPr lang="en-US" sz="1200" dirty="0">
                <a:solidFill>
                  <a:srgbClr val="3E2723"/>
                </a:solidFill>
                <a:latin typeface="Calibri" pitchFamily="34" charset="0"/>
                <a:ea typeface="Calibri" pitchFamily="34" charset="-122"/>
                <a:cs typeface="Calibri" pitchFamily="34" charset="-120"/>
              </a:rPr>
              <a:t>Tidak ada kontribusi tunai maupun bagi hasil ke Pemkab Pesawaran selama tahun pertama. Unit fokus mencapai stabilitas 100% kapasitas dan margin sehat.</a:t>
            </a:r>
            <a:endParaRPr lang="en-US" sz="1200" dirty="0"/>
          </a:p>
        </p:txBody>
      </p:sp>
      <p:sp>
        <p:nvSpPr>
          <p:cNvPr id="10" name="Shape 7"/>
          <p:cNvSpPr/>
          <p:nvPr/>
        </p:nvSpPr>
        <p:spPr>
          <a:xfrm>
            <a:off x="6263640" y="1783080"/>
            <a:ext cx="5349240" cy="3520440"/>
          </a:xfrm>
          <a:prstGeom prst="roundRect">
            <a:avLst>
              <a:gd name="adj" fmla="val 2597"/>
            </a:avLst>
          </a:prstGeom>
          <a:solidFill>
            <a:srgbClr val="3E2723"/>
          </a:solidFill>
          <a:ln/>
        </p:spPr>
      </p:sp>
      <p:sp>
        <p:nvSpPr>
          <p:cNvPr id="11" name="Shape 8"/>
          <p:cNvSpPr/>
          <p:nvPr/>
        </p:nvSpPr>
        <p:spPr>
          <a:xfrm>
            <a:off x="6537960" y="2039112"/>
            <a:ext cx="502920" cy="502920"/>
          </a:xfrm>
          <a:prstGeom prst="ellipse">
            <a:avLst/>
          </a:prstGeom>
          <a:solidFill>
            <a:srgbClr val="C8A165"/>
          </a:solidFill>
          <a:ln/>
        </p:spPr>
      </p:sp>
      <p:pic>
        <p:nvPicPr>
          <p:cNvPr id="12" name="Image 1" descr="/home/claude/ballmill_pptx/icons/exchange_white.png"/>
          <p:cNvPicPr>
            <a:picLocks noChangeAspect="1"/>
          </p:cNvPicPr>
          <p:nvPr/>
        </p:nvPicPr>
        <p:blipFill>
          <a:blip r:embed="rId4"/>
          <a:stretch>
            <a:fillRect/>
          </a:stretch>
        </p:blipFill>
        <p:spPr>
          <a:xfrm>
            <a:off x="6668719" y="2169871"/>
            <a:ext cx="241402" cy="241402"/>
          </a:xfrm>
          <a:prstGeom prst="rect">
            <a:avLst/>
          </a:prstGeom>
        </p:spPr>
      </p:pic>
      <p:sp>
        <p:nvSpPr>
          <p:cNvPr id="13" name="Text 9"/>
          <p:cNvSpPr txBox="1"/>
          <p:nvPr/>
        </p:nvSpPr>
        <p:spPr>
          <a:xfrm>
            <a:off x="7223760" y="2057400"/>
            <a:ext cx="4160520" cy="274320"/>
          </a:xfrm>
          <a:prstGeom prst="rect">
            <a:avLst/>
          </a:prstGeom>
          <a:noFill/>
          <a:ln/>
        </p:spPr>
        <p:txBody>
          <a:bodyPr wrap="square" lIns="0" tIns="0" rIns="0" bIns="0" rtlCol="0" anchor="ctr"/>
          <a:lstStyle/>
          <a:p>
            <a:pPr marL="0" indent="0">
              <a:buNone/>
            </a:pPr>
            <a:r>
              <a:rPr lang="en-US" sz="1250" b="1" kern="0" spc="80" dirty="0">
                <a:solidFill>
                  <a:srgbClr val="C8A165"/>
                </a:solidFill>
                <a:latin typeface="Calibri" pitchFamily="34" charset="0"/>
                <a:ea typeface="Calibri" pitchFamily="34" charset="-122"/>
                <a:cs typeface="Calibri" pitchFamily="34" charset="-120"/>
              </a:rPr>
              <a:t>TAHAP 2 — TAHUN 2 S/D 5</a:t>
            </a:r>
            <a:endParaRPr lang="en-US" sz="1250" dirty="0"/>
          </a:p>
        </p:txBody>
      </p:sp>
      <p:sp>
        <p:nvSpPr>
          <p:cNvPr id="14" name="Text 10"/>
          <p:cNvSpPr txBox="1"/>
          <p:nvPr/>
        </p:nvSpPr>
        <p:spPr>
          <a:xfrm>
            <a:off x="6537960" y="2651760"/>
            <a:ext cx="4800600" cy="594360"/>
          </a:xfrm>
          <a:prstGeom prst="rect">
            <a:avLst/>
          </a:prstGeom>
          <a:noFill/>
          <a:ln/>
        </p:spPr>
        <p:txBody>
          <a:bodyPr wrap="square" lIns="0" tIns="0" rIns="0" bIns="0" rtlCol="0" anchor="ctr"/>
          <a:lstStyle/>
          <a:p>
            <a:pPr marL="0" indent="0">
              <a:lnSpc>
                <a:spcPct val="105000"/>
              </a:lnSpc>
              <a:buNone/>
            </a:pPr>
            <a:r>
              <a:rPr lang="en-US" sz="1900" b="1" dirty="0">
                <a:solidFill>
                  <a:srgbClr val="FFFFFF"/>
                </a:solidFill>
                <a:latin typeface="Cambria" pitchFamily="34" charset="0"/>
                <a:ea typeface="Cambria" pitchFamily="34" charset="-122"/>
                <a:cs typeface="Cambria" pitchFamily="34" charset="-120"/>
              </a:rPr>
              <a:t>Imbal Bagi Hasil 5%</a:t>
            </a:r>
            <a:endParaRPr lang="en-US" sz="1900" dirty="0"/>
          </a:p>
        </p:txBody>
      </p:sp>
      <p:sp>
        <p:nvSpPr>
          <p:cNvPr id="15" name="Text 11"/>
          <p:cNvSpPr txBox="1"/>
          <p:nvPr/>
        </p:nvSpPr>
        <p:spPr>
          <a:xfrm>
            <a:off x="6537960" y="3383280"/>
            <a:ext cx="4800600" cy="1737360"/>
          </a:xfrm>
          <a:prstGeom prst="rect">
            <a:avLst/>
          </a:prstGeom>
          <a:noFill/>
          <a:ln/>
        </p:spPr>
        <p:txBody>
          <a:bodyPr wrap="square" lIns="0" tIns="0" rIns="0" bIns="0" rtlCol="0" anchor="ctr"/>
          <a:lstStyle/>
          <a:p>
            <a:pPr marL="0" indent="0">
              <a:lnSpc>
                <a:spcPct val="125000"/>
              </a:lnSpc>
              <a:buNone/>
            </a:pPr>
            <a:r>
              <a:rPr lang="en-US" sz="1200" dirty="0">
                <a:solidFill>
                  <a:srgbClr val="F4ECE1"/>
                </a:solidFill>
                <a:latin typeface="Calibri" pitchFamily="34" charset="0"/>
                <a:ea typeface="Calibri" pitchFamily="34" charset="-122"/>
                <a:cs typeface="Calibri" pitchFamily="34" charset="-120"/>
              </a:rPr>
              <a:t>Penyewa membayar imbal bagi hasil senilai 5% dari target net keuntungan penjualan produk olahan hasil mesin, dibayarkan tahunan ke Pemkab Pesawaran.</a:t>
            </a:r>
            <a:endParaRPr lang="en-US" sz="1200" dirty="0"/>
          </a:p>
          <a:p>
            <a:pPr marL="0" indent="0">
              <a:lnSpc>
                <a:spcPct val="125000"/>
              </a:lnSpc>
              <a:buNone/>
            </a:pPr>
            <a:endParaRPr lang="en-US" sz="1200" dirty="0"/>
          </a:p>
          <a:p>
            <a:pPr marL="0" indent="0">
              <a:lnSpc>
                <a:spcPct val="125000"/>
              </a:lnSpc>
              <a:buNone/>
            </a:pPr>
            <a:r>
              <a:rPr lang="en-US" sz="1200" dirty="0">
                <a:solidFill>
                  <a:srgbClr val="F4ECE1"/>
                </a:solidFill>
                <a:latin typeface="Calibri" pitchFamily="34" charset="0"/>
                <a:ea typeface="Calibri" pitchFamily="34" charset="-122"/>
                <a:cs typeface="Calibri" pitchFamily="34" charset="-120"/>
              </a:rPr>
              <a:t>Tanpa kontribusi tetap tahunan terpisah. Seluruh biaya pengoperasian tetap menjadi beban penyewa. Pada skenario dasar, 5% ≈ Rp9,5 juta/tahun.</a:t>
            </a:r>
            <a:endParaRPr lang="en-US" sz="1200" dirty="0"/>
          </a:p>
        </p:txBody>
      </p:sp>
      <p:sp>
        <p:nvSpPr>
          <p:cNvPr id="16" name="Shape 12"/>
          <p:cNvSpPr/>
          <p:nvPr/>
        </p:nvSpPr>
        <p:spPr>
          <a:xfrm>
            <a:off x="548640" y="5486400"/>
            <a:ext cx="11091672" cy="685800"/>
          </a:xfrm>
          <a:prstGeom prst="roundRect">
            <a:avLst>
              <a:gd name="adj" fmla="val 10667"/>
            </a:avLst>
          </a:prstGeom>
          <a:solidFill>
            <a:srgbClr val="F4ECE1"/>
          </a:solidFill>
          <a:ln/>
        </p:spPr>
      </p:sp>
      <p:sp>
        <p:nvSpPr>
          <p:cNvPr id="17" name="Shape 13"/>
          <p:cNvSpPr/>
          <p:nvPr/>
        </p:nvSpPr>
        <p:spPr>
          <a:xfrm>
            <a:off x="749808" y="5591556"/>
            <a:ext cx="475488" cy="475488"/>
          </a:xfrm>
          <a:prstGeom prst="ellipse">
            <a:avLst/>
          </a:prstGeom>
          <a:solidFill>
            <a:srgbClr val="6D4C41"/>
          </a:solidFill>
          <a:ln/>
        </p:spPr>
      </p:sp>
      <p:pic>
        <p:nvPicPr>
          <p:cNvPr id="18" name="Image 2" descr="/home/claude/ballmill_pptx/icons/handshake_white.png"/>
          <p:cNvPicPr>
            <a:picLocks noChangeAspect="1"/>
          </p:cNvPicPr>
          <p:nvPr/>
        </p:nvPicPr>
        <p:blipFill>
          <a:blip r:embed="rId5"/>
          <a:stretch>
            <a:fillRect/>
          </a:stretch>
        </p:blipFill>
        <p:spPr>
          <a:xfrm>
            <a:off x="873435" y="5715183"/>
            <a:ext cx="228234" cy="228234"/>
          </a:xfrm>
          <a:prstGeom prst="rect">
            <a:avLst/>
          </a:prstGeom>
        </p:spPr>
      </p:pic>
      <p:sp>
        <p:nvSpPr>
          <p:cNvPr id="19" name="Text 14"/>
          <p:cNvSpPr txBox="1"/>
          <p:nvPr/>
        </p:nvSpPr>
        <p:spPr>
          <a:xfrm>
            <a:off x="1444752" y="5596128"/>
            <a:ext cx="9939528" cy="466344"/>
          </a:xfrm>
          <a:prstGeom prst="rect">
            <a:avLst/>
          </a:prstGeom>
          <a:noFill/>
          <a:ln/>
        </p:spPr>
        <p:txBody>
          <a:bodyPr wrap="square" lIns="0" tIns="0" rIns="0" bIns="0" rtlCol="0" anchor="ctr"/>
          <a:lstStyle/>
          <a:p>
            <a:pPr marL="0" indent="0">
              <a:lnSpc>
                <a:spcPct val="118000"/>
              </a:lnSpc>
              <a:buNone/>
            </a:pPr>
            <a:r>
              <a:rPr lang="en-US" sz="1150" dirty="0">
                <a:solidFill>
                  <a:srgbClr val="3E2723"/>
                </a:solidFill>
                <a:latin typeface="Calibri" pitchFamily="34" charset="0"/>
                <a:ea typeface="Calibri" pitchFamily="34" charset="-122"/>
                <a:cs typeface="Calibri" pitchFamily="34" charset="-120"/>
              </a:rPr>
              <a:t>Jangka waktu 5 tahun, dapat diperpanjang, dengan evaluasi kinerja tahunan. Kewajiban penyewa di kedua tahap: pemeliharaan rutin mesin, pelaporan berkala ke Pemkab, dan penyisihan dana cadangan peremajaan aset (≈Rp4,69 juta/bulan).</a:t>
            </a:r>
            <a:endParaRPr lang="en-US" sz="1150" dirty="0"/>
          </a:p>
        </p:txBody>
      </p:sp>
      <p:sp>
        <p:nvSpPr>
          <p:cNvPr id="20" name="Text 15"/>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RENCANA INVESTASI</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Arus Kas Ramp-Up dan Titik Impas Operasional</a:t>
            </a:r>
            <a:endParaRPr lang="en-US" sz="3000" dirty="0"/>
          </a:p>
        </p:txBody>
      </p:sp>
      <p:sp>
        <p:nvSpPr>
          <p:cNvPr id="4" name="Text 2"/>
          <p:cNvSpPr txBox="1"/>
          <p:nvPr/>
        </p:nvSpPr>
        <p:spPr>
          <a:xfrm>
            <a:off x="548640" y="1298448"/>
            <a:ext cx="11064240" cy="594360"/>
          </a:xfrm>
          <a:prstGeom prst="rect">
            <a:avLst/>
          </a:prstGeom>
          <a:noFill/>
          <a:ln/>
        </p:spPr>
        <p:txBody>
          <a:bodyPr wrap="square" lIns="0" tIns="0" rIns="0" bIns="0" rtlCol="0" anchor="ctr"/>
          <a:lstStyle/>
          <a:p>
            <a:pPr marL="0" indent="0">
              <a:lnSpc>
                <a:spcPct val="120000"/>
              </a:lnSpc>
              <a:buNone/>
            </a:pPr>
            <a:r>
              <a:rPr lang="en-US" sz="1250" dirty="0">
                <a:solidFill>
                  <a:srgbClr val="8A776A"/>
                </a:solidFill>
                <a:latin typeface="Calibri" pitchFamily="34" charset="0"/>
                <a:ea typeface="Calibri" pitchFamily="34" charset="-122"/>
                <a:cs typeface="Calibri" pitchFamily="34" charset="-120"/>
              </a:rPr>
              <a:t>Selama masa ramp-up, biaya operasional (Rp34.127.500/bulan, termasuk penyusutan aset) tetap dibayar penuh meski volume produksi belum mencapai target — sehingga bulan 1–3 mengalami defisit sebelum arus kas operasional berbalik positif.</a:t>
            </a:r>
            <a:endParaRPr lang="en-US" sz="1250" dirty="0"/>
          </a:p>
        </p:txBody>
      </p:sp>
      <p:graphicFrame>
        <p:nvGraphicFramePr>
          <p:cNvPr id="5" name="Chart 0"/>
          <p:cNvGraphicFramePr/>
          <p:nvPr/>
        </p:nvGraphicFramePr>
        <p:xfrm>
          <a:off x="548640" y="2057400"/>
          <a:ext cx="69494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35240" y="2057400"/>
            <a:ext cx="4005072" cy="1965960"/>
          </a:xfrm>
          <a:prstGeom prst="roundRect">
            <a:avLst>
              <a:gd name="adj" fmla="val 4186"/>
            </a:avLst>
          </a:prstGeom>
          <a:solidFill>
            <a:srgbClr val="F4ECE1"/>
          </a:solidFill>
          <a:ln/>
          <a:effectLst>
            <a:outerShdw blurRad="76200" dist="25400" dir="5400000" algn="bl" rotWithShape="0">
              <a:srgbClr val="9C8E80">
                <a:alpha val="18000"/>
              </a:srgbClr>
            </a:outerShdw>
          </a:effectLst>
        </p:spPr>
      </p:sp>
      <p:sp>
        <p:nvSpPr>
          <p:cNvPr id="7" name="Shape 4"/>
          <p:cNvSpPr/>
          <p:nvPr/>
        </p:nvSpPr>
        <p:spPr>
          <a:xfrm>
            <a:off x="7854696" y="2276856"/>
            <a:ext cx="566928" cy="566928"/>
          </a:xfrm>
          <a:prstGeom prst="ellipse">
            <a:avLst/>
          </a:prstGeom>
          <a:solidFill>
            <a:srgbClr val="D97B29"/>
          </a:solidFill>
          <a:ln/>
        </p:spPr>
      </p:sp>
      <p:pic>
        <p:nvPicPr>
          <p:cNvPr id="8" name="Image 0" descr="/home/claude/ballmill_pptx/icons/balance_white.png"/>
          <p:cNvPicPr>
            <a:picLocks noChangeAspect="1"/>
          </p:cNvPicPr>
          <p:nvPr/>
        </p:nvPicPr>
        <p:blipFill>
          <a:blip r:embed="rId4"/>
          <a:stretch>
            <a:fillRect/>
          </a:stretch>
        </p:blipFill>
        <p:spPr>
          <a:xfrm>
            <a:off x="8002097" y="2424257"/>
            <a:ext cx="272125" cy="272125"/>
          </a:xfrm>
          <a:prstGeom prst="rect">
            <a:avLst/>
          </a:prstGeom>
        </p:spPr>
      </p:pic>
      <p:sp>
        <p:nvSpPr>
          <p:cNvPr id="9" name="Text 5"/>
          <p:cNvSpPr txBox="1"/>
          <p:nvPr/>
        </p:nvSpPr>
        <p:spPr>
          <a:xfrm>
            <a:off x="7854696" y="2916936"/>
            <a:ext cx="3566160"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Bulan ke-4</a:t>
            </a:r>
            <a:endParaRPr lang="en-US" sz="2200" dirty="0"/>
          </a:p>
        </p:txBody>
      </p:sp>
      <p:sp>
        <p:nvSpPr>
          <p:cNvPr id="10" name="Text 6"/>
          <p:cNvSpPr txBox="1"/>
          <p:nvPr/>
        </p:nvSpPr>
        <p:spPr>
          <a:xfrm>
            <a:off x="7854696" y="3374136"/>
            <a:ext cx="3566160" cy="53949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Titik impas (breakeven) operasional bulanan tercapai — laba bersih mulai positif</a:t>
            </a:r>
            <a:endParaRPr lang="en-US" sz="1150" dirty="0"/>
          </a:p>
        </p:txBody>
      </p:sp>
      <p:sp>
        <p:nvSpPr>
          <p:cNvPr id="11" name="Shape 7"/>
          <p:cNvSpPr/>
          <p:nvPr/>
        </p:nvSpPr>
        <p:spPr>
          <a:xfrm>
            <a:off x="7635240" y="4160520"/>
            <a:ext cx="4005072" cy="1965960"/>
          </a:xfrm>
          <a:prstGeom prst="roundRect">
            <a:avLst>
              <a:gd name="adj" fmla="val 4186"/>
            </a:avLst>
          </a:prstGeom>
          <a:solidFill>
            <a:srgbClr val="F4ECE1"/>
          </a:solidFill>
          <a:ln/>
          <a:effectLst>
            <a:outerShdw blurRad="76200" dist="25400" dir="5400000" algn="bl" rotWithShape="0">
              <a:srgbClr val="9C8E80">
                <a:alpha val="18000"/>
              </a:srgbClr>
            </a:outerShdw>
          </a:effectLst>
        </p:spPr>
      </p:sp>
      <p:sp>
        <p:nvSpPr>
          <p:cNvPr id="12" name="Shape 8"/>
          <p:cNvSpPr/>
          <p:nvPr/>
        </p:nvSpPr>
        <p:spPr>
          <a:xfrm>
            <a:off x="7854696" y="4379976"/>
            <a:ext cx="566928" cy="566928"/>
          </a:xfrm>
          <a:prstGeom prst="ellipse">
            <a:avLst/>
          </a:prstGeom>
          <a:solidFill>
            <a:srgbClr val="B23A2E"/>
          </a:solidFill>
          <a:ln/>
        </p:spPr>
      </p:sp>
      <p:pic>
        <p:nvPicPr>
          <p:cNvPr id="13" name="Image 1" descr="/home/claude/ballmill_pptx/icons/shield_white.png"/>
          <p:cNvPicPr>
            <a:picLocks noChangeAspect="1"/>
          </p:cNvPicPr>
          <p:nvPr/>
        </p:nvPicPr>
        <p:blipFill>
          <a:blip r:embed="rId5"/>
          <a:stretch>
            <a:fillRect/>
          </a:stretch>
        </p:blipFill>
        <p:spPr>
          <a:xfrm>
            <a:off x="8002097" y="4527377"/>
            <a:ext cx="272125" cy="272125"/>
          </a:xfrm>
          <a:prstGeom prst="rect">
            <a:avLst/>
          </a:prstGeom>
        </p:spPr>
      </p:pic>
      <p:sp>
        <p:nvSpPr>
          <p:cNvPr id="14" name="Text 9"/>
          <p:cNvSpPr txBox="1"/>
          <p:nvPr/>
        </p:nvSpPr>
        <p:spPr>
          <a:xfrm>
            <a:off x="7854696" y="5020056"/>
            <a:ext cx="3566160" cy="457200"/>
          </a:xfrm>
          <a:prstGeom prst="rect">
            <a:avLst/>
          </a:prstGeom>
          <a:noFill/>
          <a:ln/>
        </p:spPr>
        <p:txBody>
          <a:bodyPr wrap="square" lIns="0" tIns="0" rIns="0" bIns="0" rtlCol="0" anchor="ctr"/>
          <a:lstStyle/>
          <a:p>
            <a:pPr marL="0" indent="0">
              <a:buNone/>
            </a:pPr>
            <a:r>
              <a:rPr lang="en-US" sz="2200" b="1" dirty="0">
                <a:solidFill>
                  <a:srgbClr val="3E2723"/>
                </a:solidFill>
                <a:latin typeface="Cambria" pitchFamily="34" charset="0"/>
                <a:ea typeface="Cambria" pitchFamily="34" charset="-122"/>
                <a:cs typeface="Cambria" pitchFamily="34" charset="-120"/>
              </a:rPr>
              <a:t>≈ Rp22,4 jt</a:t>
            </a:r>
            <a:endParaRPr lang="en-US" sz="2200" dirty="0"/>
          </a:p>
        </p:txBody>
      </p:sp>
      <p:sp>
        <p:nvSpPr>
          <p:cNvPr id="15" name="Text 10"/>
          <p:cNvSpPr txBox="1"/>
          <p:nvPr/>
        </p:nvSpPr>
        <p:spPr>
          <a:xfrm>
            <a:off x="7854696" y="5477256"/>
            <a:ext cx="3566160" cy="539496"/>
          </a:xfrm>
          <a:prstGeom prst="rect">
            <a:avLst/>
          </a:prstGeom>
          <a:noFill/>
          <a:ln/>
        </p:spPr>
        <p:txBody>
          <a:bodyPr wrap="square" lIns="0" tIns="0" rIns="0" bIns="0" rtlCol="0" anchor="t"/>
          <a:lstStyle/>
          <a:p>
            <a:pPr marL="0" indent="0">
              <a:buNone/>
            </a:pPr>
            <a:r>
              <a:rPr lang="en-US" sz="1150" dirty="0">
                <a:solidFill>
                  <a:srgbClr val="8A776A"/>
                </a:solidFill>
                <a:latin typeface="Calibri" pitchFamily="34" charset="0"/>
                <a:ea typeface="Calibri" pitchFamily="34" charset="-122"/>
                <a:cs typeface="Calibri" pitchFamily="34" charset="-120"/>
              </a:rPr>
              <a:t>Defisit kumulatif maksimum, terjadi di akhir bulan ke-3 — dasar perhitungan modal kerja talangan</a:t>
            </a:r>
            <a:endParaRPr lang="en-US" sz="1150" dirty="0"/>
          </a:p>
        </p:txBody>
      </p:sp>
      <p:sp>
        <p:nvSpPr>
          <p:cNvPr id="16" name="Text 11"/>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D97B29"/>
                </a:solidFill>
                <a:latin typeface="Calibri" pitchFamily="34" charset="0"/>
                <a:ea typeface="Calibri" pitchFamily="34" charset="-122"/>
                <a:cs typeface="Calibri" pitchFamily="34" charset="-120"/>
              </a:rPr>
              <a:t>RENCANA INVESTASI</a:t>
            </a:r>
            <a:endParaRPr lang="en-US" sz="1200" dirty="0"/>
          </a:p>
        </p:txBody>
      </p:sp>
      <p:sp>
        <p:nvSpPr>
          <p:cNvPr id="3" name="Text 1"/>
          <p:cNvSpPr txBox="1"/>
          <p:nvPr/>
        </p:nvSpPr>
        <p:spPr>
          <a:xfrm>
            <a:off x="548640" y="658368"/>
            <a:ext cx="9601200" cy="640080"/>
          </a:xfrm>
          <a:prstGeom prst="rect">
            <a:avLst/>
          </a:prstGeom>
          <a:noFill/>
          <a:ln/>
        </p:spPr>
        <p:txBody>
          <a:bodyPr wrap="square" lIns="0" tIns="0" rIns="0" bIns="0" rtlCol="0" anchor="ctr"/>
          <a:lstStyle/>
          <a:p>
            <a:pPr marL="0" indent="0">
              <a:lnSpc>
                <a:spcPct val="108000"/>
              </a:lnSpc>
              <a:buNone/>
            </a:pPr>
            <a:r>
              <a:rPr lang="en-US" sz="3000" b="1" dirty="0">
                <a:solidFill>
                  <a:srgbClr val="3E2723"/>
                </a:solidFill>
                <a:latin typeface="Cambria" pitchFamily="34" charset="0"/>
                <a:ea typeface="Cambria" pitchFamily="34" charset="-122"/>
                <a:cs typeface="Cambria" pitchFamily="34" charset="-120"/>
              </a:rPr>
              <a:t>Total Kebutuhan Dana Awal dan Estimasi Payback</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2331720"/>
        </p:xfrm>
        <a:graphic>
          <a:graphicData uri="http://schemas.openxmlformats.org/drawingml/2006/table">
            <a:tbl>
              <a:tblPr/>
              <a:tblGrid>
                <a:gridCol w="7891272">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33103">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Komponen Pendanaan</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Nilai</a:t>
                      </a:r>
                      <a:endParaRPr lang="en-US" sz="125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3E2723"/>
                    </a:solidFill>
                  </a:tcPr>
                </a:tc>
                <a:extLst>
                  <a:ext uri="{0D108BD9-81ED-4DB2-BD59-A6C34878D82A}">
                    <a16:rowId xmlns:a16="http://schemas.microsoft.com/office/drawing/2014/main" val="10000"/>
                  </a:ext>
                </a:extLst>
              </a:tr>
              <a:tr h="333103">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Peralatan pendukung (timbangan, wadah, APD)</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Rp15.000.000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3103">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Kemasan awal &amp; branding</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Rp10.000.000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2"/>
                  </a:ext>
                </a:extLst>
              </a:tr>
              <a:tr h="333103">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Pelatihan operator &amp; sertifikasi (higiene/halal)</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Rp15.000.000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3103">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Penyesuaian instalasi listrik &amp; tata letak produksi</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Rp15.000.000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4ECE1"/>
                    </a:solidFill>
                  </a:tcPr>
                </a:tc>
                <a:extLst>
                  <a:ext uri="{0D108BD9-81ED-4DB2-BD59-A6C34878D82A}">
                    <a16:rowId xmlns:a16="http://schemas.microsoft.com/office/drawing/2014/main" val="10004"/>
                  </a:ext>
                </a:extLst>
              </a:tr>
              <a:tr h="333103">
                <a:tc>
                  <a:txBody>
                    <a:bodyPr/>
                    <a:lstStyle/>
                    <a:p>
                      <a:pPr marL="0" indent="0" algn="l">
                        <a:buNone/>
                      </a:pPr>
                      <a:r>
                        <a:rPr lang="en-US" sz="1200" dirty="0">
                          <a:solidFill>
                            <a:srgbClr val="3E2723"/>
                          </a:solidFill>
                          <a:latin typeface="Calibri" pitchFamily="34" charset="0"/>
                          <a:ea typeface="Calibri" pitchFamily="34" charset="-122"/>
                          <a:cs typeface="Calibri" pitchFamily="34" charset="-120"/>
                        </a:rPr>
                        <a:t>Modal kerja talangan ramp-up (bulan 1–3 + buffer)</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tc>
                  <a:txBody>
                    <a:bodyPr/>
                    <a:lstStyle/>
                    <a:p>
                      <a:pPr marL="0" indent="0" algn="r">
                        <a:buNone/>
                      </a:pPr>
                      <a:r>
                        <a:rPr lang="en-US" sz="1200" dirty="0">
                          <a:solidFill>
                            <a:srgbClr val="3E2723"/>
                          </a:solidFill>
                          <a:latin typeface="Calibri" pitchFamily="34" charset="0"/>
                          <a:ea typeface="Calibri" pitchFamily="34" charset="-122"/>
                          <a:cs typeface="Calibri" pitchFamily="34" charset="-120"/>
                        </a:rPr>
                        <a:t>Rp35.000.000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3103">
                <a:tc>
                  <a:txBody>
                    <a:bodyPr/>
                    <a:lstStyle/>
                    <a:p>
                      <a:pPr marL="0" indent="0" algn="l">
                        <a:buNone/>
                      </a:pPr>
                      <a:r>
                        <a:rPr lang="en-US" sz="1200" b="1" dirty="0">
                          <a:solidFill>
                            <a:srgbClr val="3E2723"/>
                          </a:solidFill>
                          <a:latin typeface="Calibri" pitchFamily="34" charset="0"/>
                          <a:ea typeface="Calibri" pitchFamily="34" charset="-122"/>
                          <a:cs typeface="Calibri" pitchFamily="34" charset="-120"/>
                        </a:rPr>
                        <a:t>TOTAL KEBUTUHAN DANA AWAL</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tc>
                  <a:txBody>
                    <a:bodyPr/>
                    <a:lstStyle/>
                    <a:p>
                      <a:pPr marL="0" indent="0" algn="r">
                        <a:buNone/>
                      </a:pPr>
                      <a:r>
                        <a:rPr lang="en-US" sz="1200" b="1" dirty="0">
                          <a:solidFill>
                            <a:srgbClr val="3E2723"/>
                          </a:solidFill>
                          <a:latin typeface="Calibri" pitchFamily="34" charset="0"/>
                          <a:ea typeface="Calibri" pitchFamily="34" charset="-122"/>
                          <a:cs typeface="Calibri" pitchFamily="34" charset="-120"/>
                        </a:rPr>
                        <a:t>Rp90.000.000</a:t>
                      </a:r>
                      <a:endParaRPr lang="en-US" sz="1200" dirty="0">
                        <a:latin typeface="Calibri" charset="0"/>
                        <a:ea typeface="Calibri" charset="0"/>
                        <a:cs typeface="Calibri" charset="0"/>
                      </a:endParaRPr>
                    </a:p>
                  </a:txBody>
                  <a:tcPr anchor="ctr">
                    <a:lnL w="9525" cap="flat" cmpd="sng" algn="ctr">
                      <a:solidFill>
                        <a:srgbClr val="E7DCCB"/>
                      </a:solidFill>
                      <a:prstDash val="solid"/>
                      <a:round/>
                      <a:headEnd type="none" w="med" len="med"/>
                      <a:tailEnd type="none" w="med" len="med"/>
                    </a:lnL>
                    <a:lnR w="9525" cap="flat" cmpd="sng" algn="ctr">
                      <a:solidFill>
                        <a:srgbClr val="E7DCCB"/>
                      </a:solidFill>
                      <a:prstDash val="solid"/>
                      <a:round/>
                      <a:headEnd type="none" w="med" len="med"/>
                      <a:tailEnd type="none" w="med" len="med"/>
                    </a:lnR>
                    <a:lnT w="9525" cap="flat" cmpd="sng" algn="ctr">
                      <a:solidFill>
                        <a:srgbClr val="E7DCCB"/>
                      </a:solidFill>
                      <a:prstDash val="solid"/>
                      <a:round/>
                      <a:headEnd type="none" w="med" len="med"/>
                      <a:tailEnd type="none" w="med" len="med"/>
                    </a:lnT>
                    <a:lnB w="9525" cap="flat" cmpd="sng" algn="ctr">
                      <a:solidFill>
                        <a:srgbClr val="E7DCCB"/>
                      </a:solidFill>
                      <a:prstDash val="solid"/>
                      <a:round/>
                      <a:headEnd type="none" w="med" len="med"/>
                      <a:tailEnd type="none" w="med" len="med"/>
                    </a:lnB>
                    <a:solidFill>
                      <a:srgbClr val="EAD9BE"/>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4114800"/>
            <a:ext cx="5349240" cy="2011680"/>
          </a:xfrm>
          <a:prstGeom prst="roundRect">
            <a:avLst>
              <a:gd name="adj" fmla="val 5455"/>
            </a:avLst>
          </a:prstGeom>
          <a:solidFill>
            <a:srgbClr val="3E2723"/>
          </a:solidFill>
          <a:ln/>
        </p:spPr>
        <p:txBody>
          <a:bodyPr/>
          <a:p/>
        </p:txBody>
      </p:sp>
      <p:sp>
        <p:nvSpPr>
          <p:cNvPr id="6" name="Text 3"/>
          <p:cNvSpPr txBox="1"/>
          <p:nvPr/>
        </p:nvSpPr>
        <p:spPr>
          <a:xfrm>
            <a:off x="868680" y="4297680"/>
            <a:ext cx="4754880" cy="320040"/>
          </a:xfrm>
          <a:prstGeom prst="rect">
            <a:avLst/>
          </a:prstGeom>
          <a:noFill/>
          <a:ln/>
        </p:spPr>
        <p:txBody>
          <a:bodyPr wrap="square" lIns="0" tIns="0" rIns="0" bIns="0" rtlCol="0" anchor="ctr"/>
          <a:lstStyle/>
          <a:p>
            <a:pPr marL="0" indent="0">
              <a:buNone/>
            </a:pPr>
            <a:r>
              <a:rPr lang="en-US" sz="1200" b="1" kern="0" spc="100" dirty="0">
                <a:solidFill>
                  <a:srgbClr val="C8A165"/>
                </a:solidFill>
                <a:latin typeface="Calibri" pitchFamily="34" charset="0"/>
                <a:ea typeface="Calibri" pitchFamily="34" charset="-122"/>
                <a:cs typeface="Calibri" pitchFamily="34" charset="-120"/>
              </a:rPr>
              <a:t>TOTAL KEBUTUHAN DANA AWAL</a:t>
            </a:r>
            <a:endParaRPr lang="en-US" sz="1200" dirty="0"/>
          </a:p>
        </p:txBody>
      </p:sp>
      <p:sp>
        <p:nvSpPr>
          <p:cNvPr id="7" name="Text 4"/>
          <p:cNvSpPr txBox="1"/>
          <p:nvPr/>
        </p:nvSpPr>
        <p:spPr>
          <a:xfrm>
            <a:off x="868680" y="4590288"/>
            <a:ext cx="4754880" cy="68580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Rp90.000.000</a:t>
            </a:r>
            <a:endParaRPr lang="en-US" sz="3600" dirty="0"/>
          </a:p>
        </p:txBody>
      </p:sp>
      <p:sp>
        <p:nvSpPr>
          <p:cNvPr id="8" name="Text 5"/>
          <p:cNvSpPr txBox="1"/>
          <p:nvPr/>
        </p:nvSpPr>
        <p:spPr>
          <a:xfrm>
            <a:off x="868680" y="5349240"/>
            <a:ext cx="4754880" cy="731520"/>
          </a:xfrm>
          <a:prstGeom prst="rect">
            <a:avLst/>
          </a:prstGeom>
          <a:noFill/>
          <a:ln/>
        </p:spPr>
        <p:txBody>
          <a:bodyPr wrap="square" lIns="0" tIns="0" rIns="0" bIns="0" rtlCol="0" anchor="ctr"/>
          <a:lstStyle/>
          <a:p>
            <a:pPr marL="0" indent="0">
              <a:lnSpc>
                <a:spcPct val="120000"/>
              </a:lnSpc>
              <a:buNone/>
            </a:pPr>
            <a:r>
              <a:rPr lang="en-US" sz="1150" dirty="0">
                <a:solidFill>
                  <a:srgbClr val="F4ECE1"/>
                </a:solidFill>
                <a:latin typeface="Calibri" pitchFamily="34" charset="0"/>
                <a:ea typeface="Calibri" pitchFamily="34" charset="-122"/>
                <a:cs typeface="Calibri" pitchFamily="34" charset="-120"/>
              </a:rPr>
              <a:t>Jauh lebih rendah dari estimasi sebelumnya (Rp485 juta) karena mesin disediakan Pemkab Pesawaran — tidak ada belanja mesin.</a:t>
            </a:r>
            <a:endParaRPr lang="en-US" sz="1150" dirty="0"/>
          </a:p>
        </p:txBody>
      </p:sp>
      <p:sp>
        <p:nvSpPr>
          <p:cNvPr id="9" name="Shape 6"/>
          <p:cNvSpPr/>
          <p:nvPr/>
        </p:nvSpPr>
        <p:spPr>
          <a:xfrm>
            <a:off x="6108192" y="4114800"/>
            <a:ext cx="5532120" cy="1234440"/>
          </a:xfrm>
          <a:prstGeom prst="roundRect">
            <a:avLst>
              <a:gd name="adj" fmla="val 7407"/>
            </a:avLst>
          </a:prstGeom>
          <a:solidFill>
            <a:srgbClr val="3E2723"/>
          </a:solidFill>
          <a:ln/>
        </p:spPr>
        <p:txBody>
          <a:bodyPr/>
          <a:p/>
        </p:txBody>
      </p:sp>
      <p:sp>
        <p:nvSpPr>
          <p:cNvPr id="10" name="Shape 7"/>
          <p:cNvSpPr/>
          <p:nvPr/>
        </p:nvSpPr>
        <p:spPr>
          <a:xfrm>
            <a:off x="6327648" y="4343400"/>
            <a:ext cx="777240" cy="777240"/>
          </a:xfrm>
          <a:prstGeom prst="ellipse">
            <a:avLst/>
          </a:prstGeom>
          <a:solidFill>
            <a:srgbClr val="D97B29"/>
          </a:solidFill>
          <a:ln/>
        </p:spPr>
        <p:txBody>
          <a:bodyPr/>
          <a:p/>
        </p:txBody>
      </p:sp>
      <p:pic>
        <p:nvPicPr>
          <p:cNvPr id="11" name="Image 0" descr="/home/claude/ballmill_pptx/icons/calculator_white.png"/>
          <p:cNvPicPr>
            <a:picLocks noChangeAspect="1"/>
          </p:cNvPicPr>
          <p:nvPr/>
        </p:nvPicPr>
        <p:blipFill>
          <a:blip r:embed="rId3"/>
          <a:stretch>
            <a:fillRect/>
          </a:stretch>
        </p:blipFill>
        <p:spPr>
          <a:xfrm>
            <a:off x="6529730" y="4545482"/>
            <a:ext cx="373075" cy="373075"/>
          </a:xfrm>
          <a:prstGeom prst="rect">
            <a:avLst/>
          </a:prstGeom>
        </p:spPr>
      </p:pic>
      <p:sp>
        <p:nvSpPr>
          <p:cNvPr id="12" name="Text 8"/>
          <p:cNvSpPr txBox="1"/>
          <p:nvPr/>
        </p:nvSpPr>
        <p:spPr>
          <a:xfrm>
            <a:off x="7324344" y="4242816"/>
            <a:ext cx="4096512" cy="543154"/>
          </a:xfrm>
          <a:prstGeom prst="rect">
            <a:avLst/>
          </a:prstGeom>
          <a:noFill/>
          <a:ln/>
        </p:spPr>
        <p:txBody>
          <a:bodyPr wrap="square" lIns="0" tIns="0" rIns="0" bIns="0" rtlCol="0" anchor="b"/>
          <a:lstStyle/>
          <a:p>
            <a:pPr marL="0" indent="0">
              <a:buNone/>
            </a:pPr>
            <a:r>
              <a:rPr lang="en-US" sz="2200" b="1" dirty="0">
                <a:solidFill>
                  <a:srgbClr val="FFFFFF"/>
                </a:solidFill>
                <a:latin typeface="Cambria" pitchFamily="34" charset="0"/>
                <a:ea typeface="Cambria" pitchFamily="34" charset="-122"/>
                <a:cs typeface="Cambria" pitchFamily="34" charset="-120"/>
              </a:rPr>
              <a:t>≈ 5,7 bulan</a:t>
            </a:r>
            <a:endParaRPr lang="en-US" sz="2200" dirty="0"/>
          </a:p>
        </p:txBody>
      </p:sp>
      <p:sp>
        <p:nvSpPr>
          <p:cNvPr id="13" name="Text 9"/>
          <p:cNvSpPr txBox="1"/>
          <p:nvPr/>
        </p:nvSpPr>
        <p:spPr>
          <a:xfrm>
            <a:off x="7324344" y="4732020"/>
            <a:ext cx="4096512" cy="518465"/>
          </a:xfrm>
          <a:prstGeom prst="rect">
            <a:avLst/>
          </a:prstGeom>
          <a:noFill/>
          <a:ln/>
        </p:spPr>
        <p:txBody>
          <a:bodyPr wrap="square" lIns="0" tIns="0" rIns="0" bIns="0" rtlCol="0" anchor="t"/>
          <a:lstStyle/>
          <a:p>
            <a:pPr marL="0" indent="0">
              <a:lnSpc>
                <a:spcPct val="115000"/>
              </a:lnSpc>
              <a:buNone/>
            </a:pPr>
            <a:r>
              <a:rPr lang="en-US" sz="1100" dirty="0">
                <a:solidFill>
                  <a:srgbClr val="F4ECE1"/>
                </a:solidFill>
                <a:latin typeface="Calibri" pitchFamily="34" charset="0"/>
                <a:ea typeface="Calibri" pitchFamily="34" charset="-122"/>
                <a:cs typeface="Calibri" pitchFamily="34" charset="-120"/>
              </a:rPr>
              <a:t>Estimasi payback kebutuhan dana awal pada laju laba bersih bulan ke-6 (≈Rp15,9 jt/bulan)</a:t>
            </a:r>
            <a:endParaRPr lang="en-US" sz="1100" dirty="0"/>
          </a:p>
        </p:txBody>
      </p:sp>
      <p:sp>
        <p:nvSpPr>
          <p:cNvPr id="14" name="Shape 10"/>
          <p:cNvSpPr/>
          <p:nvPr/>
        </p:nvSpPr>
        <p:spPr>
          <a:xfrm>
            <a:off x="6108192" y="5486400"/>
            <a:ext cx="5532120" cy="640080"/>
          </a:xfrm>
          <a:prstGeom prst="roundRect">
            <a:avLst>
              <a:gd name="adj" fmla="val 11429"/>
            </a:avLst>
          </a:prstGeom>
          <a:solidFill>
            <a:srgbClr val="F4ECE1"/>
          </a:solidFill>
          <a:ln/>
        </p:spPr>
        <p:txBody>
          <a:bodyPr/>
          <a:p/>
        </p:txBody>
      </p:sp>
      <p:sp>
        <p:nvSpPr>
          <p:cNvPr id="15" name="Shape 11"/>
          <p:cNvSpPr/>
          <p:nvPr/>
        </p:nvSpPr>
        <p:spPr>
          <a:xfrm>
            <a:off x="6309360" y="5568696"/>
            <a:ext cx="475488" cy="475488"/>
          </a:xfrm>
          <a:prstGeom prst="ellipse">
            <a:avLst/>
          </a:prstGeom>
          <a:solidFill>
            <a:srgbClr val="6D4C41"/>
          </a:solidFill>
          <a:ln/>
        </p:spPr>
        <p:txBody>
          <a:bodyPr/>
          <a:p/>
        </p:txBody>
      </p:sp>
      <p:pic>
        <p:nvPicPr>
          <p:cNvPr id="16" name="Image 1" descr="/home/claude/ballmill_pptx/icons/landmark_white.png"/>
          <p:cNvPicPr>
            <a:picLocks noChangeAspect="1"/>
          </p:cNvPicPr>
          <p:nvPr/>
        </p:nvPicPr>
        <p:blipFill>
          <a:blip r:embed="rId4"/>
          <a:stretch>
            <a:fillRect/>
          </a:stretch>
        </p:blipFill>
        <p:spPr>
          <a:xfrm>
            <a:off x="6432987" y="5692323"/>
            <a:ext cx="228234" cy="228234"/>
          </a:xfrm>
          <a:prstGeom prst="rect">
            <a:avLst/>
          </a:prstGeom>
        </p:spPr>
      </p:pic>
      <p:sp>
        <p:nvSpPr>
          <p:cNvPr id="17" name="Text 12"/>
          <p:cNvSpPr txBox="1"/>
          <p:nvPr/>
        </p:nvSpPr>
        <p:spPr>
          <a:xfrm>
            <a:off x="7004304" y="5596128"/>
            <a:ext cx="4379976" cy="420624"/>
          </a:xfrm>
          <a:prstGeom prst="rect">
            <a:avLst/>
          </a:prstGeom>
          <a:noFill/>
          <a:ln/>
        </p:spPr>
        <p:txBody>
          <a:bodyPr wrap="square" lIns="0" tIns="0" rIns="0" bIns="0" rtlCol="0" anchor="ctr"/>
          <a:lstStyle/>
          <a:p>
            <a:pPr marL="0" indent="0">
              <a:lnSpc>
                <a:spcPct val="118000"/>
              </a:lnSpc>
              <a:buNone/>
            </a:pPr>
            <a:r>
              <a:rPr lang="en-US" sz="1100" dirty="0">
                <a:solidFill>
                  <a:srgbClr val="3E2723"/>
                </a:solidFill>
                <a:latin typeface="Calibri" pitchFamily="34" charset="0"/>
                <a:ea typeface="Calibri" pitchFamily="34" charset="-122"/>
                <a:cs typeface="Calibri" pitchFamily="34" charset="-120"/>
              </a:rPr>
              <a:t>Belum termasuk imbal bagi hasil 5% ke Pemkab Pesawaran yang mulai berlaku Tahun 2 (Slide 21).</a:t>
            </a:r>
            <a:endParaRPr lang="en-US" sz="1100" dirty="0"/>
          </a:p>
        </p:txBody>
      </p:sp>
      <p:sp>
        <p:nvSpPr>
          <p:cNvPr id="18" name="Text 13"/>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3E2723"/>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7315200" cy="274320"/>
          </a:xfrm>
          <a:prstGeom prst="rect">
            <a:avLst/>
          </a:prstGeom>
          <a:noFill/>
          <a:ln/>
        </p:spPr>
        <p:txBody>
          <a:bodyPr wrap="square" lIns="0" tIns="0" rIns="0" bIns="0" rtlCol="0" anchor="ctr"/>
          <a:lstStyle/>
          <a:p>
            <a:pPr marL="0" indent="0">
              <a:buNone/>
            </a:pPr>
            <a:r>
              <a:rPr lang="en-US" sz="1200" b="1" kern="0" spc="200" dirty="0">
                <a:solidFill>
                  <a:srgbClr val="C8A165"/>
                </a:solidFill>
                <a:latin typeface="Calibri" pitchFamily="34" charset="0"/>
                <a:ea typeface="Calibri" pitchFamily="34" charset="-122"/>
                <a:cs typeface="Calibri" pitchFamily="34" charset="-120"/>
              </a:rPr>
              <a:t>PENUTUP</a:t>
            </a:r>
            <a:endParaRPr lang="en-US" sz="1200" dirty="0"/>
          </a:p>
        </p:txBody>
      </p:sp>
      <p:sp>
        <p:nvSpPr>
          <p:cNvPr id="3" name="Text 1"/>
          <p:cNvSpPr txBox="1"/>
          <p:nvPr/>
        </p:nvSpPr>
        <p:spPr>
          <a:xfrm>
            <a:off x="640080" y="658368"/>
            <a:ext cx="9144000" cy="640080"/>
          </a:xfrm>
          <a:prstGeom prst="rect">
            <a:avLst/>
          </a:prstGeom>
          <a:noFill/>
          <a:ln/>
        </p:spPr>
        <p:txBody>
          <a:bodyPr wrap="square" lIns="0" tIns="0" rIns="0" bIns="0" rtlCol="0" anchor="ctr"/>
          <a:lstStyle/>
          <a:p>
            <a:pPr marL="0" indent="0">
              <a:lnSpc>
                <a:spcPct val="108000"/>
              </a:lnSpc>
              <a:buNone/>
            </a:pPr>
            <a:r>
              <a:rPr lang="en-US" sz="2700" b="1" dirty="0">
                <a:solidFill>
                  <a:srgbClr val="FFFFFF"/>
                </a:solidFill>
                <a:latin typeface="Cambria" pitchFamily="34" charset="0"/>
                <a:ea typeface="Cambria" pitchFamily="34" charset="-122"/>
                <a:cs typeface="Cambria" pitchFamily="34" charset="-120"/>
              </a:rPr>
              <a:t>Kesimpulan &amp; Rekomendasi</a:t>
            </a:r>
            <a:endParaRPr lang="en-US" sz="2700" dirty="0"/>
          </a:p>
        </p:txBody>
      </p:sp>
      <p:sp>
        <p:nvSpPr>
          <p:cNvPr id="4" name="Shape 2"/>
          <p:cNvSpPr/>
          <p:nvPr/>
        </p:nvSpPr>
        <p:spPr>
          <a:xfrm>
            <a:off x="640080" y="1298448"/>
            <a:ext cx="402336" cy="402336"/>
          </a:xfrm>
          <a:prstGeom prst="ellipse">
            <a:avLst/>
          </a:prstGeom>
          <a:solidFill>
            <a:srgbClr val="D97B29"/>
          </a:solidFill>
          <a:ln/>
        </p:spPr>
        <p:txBody>
          <a:bodyPr/>
          <a:p/>
        </p:txBody>
      </p:sp>
      <p:pic>
        <p:nvPicPr>
          <p:cNvPr id="5" name="Image 0" descr="/home/claude/ballmill_pptx/icons/coins_white.png"/>
          <p:cNvPicPr>
            <a:picLocks noChangeAspect="1"/>
          </p:cNvPicPr>
          <p:nvPr/>
        </p:nvPicPr>
        <p:blipFill>
          <a:blip r:embed="rId3"/>
          <a:stretch>
            <a:fillRect/>
          </a:stretch>
        </p:blipFill>
        <p:spPr>
          <a:xfrm>
            <a:off x="744687" y="1403055"/>
            <a:ext cx="193121" cy="193121"/>
          </a:xfrm>
          <a:prstGeom prst="rect">
            <a:avLst/>
          </a:prstGeom>
        </p:spPr>
      </p:pic>
      <p:sp>
        <p:nvSpPr>
          <p:cNvPr id="6" name="Text 3"/>
          <p:cNvSpPr txBox="1"/>
          <p:nvPr/>
        </p:nvSpPr>
        <p:spPr>
          <a:xfrm>
            <a:off x="1243584" y="1225296"/>
            <a:ext cx="10104120" cy="868680"/>
          </a:xfrm>
          <a:prstGeom prst="rect">
            <a:avLst/>
          </a:prstGeom>
          <a:noFill/>
          <a:ln/>
        </p:spPr>
        <p:txBody>
          <a:bodyPr wrap="square" lIns="0" tIns="0" rIns="0" bIns="0"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Harga beli biji kakao direkomendasikan: hingga Rp85.000/kg agar margin laba bersih terjaga ≥ 10% (≈10,16%) — sekaligus memenuhi komitmen membeli dari petani binaan di atas harga basis pemerintah (≈7,8% di atas HPE Agustus 2026). Pembinaan petani dan seluruh biayanya menjadi tanggung jawab penyewa.</a:t>
            </a:r>
            <a:endParaRPr lang="en-US" sz="1200" dirty="0"/>
          </a:p>
        </p:txBody>
      </p:sp>
      <p:sp>
        <p:nvSpPr>
          <p:cNvPr id="7" name="Shape 4"/>
          <p:cNvSpPr/>
          <p:nvPr/>
        </p:nvSpPr>
        <p:spPr>
          <a:xfrm>
            <a:off x="640080" y="2231136"/>
            <a:ext cx="402336" cy="402336"/>
          </a:xfrm>
          <a:prstGeom prst="ellipse">
            <a:avLst/>
          </a:prstGeom>
          <a:solidFill>
            <a:srgbClr val="D97B29"/>
          </a:solidFill>
          <a:ln/>
        </p:spPr>
        <p:txBody>
          <a:bodyPr/>
          <a:p/>
        </p:txBody>
      </p:sp>
      <p:pic>
        <p:nvPicPr>
          <p:cNvPr id="8" name="Image 1" descr="/home/claude/ballmill_pptx/icons/route_white.png"/>
          <p:cNvPicPr>
            <a:picLocks noChangeAspect="1"/>
          </p:cNvPicPr>
          <p:nvPr/>
        </p:nvPicPr>
        <p:blipFill>
          <a:blip r:embed="rId4"/>
          <a:stretch>
            <a:fillRect/>
          </a:stretch>
        </p:blipFill>
        <p:spPr>
          <a:xfrm>
            <a:off x="744687" y="2335743"/>
            <a:ext cx="193121" cy="193121"/>
          </a:xfrm>
          <a:prstGeom prst="rect">
            <a:avLst/>
          </a:prstGeom>
        </p:spPr>
      </p:pic>
      <p:sp>
        <p:nvSpPr>
          <p:cNvPr id="9" name="Text 5"/>
          <p:cNvSpPr txBox="1"/>
          <p:nvPr/>
        </p:nvSpPr>
        <p:spPr>
          <a:xfrm>
            <a:off x="1243584" y="2157984"/>
            <a:ext cx="10104120" cy="868680"/>
          </a:xfrm>
          <a:prstGeom prst="rect">
            <a:avLst/>
          </a:prstGeom>
          <a:noFill/>
          <a:ln/>
        </p:spPr>
        <p:txBody>
          <a:bodyPr wrap="square" lIns="0" tIns="0" rIns="0" bIns="0"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Operasional ditargetkan stabil (100% kapasitas) pada bulan ke-6, progres meningkat rata-rata 15–20%/bulan; titik impas bulanan mundur ke bulan ke-4 seiring naiknya biaya operasional.</a:t>
            </a:r>
            <a:endParaRPr lang="en-US" sz="1200" dirty="0"/>
          </a:p>
        </p:txBody>
      </p:sp>
      <p:sp>
        <p:nvSpPr>
          <p:cNvPr id="10" name="Shape 6"/>
          <p:cNvSpPr/>
          <p:nvPr/>
        </p:nvSpPr>
        <p:spPr>
          <a:xfrm>
            <a:off x="640080" y="3163824"/>
            <a:ext cx="402336" cy="402336"/>
          </a:xfrm>
          <a:prstGeom prst="ellipse">
            <a:avLst/>
          </a:prstGeom>
          <a:solidFill>
            <a:srgbClr val="D97B29"/>
          </a:solidFill>
          <a:ln/>
        </p:spPr>
        <p:txBody>
          <a:bodyPr/>
          <a:p/>
        </p:txBody>
      </p:sp>
      <p:pic>
        <p:nvPicPr>
          <p:cNvPr id="11" name="Image 2" descr="/home/claude/ballmill_pptx/icons/landmark_white.png"/>
          <p:cNvPicPr>
            <a:picLocks noChangeAspect="1"/>
          </p:cNvPicPr>
          <p:nvPr/>
        </p:nvPicPr>
        <p:blipFill>
          <a:blip r:embed="rId5"/>
          <a:stretch>
            <a:fillRect/>
          </a:stretch>
        </p:blipFill>
        <p:spPr>
          <a:xfrm>
            <a:off x="744687" y="3268431"/>
            <a:ext cx="193121" cy="193121"/>
          </a:xfrm>
          <a:prstGeom prst="rect">
            <a:avLst/>
          </a:prstGeom>
        </p:spPr>
      </p:pic>
      <p:sp>
        <p:nvSpPr>
          <p:cNvPr id="12" name="Text 7"/>
          <p:cNvSpPr txBox="1"/>
          <p:nvPr/>
        </p:nvSpPr>
        <p:spPr>
          <a:xfrm>
            <a:off x="1243584" y="3090672"/>
            <a:ext cx="10104120" cy="868680"/>
          </a:xfrm>
          <a:prstGeom prst="rect">
            <a:avLst/>
          </a:prstGeom>
          <a:noFill/>
          <a:ln/>
        </p:spPr>
        <p:txBody>
          <a:bodyPr wrap="square" lIns="0" tIns="0" rIns="0" bIns="0"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6 mesin (roaster, winnower, grinder kasar, ballmill, fat presser, grinder halus) adalah aset Pemkab Pesawaran senilai ≈Rp450 juta — TIDAK perlu CAPEX pembelian mesin. Kerja sama diusulkan 5 tahun: Tahun 1 pinjam pakai dengan seluruh biaya pengoperasian ditanggung penyewa, Tahun 2 s/d 5 imbal bagi hasil 5% dari net keuntungan penjualan produk olahan.</a:t>
            </a:r>
            <a:endParaRPr lang="en-US" sz="1200" dirty="0"/>
          </a:p>
        </p:txBody>
      </p:sp>
      <p:sp>
        <p:nvSpPr>
          <p:cNvPr id="13" name="Shape 8"/>
          <p:cNvSpPr/>
          <p:nvPr/>
        </p:nvSpPr>
        <p:spPr>
          <a:xfrm>
            <a:off x="640080" y="4096512"/>
            <a:ext cx="402336" cy="402336"/>
          </a:xfrm>
          <a:prstGeom prst="ellipse">
            <a:avLst/>
          </a:prstGeom>
          <a:solidFill>
            <a:srgbClr val="D97B29"/>
          </a:solidFill>
          <a:ln/>
        </p:spPr>
        <p:txBody>
          <a:bodyPr/>
          <a:p/>
        </p:txBody>
      </p:sp>
      <p:pic>
        <p:nvPicPr>
          <p:cNvPr id="14" name="Image 3" descr="/home/claude/ballmill_pptx/icons/piggybank_white.png"/>
          <p:cNvPicPr>
            <a:picLocks noChangeAspect="1"/>
          </p:cNvPicPr>
          <p:nvPr/>
        </p:nvPicPr>
        <p:blipFill>
          <a:blip r:embed="rId6"/>
          <a:stretch>
            <a:fillRect/>
          </a:stretch>
        </p:blipFill>
        <p:spPr>
          <a:xfrm>
            <a:off x="744687" y="4201119"/>
            <a:ext cx="193121" cy="193121"/>
          </a:xfrm>
          <a:prstGeom prst="rect">
            <a:avLst/>
          </a:prstGeom>
        </p:spPr>
      </p:pic>
      <p:sp>
        <p:nvSpPr>
          <p:cNvPr id="15" name="Text 9"/>
          <p:cNvSpPr txBox="1"/>
          <p:nvPr/>
        </p:nvSpPr>
        <p:spPr>
          <a:xfrm>
            <a:off x="1243584" y="4023360"/>
            <a:ext cx="10104120" cy="868680"/>
          </a:xfrm>
          <a:prstGeom prst="rect">
            <a:avLst/>
          </a:prstGeom>
          <a:noFill/>
          <a:ln/>
        </p:spPr>
        <p:txBody>
          <a:bodyPr wrap="square" lIns="0" tIns="0" rIns="0" bIns="0" rtlCol="0" anchor="ctr"/>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Total kebutuhan dana awal turun drastis menjadi ≈Rp90 juta (peralatan pendukung + modal kerja talangan), dengan estimasi payback ≈5,7 bulan pada laju laba bersih bulan ke-6.</a:t>
            </a:r>
            <a:endParaRPr lang="en-US" sz="1200" dirty="0"/>
          </a:p>
        </p:txBody>
      </p:sp>
      <p:sp>
        <p:nvSpPr>
          <p:cNvPr id="16" name="Shape 10"/>
          <p:cNvSpPr/>
          <p:nvPr/>
        </p:nvSpPr>
        <p:spPr>
          <a:xfrm>
            <a:off x="640080" y="5074920"/>
            <a:ext cx="10881360" cy="1143000"/>
          </a:xfrm>
          <a:prstGeom prst="roundRect">
            <a:avLst>
              <a:gd name="adj" fmla="val 8000"/>
            </a:avLst>
          </a:prstGeom>
          <a:solidFill>
            <a:srgbClr val="4E362C"/>
          </a:solidFill>
          <a:ln/>
        </p:spPr>
        <p:txBody>
          <a:bodyPr/>
          <a:p/>
        </p:txBody>
      </p:sp>
      <p:sp>
        <p:nvSpPr>
          <p:cNvPr id="17" name="Shape 11"/>
          <p:cNvSpPr/>
          <p:nvPr/>
        </p:nvSpPr>
        <p:spPr>
          <a:xfrm>
            <a:off x="914400" y="5257800"/>
            <a:ext cx="420624" cy="420624"/>
          </a:xfrm>
          <a:prstGeom prst="ellipse">
            <a:avLst/>
          </a:prstGeom>
          <a:solidFill>
            <a:srgbClr val="B23A2E"/>
          </a:solidFill>
          <a:ln/>
        </p:spPr>
        <p:txBody>
          <a:bodyPr/>
          <a:p/>
        </p:txBody>
      </p:sp>
      <p:pic>
        <p:nvPicPr>
          <p:cNvPr id="18" name="Image 4" descr="/home/claude/ballmill_pptx/icons/warning_white.png"/>
          <p:cNvPicPr>
            <a:picLocks noChangeAspect="1"/>
          </p:cNvPicPr>
          <p:nvPr/>
        </p:nvPicPr>
        <p:blipFill>
          <a:blip r:embed="rId7"/>
          <a:stretch>
            <a:fillRect/>
          </a:stretch>
        </p:blipFill>
        <p:spPr>
          <a:xfrm>
            <a:off x="1023762" y="5367162"/>
            <a:ext cx="201900" cy="201900"/>
          </a:xfrm>
          <a:prstGeom prst="rect">
            <a:avLst/>
          </a:prstGeom>
        </p:spPr>
      </p:pic>
      <p:sp>
        <p:nvSpPr>
          <p:cNvPr id="19" name="Text 12"/>
          <p:cNvSpPr txBox="1"/>
          <p:nvPr/>
        </p:nvSpPr>
        <p:spPr>
          <a:xfrm>
            <a:off x="1508760" y="5102352"/>
            <a:ext cx="9829800" cy="1078992"/>
          </a:xfrm>
          <a:prstGeom prst="rect">
            <a:avLst/>
          </a:prstGeom>
          <a:noFill/>
          <a:ln/>
        </p:spPr>
        <p:txBody>
          <a:bodyPr wrap="square" lIns="0" tIns="0" rIns="0" bIns="0" rtlCol="0" anchor="ctr"/>
          <a:lstStyle/>
          <a:p>
            <a:pPr marL="0" indent="0">
              <a:lnSpc>
                <a:spcPct val="115000"/>
              </a:lnSpc>
              <a:buNone/>
            </a:pPr>
            <a:r>
              <a:rPr lang="en-US" sz="1000" dirty="0">
                <a:solidFill>
                  <a:srgbClr val="F4ECE1"/>
                </a:solidFill>
                <a:latin typeface="Calibri" pitchFamily="34" charset="0"/>
                <a:ea typeface="Calibri" pitchFamily="34" charset="-122"/>
                <a:cs typeface="Calibri" pitchFamily="34" charset="-120"/>
              </a:rPr>
              <a:t>CATATAN PENTING — Seluruh angka biaya operasional, harga jual, nilai aset/penyusutan, dan jadwal ramp-up adalah ASUMSI KERJA, bukan data aktual unit. Validasi terhadap kondisi riil (kondisi &amp; usia aktual mesin, tarif listrik, upah setempat, kecepatan ekspansi petani mitra) dan konsultasikan skema kerja sama dengan bagian pengelolaan aset (BPKAD) Pemkab Pesawaran sebelum digunakan untuk keputusan investasi dan penetapan harga ke petani.</a:t>
            </a:r>
            <a:endParaRPr lang="en-US" sz="1000" dirty="0"/>
          </a:p>
        </p:txBody>
      </p:sp>
      <p:sp>
        <p:nvSpPr>
          <p:cNvPr id="20" name="Text 13"/>
          <p:cNvSpPr txBox="1"/>
          <p:nvPr/>
        </p:nvSpPr>
        <p:spPr>
          <a:xfrm>
            <a:off x="11185855" y="6473952"/>
            <a:ext cx="548640" cy="274320"/>
          </a:xfrm>
          <a:prstGeom prst="rect">
            <a:avLst/>
          </a:prstGeom>
          <a:noFill/>
          <a:ln/>
        </p:spPr>
        <p:txBody>
          <a:bodyPr wrap="square" lIns="0" tIns="0" rIns="0" bIns="0" rtlCol="0" anchor="ctr"/>
          <a:lstStyle/>
          <a:p>
            <a:pPr marL="0" indent="0" algn="r">
              <a:buNone/>
            </a:pPr>
            <a:r>
              <a:rPr lang="en-US" sz="900" dirty="0">
                <a:solidFill>
                  <a:srgbClr val="8A776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3287</Words>
  <Application>Microsoft Office PowerPoint</Application>
  <PresentationFormat>Widescreen</PresentationFormat>
  <Paragraphs>462</Paragraphs>
  <Slides>24</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Yuyun Kurniawan</cp:lastModifiedBy>
  <cp:revision>3</cp:revision>
  <dcterms:created xsi:type="dcterms:W3CDTF">2026-08-28T10:31:08Z</dcterms:created>
  <dcterms:modified xsi:type="dcterms:W3CDTF">2026-09-01T11:24:59Z</dcterms:modified>
</cp:coreProperties>
</file>