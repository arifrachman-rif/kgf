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aGROWforests+</a:t>
            </a:r>
          </a:p>
          <a:p>
            <a:r>
              <a:t>Nature-Positive Agroforestry &amp; Green Value Chains in Indonesia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EU SWITCH-Asia Programme — Call C3 Proposal</a:t>
            </a:r>
          </a:p>
          <a:p/>
          <a:p>
            <a:r>
              <a:t>Lead Presenter: PT Klumbayan Gold Farm (KGF)</a:t>
            </a:r>
          </a:p>
          <a:p>
            <a:r>
              <a:t>Target Regions: Lampung • Bangka Belitung • Aceh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0" y="914400"/>
            <a:ext cx="3657600" cy="4572000"/>
          </a:xfrm>
          <a:prstGeom prst="rect">
            <a:avLst/>
          </a:prstGeom>
          <a:solidFill>
            <a:srgbClr val="E6E6E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646464"/>
                </a:solidFill>
              </a:defRPr>
            </a:pPr>
            <a:r>
              <a:t>[ FOTO COVER 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Systemic Threats to Indonesian Agribusiness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Monoculture vulnerability, climate shocks &amp; EU market exclusion risks.</a:t>
            </a:r>
          </a:p>
          <a:p>
            <a:r>
              <a:t>1. USD 2–3B Climate Losses: Annual economic losses for Sumatran smallholders due to deforestation-induced flooding, severe droughts, and soil erosion.</a:t>
            </a:r>
          </a:p>
          <a:p>
            <a:r>
              <a:t>2. Yield Degradation: Ageing tree stocks and monoculture soil exhaustion keep pepper, coffee, and cocoa farmers below living income thresholds.</a:t>
            </a:r>
          </a:p>
          <a:p>
            <a:r>
              <a:t>3. EUDR Compliance Deficit: Without geolocation polygons &amp; verifiable MRV traceability, 5,000+ smallholders risk complete market exclusion from the EU.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0" y="1828800"/>
            <a:ext cx="3657600" cy="3657600"/>
          </a:xfrm>
          <a:prstGeom prst="rect">
            <a:avLst/>
          </a:prstGeom>
          <a:solidFill>
            <a:srgbClr val="E6E6E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646464"/>
                </a:solidFill>
              </a:defRPr>
            </a:pPr>
            <a:r>
              <a:t>[ FOTO MASALAH / LINGKUNGAN 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Integrated Solution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Combining landscape stewardship, green value chains &amp; innovative finance.</a:t>
            </a:r>
          </a:p>
          <a:p>
            <a:r>
              <a:t>1. Green Transformation: Transition 5,000 smallholders from monoculture to resilient agroforestry (Pepper, Coffee, Cocoa).</a:t>
            </a:r>
          </a:p>
          <a:p>
            <a:r>
              <a:t>2. EUDR Traceability: Deploy TAPAK &amp; Traceapp for farm-to-fork polygon mapping, ensuring 100% deforestation-free compliance.</a:t>
            </a:r>
          </a:p>
          <a:p>
            <a:r>
              <a:t>3. Landscape Finance: Establish a Landscape Finance Approach (LFA) mechanism to leverage EU grant funding with private capital.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0" y="1828800"/>
            <a:ext cx="3657600" cy="3657600"/>
          </a:xfrm>
          <a:prstGeom prst="rect">
            <a:avLst/>
          </a:prstGeom>
          <a:solidFill>
            <a:srgbClr val="E6E6E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646464"/>
                </a:solidFill>
              </a:defRPr>
            </a:pPr>
            <a:r>
              <a:t>[ FOTO SOLUSI / PETANI 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 Strategic Commodity Hubs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Lampung Hub (Black Pepper &amp; Cocoa)</a:t>
            </a:r>
          </a:p>
          <a:p>
            <a:r>
              <a:t>PT Klumbayan Gold Farm (KGF) operates Natar Processing Facility (2,000-ton capacity) and 1,250 registered farmers.</a:t>
            </a:r>
          </a:p>
          <a:p>
            <a:r>
              <a:t>Bangka Belitung Hub (White Pepper Agroforestry)</a:t>
            </a:r>
          </a:p>
          <a:p>
            <a:r>
              <a:t>PT CAN &amp; Kelekak Demo Farm restoring post-mining soil and expanding community nurseries.</a:t>
            </a:r>
          </a:p>
          <a:p>
            <a:r>
              <a:t>Aceh Hub (Arabica Coffee)</a:t>
            </a:r>
          </a:p>
          <a:p>
            <a:r>
              <a:t>Sucafina Indonesia leading EUDR-compliant farm polygon mapping &amp; quality enhancement in Central Aceh.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5" name="Rectangle 4"/>
          <p:cNvSpPr/>
          <p:nvPr/>
        </p:nvSpPr>
        <p:spPr>
          <a:xfrm>
            <a:off x="6400800" y="2011680"/>
            <a:ext cx="5029200" cy="4114800"/>
          </a:xfrm>
          <a:prstGeom prst="rect">
            <a:avLst/>
          </a:prstGeom>
          <a:solidFill>
            <a:srgbClr val="E6E6E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646464"/>
                </a:solidFill>
              </a:defRPr>
            </a:pPr>
            <a:r>
              <a:t>[ FOTO PETA / LOKASI HUB 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World-Class Offtake &amp; Tech Partners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Bridging Indonesian farmers directly to European premium markets.</a:t>
            </a:r>
          </a:p>
          <a:p>
            <a:r>
              <a:t>• PT KGF (Lead Exporter &amp; Operator): Tech-enabled agribusiness managing processing, TAPAK ERP, and farmer network.</a:t>
            </a:r>
          </a:p>
          <a:p>
            <a:r>
              <a:t>• Verstegen / VSS (Dutch Buyer Partner): Committed to 100% deforestation-free spice supply chain by Dec 2025.</a:t>
            </a:r>
          </a:p>
          <a:p>
            <a:r>
              <a:t>• Fairfood (Dutch Tech NGO): Developer of Traceapp blockchain transparency &amp; farmer incentive reporting.</a:t>
            </a:r>
          </a:p>
          <a:p>
            <a:r>
              <a:t>• Sucafina &amp; CAN (Supply Chain Partners): National B2B spice &amp; coffee export integration across Bangka &amp; Aceh.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0" y="1828800"/>
            <a:ext cx="3200400" cy="3657600"/>
          </a:xfrm>
          <a:prstGeom prst="rect">
            <a:avLst/>
          </a:prstGeom>
          <a:solidFill>
            <a:srgbClr val="E6E6E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646464"/>
                </a:solidFill>
              </a:defRPr>
            </a:pPr>
            <a:r>
              <a:t>[ FOTO LOGO PARTNER 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TAPAK: Event-Sourced Traceability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Proprietary ERP system built by KGF for real-time EUDR validation.</a:t>
            </a:r>
          </a:p>
          <a:p>
            <a:r>
              <a:t>• Polygonal GPS mapping for 5,000 smallholder plots.</a:t>
            </a:r>
          </a:p>
          <a:p>
            <a:r>
              <a:t>• Event-sourcing graph architecture (Lot &amp; Log tracking).</a:t>
            </a:r>
          </a:p>
          <a:p>
            <a:r>
              <a:t>• AI Climate Decision Support (AI-CCDSS).</a:t>
            </a:r>
          </a:p>
          <a:p>
            <a:r>
              <a:t>• Integrated AgriMEL app for offline field data collection.</a:t>
            </a:r>
          </a:p>
          <a:p>
            <a:br/>
            <a:r>
              <a:t>EUDR Readiness Guaranteed: Links every bag of Black Pepper, Coffee, and Cocoa directly to verified, non-deforested farmer plots.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0" y="2286000"/>
            <a:ext cx="4114800" cy="3200400"/>
          </a:xfrm>
          <a:prstGeom prst="rect">
            <a:avLst/>
          </a:prstGeom>
          <a:solidFill>
            <a:srgbClr val="E6E6E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646464"/>
                </a:solidFill>
              </a:defRPr>
            </a:pPr>
            <a:r>
              <a:t>[ FOTO SCREENSHOT APLIKASI 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Aligned with National Priorities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Formally endorsed by BAPPENAS &amp; integrated into national planning.</a:t>
            </a:r>
          </a:p>
          <a:p>
            <a:r>
              <a:t>1. BAPPENAS Endorsed: Recognized at the Pepper Agroforestry Workshop as a benchmark public-private partnership model.</a:t>
            </a:r>
          </a:p>
          <a:p>
            <a:r>
              <a:t>2. FOLU Net Sink 2030: Agroforestry rehabilitation and verified MRV data contribute directly to national GHG reduction targets.</a:t>
            </a:r>
          </a:p>
          <a:p>
            <a:r>
              <a:t>3. RPJMN 2025–2029: Supports strategic commodity downstreaming and Indonesia's National Spice Downstreaming Roadmap.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0" y="2286000"/>
            <a:ext cx="3657600" cy="2743200"/>
          </a:xfrm>
          <a:prstGeom prst="rect">
            <a:avLst/>
          </a:prstGeom>
          <a:solidFill>
            <a:srgbClr val="E6E6E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646464"/>
                </a:solidFill>
              </a:defRPr>
            </a:pPr>
            <a:r>
              <a:t>[ FOTO WORKSHOP / BAPPENAS 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Target Key Performance Indicators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Measurable Impact</a:t>
            </a:r>
          </a:p>
          <a:p>
            <a:r>
              <a:t>• 5,000 Farmers Adopt Agroforestry: Across 6 target communities in Sumatra.</a:t>
            </a:r>
          </a:p>
          <a:p>
            <a:r>
              <a:t>• 100% EUDR Traceability: Full geolocation &amp; deforestation-free proof.</a:t>
            </a:r>
          </a:p>
          <a:p>
            <a:r>
              <a:t>• +35% Farmer Income Increase: Via quality premiums &amp; crop diversification.</a:t>
            </a:r>
          </a:p>
          <a:p>
            <a:r>
              <a:t>• 20%+ Women Leadership: Priority inclusion for women &amp; youth (&lt;35).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0" y="2286000"/>
            <a:ext cx="3657600" cy="2743200"/>
          </a:xfrm>
          <a:prstGeom prst="rect">
            <a:avLst/>
          </a:prstGeom>
          <a:solidFill>
            <a:srgbClr val="E6E6E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646464"/>
                </a:solidFill>
              </a:defRPr>
            </a:pPr>
            <a:r>
              <a:t>[ FOTO PETANI / IMPACT 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Let's Build Sustainable Agribusiness Together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PT Klumbayan Gold Farm</a:t>
            </a:r>
          </a:p>
          <a:p>
            <a:r>
              <a:t>www.agrowforests.id | contact@klumbayangoldfarm.com</a:t>
            </a:r>
          </a:p>
          <a:p>
            <a:r>
              <a:t>HQ: Bandar Lampung &amp; Gudang Natar, Lampung, Indonesia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914400"/>
            <a:ext cx="2743200" cy="2743200"/>
          </a:xfrm>
          <a:prstGeom prst="rect">
            <a:avLst/>
          </a:prstGeom>
          <a:solidFill>
            <a:srgbClr val="E6E6E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646464"/>
                </a:solidFill>
              </a:defRPr>
            </a:pPr>
            <a:r>
              <a:t>[ FOTO LOGO KGF ]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657600"/>
            <a:ext cx="4114800" cy="2743200"/>
          </a:xfrm>
          <a:prstGeom prst="rect">
            <a:avLst/>
          </a:prstGeom>
          <a:solidFill>
            <a:srgbClr val="E6E6E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646464"/>
                </a:solidFill>
              </a:defRPr>
            </a:pPr>
            <a:r>
              <a:t>[ FOTO TIM KGF 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